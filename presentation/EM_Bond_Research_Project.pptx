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66" r:id="rId14"/>
    <p:sldId id="286" r:id="rId15"/>
    <p:sldId id="269" r:id="rId16"/>
    <p:sldId id="288" r:id="rId17"/>
    <p:sldId id="267" r:id="rId18"/>
    <p:sldId id="287" r:id="rId19"/>
    <p:sldId id="268" r:id="rId20"/>
    <p:sldId id="281" r:id="rId21"/>
    <p:sldId id="282" r:id="rId22"/>
    <p:sldId id="283" r:id="rId23"/>
    <p:sldId id="284" r:id="rId24"/>
    <p:sldId id="289" r:id="rId25"/>
    <p:sldId id="285" r:id="rId26"/>
  </p:sldIdLst>
  <p:sldSz cx="9144000" cy="5143500" type="screen16x9"/>
  <p:notesSz cx="5143500" cy="9144000"/>
  <p:embeddedFontLst>
    <p:embeddedFont>
      <p:font typeface="Georgia" panose="02040502050405020303" pitchFamily="18" charset="0"/>
      <p:regular r:id="rId28"/>
      <p:bold r:id="rId29"/>
      <p:italic r:id="rId30"/>
      <p:boldItalic r:id="rId31"/>
    </p:embeddedFont>
    <p:embeddedFont>
      <p:font typeface="Josefin Sans"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idq3HjwfvUJWOgPmPqTlNB/9fmH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ami Ali"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BA4DF8-24A8-4D5C-A0FC-B0C61F6DF720}" v="71" dt="2026-09-10T02:25:51.103"/>
  </p1510:revLst>
</p1510:revInfo>
</file>

<file path=ppt/tableStyles.xml><?xml version="1.0" encoding="utf-8"?>
<a:tblStyleLst xmlns:a="http://schemas.openxmlformats.org/drawingml/2006/main" def="{3E3B9169-A877-4DBC-8345-1FAB3B18362B}">
  <a:tblStyle styleId="{3E3B9169-A877-4DBC-8345-1FAB3B18362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1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46"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uprasad Mukund" userId="d73c77e08ff70e53" providerId="LiveId" clId="{0D0B0BCC-9322-4329-914E-89B2B727C81D}"/>
    <pc:docChg chg="undo custSel addSld delSld modSld sldOrd">
      <pc:chgData name="Guruprasad Mukund" userId="d73c77e08ff70e53" providerId="LiveId" clId="{0D0B0BCC-9322-4329-914E-89B2B727C81D}" dt="2026-09-10T02:26:48.685" v="2034" actId="20577"/>
      <pc:docMkLst>
        <pc:docMk/>
      </pc:docMkLst>
      <pc:sldChg chg="modSp mod">
        <pc:chgData name="Guruprasad Mukund" userId="d73c77e08ff70e53" providerId="LiveId" clId="{0D0B0BCC-9322-4329-914E-89B2B727C81D}" dt="2026-09-10T01:50:10.549" v="1511" actId="14100"/>
        <pc:sldMkLst>
          <pc:docMk/>
          <pc:sldMk cId="0" sldId="256"/>
        </pc:sldMkLst>
        <pc:spChg chg="mod">
          <ac:chgData name="Guruprasad Mukund" userId="d73c77e08ff70e53" providerId="LiveId" clId="{0D0B0BCC-9322-4329-914E-89B2B727C81D}" dt="2026-09-09T15:22:37.592" v="144" actId="255"/>
          <ac:spMkLst>
            <pc:docMk/>
            <pc:sldMk cId="0" sldId="256"/>
            <ac:spMk id="15" creationId="{00000000-0000-0000-0000-000000000000}"/>
          </ac:spMkLst>
        </pc:spChg>
        <pc:spChg chg="mod">
          <ac:chgData name="Guruprasad Mukund" userId="d73c77e08ff70e53" providerId="LiveId" clId="{0D0B0BCC-9322-4329-914E-89B2B727C81D}" dt="2026-09-10T01:50:10.549" v="1511" actId="14100"/>
          <ac:spMkLst>
            <pc:docMk/>
            <pc:sldMk cId="0" sldId="256"/>
            <ac:spMk id="16" creationId="{00000000-0000-0000-0000-000000000000}"/>
          </ac:spMkLst>
        </pc:spChg>
      </pc:sldChg>
      <pc:sldChg chg="modSp mod">
        <pc:chgData name="Guruprasad Mukund" userId="d73c77e08ff70e53" providerId="LiveId" clId="{0D0B0BCC-9322-4329-914E-89B2B727C81D}" dt="2026-09-10T01:57:55.282" v="1723" actId="20577"/>
        <pc:sldMkLst>
          <pc:docMk/>
          <pc:sldMk cId="0" sldId="257"/>
        </pc:sldMkLst>
        <pc:spChg chg="mod">
          <ac:chgData name="Guruprasad Mukund" userId="d73c77e08ff70e53" providerId="LiveId" clId="{0D0B0BCC-9322-4329-914E-89B2B727C81D}" dt="2026-09-10T01:57:55.282" v="1723" actId="20577"/>
          <ac:spMkLst>
            <pc:docMk/>
            <pc:sldMk cId="0" sldId="257"/>
            <ac:spMk id="38" creationId="{00000000-0000-0000-0000-000000000000}"/>
          </ac:spMkLst>
        </pc:spChg>
      </pc:sldChg>
      <pc:sldChg chg="modSp mod">
        <pc:chgData name="Guruprasad Mukund" userId="d73c77e08ff70e53" providerId="LiveId" clId="{0D0B0BCC-9322-4329-914E-89B2B727C81D}" dt="2026-09-10T01:59:54.337" v="1749" actId="20577"/>
        <pc:sldMkLst>
          <pc:docMk/>
          <pc:sldMk cId="0" sldId="259"/>
        </pc:sldMkLst>
        <pc:spChg chg="mod">
          <ac:chgData name="Guruprasad Mukund" userId="d73c77e08ff70e53" providerId="LiveId" clId="{0D0B0BCC-9322-4329-914E-89B2B727C81D}" dt="2026-09-10T01:50:38.072" v="1514" actId="20577"/>
          <ac:spMkLst>
            <pc:docMk/>
            <pc:sldMk cId="0" sldId="259"/>
            <ac:spMk id="71" creationId="{00000000-0000-0000-0000-000000000000}"/>
          </ac:spMkLst>
        </pc:spChg>
        <pc:spChg chg="mod">
          <ac:chgData name="Guruprasad Mukund" userId="d73c77e08ff70e53" providerId="LiveId" clId="{0D0B0BCC-9322-4329-914E-89B2B727C81D}" dt="2026-09-09T15:21:10.513" v="29" actId="20577"/>
          <ac:spMkLst>
            <pc:docMk/>
            <pc:sldMk cId="0" sldId="259"/>
            <ac:spMk id="74" creationId="{00000000-0000-0000-0000-000000000000}"/>
          </ac:spMkLst>
        </pc:spChg>
        <pc:spChg chg="mod">
          <ac:chgData name="Guruprasad Mukund" userId="d73c77e08ff70e53" providerId="LiveId" clId="{0D0B0BCC-9322-4329-914E-89B2B727C81D}" dt="2026-09-10T01:59:54.337" v="1749" actId="20577"/>
          <ac:spMkLst>
            <pc:docMk/>
            <pc:sldMk cId="0" sldId="259"/>
            <ac:spMk id="84" creationId="{00000000-0000-0000-0000-000000000000}"/>
          </ac:spMkLst>
        </pc:spChg>
      </pc:sldChg>
      <pc:sldChg chg="addSp delSp modSp mod">
        <pc:chgData name="Guruprasad Mukund" userId="d73c77e08ff70e53" providerId="LiveId" clId="{0D0B0BCC-9322-4329-914E-89B2B727C81D}" dt="2026-09-10T01:02:37.262" v="537" actId="1076"/>
        <pc:sldMkLst>
          <pc:docMk/>
          <pc:sldMk cId="0" sldId="262"/>
        </pc:sldMkLst>
        <pc:picChg chg="add mod">
          <ac:chgData name="Guruprasad Mukund" userId="d73c77e08ff70e53" providerId="LiveId" clId="{0D0B0BCC-9322-4329-914E-89B2B727C81D}" dt="2026-09-10T01:02:37.262" v="537" actId="1076"/>
          <ac:picMkLst>
            <pc:docMk/>
            <pc:sldMk cId="0" sldId="262"/>
            <ac:picMk id="3" creationId="{DEE8E7B0-F64D-0475-69E0-A574989282B9}"/>
          </ac:picMkLst>
        </pc:picChg>
        <pc:picChg chg="del">
          <ac:chgData name="Guruprasad Mukund" userId="d73c77e08ff70e53" providerId="LiveId" clId="{0D0B0BCC-9322-4329-914E-89B2B727C81D}" dt="2026-09-10T01:02:30.220" v="534" actId="478"/>
          <ac:picMkLst>
            <pc:docMk/>
            <pc:sldMk cId="0" sldId="262"/>
            <ac:picMk id="123" creationId="{00000000-0000-0000-0000-000000000000}"/>
          </ac:picMkLst>
        </pc:picChg>
      </pc:sldChg>
      <pc:sldChg chg="modSp mod modNotesTx">
        <pc:chgData name="Guruprasad Mukund" userId="d73c77e08ff70e53" providerId="LiveId" clId="{0D0B0BCC-9322-4329-914E-89B2B727C81D}" dt="2026-09-10T02:01:06.173" v="1826" actId="14100"/>
        <pc:sldMkLst>
          <pc:docMk/>
          <pc:sldMk cId="0" sldId="263"/>
        </pc:sldMkLst>
        <pc:spChg chg="mod">
          <ac:chgData name="Guruprasad Mukund" userId="d73c77e08ff70e53" providerId="LiveId" clId="{0D0B0BCC-9322-4329-914E-89B2B727C81D}" dt="2026-09-10T01:48:07.181" v="1501" actId="20577"/>
          <ac:spMkLst>
            <pc:docMk/>
            <pc:sldMk cId="0" sldId="263"/>
            <ac:spMk id="141" creationId="{00000000-0000-0000-0000-000000000000}"/>
          </ac:spMkLst>
        </pc:spChg>
        <pc:spChg chg="mod">
          <ac:chgData name="Guruprasad Mukund" userId="d73c77e08ff70e53" providerId="LiveId" clId="{0D0B0BCC-9322-4329-914E-89B2B727C81D}" dt="2026-09-10T01:03:05.711" v="552" actId="20577"/>
          <ac:spMkLst>
            <pc:docMk/>
            <pc:sldMk cId="0" sldId="263"/>
            <ac:spMk id="147" creationId="{00000000-0000-0000-0000-000000000000}"/>
          </ac:spMkLst>
        </pc:spChg>
        <pc:spChg chg="mod">
          <ac:chgData name="Guruprasad Mukund" userId="d73c77e08ff70e53" providerId="LiveId" clId="{0D0B0BCC-9322-4329-914E-89B2B727C81D}" dt="2026-09-10T01:02:46.813" v="548" actId="20577"/>
          <ac:spMkLst>
            <pc:docMk/>
            <pc:sldMk cId="0" sldId="263"/>
            <ac:spMk id="148" creationId="{00000000-0000-0000-0000-000000000000}"/>
          </ac:spMkLst>
        </pc:spChg>
        <pc:spChg chg="mod">
          <ac:chgData name="Guruprasad Mukund" userId="d73c77e08ff70e53" providerId="LiveId" clId="{0D0B0BCC-9322-4329-914E-89B2B727C81D}" dt="2026-09-10T02:01:06.173" v="1826" actId="14100"/>
          <ac:spMkLst>
            <pc:docMk/>
            <pc:sldMk cId="0" sldId="263"/>
            <ac:spMk id="149" creationId="{00000000-0000-0000-0000-000000000000}"/>
          </ac:spMkLst>
        </pc:spChg>
        <pc:spChg chg="mod">
          <ac:chgData name="Guruprasad Mukund" userId="d73c77e08ff70e53" providerId="LiveId" clId="{0D0B0BCC-9322-4329-914E-89B2B727C81D}" dt="2026-09-10T02:01:02.448" v="1825" actId="14100"/>
          <ac:spMkLst>
            <pc:docMk/>
            <pc:sldMk cId="0" sldId="263"/>
            <ac:spMk id="150" creationId="{00000000-0000-0000-0000-000000000000}"/>
          </ac:spMkLst>
        </pc:spChg>
      </pc:sldChg>
      <pc:sldChg chg="addSp delSp modSp mod">
        <pc:chgData name="Guruprasad Mukund" userId="d73c77e08ff70e53" providerId="LiveId" clId="{0D0B0BCC-9322-4329-914E-89B2B727C81D}" dt="2026-09-10T01:51:49.476" v="1531" actId="20577"/>
        <pc:sldMkLst>
          <pc:docMk/>
          <pc:sldMk cId="0" sldId="266"/>
        </pc:sldMkLst>
        <pc:spChg chg="mod">
          <ac:chgData name="Guruprasad Mukund" userId="d73c77e08ff70e53" providerId="LiveId" clId="{0D0B0BCC-9322-4329-914E-89B2B727C81D}" dt="2026-09-10T01:51:49.476" v="1531" actId="20577"/>
          <ac:spMkLst>
            <pc:docMk/>
            <pc:sldMk cId="0" sldId="266"/>
            <ac:spMk id="187" creationId="{00000000-0000-0000-0000-000000000000}"/>
          </ac:spMkLst>
        </pc:spChg>
        <pc:picChg chg="add mod">
          <ac:chgData name="Guruprasad Mukund" userId="d73c77e08ff70e53" providerId="LiveId" clId="{0D0B0BCC-9322-4329-914E-89B2B727C81D}" dt="2026-09-10T01:04:01.718" v="559" actId="14100"/>
          <ac:picMkLst>
            <pc:docMk/>
            <pc:sldMk cId="0" sldId="266"/>
            <ac:picMk id="3" creationId="{CEDDDF26-110C-96B8-A40E-B1C6462E00E5}"/>
          </ac:picMkLst>
        </pc:picChg>
        <pc:picChg chg="del">
          <ac:chgData name="Guruprasad Mukund" userId="d73c77e08ff70e53" providerId="LiveId" clId="{0D0B0BCC-9322-4329-914E-89B2B727C81D}" dt="2026-09-10T01:03:33.502" v="553" actId="478"/>
          <ac:picMkLst>
            <pc:docMk/>
            <pc:sldMk cId="0" sldId="266"/>
            <ac:picMk id="190" creationId="{00000000-0000-0000-0000-000000000000}"/>
          </ac:picMkLst>
        </pc:picChg>
      </pc:sldChg>
      <pc:sldChg chg="addSp modSp mod modNotesTx">
        <pc:chgData name="Guruprasad Mukund" userId="d73c77e08ff70e53" providerId="LiveId" clId="{0D0B0BCC-9322-4329-914E-89B2B727C81D}" dt="2026-09-10T02:04:39.234" v="1842" actId="20577"/>
        <pc:sldMkLst>
          <pc:docMk/>
          <pc:sldMk cId="0" sldId="267"/>
        </pc:sldMkLst>
        <pc:spChg chg="add mod">
          <ac:chgData name="Guruprasad Mukund" userId="d73c77e08ff70e53" providerId="LiveId" clId="{0D0B0BCC-9322-4329-914E-89B2B727C81D}" dt="2026-09-10T02:04:39.234" v="1842" actId="20577"/>
          <ac:spMkLst>
            <pc:docMk/>
            <pc:sldMk cId="0" sldId="267"/>
            <ac:spMk id="2" creationId="{C8D37A56-979B-B554-0A74-8F3D16D98EDB}"/>
          </ac:spMkLst>
        </pc:spChg>
        <pc:spChg chg="mod">
          <ac:chgData name="Guruprasad Mukund" userId="d73c77e08ff70e53" providerId="LiveId" clId="{0D0B0BCC-9322-4329-914E-89B2B727C81D}" dt="2026-09-10T01:52:12.834" v="1540" actId="5793"/>
          <ac:spMkLst>
            <pc:docMk/>
            <pc:sldMk cId="0" sldId="267"/>
            <ac:spMk id="198" creationId="{00000000-0000-0000-0000-000000000000}"/>
          </ac:spMkLst>
        </pc:spChg>
        <pc:spChg chg="mod">
          <ac:chgData name="Guruprasad Mukund" userId="d73c77e08ff70e53" providerId="LiveId" clId="{0D0B0BCC-9322-4329-914E-89B2B727C81D}" dt="2026-09-10T01:20:26.696" v="766" actId="20577"/>
          <ac:spMkLst>
            <pc:docMk/>
            <pc:sldMk cId="0" sldId="267"/>
            <ac:spMk id="199" creationId="{00000000-0000-0000-0000-000000000000}"/>
          </ac:spMkLst>
        </pc:spChg>
        <pc:spChg chg="mod">
          <ac:chgData name="Guruprasad Mukund" userId="d73c77e08ff70e53" providerId="LiveId" clId="{0D0B0BCC-9322-4329-914E-89B2B727C81D}" dt="2026-09-10T01:21:13.729" v="776" actId="20577"/>
          <ac:spMkLst>
            <pc:docMk/>
            <pc:sldMk cId="0" sldId="267"/>
            <ac:spMk id="204" creationId="{00000000-0000-0000-0000-000000000000}"/>
          </ac:spMkLst>
        </pc:spChg>
        <pc:spChg chg="mod">
          <ac:chgData name="Guruprasad Mukund" userId="d73c77e08ff70e53" providerId="LiveId" clId="{0D0B0BCC-9322-4329-914E-89B2B727C81D}" dt="2026-09-10T01:55:48.128" v="1705"/>
          <ac:spMkLst>
            <pc:docMk/>
            <pc:sldMk cId="0" sldId="267"/>
            <ac:spMk id="221" creationId="{00000000-0000-0000-0000-000000000000}"/>
          </ac:spMkLst>
        </pc:spChg>
      </pc:sldChg>
      <pc:sldChg chg="addSp delSp modSp mod">
        <pc:chgData name="Guruprasad Mukund" userId="d73c77e08ff70e53" providerId="LiveId" clId="{0D0B0BCC-9322-4329-914E-89B2B727C81D}" dt="2026-09-10T01:30:37.559" v="1295" actId="13926"/>
        <pc:sldMkLst>
          <pc:docMk/>
          <pc:sldMk cId="0" sldId="268"/>
        </pc:sldMkLst>
        <pc:spChg chg="mod">
          <ac:chgData name="Guruprasad Mukund" userId="d73c77e08ff70e53" providerId="LiveId" clId="{0D0B0BCC-9322-4329-914E-89B2B727C81D}" dt="2026-09-10T00:56:10.665" v="457" actId="20577"/>
          <ac:spMkLst>
            <pc:docMk/>
            <pc:sldMk cId="0" sldId="268"/>
            <ac:spMk id="230" creationId="{00000000-0000-0000-0000-000000000000}"/>
          </ac:spMkLst>
        </pc:spChg>
        <pc:spChg chg="mod">
          <ac:chgData name="Guruprasad Mukund" userId="d73c77e08ff70e53" providerId="LiveId" clId="{0D0B0BCC-9322-4329-914E-89B2B727C81D}" dt="2026-09-10T00:56:56.198" v="517" actId="14100"/>
          <ac:spMkLst>
            <pc:docMk/>
            <pc:sldMk cId="0" sldId="268"/>
            <ac:spMk id="233" creationId="{00000000-0000-0000-0000-000000000000}"/>
          </ac:spMkLst>
        </pc:spChg>
        <pc:spChg chg="mod">
          <ac:chgData name="Guruprasad Mukund" userId="d73c77e08ff70e53" providerId="LiveId" clId="{0D0B0BCC-9322-4329-914E-89B2B727C81D}" dt="2026-09-10T00:56:59.845" v="518" actId="14100"/>
          <ac:spMkLst>
            <pc:docMk/>
            <pc:sldMk cId="0" sldId="268"/>
            <ac:spMk id="234" creationId="{00000000-0000-0000-0000-000000000000}"/>
          </ac:spMkLst>
        </pc:spChg>
        <pc:spChg chg="mod">
          <ac:chgData name="Guruprasad Mukund" userId="d73c77e08ff70e53" providerId="LiveId" clId="{0D0B0BCC-9322-4329-914E-89B2B727C81D}" dt="2026-09-10T01:30:37.559" v="1295" actId="13926"/>
          <ac:spMkLst>
            <pc:docMk/>
            <pc:sldMk cId="0" sldId="268"/>
            <ac:spMk id="237" creationId="{00000000-0000-0000-0000-000000000000}"/>
          </ac:spMkLst>
        </pc:spChg>
        <pc:picChg chg="add del mod">
          <ac:chgData name="Guruprasad Mukund" userId="d73c77e08ff70e53" providerId="LiveId" clId="{0D0B0BCC-9322-4329-914E-89B2B727C81D}" dt="2026-09-09T19:14:26.348" v="176" actId="478"/>
          <ac:picMkLst>
            <pc:docMk/>
            <pc:sldMk cId="0" sldId="268"/>
            <ac:picMk id="3" creationId="{F60D23B3-F865-B5C8-5FD4-136A74434252}"/>
          </ac:picMkLst>
        </pc:picChg>
        <pc:picChg chg="add del mod">
          <ac:chgData name="Guruprasad Mukund" userId="d73c77e08ff70e53" providerId="LiveId" clId="{0D0B0BCC-9322-4329-914E-89B2B727C81D}" dt="2026-09-10T01:29:52.339" v="1273" actId="478"/>
          <ac:picMkLst>
            <pc:docMk/>
            <pc:sldMk cId="0" sldId="268"/>
            <ac:picMk id="5" creationId="{3E8BD0D6-4F08-3DEE-78B8-8AC8EADC4326}"/>
          </ac:picMkLst>
        </pc:picChg>
        <pc:picChg chg="add mod">
          <ac:chgData name="Guruprasad Mukund" userId="d73c77e08ff70e53" providerId="LiveId" clId="{0D0B0BCC-9322-4329-914E-89B2B727C81D}" dt="2026-09-10T01:30:17.550" v="1282" actId="14100"/>
          <ac:picMkLst>
            <pc:docMk/>
            <pc:sldMk cId="0" sldId="268"/>
            <ac:picMk id="7" creationId="{99292005-9860-C053-93FE-044FF50AD97E}"/>
          </ac:picMkLst>
        </pc:picChg>
        <pc:picChg chg="del">
          <ac:chgData name="Guruprasad Mukund" userId="d73c77e08ff70e53" providerId="LiveId" clId="{0D0B0BCC-9322-4329-914E-89B2B727C81D}" dt="2026-09-09T19:14:05.493" v="170" actId="478"/>
          <ac:picMkLst>
            <pc:docMk/>
            <pc:sldMk cId="0" sldId="268"/>
            <ac:picMk id="232" creationId="{00000000-0000-0000-0000-000000000000}"/>
          </ac:picMkLst>
        </pc:picChg>
      </pc:sldChg>
      <pc:sldChg chg="modSp mod ord">
        <pc:chgData name="Guruprasad Mukund" userId="d73c77e08ff70e53" providerId="LiveId" clId="{0D0B0BCC-9322-4329-914E-89B2B727C81D}" dt="2026-09-10T01:20:13.559" v="751" actId="20577"/>
        <pc:sldMkLst>
          <pc:docMk/>
          <pc:sldMk cId="0" sldId="269"/>
        </pc:sldMkLst>
        <pc:spChg chg="mod">
          <ac:chgData name="Guruprasad Mukund" userId="d73c77e08ff70e53" providerId="LiveId" clId="{0D0B0BCC-9322-4329-914E-89B2B727C81D}" dt="2026-09-10T01:19:51.910" v="719" actId="20577"/>
          <ac:spMkLst>
            <pc:docMk/>
            <pc:sldMk cId="0" sldId="269"/>
            <ac:spMk id="247" creationId="{00000000-0000-0000-0000-000000000000}"/>
          </ac:spMkLst>
        </pc:spChg>
        <pc:spChg chg="mod">
          <ac:chgData name="Guruprasad Mukund" userId="d73c77e08ff70e53" providerId="LiveId" clId="{0D0B0BCC-9322-4329-914E-89B2B727C81D}" dt="2026-09-10T01:20:13.559" v="751" actId="20577"/>
          <ac:spMkLst>
            <pc:docMk/>
            <pc:sldMk cId="0" sldId="269"/>
            <ac:spMk id="251" creationId="{00000000-0000-0000-0000-000000000000}"/>
          </ac:spMkLst>
        </pc:spChg>
        <pc:spChg chg="mod">
          <ac:chgData name="Guruprasad Mukund" userId="d73c77e08ff70e53" providerId="LiveId" clId="{0D0B0BCC-9322-4329-914E-89B2B727C81D}" dt="2026-09-10T01:19:58.166" v="724" actId="20577"/>
          <ac:spMkLst>
            <pc:docMk/>
            <pc:sldMk cId="0" sldId="269"/>
            <ac:spMk id="253" creationId="{00000000-0000-0000-0000-000000000000}"/>
          </ac:spMkLst>
        </pc:spChg>
      </pc:sldChg>
      <pc:sldChg chg="modSp mod ord">
        <pc:chgData name="Guruprasad Mukund" userId="d73c77e08ff70e53" providerId="LiveId" clId="{0D0B0BCC-9322-4329-914E-89B2B727C81D}" dt="2026-09-10T02:06:42.413" v="1846"/>
        <pc:sldMkLst>
          <pc:docMk/>
          <pc:sldMk cId="0" sldId="270"/>
        </pc:sldMkLst>
        <pc:spChg chg="mod">
          <ac:chgData name="Guruprasad Mukund" userId="d73c77e08ff70e53" providerId="LiveId" clId="{0D0B0BCC-9322-4329-914E-89B2B727C81D}" dt="2026-09-10T01:51:14.792" v="1515" actId="20577"/>
          <ac:spMkLst>
            <pc:docMk/>
            <pc:sldMk cId="0" sldId="270"/>
            <ac:spMk id="281" creationId="{00000000-0000-0000-0000-000000000000}"/>
          </ac:spMkLst>
        </pc:spChg>
        <pc:spChg chg="mod">
          <ac:chgData name="Guruprasad Mukund" userId="d73c77e08ff70e53" providerId="LiveId" clId="{0D0B0BCC-9322-4329-914E-89B2B727C81D}" dt="2026-09-10T01:51:17.284" v="1525" actId="20577"/>
          <ac:spMkLst>
            <pc:docMk/>
            <pc:sldMk cId="0" sldId="270"/>
            <ac:spMk id="282" creationId="{00000000-0000-0000-0000-000000000000}"/>
          </ac:spMkLst>
        </pc:spChg>
        <pc:graphicFrameChg chg="mod">
          <ac:chgData name="Guruprasad Mukund" userId="d73c77e08ff70e53" providerId="LiveId" clId="{0D0B0BCC-9322-4329-914E-89B2B727C81D}" dt="2026-09-10T01:51:22.217" v="1527"/>
          <ac:graphicFrameMkLst>
            <pc:docMk/>
            <pc:sldMk cId="0" sldId="270"/>
            <ac:graphicFrameMk id="287" creationId="{00000000-0000-0000-0000-000000000000}"/>
          </ac:graphicFrameMkLst>
        </pc:graphicFrameChg>
      </pc:sldChg>
      <pc:sldChg chg="ord">
        <pc:chgData name="Guruprasad Mukund" userId="d73c77e08ff70e53" providerId="LiveId" clId="{0D0B0BCC-9322-4329-914E-89B2B727C81D}" dt="2026-09-10T02:06:42.413" v="1846"/>
        <pc:sldMkLst>
          <pc:docMk/>
          <pc:sldMk cId="0" sldId="271"/>
        </pc:sldMkLst>
      </pc:sldChg>
      <pc:sldChg chg="addSp delSp modSp mod">
        <pc:chgData name="Guruprasad Mukund" userId="d73c77e08ff70e53" providerId="LiveId" clId="{0D0B0BCC-9322-4329-914E-89B2B727C81D}" dt="2026-09-10T01:33:17.834" v="1392" actId="1076"/>
        <pc:sldMkLst>
          <pc:docMk/>
          <pc:sldMk cId="0" sldId="281"/>
        </pc:sldMkLst>
        <pc:spChg chg="add mod">
          <ac:chgData name="Guruprasad Mukund" userId="d73c77e08ff70e53" providerId="LiveId" clId="{0D0B0BCC-9322-4329-914E-89B2B727C81D}" dt="2026-09-09T22:13:37.754" v="375" actId="1076"/>
          <ac:spMkLst>
            <pc:docMk/>
            <pc:sldMk cId="0" sldId="281"/>
            <ac:spMk id="3" creationId="{D9336FBD-56AB-0DCC-7042-3E144F6E2E31}"/>
          </ac:spMkLst>
        </pc:spChg>
        <pc:spChg chg="add mod">
          <ac:chgData name="Guruprasad Mukund" userId="d73c77e08ff70e53" providerId="LiveId" clId="{0D0B0BCC-9322-4329-914E-89B2B727C81D}" dt="2026-09-09T22:13:39.975" v="381" actId="20577"/>
          <ac:spMkLst>
            <pc:docMk/>
            <pc:sldMk cId="0" sldId="281"/>
            <ac:spMk id="5" creationId="{D0D2EC64-108E-C2CE-C15D-77BA02592284}"/>
          </ac:spMkLst>
        </pc:spChg>
        <pc:spChg chg="add mod">
          <ac:chgData name="Guruprasad Mukund" userId="d73c77e08ff70e53" providerId="LiveId" clId="{0D0B0BCC-9322-4329-914E-89B2B727C81D}" dt="2026-09-09T22:13:37.754" v="375" actId="1076"/>
          <ac:spMkLst>
            <pc:docMk/>
            <pc:sldMk cId="0" sldId="281"/>
            <ac:spMk id="7" creationId="{03257123-AF1A-E834-49A8-B379A9948D0E}"/>
          </ac:spMkLst>
        </pc:spChg>
        <pc:spChg chg="add mod">
          <ac:chgData name="Guruprasad Mukund" userId="d73c77e08ff70e53" providerId="LiveId" clId="{0D0B0BCC-9322-4329-914E-89B2B727C81D}" dt="2026-09-10T01:33:17.834" v="1392" actId="1076"/>
          <ac:spMkLst>
            <pc:docMk/>
            <pc:sldMk cId="0" sldId="281"/>
            <ac:spMk id="9" creationId="{9ADF21EF-82E6-16B0-DBE1-357195DBE27F}"/>
          </ac:spMkLst>
        </pc:spChg>
        <pc:spChg chg="add mod">
          <ac:chgData name="Guruprasad Mukund" userId="d73c77e08ff70e53" providerId="LiveId" clId="{0D0B0BCC-9322-4329-914E-89B2B727C81D}" dt="2026-09-09T22:13:37.754" v="375" actId="1076"/>
          <ac:spMkLst>
            <pc:docMk/>
            <pc:sldMk cId="0" sldId="281"/>
            <ac:spMk id="11" creationId="{E6EBDC76-7503-F088-86D7-CDB1E069855A}"/>
          </ac:spMkLst>
        </pc:spChg>
        <pc:spChg chg="add mod">
          <ac:chgData name="Guruprasad Mukund" userId="d73c77e08ff70e53" providerId="LiveId" clId="{0D0B0BCC-9322-4329-914E-89B2B727C81D}" dt="2026-09-10T01:33:17.834" v="1392" actId="1076"/>
          <ac:spMkLst>
            <pc:docMk/>
            <pc:sldMk cId="0" sldId="281"/>
            <ac:spMk id="13" creationId="{E1DE4A54-3686-0363-E508-EB2305D51EAB}"/>
          </ac:spMkLst>
        </pc:spChg>
        <pc:spChg chg="add mod">
          <ac:chgData name="Guruprasad Mukund" userId="d73c77e08ff70e53" providerId="LiveId" clId="{0D0B0BCC-9322-4329-914E-89B2B727C81D}" dt="2026-09-10T01:31:04.174" v="1305" actId="207"/>
          <ac:spMkLst>
            <pc:docMk/>
            <pc:sldMk cId="0" sldId="281"/>
            <ac:spMk id="15" creationId="{98FB4E81-6EB1-23DD-51A5-7C512CA3110B}"/>
          </ac:spMkLst>
        </pc:spChg>
        <pc:spChg chg="add mod">
          <ac:chgData name="Guruprasad Mukund" userId="d73c77e08ff70e53" providerId="LiveId" clId="{0D0B0BCC-9322-4329-914E-89B2B727C81D}" dt="2026-09-10T01:30:58.396" v="1304" actId="1076"/>
          <ac:spMkLst>
            <pc:docMk/>
            <pc:sldMk cId="0" sldId="281"/>
            <ac:spMk id="17" creationId="{41B1E4C5-DC45-6B53-9A0E-31DFE2D5A497}"/>
          </ac:spMkLst>
        </pc:spChg>
        <pc:spChg chg="mod">
          <ac:chgData name="Guruprasad Mukund" userId="d73c77e08ff70e53" providerId="LiveId" clId="{0D0B0BCC-9322-4329-914E-89B2B727C81D}" dt="2026-09-10T01:32:32.257" v="1389" actId="20577"/>
          <ac:spMkLst>
            <pc:docMk/>
            <pc:sldMk cId="0" sldId="281"/>
            <ac:spMk id="21" creationId="{601B0087-1513-B9AA-9C54-9CC7102012D6}"/>
          </ac:spMkLst>
        </pc:spChg>
        <pc:spChg chg="add mod">
          <ac:chgData name="Guruprasad Mukund" userId="d73c77e08ff70e53" providerId="LiveId" clId="{0D0B0BCC-9322-4329-914E-89B2B727C81D}" dt="2026-09-10T01:30:58.396" v="1304" actId="1076"/>
          <ac:spMkLst>
            <pc:docMk/>
            <pc:sldMk cId="0" sldId="281"/>
            <ac:spMk id="23" creationId="{9932D3B4-9BB5-A478-83A3-BF29B6FE5559}"/>
          </ac:spMkLst>
        </pc:spChg>
        <pc:spChg chg="add mod">
          <ac:chgData name="Guruprasad Mukund" userId="d73c77e08ff70e53" providerId="LiveId" clId="{0D0B0BCC-9322-4329-914E-89B2B727C81D}" dt="2026-09-10T01:30:58.396" v="1304" actId="1076"/>
          <ac:spMkLst>
            <pc:docMk/>
            <pc:sldMk cId="0" sldId="281"/>
            <ac:spMk id="27" creationId="{D11458F1-6E65-D378-C034-A4600CABF08A}"/>
          </ac:spMkLst>
        </pc:spChg>
        <pc:spChg chg="add del mod">
          <ac:chgData name="Guruprasad Mukund" userId="d73c77e08ff70e53" providerId="LiveId" clId="{0D0B0BCC-9322-4329-914E-89B2B727C81D}" dt="2026-09-10T01:33:06.923" v="1391" actId="478"/>
          <ac:spMkLst>
            <pc:docMk/>
            <pc:sldMk cId="0" sldId="281"/>
            <ac:spMk id="31" creationId="{F913C1EA-C8FF-ADBB-CACB-A9439138B324}"/>
          </ac:spMkLst>
        </pc:spChg>
        <pc:spChg chg="del mod">
          <ac:chgData name="Guruprasad Mukund" userId="d73c77e08ff70e53" providerId="LiveId" clId="{0D0B0BCC-9322-4329-914E-89B2B727C81D}" dt="2026-09-10T01:33:06.923" v="1391" actId="478"/>
          <ac:spMkLst>
            <pc:docMk/>
            <pc:sldMk cId="0" sldId="281"/>
            <ac:spMk id="33" creationId="{2B9E7E89-55CE-C45F-C61C-96CF7C9EA75C}"/>
          </ac:spMkLst>
        </pc:spChg>
        <pc:spChg chg="add mod">
          <ac:chgData name="Guruprasad Mukund" userId="d73c77e08ff70e53" providerId="LiveId" clId="{0D0B0BCC-9322-4329-914E-89B2B727C81D}" dt="2026-09-10T01:33:17.834" v="1392" actId="1076"/>
          <ac:spMkLst>
            <pc:docMk/>
            <pc:sldMk cId="0" sldId="281"/>
            <ac:spMk id="35" creationId="{6C1C5804-2174-034C-F1EA-F8FE1504C963}"/>
          </ac:spMkLst>
        </pc:spChg>
        <pc:spChg chg="add mod">
          <ac:chgData name="Guruprasad Mukund" userId="d73c77e08ff70e53" providerId="LiveId" clId="{0D0B0BCC-9322-4329-914E-89B2B727C81D}" dt="2026-09-10T01:30:58.396" v="1304" actId="1076"/>
          <ac:spMkLst>
            <pc:docMk/>
            <pc:sldMk cId="0" sldId="281"/>
            <ac:spMk id="39" creationId="{868552D9-342B-14A0-BF97-9B24BB968A81}"/>
          </ac:spMkLst>
        </pc:spChg>
        <pc:spChg chg="mod">
          <ac:chgData name="Guruprasad Mukund" userId="d73c77e08ff70e53" providerId="LiveId" clId="{0D0B0BCC-9322-4329-914E-89B2B727C81D}" dt="2026-09-10T01:31:15.587" v="1319" actId="20577"/>
          <ac:spMkLst>
            <pc:docMk/>
            <pc:sldMk cId="0" sldId="281"/>
            <ac:spMk id="41" creationId="{16E5110B-7699-E58E-6776-300C04200060}"/>
          </ac:spMkLst>
        </pc:spChg>
        <pc:spChg chg="add mod">
          <ac:chgData name="Guruprasad Mukund" userId="d73c77e08ff70e53" providerId="LiveId" clId="{0D0B0BCC-9322-4329-914E-89B2B727C81D}" dt="2026-09-10T01:33:17.834" v="1392" actId="1076"/>
          <ac:spMkLst>
            <pc:docMk/>
            <pc:sldMk cId="0" sldId="281"/>
            <ac:spMk id="45" creationId="{4D6E2062-7432-CCE1-6C6E-1833F7D2E34B}"/>
          </ac:spMkLst>
        </pc:spChg>
        <pc:spChg chg="add mod">
          <ac:chgData name="Guruprasad Mukund" userId="d73c77e08ff70e53" providerId="LiveId" clId="{0D0B0BCC-9322-4329-914E-89B2B727C81D}" dt="2026-09-10T01:30:58.396" v="1304" actId="1076"/>
          <ac:spMkLst>
            <pc:docMk/>
            <pc:sldMk cId="0" sldId="281"/>
            <ac:spMk id="47" creationId="{3BF0F194-7FE3-E1DC-AA2B-25EC9965AC45}"/>
          </ac:spMkLst>
        </pc:spChg>
        <pc:spChg chg="mod">
          <ac:chgData name="Guruprasad Mukund" userId="d73c77e08ff70e53" providerId="LiveId" clId="{0D0B0BCC-9322-4329-914E-89B2B727C81D}" dt="2026-09-10T01:32:40.195" v="1390" actId="20577"/>
          <ac:spMkLst>
            <pc:docMk/>
            <pc:sldMk cId="0" sldId="281"/>
            <ac:spMk id="49" creationId="{5067CB30-48E0-05D0-4432-7BC6404798B4}"/>
          </ac:spMkLst>
        </pc:spChg>
        <pc:spChg chg="add mod">
          <ac:chgData name="Guruprasad Mukund" userId="d73c77e08ff70e53" providerId="LiveId" clId="{0D0B0BCC-9322-4329-914E-89B2B727C81D}" dt="2026-09-10T01:30:58.396" v="1304" actId="1076"/>
          <ac:spMkLst>
            <pc:docMk/>
            <pc:sldMk cId="0" sldId="281"/>
            <ac:spMk id="53" creationId="{287C0405-C40D-799C-C3D9-F6AD6C402177}"/>
          </ac:spMkLst>
        </pc:spChg>
        <pc:spChg chg="add mod">
          <ac:chgData name="Guruprasad Mukund" userId="d73c77e08ff70e53" providerId="LiveId" clId="{0D0B0BCC-9322-4329-914E-89B2B727C81D}" dt="2026-09-10T01:31:34.598" v="1325" actId="14100"/>
          <ac:spMkLst>
            <pc:docMk/>
            <pc:sldMk cId="0" sldId="281"/>
            <ac:spMk id="55" creationId="{EC1ADB71-E676-26AC-34CE-537E5A8D0723}"/>
          </ac:spMkLst>
        </pc:spChg>
        <pc:spChg chg="mod">
          <ac:chgData name="Guruprasad Mukund" userId="d73c77e08ff70e53" providerId="LiveId" clId="{0D0B0BCC-9322-4329-914E-89B2B727C81D}" dt="2026-09-10T00:55:50.718" v="431" actId="20577"/>
          <ac:spMkLst>
            <pc:docMk/>
            <pc:sldMk cId="0" sldId="281"/>
            <ac:spMk id="574" creationId="{00000000-0000-0000-0000-000000000000}"/>
          </ac:spMkLst>
        </pc:spChg>
        <pc:spChg chg="mod">
          <ac:chgData name="Guruprasad Mukund" userId="d73c77e08ff70e53" providerId="LiveId" clId="{0D0B0BCC-9322-4329-914E-89B2B727C81D}" dt="2026-09-10T01:30:48.701" v="1302" actId="20577"/>
          <ac:spMkLst>
            <pc:docMk/>
            <pc:sldMk cId="0" sldId="281"/>
            <ac:spMk id="581" creationId="{00000000-0000-0000-0000-000000000000}"/>
          </ac:spMkLst>
        </pc:spChg>
        <pc:spChg chg="del">
          <ac:chgData name="Guruprasad Mukund" userId="d73c77e08ff70e53" providerId="LiveId" clId="{0D0B0BCC-9322-4329-914E-89B2B727C81D}" dt="2026-09-10T01:33:06.923" v="1391" actId="478"/>
          <ac:spMkLst>
            <pc:docMk/>
            <pc:sldMk cId="0" sldId="281"/>
            <ac:spMk id="606" creationId="{00000000-0000-0000-0000-000000000000}"/>
          </ac:spMkLst>
        </pc:spChg>
        <pc:spChg chg="del">
          <ac:chgData name="Guruprasad Mukund" userId="d73c77e08ff70e53" providerId="LiveId" clId="{0D0B0BCC-9322-4329-914E-89B2B727C81D}" dt="2026-09-10T01:33:06.923" v="1391" actId="478"/>
          <ac:spMkLst>
            <pc:docMk/>
            <pc:sldMk cId="0" sldId="281"/>
            <ac:spMk id="607" creationId="{00000000-0000-0000-0000-000000000000}"/>
          </ac:spMkLst>
        </pc:spChg>
        <pc:spChg chg="del">
          <ac:chgData name="Guruprasad Mukund" userId="d73c77e08ff70e53" providerId="LiveId" clId="{0D0B0BCC-9322-4329-914E-89B2B727C81D}" dt="2026-09-10T01:33:06.923" v="1391" actId="478"/>
          <ac:spMkLst>
            <pc:docMk/>
            <pc:sldMk cId="0" sldId="281"/>
            <ac:spMk id="608" creationId="{00000000-0000-0000-0000-000000000000}"/>
          </ac:spMkLst>
        </pc:spChg>
        <pc:spChg chg="del">
          <ac:chgData name="Guruprasad Mukund" userId="d73c77e08ff70e53" providerId="LiveId" clId="{0D0B0BCC-9322-4329-914E-89B2B727C81D}" dt="2026-09-10T01:33:06.923" v="1391" actId="478"/>
          <ac:spMkLst>
            <pc:docMk/>
            <pc:sldMk cId="0" sldId="281"/>
            <ac:spMk id="609" creationId="{00000000-0000-0000-0000-000000000000}"/>
          </ac:spMkLst>
        </pc:spChg>
        <pc:spChg chg="del">
          <ac:chgData name="Guruprasad Mukund" userId="d73c77e08ff70e53" providerId="LiveId" clId="{0D0B0BCC-9322-4329-914E-89B2B727C81D}" dt="2026-09-10T01:33:06.923" v="1391" actId="478"/>
          <ac:spMkLst>
            <pc:docMk/>
            <pc:sldMk cId="0" sldId="281"/>
            <ac:spMk id="612" creationId="{00000000-0000-0000-0000-000000000000}"/>
          </ac:spMkLst>
        </pc:spChg>
        <pc:spChg chg="del">
          <ac:chgData name="Guruprasad Mukund" userId="d73c77e08ff70e53" providerId="LiveId" clId="{0D0B0BCC-9322-4329-914E-89B2B727C81D}" dt="2026-09-10T01:33:06.923" v="1391" actId="478"/>
          <ac:spMkLst>
            <pc:docMk/>
            <pc:sldMk cId="0" sldId="281"/>
            <ac:spMk id="613" creationId="{00000000-0000-0000-0000-000000000000}"/>
          </ac:spMkLst>
        </pc:spChg>
        <pc:spChg chg="mod">
          <ac:chgData name="Guruprasad Mukund" userId="d73c77e08ff70e53" providerId="LiveId" clId="{0D0B0BCC-9322-4329-914E-89B2B727C81D}" dt="2026-09-10T01:32:21.671" v="1382" actId="20577"/>
          <ac:spMkLst>
            <pc:docMk/>
            <pc:sldMk cId="0" sldId="281"/>
            <ac:spMk id="621" creationId="{00000000-0000-0000-0000-000000000000}"/>
          </ac:spMkLst>
        </pc:spChg>
        <pc:spChg chg="mod">
          <ac:chgData name="Guruprasad Mukund" userId="d73c77e08ff70e53" providerId="LiveId" clId="{0D0B0BCC-9322-4329-914E-89B2B727C81D}" dt="2026-09-10T01:33:17.834" v="1392" actId="1076"/>
          <ac:spMkLst>
            <pc:docMk/>
            <pc:sldMk cId="0" sldId="281"/>
            <ac:spMk id="623" creationId="{00000000-0000-0000-0000-000000000000}"/>
          </ac:spMkLst>
        </pc:spChg>
        <pc:spChg chg="mod">
          <ac:chgData name="Guruprasad Mukund" userId="d73c77e08ff70e53" providerId="LiveId" clId="{0D0B0BCC-9322-4329-914E-89B2B727C81D}" dt="2026-09-10T01:31:08.650" v="1309" actId="20577"/>
          <ac:spMkLst>
            <pc:docMk/>
            <pc:sldMk cId="0" sldId="281"/>
            <ac:spMk id="625" creationId="{00000000-0000-0000-0000-000000000000}"/>
          </ac:spMkLst>
        </pc:spChg>
        <pc:spChg chg="mod">
          <ac:chgData name="Guruprasad Mukund" userId="d73c77e08ff70e53" providerId="LiveId" clId="{0D0B0BCC-9322-4329-914E-89B2B727C81D}" dt="2026-09-10T01:31:21.328" v="1321" actId="14100"/>
          <ac:spMkLst>
            <pc:docMk/>
            <pc:sldMk cId="0" sldId="281"/>
            <ac:spMk id="628" creationId="{00000000-0000-0000-0000-000000000000}"/>
          </ac:spMkLst>
        </pc:spChg>
        <pc:spChg chg="mod">
          <ac:chgData name="Guruprasad Mukund" userId="d73c77e08ff70e53" providerId="LiveId" clId="{0D0B0BCC-9322-4329-914E-89B2B727C81D}" dt="2026-09-10T01:31:12.784" v="1315" actId="20577"/>
          <ac:spMkLst>
            <pc:docMk/>
            <pc:sldMk cId="0" sldId="281"/>
            <ac:spMk id="629" creationId="{00000000-0000-0000-0000-000000000000}"/>
          </ac:spMkLst>
        </pc:spChg>
        <pc:spChg chg="mod">
          <ac:chgData name="Guruprasad Mukund" userId="d73c77e08ff70e53" providerId="LiveId" clId="{0D0B0BCC-9322-4329-914E-89B2B727C81D}" dt="2026-09-09T22:13:25.408" v="373" actId="1076"/>
          <ac:spMkLst>
            <pc:docMk/>
            <pc:sldMk cId="0" sldId="281"/>
            <ac:spMk id="630" creationId="{00000000-0000-0000-0000-000000000000}"/>
          </ac:spMkLst>
        </pc:spChg>
        <pc:spChg chg="mod">
          <ac:chgData name="Guruprasad Mukund" userId="d73c77e08ff70e53" providerId="LiveId" clId="{0D0B0BCC-9322-4329-914E-89B2B727C81D}" dt="2026-09-09T22:13:25.408" v="373" actId="1076"/>
          <ac:spMkLst>
            <pc:docMk/>
            <pc:sldMk cId="0" sldId="281"/>
            <ac:spMk id="631" creationId="{00000000-0000-0000-0000-000000000000}"/>
          </ac:spMkLst>
        </pc:spChg>
        <pc:spChg chg="mod">
          <ac:chgData name="Guruprasad Mukund" userId="d73c77e08ff70e53" providerId="LiveId" clId="{0D0B0BCC-9322-4329-914E-89B2B727C81D}" dt="2026-09-10T01:33:17.834" v="1392" actId="1076"/>
          <ac:spMkLst>
            <pc:docMk/>
            <pc:sldMk cId="0" sldId="281"/>
            <ac:spMk id="632" creationId="{00000000-0000-0000-0000-000000000000}"/>
          </ac:spMkLst>
        </pc:spChg>
        <pc:spChg chg="mod">
          <ac:chgData name="Guruprasad Mukund" userId="d73c77e08ff70e53" providerId="LiveId" clId="{0D0B0BCC-9322-4329-914E-89B2B727C81D}" dt="2026-09-09T22:13:25.408" v="373" actId="1076"/>
          <ac:spMkLst>
            <pc:docMk/>
            <pc:sldMk cId="0" sldId="281"/>
            <ac:spMk id="633" creationId="{00000000-0000-0000-0000-000000000000}"/>
          </ac:spMkLst>
        </pc:spChg>
        <pc:spChg chg="mod">
          <ac:chgData name="Guruprasad Mukund" userId="d73c77e08ff70e53" providerId="LiveId" clId="{0D0B0BCC-9322-4329-914E-89B2B727C81D}" dt="2026-09-09T22:13:25.408" v="373" actId="1076"/>
          <ac:spMkLst>
            <pc:docMk/>
            <pc:sldMk cId="0" sldId="281"/>
            <ac:spMk id="636" creationId="{00000000-0000-0000-0000-000000000000}"/>
          </ac:spMkLst>
        </pc:spChg>
        <pc:spChg chg="mod">
          <ac:chgData name="Guruprasad Mukund" userId="d73c77e08ff70e53" providerId="LiveId" clId="{0D0B0BCC-9322-4329-914E-89B2B727C81D}" dt="2026-09-10T01:33:17.834" v="1392" actId="1076"/>
          <ac:spMkLst>
            <pc:docMk/>
            <pc:sldMk cId="0" sldId="281"/>
            <ac:spMk id="637" creationId="{00000000-0000-0000-0000-000000000000}"/>
          </ac:spMkLst>
        </pc:spChg>
        <pc:spChg chg="mod">
          <ac:chgData name="Guruprasad Mukund" userId="d73c77e08ff70e53" providerId="LiveId" clId="{0D0B0BCC-9322-4329-914E-89B2B727C81D}" dt="2026-09-10T01:33:17.834" v="1392" actId="1076"/>
          <ac:spMkLst>
            <pc:docMk/>
            <pc:sldMk cId="0" sldId="281"/>
            <ac:spMk id="638" creationId="{00000000-0000-0000-0000-000000000000}"/>
          </ac:spMkLst>
        </pc:spChg>
        <pc:spChg chg="mod">
          <ac:chgData name="Guruprasad Mukund" userId="d73c77e08ff70e53" providerId="LiveId" clId="{0D0B0BCC-9322-4329-914E-89B2B727C81D}" dt="2026-09-09T22:13:25.408" v="373" actId="1076"/>
          <ac:spMkLst>
            <pc:docMk/>
            <pc:sldMk cId="0" sldId="281"/>
            <ac:spMk id="639" creationId="{00000000-0000-0000-0000-000000000000}"/>
          </ac:spMkLst>
        </pc:spChg>
        <pc:spChg chg="mod">
          <ac:chgData name="Guruprasad Mukund" userId="d73c77e08ff70e53" providerId="LiveId" clId="{0D0B0BCC-9322-4329-914E-89B2B727C81D}" dt="2026-09-09T22:13:25.408" v="373" actId="1076"/>
          <ac:spMkLst>
            <pc:docMk/>
            <pc:sldMk cId="0" sldId="281"/>
            <ac:spMk id="640" creationId="{00000000-0000-0000-0000-000000000000}"/>
          </ac:spMkLst>
        </pc:spChg>
        <pc:spChg chg="mod">
          <ac:chgData name="Guruprasad Mukund" userId="d73c77e08ff70e53" providerId="LiveId" clId="{0D0B0BCC-9322-4329-914E-89B2B727C81D}" dt="2026-09-10T01:33:17.834" v="1392" actId="1076"/>
          <ac:spMkLst>
            <pc:docMk/>
            <pc:sldMk cId="0" sldId="281"/>
            <ac:spMk id="641" creationId="{00000000-0000-0000-0000-000000000000}"/>
          </ac:spMkLst>
        </pc:spChg>
        <pc:spChg chg="mod">
          <ac:chgData name="Guruprasad Mukund" userId="d73c77e08ff70e53" providerId="LiveId" clId="{0D0B0BCC-9322-4329-914E-89B2B727C81D}" dt="2026-09-10T01:33:17.834" v="1392" actId="1076"/>
          <ac:spMkLst>
            <pc:docMk/>
            <pc:sldMk cId="0" sldId="281"/>
            <ac:spMk id="644" creationId="{00000000-0000-0000-0000-000000000000}"/>
          </ac:spMkLst>
        </pc:spChg>
        <pc:spChg chg="mod">
          <ac:chgData name="Guruprasad Mukund" userId="d73c77e08ff70e53" providerId="LiveId" clId="{0D0B0BCC-9322-4329-914E-89B2B727C81D}" dt="2026-09-09T22:13:25.408" v="373" actId="1076"/>
          <ac:spMkLst>
            <pc:docMk/>
            <pc:sldMk cId="0" sldId="281"/>
            <ac:spMk id="645" creationId="{00000000-0000-0000-0000-000000000000}"/>
          </ac:spMkLst>
        </pc:spChg>
        <pc:spChg chg="del">
          <ac:chgData name="Guruprasad Mukund" userId="d73c77e08ff70e53" providerId="LiveId" clId="{0D0B0BCC-9322-4329-914E-89B2B727C81D}" dt="2026-09-10T01:31:25.905" v="1322" actId="478"/>
          <ac:spMkLst>
            <pc:docMk/>
            <pc:sldMk cId="0" sldId="281"/>
            <ac:spMk id="646" creationId="{00000000-0000-0000-0000-000000000000}"/>
          </ac:spMkLst>
        </pc:spChg>
      </pc:sldChg>
      <pc:sldChg chg="addSp modSp mod">
        <pc:chgData name="Guruprasad Mukund" userId="d73c77e08ff70e53" providerId="LiveId" clId="{0D0B0BCC-9322-4329-914E-89B2B727C81D}" dt="2026-09-09T22:12:46.454" v="372" actId="20577"/>
        <pc:sldMkLst>
          <pc:docMk/>
          <pc:sldMk cId="0" sldId="282"/>
        </pc:sldMkLst>
        <pc:spChg chg="add mod">
          <ac:chgData name="Guruprasad Mukund" userId="d73c77e08ff70e53" providerId="LiveId" clId="{0D0B0BCC-9322-4329-914E-89B2B727C81D}" dt="2026-09-09T22:06:01.544" v="201" actId="1076"/>
          <ac:spMkLst>
            <pc:docMk/>
            <pc:sldMk cId="0" sldId="282"/>
            <ac:spMk id="3" creationId="{DFF6A84E-9513-957E-E34D-8EFC9977EBE6}"/>
          </ac:spMkLst>
        </pc:spChg>
        <pc:spChg chg="add mod">
          <ac:chgData name="Guruprasad Mukund" userId="d73c77e08ff70e53" providerId="LiveId" clId="{0D0B0BCC-9322-4329-914E-89B2B727C81D}" dt="2026-09-09T22:06:01.544" v="201" actId="1076"/>
          <ac:spMkLst>
            <pc:docMk/>
            <pc:sldMk cId="0" sldId="282"/>
            <ac:spMk id="5" creationId="{CCBA13A7-2430-2F50-B3B3-1092E0231EDE}"/>
          </ac:spMkLst>
        </pc:spChg>
        <pc:spChg chg="add mod">
          <ac:chgData name="Guruprasad Mukund" userId="d73c77e08ff70e53" providerId="LiveId" clId="{0D0B0BCC-9322-4329-914E-89B2B727C81D}" dt="2026-09-09T22:07:29.843" v="256" actId="20577"/>
          <ac:spMkLst>
            <pc:docMk/>
            <pc:sldMk cId="0" sldId="282"/>
            <ac:spMk id="9" creationId="{07BB90D9-B4FD-652D-DF9F-D8E83D903F5B}"/>
          </ac:spMkLst>
        </pc:spChg>
        <pc:spChg chg="add mod">
          <ac:chgData name="Guruprasad Mukund" userId="d73c77e08ff70e53" providerId="LiveId" clId="{0D0B0BCC-9322-4329-914E-89B2B727C81D}" dt="2026-09-09T22:12:46.454" v="372" actId="20577"/>
          <ac:spMkLst>
            <pc:docMk/>
            <pc:sldMk cId="0" sldId="282"/>
            <ac:spMk id="11" creationId="{03522767-4AC8-D8CF-8541-FA7B7F4D2C3F}"/>
          </ac:spMkLst>
        </pc:spChg>
        <pc:spChg chg="mod">
          <ac:chgData name="Guruprasad Mukund" userId="d73c77e08ff70e53" providerId="LiveId" clId="{0D0B0BCC-9322-4329-914E-89B2B727C81D}" dt="2026-09-09T22:06:09.980" v="202" actId="1076"/>
          <ac:spMkLst>
            <pc:docMk/>
            <pc:sldMk cId="0" sldId="282"/>
            <ac:spMk id="665" creationId="{00000000-0000-0000-0000-000000000000}"/>
          </ac:spMkLst>
        </pc:spChg>
        <pc:spChg chg="mod">
          <ac:chgData name="Guruprasad Mukund" userId="d73c77e08ff70e53" providerId="LiveId" clId="{0D0B0BCC-9322-4329-914E-89B2B727C81D}" dt="2026-09-09T22:06:09.980" v="202" actId="1076"/>
          <ac:spMkLst>
            <pc:docMk/>
            <pc:sldMk cId="0" sldId="282"/>
            <ac:spMk id="666" creationId="{00000000-0000-0000-0000-000000000000}"/>
          </ac:spMkLst>
        </pc:spChg>
        <pc:spChg chg="mod">
          <ac:chgData name="Guruprasad Mukund" userId="d73c77e08ff70e53" providerId="LiveId" clId="{0D0B0BCC-9322-4329-914E-89B2B727C81D}" dt="2026-09-09T22:06:09.980" v="202" actId="1076"/>
          <ac:spMkLst>
            <pc:docMk/>
            <pc:sldMk cId="0" sldId="282"/>
            <ac:spMk id="668" creationId="{00000000-0000-0000-0000-000000000000}"/>
          </ac:spMkLst>
        </pc:spChg>
        <pc:spChg chg="mod">
          <ac:chgData name="Guruprasad Mukund" userId="d73c77e08ff70e53" providerId="LiveId" clId="{0D0B0BCC-9322-4329-914E-89B2B727C81D}" dt="2026-09-09T22:06:09.980" v="202" actId="1076"/>
          <ac:spMkLst>
            <pc:docMk/>
            <pc:sldMk cId="0" sldId="282"/>
            <ac:spMk id="669" creationId="{00000000-0000-0000-0000-000000000000}"/>
          </ac:spMkLst>
        </pc:spChg>
        <pc:spChg chg="mod">
          <ac:chgData name="Guruprasad Mukund" userId="d73c77e08ff70e53" providerId="LiveId" clId="{0D0B0BCC-9322-4329-914E-89B2B727C81D}" dt="2026-09-09T22:06:32.895" v="205" actId="1076"/>
          <ac:spMkLst>
            <pc:docMk/>
            <pc:sldMk cId="0" sldId="282"/>
            <ac:spMk id="670" creationId="{00000000-0000-0000-0000-000000000000}"/>
          </ac:spMkLst>
        </pc:spChg>
        <pc:spChg chg="mod">
          <ac:chgData name="Guruprasad Mukund" userId="d73c77e08ff70e53" providerId="LiveId" clId="{0D0B0BCC-9322-4329-914E-89B2B727C81D}" dt="2026-09-09T22:06:32.895" v="205" actId="1076"/>
          <ac:spMkLst>
            <pc:docMk/>
            <pc:sldMk cId="0" sldId="282"/>
            <ac:spMk id="671" creationId="{00000000-0000-0000-0000-000000000000}"/>
          </ac:spMkLst>
        </pc:spChg>
        <pc:spChg chg="mod">
          <ac:chgData name="Guruprasad Mukund" userId="d73c77e08ff70e53" providerId="LiveId" clId="{0D0B0BCC-9322-4329-914E-89B2B727C81D}" dt="2026-09-09T22:06:32.895" v="205" actId="1076"/>
          <ac:spMkLst>
            <pc:docMk/>
            <pc:sldMk cId="0" sldId="282"/>
            <ac:spMk id="673" creationId="{00000000-0000-0000-0000-000000000000}"/>
          </ac:spMkLst>
        </pc:spChg>
        <pc:spChg chg="mod">
          <ac:chgData name="Guruprasad Mukund" userId="d73c77e08ff70e53" providerId="LiveId" clId="{0D0B0BCC-9322-4329-914E-89B2B727C81D}" dt="2026-09-09T22:06:32.895" v="205" actId="1076"/>
          <ac:spMkLst>
            <pc:docMk/>
            <pc:sldMk cId="0" sldId="282"/>
            <ac:spMk id="674" creationId="{00000000-0000-0000-0000-000000000000}"/>
          </ac:spMkLst>
        </pc:spChg>
        <pc:spChg chg="mod">
          <ac:chgData name="Guruprasad Mukund" userId="d73c77e08ff70e53" providerId="LiveId" clId="{0D0B0BCC-9322-4329-914E-89B2B727C81D}" dt="2026-09-09T22:07:10.192" v="213" actId="1076"/>
          <ac:spMkLst>
            <pc:docMk/>
            <pc:sldMk cId="0" sldId="282"/>
            <ac:spMk id="675" creationId="{00000000-0000-0000-0000-000000000000}"/>
          </ac:spMkLst>
        </pc:spChg>
        <pc:spChg chg="mod">
          <ac:chgData name="Guruprasad Mukund" userId="d73c77e08ff70e53" providerId="LiveId" clId="{0D0B0BCC-9322-4329-914E-89B2B727C81D}" dt="2026-09-09T22:06:43.079" v="206" actId="1076"/>
          <ac:spMkLst>
            <pc:docMk/>
            <pc:sldMk cId="0" sldId="282"/>
            <ac:spMk id="676" creationId="{00000000-0000-0000-0000-000000000000}"/>
          </ac:spMkLst>
        </pc:spChg>
        <pc:spChg chg="mod">
          <ac:chgData name="Guruprasad Mukund" userId="d73c77e08ff70e53" providerId="LiveId" clId="{0D0B0BCC-9322-4329-914E-89B2B727C81D}" dt="2026-09-09T22:06:43.079" v="206" actId="1076"/>
          <ac:spMkLst>
            <pc:docMk/>
            <pc:sldMk cId="0" sldId="282"/>
            <ac:spMk id="678" creationId="{00000000-0000-0000-0000-000000000000}"/>
          </ac:spMkLst>
        </pc:spChg>
        <pc:spChg chg="mod">
          <ac:chgData name="Guruprasad Mukund" userId="d73c77e08ff70e53" providerId="LiveId" clId="{0D0B0BCC-9322-4329-914E-89B2B727C81D}" dt="2026-09-09T22:06:43.079" v="206" actId="1076"/>
          <ac:spMkLst>
            <pc:docMk/>
            <pc:sldMk cId="0" sldId="282"/>
            <ac:spMk id="679" creationId="{00000000-0000-0000-0000-000000000000}"/>
          </ac:spMkLst>
        </pc:spChg>
        <pc:spChg chg="mod">
          <ac:chgData name="Guruprasad Mukund" userId="d73c77e08ff70e53" providerId="LiveId" clId="{0D0B0BCC-9322-4329-914E-89B2B727C81D}" dt="2026-09-09T22:07:05.325" v="211" actId="1076"/>
          <ac:spMkLst>
            <pc:docMk/>
            <pc:sldMk cId="0" sldId="282"/>
            <ac:spMk id="680" creationId="{00000000-0000-0000-0000-000000000000}"/>
          </ac:spMkLst>
        </pc:spChg>
        <pc:spChg chg="mod">
          <ac:chgData name="Guruprasad Mukund" userId="d73c77e08ff70e53" providerId="LiveId" clId="{0D0B0BCC-9322-4329-914E-89B2B727C81D}" dt="2026-09-09T22:07:05.325" v="211" actId="1076"/>
          <ac:spMkLst>
            <pc:docMk/>
            <pc:sldMk cId="0" sldId="282"/>
            <ac:spMk id="681" creationId="{00000000-0000-0000-0000-000000000000}"/>
          </ac:spMkLst>
        </pc:spChg>
        <pc:spChg chg="mod">
          <ac:chgData name="Guruprasad Mukund" userId="d73c77e08ff70e53" providerId="LiveId" clId="{0D0B0BCC-9322-4329-914E-89B2B727C81D}" dt="2026-09-09T22:07:05.325" v="211" actId="1076"/>
          <ac:spMkLst>
            <pc:docMk/>
            <pc:sldMk cId="0" sldId="282"/>
            <ac:spMk id="683" creationId="{00000000-0000-0000-0000-000000000000}"/>
          </ac:spMkLst>
        </pc:spChg>
        <pc:spChg chg="mod">
          <ac:chgData name="Guruprasad Mukund" userId="d73c77e08ff70e53" providerId="LiveId" clId="{0D0B0BCC-9322-4329-914E-89B2B727C81D}" dt="2026-09-09T22:07:05.325" v="211" actId="1076"/>
          <ac:spMkLst>
            <pc:docMk/>
            <pc:sldMk cId="0" sldId="282"/>
            <ac:spMk id="684" creationId="{00000000-0000-0000-0000-000000000000}"/>
          </ac:spMkLst>
        </pc:spChg>
        <pc:picChg chg="add mod">
          <ac:chgData name="Guruprasad Mukund" userId="d73c77e08ff70e53" providerId="LiveId" clId="{0D0B0BCC-9322-4329-914E-89B2B727C81D}" dt="2026-09-09T22:06:01.544" v="201" actId="1076"/>
          <ac:picMkLst>
            <pc:docMk/>
            <pc:sldMk cId="0" sldId="282"/>
            <ac:picMk id="7" creationId="{1266946C-07B3-0C6D-2824-D68D5AA74741}"/>
          </ac:picMkLst>
        </pc:picChg>
        <pc:picChg chg="mod">
          <ac:chgData name="Guruprasad Mukund" userId="d73c77e08ff70e53" providerId="LiveId" clId="{0D0B0BCC-9322-4329-914E-89B2B727C81D}" dt="2026-09-09T22:06:09.980" v="202" actId="1076"/>
          <ac:picMkLst>
            <pc:docMk/>
            <pc:sldMk cId="0" sldId="282"/>
            <ac:picMk id="667" creationId="{00000000-0000-0000-0000-000000000000}"/>
          </ac:picMkLst>
        </pc:picChg>
        <pc:picChg chg="mod">
          <ac:chgData name="Guruprasad Mukund" userId="d73c77e08ff70e53" providerId="LiveId" clId="{0D0B0BCC-9322-4329-914E-89B2B727C81D}" dt="2026-09-09T22:06:43.079" v="206" actId="1076"/>
          <ac:picMkLst>
            <pc:docMk/>
            <pc:sldMk cId="0" sldId="282"/>
            <ac:picMk id="677" creationId="{00000000-0000-0000-0000-000000000000}"/>
          </ac:picMkLst>
        </pc:picChg>
        <pc:picChg chg="mod">
          <ac:chgData name="Guruprasad Mukund" userId="d73c77e08ff70e53" providerId="LiveId" clId="{0D0B0BCC-9322-4329-914E-89B2B727C81D}" dt="2026-09-09T22:07:05.325" v="211" actId="1076"/>
          <ac:picMkLst>
            <pc:docMk/>
            <pc:sldMk cId="0" sldId="282"/>
            <ac:picMk id="682" creationId="{00000000-0000-0000-0000-000000000000}"/>
          </ac:picMkLst>
        </pc:picChg>
        <pc:picChg chg="mod">
          <ac:chgData name="Guruprasad Mukund" userId="d73c77e08ff70e53" providerId="LiveId" clId="{0D0B0BCC-9322-4329-914E-89B2B727C81D}" dt="2026-09-09T22:06:32.895" v="205" actId="1076"/>
          <ac:picMkLst>
            <pc:docMk/>
            <pc:sldMk cId="0" sldId="282"/>
            <ac:picMk id="685" creationId="{00000000-0000-0000-0000-000000000000}"/>
          </ac:picMkLst>
        </pc:picChg>
      </pc:sldChg>
      <pc:sldChg chg="modSp mod modNotesTx">
        <pc:chgData name="Guruprasad Mukund" userId="d73c77e08ff70e53" providerId="LiveId" clId="{0D0B0BCC-9322-4329-914E-89B2B727C81D}" dt="2026-09-10T02:26:48.685" v="2034" actId="20577"/>
        <pc:sldMkLst>
          <pc:docMk/>
          <pc:sldMk cId="0" sldId="283"/>
        </pc:sldMkLst>
        <pc:spChg chg="mod">
          <ac:chgData name="Guruprasad Mukund" userId="d73c77e08ff70e53" providerId="LiveId" clId="{0D0B0BCC-9322-4329-914E-89B2B727C81D}" dt="2026-09-10T02:26:48.685" v="2034" actId="20577"/>
          <ac:spMkLst>
            <pc:docMk/>
            <pc:sldMk cId="0" sldId="283"/>
            <ac:spMk id="707" creationId="{00000000-0000-0000-0000-000000000000}"/>
          </ac:spMkLst>
        </pc:spChg>
      </pc:sldChg>
      <pc:sldChg chg="modSp mod">
        <pc:chgData name="Guruprasad Mukund" userId="d73c77e08ff70e53" providerId="LiveId" clId="{0D0B0BCC-9322-4329-914E-89B2B727C81D}" dt="2026-09-10T01:58:18.077" v="1724"/>
        <pc:sldMkLst>
          <pc:docMk/>
          <pc:sldMk cId="0" sldId="284"/>
        </pc:sldMkLst>
        <pc:spChg chg="mod">
          <ac:chgData name="Guruprasad Mukund" userId="d73c77e08ff70e53" providerId="LiveId" clId="{0D0B0BCC-9322-4329-914E-89B2B727C81D}" dt="2026-09-10T01:58:18.077" v="1724"/>
          <ac:spMkLst>
            <pc:docMk/>
            <pc:sldMk cId="0" sldId="284"/>
            <ac:spMk id="731" creationId="{00000000-0000-0000-0000-000000000000}"/>
          </ac:spMkLst>
        </pc:spChg>
      </pc:sldChg>
      <pc:sldChg chg="addSp delSp modSp mod">
        <pc:chgData name="Guruprasad Mukund" userId="d73c77e08ff70e53" providerId="LiveId" clId="{0D0B0BCC-9322-4329-914E-89B2B727C81D}" dt="2026-09-10T01:58:26.991" v="1745" actId="20577"/>
        <pc:sldMkLst>
          <pc:docMk/>
          <pc:sldMk cId="0" sldId="285"/>
        </pc:sldMkLst>
        <pc:spChg chg="mod">
          <ac:chgData name="Guruprasad Mukund" userId="d73c77e08ff70e53" providerId="LiveId" clId="{0D0B0BCC-9322-4329-914E-89B2B727C81D}" dt="2026-09-09T22:15:10.889" v="420" actId="1076"/>
          <ac:spMkLst>
            <pc:docMk/>
            <pc:sldMk cId="0" sldId="285"/>
            <ac:spMk id="3" creationId="{41D1065D-162E-90E1-AE77-88E48C159AB3}"/>
          </ac:spMkLst>
        </pc:spChg>
        <pc:spChg chg="add mod">
          <ac:chgData name="Guruprasad Mukund" userId="d73c77e08ff70e53" providerId="LiveId" clId="{0D0B0BCC-9322-4329-914E-89B2B727C81D}" dt="2026-09-09T22:15:10.889" v="420" actId="1076"/>
          <ac:spMkLst>
            <pc:docMk/>
            <pc:sldMk cId="0" sldId="285"/>
            <ac:spMk id="4" creationId="{63F8A201-3B79-7587-CC0F-0BED91019C69}"/>
          </ac:spMkLst>
        </pc:spChg>
        <pc:spChg chg="mod">
          <ac:chgData name="Guruprasad Mukund" userId="d73c77e08ff70e53" providerId="LiveId" clId="{0D0B0BCC-9322-4329-914E-89B2B727C81D}" dt="2026-09-09T22:14:41.730" v="399" actId="1076"/>
          <ac:spMkLst>
            <pc:docMk/>
            <pc:sldMk cId="0" sldId="285"/>
            <ac:spMk id="5" creationId="{A5A1408D-31A0-6BA6-6945-ECE6B7A2973C}"/>
          </ac:spMkLst>
        </pc:spChg>
        <pc:spChg chg="mod">
          <ac:chgData name="Guruprasad Mukund" userId="d73c77e08ff70e53" providerId="LiveId" clId="{0D0B0BCC-9322-4329-914E-89B2B727C81D}" dt="2026-09-09T22:15:13.315" v="425" actId="20577"/>
          <ac:spMkLst>
            <pc:docMk/>
            <pc:sldMk cId="0" sldId="285"/>
            <ac:spMk id="7" creationId="{F6B2A43F-3064-4B0C-D22D-94522F304C6F}"/>
          </ac:spMkLst>
        </pc:spChg>
        <pc:spChg chg="add del mod">
          <ac:chgData name="Guruprasad Mukund" userId="d73c77e08ff70e53" providerId="LiveId" clId="{0D0B0BCC-9322-4329-914E-89B2B727C81D}" dt="2026-09-09T22:15:02.877" v="419" actId="478"/>
          <ac:spMkLst>
            <pc:docMk/>
            <pc:sldMk cId="0" sldId="285"/>
            <ac:spMk id="8" creationId="{791A3A5C-6A4E-ECED-2781-2BBF8B433D61}"/>
          </ac:spMkLst>
        </pc:spChg>
        <pc:spChg chg="add del mod">
          <ac:chgData name="Guruprasad Mukund" userId="d73c77e08ff70e53" providerId="LiveId" clId="{0D0B0BCC-9322-4329-914E-89B2B727C81D}" dt="2026-09-09T22:15:02.877" v="419" actId="478"/>
          <ac:spMkLst>
            <pc:docMk/>
            <pc:sldMk cId="0" sldId="285"/>
            <ac:spMk id="10" creationId="{C8CB32A3-A29E-31E2-00D0-5C1D32BC61C2}"/>
          </ac:spMkLst>
        </pc:spChg>
        <pc:spChg chg="add del mod">
          <ac:chgData name="Guruprasad Mukund" userId="d73c77e08ff70e53" providerId="LiveId" clId="{0D0B0BCC-9322-4329-914E-89B2B727C81D}" dt="2026-09-09T22:15:02.877" v="419" actId="478"/>
          <ac:spMkLst>
            <pc:docMk/>
            <pc:sldMk cId="0" sldId="285"/>
            <ac:spMk id="12" creationId="{4A8AB8DA-BDFF-13C0-9F2D-A95496D9F030}"/>
          </ac:spMkLst>
        </pc:spChg>
        <pc:spChg chg="add mod">
          <ac:chgData name="Guruprasad Mukund" userId="d73c77e08ff70e53" providerId="LiveId" clId="{0D0B0BCC-9322-4329-914E-89B2B727C81D}" dt="2026-09-09T22:15:10.889" v="420" actId="1076"/>
          <ac:spMkLst>
            <pc:docMk/>
            <pc:sldMk cId="0" sldId="285"/>
            <ac:spMk id="14" creationId="{59D1FB7A-084C-920A-7B6D-7D3671F54265}"/>
          </ac:spMkLst>
        </pc:spChg>
        <pc:spChg chg="add mod">
          <ac:chgData name="Guruprasad Mukund" userId="d73c77e08ff70e53" providerId="LiveId" clId="{0D0B0BCC-9322-4329-914E-89B2B727C81D}" dt="2026-09-09T22:15:10.889" v="420" actId="1076"/>
          <ac:spMkLst>
            <pc:docMk/>
            <pc:sldMk cId="0" sldId="285"/>
            <ac:spMk id="16" creationId="{3F3DF4E4-8CE4-7BBD-5B73-E6D3560B949A}"/>
          </ac:spMkLst>
        </pc:spChg>
        <pc:spChg chg="add mod">
          <ac:chgData name="Guruprasad Mukund" userId="d73c77e08ff70e53" providerId="LiveId" clId="{0D0B0BCC-9322-4329-914E-89B2B727C81D}" dt="2026-09-09T22:15:10.889" v="420" actId="1076"/>
          <ac:spMkLst>
            <pc:docMk/>
            <pc:sldMk cId="0" sldId="285"/>
            <ac:spMk id="18" creationId="{2FB0CE0E-173B-BF42-C9CA-7972ACF53931}"/>
          </ac:spMkLst>
        </pc:spChg>
        <pc:spChg chg="mod">
          <ac:chgData name="Guruprasad Mukund" userId="d73c77e08ff70e53" providerId="LiveId" clId="{0D0B0BCC-9322-4329-914E-89B2B727C81D}" dt="2026-09-09T22:15:10.889" v="420" actId="1076"/>
          <ac:spMkLst>
            <pc:docMk/>
            <pc:sldMk cId="0" sldId="285"/>
            <ac:spMk id="756" creationId="{00000000-0000-0000-0000-000000000000}"/>
          </ac:spMkLst>
        </pc:spChg>
        <pc:spChg chg="mod">
          <ac:chgData name="Guruprasad Mukund" userId="d73c77e08ff70e53" providerId="LiveId" clId="{0D0B0BCC-9322-4329-914E-89B2B727C81D}" dt="2026-09-09T22:15:10.889" v="420" actId="1076"/>
          <ac:spMkLst>
            <pc:docMk/>
            <pc:sldMk cId="0" sldId="285"/>
            <ac:spMk id="758" creationId="{00000000-0000-0000-0000-000000000000}"/>
          </ac:spMkLst>
        </pc:spChg>
        <pc:spChg chg="mod">
          <ac:chgData name="Guruprasad Mukund" userId="d73c77e08ff70e53" providerId="LiveId" clId="{0D0B0BCC-9322-4329-914E-89B2B727C81D}" dt="2026-09-10T01:33:28.549" v="1397" actId="20577"/>
          <ac:spMkLst>
            <pc:docMk/>
            <pc:sldMk cId="0" sldId="285"/>
            <ac:spMk id="759" creationId="{00000000-0000-0000-0000-000000000000}"/>
          </ac:spMkLst>
        </pc:spChg>
        <pc:spChg chg="mod">
          <ac:chgData name="Guruprasad Mukund" userId="d73c77e08ff70e53" providerId="LiveId" clId="{0D0B0BCC-9322-4329-914E-89B2B727C81D}" dt="2026-09-10T01:58:26.991" v="1745" actId="20577"/>
          <ac:spMkLst>
            <pc:docMk/>
            <pc:sldMk cId="0" sldId="285"/>
            <ac:spMk id="760" creationId="{00000000-0000-0000-0000-000000000000}"/>
          </ac:spMkLst>
        </pc:spChg>
      </pc:sldChg>
      <pc:sldChg chg="modSp add mod ord setBg">
        <pc:chgData name="Guruprasad Mukund" userId="d73c77e08ff70e53" providerId="LiveId" clId="{0D0B0BCC-9322-4329-914E-89B2B727C81D}" dt="2026-09-10T01:19:45.067" v="715" actId="20577"/>
        <pc:sldMkLst>
          <pc:docMk/>
          <pc:sldMk cId="1697014910" sldId="286"/>
        </pc:sldMkLst>
        <pc:spChg chg="mod">
          <ac:chgData name="Guruprasad Mukund" userId="d73c77e08ff70e53" providerId="LiveId" clId="{0D0B0BCC-9322-4329-914E-89B2B727C81D}" dt="2026-09-10T01:19:45.067" v="715" actId="20577"/>
          <ac:spMkLst>
            <pc:docMk/>
            <pc:sldMk cId="1697014910" sldId="286"/>
            <ac:spMk id="199" creationId="{571B18A0-982C-6413-E527-5477A4492BFC}"/>
          </ac:spMkLst>
        </pc:spChg>
        <pc:spChg chg="mod">
          <ac:chgData name="Guruprasad Mukund" userId="d73c77e08ff70e53" providerId="LiveId" clId="{0D0B0BCC-9322-4329-914E-89B2B727C81D}" dt="2026-09-10T01:05:32.405" v="601" actId="20577"/>
          <ac:spMkLst>
            <pc:docMk/>
            <pc:sldMk cId="1697014910" sldId="286"/>
            <ac:spMk id="203" creationId="{63903C5E-5CFB-EB08-C7EF-5CE10996A6C0}"/>
          </ac:spMkLst>
        </pc:spChg>
        <pc:spChg chg="mod">
          <ac:chgData name="Guruprasad Mukund" userId="d73c77e08ff70e53" providerId="LiveId" clId="{0D0B0BCC-9322-4329-914E-89B2B727C81D}" dt="2026-09-10T01:17:57.759" v="615" actId="20577"/>
          <ac:spMkLst>
            <pc:docMk/>
            <pc:sldMk cId="1697014910" sldId="286"/>
            <ac:spMk id="204" creationId="{7A3827C5-C6EA-2892-40F1-5368B8A6AE3D}"/>
          </ac:spMkLst>
        </pc:spChg>
        <pc:spChg chg="mod">
          <ac:chgData name="Guruprasad Mukund" userId="d73c77e08ff70e53" providerId="LiveId" clId="{0D0B0BCC-9322-4329-914E-89B2B727C81D}" dt="2026-09-10T01:18:12.846" v="623" actId="20577"/>
          <ac:spMkLst>
            <pc:docMk/>
            <pc:sldMk cId="1697014910" sldId="286"/>
            <ac:spMk id="207" creationId="{5A0CE20C-D81F-D77A-3560-C1528B3C92F8}"/>
          </ac:spMkLst>
        </pc:spChg>
        <pc:spChg chg="mod">
          <ac:chgData name="Guruprasad Mukund" userId="d73c77e08ff70e53" providerId="LiveId" clId="{0D0B0BCC-9322-4329-914E-89B2B727C81D}" dt="2026-09-10T01:18:26.032" v="631" actId="20577"/>
          <ac:spMkLst>
            <pc:docMk/>
            <pc:sldMk cId="1697014910" sldId="286"/>
            <ac:spMk id="210" creationId="{FB3F75C9-72AF-5DC8-026C-721585D2E1FE}"/>
          </ac:spMkLst>
        </pc:spChg>
        <pc:spChg chg="mod">
          <ac:chgData name="Guruprasad Mukund" userId="d73c77e08ff70e53" providerId="LiveId" clId="{0D0B0BCC-9322-4329-914E-89B2B727C81D}" dt="2026-09-10T01:18:35.089" v="633" actId="20577"/>
          <ac:spMkLst>
            <pc:docMk/>
            <pc:sldMk cId="1697014910" sldId="286"/>
            <ac:spMk id="213" creationId="{5F6B2C73-2640-7D12-6F8D-8ABCF306E598}"/>
          </ac:spMkLst>
        </pc:spChg>
        <pc:spChg chg="mod">
          <ac:chgData name="Guruprasad Mukund" userId="d73c77e08ff70e53" providerId="LiveId" clId="{0D0B0BCC-9322-4329-914E-89B2B727C81D}" dt="2026-09-10T01:18:42.830" v="635" actId="20577"/>
          <ac:spMkLst>
            <pc:docMk/>
            <pc:sldMk cId="1697014910" sldId="286"/>
            <ac:spMk id="216" creationId="{CEE91CD9-1206-5DC7-25B6-C2E6896D5992}"/>
          </ac:spMkLst>
        </pc:spChg>
        <pc:spChg chg="mod">
          <ac:chgData name="Guruprasad Mukund" userId="d73c77e08ff70e53" providerId="LiveId" clId="{0D0B0BCC-9322-4329-914E-89B2B727C81D}" dt="2026-09-10T01:19:06.426" v="652" actId="20577"/>
          <ac:spMkLst>
            <pc:docMk/>
            <pc:sldMk cId="1697014910" sldId="286"/>
            <ac:spMk id="221" creationId="{97CA1460-82C1-E5E0-2482-126536D02179}"/>
          </ac:spMkLst>
        </pc:spChg>
      </pc:sldChg>
      <pc:sldChg chg="addSp delSp modSp add mod setBg">
        <pc:chgData name="Guruprasad Mukund" userId="d73c77e08ff70e53" providerId="LiveId" clId="{0D0B0BCC-9322-4329-914E-89B2B727C81D}" dt="2026-09-10T01:56:48.792" v="1716" actId="20577"/>
        <pc:sldMkLst>
          <pc:docMk/>
          <pc:sldMk cId="2646230774" sldId="287"/>
        </pc:sldMkLst>
        <pc:spChg chg="mod">
          <ac:chgData name="Guruprasad Mukund" userId="d73c77e08ff70e53" providerId="LiveId" clId="{0D0B0BCC-9322-4329-914E-89B2B727C81D}" dt="2026-09-10T01:52:28.370" v="1565" actId="20577"/>
          <ac:spMkLst>
            <pc:docMk/>
            <pc:sldMk cId="2646230774" sldId="287"/>
            <ac:spMk id="246" creationId="{5E0DE62C-4C1F-4556-EF81-5F7DFBE93E4B}"/>
          </ac:spMkLst>
        </pc:spChg>
        <pc:spChg chg="mod">
          <ac:chgData name="Guruprasad Mukund" userId="d73c77e08ff70e53" providerId="LiveId" clId="{0D0B0BCC-9322-4329-914E-89B2B727C81D}" dt="2026-09-10T01:22:15.405" v="790" actId="20577"/>
          <ac:spMkLst>
            <pc:docMk/>
            <pc:sldMk cId="2646230774" sldId="287"/>
            <ac:spMk id="247" creationId="{A3F21FE5-EADD-1E71-2418-7B29EAAC56C5}"/>
          </ac:spMkLst>
        </pc:spChg>
        <pc:spChg chg="mod">
          <ac:chgData name="Guruprasad Mukund" userId="d73c77e08ff70e53" providerId="LiveId" clId="{0D0B0BCC-9322-4329-914E-89B2B727C81D}" dt="2026-09-10T01:29:04.348" v="1264" actId="1076"/>
          <ac:spMkLst>
            <pc:docMk/>
            <pc:sldMk cId="2646230774" sldId="287"/>
            <ac:spMk id="248" creationId="{112E3877-9867-E231-0852-09A241FFFBC5}"/>
          </ac:spMkLst>
        </pc:spChg>
        <pc:spChg chg="mod">
          <ac:chgData name="Guruprasad Mukund" userId="d73c77e08ff70e53" providerId="LiveId" clId="{0D0B0BCC-9322-4329-914E-89B2B727C81D}" dt="2026-09-10T01:29:04.348" v="1264" actId="1076"/>
          <ac:spMkLst>
            <pc:docMk/>
            <pc:sldMk cId="2646230774" sldId="287"/>
            <ac:spMk id="249" creationId="{8FDF885D-5BAF-7627-3DDB-EE0F9D9D8052}"/>
          </ac:spMkLst>
        </pc:spChg>
        <pc:spChg chg="mod">
          <ac:chgData name="Guruprasad Mukund" userId="d73c77e08ff70e53" providerId="LiveId" clId="{0D0B0BCC-9322-4329-914E-89B2B727C81D}" dt="2026-09-10T01:29:04.348" v="1264" actId="1076"/>
          <ac:spMkLst>
            <pc:docMk/>
            <pc:sldMk cId="2646230774" sldId="287"/>
            <ac:spMk id="250" creationId="{C35DB035-6065-9558-504D-644050C0DE86}"/>
          </ac:spMkLst>
        </pc:spChg>
        <pc:spChg chg="mod">
          <ac:chgData name="Guruprasad Mukund" userId="d73c77e08ff70e53" providerId="LiveId" clId="{0D0B0BCC-9322-4329-914E-89B2B727C81D}" dt="2026-09-10T01:29:04.348" v="1264" actId="1076"/>
          <ac:spMkLst>
            <pc:docMk/>
            <pc:sldMk cId="2646230774" sldId="287"/>
            <ac:spMk id="251" creationId="{9238A363-7F00-80E9-FE37-C5C3AC22F76D}"/>
          </ac:spMkLst>
        </pc:spChg>
        <pc:spChg chg="mod">
          <ac:chgData name="Guruprasad Mukund" userId="d73c77e08ff70e53" providerId="LiveId" clId="{0D0B0BCC-9322-4329-914E-89B2B727C81D}" dt="2026-09-10T01:29:04.348" v="1264" actId="1076"/>
          <ac:spMkLst>
            <pc:docMk/>
            <pc:sldMk cId="2646230774" sldId="287"/>
            <ac:spMk id="252" creationId="{806D9CFE-9C1C-E525-A5CF-14576D8F4D9F}"/>
          </ac:spMkLst>
        </pc:spChg>
        <pc:spChg chg="mod">
          <ac:chgData name="Guruprasad Mukund" userId="d73c77e08ff70e53" providerId="LiveId" clId="{0D0B0BCC-9322-4329-914E-89B2B727C81D}" dt="2026-09-10T01:29:04.348" v="1264" actId="1076"/>
          <ac:spMkLst>
            <pc:docMk/>
            <pc:sldMk cId="2646230774" sldId="287"/>
            <ac:spMk id="253" creationId="{868559D8-CF1E-F3F2-0008-B20E439E278F}"/>
          </ac:spMkLst>
        </pc:spChg>
        <pc:spChg chg="del">
          <ac:chgData name="Guruprasad Mukund" userId="d73c77e08ff70e53" providerId="LiveId" clId="{0D0B0BCC-9322-4329-914E-89B2B727C81D}" dt="2026-09-10T01:27:34.221" v="1099" actId="478"/>
          <ac:spMkLst>
            <pc:docMk/>
            <pc:sldMk cId="2646230774" sldId="287"/>
            <ac:spMk id="254" creationId="{B1966BD5-4AE7-7066-01F4-6A131BC794C3}"/>
          </ac:spMkLst>
        </pc:spChg>
        <pc:spChg chg="del">
          <ac:chgData name="Guruprasad Mukund" userId="d73c77e08ff70e53" providerId="LiveId" clId="{0D0B0BCC-9322-4329-914E-89B2B727C81D}" dt="2026-09-10T01:27:34.221" v="1099" actId="478"/>
          <ac:spMkLst>
            <pc:docMk/>
            <pc:sldMk cId="2646230774" sldId="287"/>
            <ac:spMk id="255" creationId="{17716F27-1B49-996D-EABE-CDC9B64BF2C4}"/>
          </ac:spMkLst>
        </pc:spChg>
        <pc:spChg chg="del">
          <ac:chgData name="Guruprasad Mukund" userId="d73c77e08ff70e53" providerId="LiveId" clId="{0D0B0BCC-9322-4329-914E-89B2B727C81D}" dt="2026-09-10T01:27:34.221" v="1099" actId="478"/>
          <ac:spMkLst>
            <pc:docMk/>
            <pc:sldMk cId="2646230774" sldId="287"/>
            <ac:spMk id="256" creationId="{DDC56562-062E-1F64-8948-C990C333918C}"/>
          </ac:spMkLst>
        </pc:spChg>
        <pc:spChg chg="del mod">
          <ac:chgData name="Guruprasad Mukund" userId="d73c77e08ff70e53" providerId="LiveId" clId="{0D0B0BCC-9322-4329-914E-89B2B727C81D}" dt="2026-09-10T01:27:34.221" v="1099" actId="478"/>
          <ac:spMkLst>
            <pc:docMk/>
            <pc:sldMk cId="2646230774" sldId="287"/>
            <ac:spMk id="257" creationId="{45178674-7B6E-AAFE-E0A6-C4FB85AE0615}"/>
          </ac:spMkLst>
        </pc:spChg>
        <pc:spChg chg="mod">
          <ac:chgData name="Guruprasad Mukund" userId="d73c77e08ff70e53" providerId="LiveId" clId="{0D0B0BCC-9322-4329-914E-89B2B727C81D}" dt="2026-09-10T01:56:48.792" v="1716" actId="20577"/>
          <ac:spMkLst>
            <pc:docMk/>
            <pc:sldMk cId="2646230774" sldId="287"/>
            <ac:spMk id="258" creationId="{768B0687-05EF-A981-3901-5A1368BB6AD9}"/>
          </ac:spMkLst>
        </pc:spChg>
        <pc:picChg chg="add mod">
          <ac:chgData name="Guruprasad Mukund" userId="d73c77e08ff70e53" providerId="LiveId" clId="{0D0B0BCC-9322-4329-914E-89B2B727C81D}" dt="2026-09-10T01:29:46.900" v="1272" actId="14100"/>
          <ac:picMkLst>
            <pc:docMk/>
            <pc:sldMk cId="2646230774" sldId="287"/>
            <ac:picMk id="3" creationId="{23559F42-FD23-0C8F-8C69-0CCCF8B9DA20}"/>
          </ac:picMkLst>
        </pc:picChg>
      </pc:sldChg>
      <pc:sldChg chg="add del setBg">
        <pc:chgData name="Guruprasad Mukund" userId="d73c77e08ff70e53" providerId="LiveId" clId="{0D0B0BCC-9322-4329-914E-89B2B727C81D}" dt="2026-09-10T01:29:07.613" v="1266"/>
        <pc:sldMkLst>
          <pc:docMk/>
          <pc:sldMk cId="356432942" sldId="288"/>
        </pc:sldMkLst>
      </pc:sldChg>
      <pc:sldChg chg="add del setBg">
        <pc:chgData name="Guruprasad Mukund" userId="d73c77e08ff70e53" providerId="LiveId" clId="{0D0B0BCC-9322-4329-914E-89B2B727C81D}" dt="2026-09-10T01:34:04.285" v="1399"/>
        <pc:sldMkLst>
          <pc:docMk/>
          <pc:sldMk cId="1013986938" sldId="288"/>
        </pc:sldMkLst>
      </pc:sldChg>
      <pc:sldChg chg="modSp add mod">
        <pc:chgData name="Guruprasad Mukund" userId="d73c77e08ff70e53" providerId="LiveId" clId="{0D0B0BCC-9322-4329-914E-89B2B727C81D}" dt="2026-09-10T01:34:23.858" v="1414" actId="20577"/>
        <pc:sldMkLst>
          <pc:docMk/>
          <pc:sldMk cId="3924983298" sldId="288"/>
        </pc:sldMkLst>
        <pc:spChg chg="mod">
          <ac:chgData name="Guruprasad Mukund" userId="d73c77e08ff70e53" providerId="LiveId" clId="{0D0B0BCC-9322-4329-914E-89B2B727C81D}" dt="2026-09-10T01:34:23.858" v="1414" actId="20577"/>
          <ac:spMkLst>
            <pc:docMk/>
            <pc:sldMk cId="3924983298" sldId="288"/>
            <ac:spMk id="157" creationId="{0D070900-A247-8FD2-734E-9096826EFB30}"/>
          </ac:spMkLst>
        </pc:spChg>
      </pc:sldChg>
      <pc:sldChg chg="addSp delSp modSp add mod setBg modNotesTx">
        <pc:chgData name="Guruprasad Mukund" userId="d73c77e08ff70e53" providerId="LiveId" clId="{0D0B0BCC-9322-4329-914E-89B2B727C81D}" dt="2026-09-10T01:42:26.117" v="1496" actId="22"/>
        <pc:sldMkLst>
          <pc:docMk/>
          <pc:sldMk cId="1023739724" sldId="289"/>
        </pc:sldMkLst>
        <pc:spChg chg="del">
          <ac:chgData name="Guruprasad Mukund" userId="d73c77e08ff70e53" providerId="LiveId" clId="{0D0B0BCC-9322-4329-914E-89B2B727C81D}" dt="2026-09-10T01:35:55.203" v="1457" actId="478"/>
          <ac:spMkLst>
            <pc:docMk/>
            <pc:sldMk cId="1023739724" sldId="289"/>
            <ac:spMk id="3" creationId="{348BB039-CB46-6086-22A3-DECBE1AF0E1F}"/>
          </ac:spMkLst>
        </pc:spChg>
        <pc:spChg chg="del">
          <ac:chgData name="Guruprasad Mukund" userId="d73c77e08ff70e53" providerId="LiveId" clId="{0D0B0BCC-9322-4329-914E-89B2B727C81D}" dt="2026-09-10T01:35:55.203" v="1457" actId="478"/>
          <ac:spMkLst>
            <pc:docMk/>
            <pc:sldMk cId="1023739724" sldId="289"/>
            <ac:spMk id="7" creationId="{00C33171-9D9C-CB74-F3C1-1CD6644377AD}"/>
          </ac:spMkLst>
        </pc:spChg>
        <pc:spChg chg="del">
          <ac:chgData name="Guruprasad Mukund" userId="d73c77e08ff70e53" providerId="LiveId" clId="{0D0B0BCC-9322-4329-914E-89B2B727C81D}" dt="2026-09-10T01:36:01.287" v="1459" actId="478"/>
          <ac:spMkLst>
            <pc:docMk/>
            <pc:sldMk cId="1023739724" sldId="289"/>
            <ac:spMk id="9" creationId="{C9B52D52-2177-34D9-B521-D4ED40F13843}"/>
          </ac:spMkLst>
        </pc:spChg>
        <pc:spChg chg="del">
          <ac:chgData name="Guruprasad Mukund" userId="d73c77e08ff70e53" providerId="LiveId" clId="{0D0B0BCC-9322-4329-914E-89B2B727C81D}" dt="2026-09-10T01:36:01.287" v="1459" actId="478"/>
          <ac:spMkLst>
            <pc:docMk/>
            <pc:sldMk cId="1023739724" sldId="289"/>
            <ac:spMk id="11" creationId="{EFA520BA-8B1C-06B8-8EEB-F1394A5C38B3}"/>
          </ac:spMkLst>
        </pc:spChg>
        <pc:spChg chg="mod">
          <ac:chgData name="Guruprasad Mukund" userId="d73c77e08ff70e53" providerId="LiveId" clId="{0D0B0BCC-9322-4329-914E-89B2B727C81D}" dt="2026-09-10T01:35:36.864" v="1428" actId="20577"/>
          <ac:spMkLst>
            <pc:docMk/>
            <pc:sldMk cId="1023739724" sldId="289"/>
            <ac:spMk id="718" creationId="{441E6B22-DC84-8BF9-68B4-C068975E641B}"/>
          </ac:spMkLst>
        </pc:spChg>
        <pc:spChg chg="mod">
          <ac:chgData name="Guruprasad Mukund" userId="d73c77e08ff70e53" providerId="LiveId" clId="{0D0B0BCC-9322-4329-914E-89B2B727C81D}" dt="2026-09-10T01:35:48.129" v="1456" actId="20577"/>
          <ac:spMkLst>
            <pc:docMk/>
            <pc:sldMk cId="1023739724" sldId="289"/>
            <ac:spMk id="719" creationId="{AAD6E65A-3794-7C55-027F-1B78EF11EAC1}"/>
          </ac:spMkLst>
        </pc:spChg>
        <pc:spChg chg="mod">
          <ac:chgData name="Guruprasad Mukund" userId="d73c77e08ff70e53" providerId="LiveId" clId="{0D0B0BCC-9322-4329-914E-89B2B727C81D}" dt="2026-09-10T01:36:34.849" v="1467" actId="1076"/>
          <ac:spMkLst>
            <pc:docMk/>
            <pc:sldMk cId="1023739724" sldId="289"/>
            <ac:spMk id="720" creationId="{E30C7E0B-429C-BBF0-81A4-3369F42226A4}"/>
          </ac:spMkLst>
        </pc:spChg>
        <pc:spChg chg="del mod">
          <ac:chgData name="Guruprasad Mukund" userId="d73c77e08ff70e53" providerId="LiveId" clId="{0D0B0BCC-9322-4329-914E-89B2B727C81D}" dt="2026-09-10T01:36:50.938" v="1471" actId="478"/>
          <ac:spMkLst>
            <pc:docMk/>
            <pc:sldMk cId="1023739724" sldId="289"/>
            <ac:spMk id="722" creationId="{6AFBFD50-A0D1-98B9-2BAE-6B0D491ACCCD}"/>
          </ac:spMkLst>
        </pc:spChg>
        <pc:spChg chg="del">
          <ac:chgData name="Guruprasad Mukund" userId="d73c77e08ff70e53" providerId="LiveId" clId="{0D0B0BCC-9322-4329-914E-89B2B727C81D}" dt="2026-09-10T01:36:10.305" v="1460" actId="478"/>
          <ac:spMkLst>
            <pc:docMk/>
            <pc:sldMk cId="1023739724" sldId="289"/>
            <ac:spMk id="723" creationId="{1C0D6125-84A3-D19D-8DAD-8E29298AB13C}"/>
          </ac:spMkLst>
        </pc:spChg>
        <pc:spChg chg="del">
          <ac:chgData name="Guruprasad Mukund" userId="d73c77e08ff70e53" providerId="LiveId" clId="{0D0B0BCC-9322-4329-914E-89B2B727C81D}" dt="2026-09-10T01:36:10.305" v="1460" actId="478"/>
          <ac:spMkLst>
            <pc:docMk/>
            <pc:sldMk cId="1023739724" sldId="289"/>
            <ac:spMk id="725" creationId="{77D704E2-4263-F93A-C858-BDF31C2A895D}"/>
          </ac:spMkLst>
        </pc:spChg>
        <pc:spChg chg="del">
          <ac:chgData name="Guruprasad Mukund" userId="d73c77e08ff70e53" providerId="LiveId" clId="{0D0B0BCC-9322-4329-914E-89B2B727C81D}" dt="2026-09-10T01:35:55.203" v="1457" actId="478"/>
          <ac:spMkLst>
            <pc:docMk/>
            <pc:sldMk cId="1023739724" sldId="289"/>
            <ac:spMk id="729" creationId="{EDA71B4C-1C69-3986-F506-C03297CC4952}"/>
          </ac:spMkLst>
        </pc:spChg>
        <pc:spChg chg="del">
          <ac:chgData name="Guruprasad Mukund" userId="d73c77e08ff70e53" providerId="LiveId" clId="{0D0B0BCC-9322-4329-914E-89B2B727C81D}" dt="2026-09-10T01:35:55.203" v="1457" actId="478"/>
          <ac:spMkLst>
            <pc:docMk/>
            <pc:sldMk cId="1023739724" sldId="289"/>
            <ac:spMk id="731" creationId="{ED105E2E-ECAE-BD08-1145-281ECC12A2EB}"/>
          </ac:spMkLst>
        </pc:spChg>
        <pc:spChg chg="mod">
          <ac:chgData name="Guruprasad Mukund" userId="d73c77e08ff70e53" providerId="LiveId" clId="{0D0B0BCC-9322-4329-914E-89B2B727C81D}" dt="2026-09-10T01:42:19.212" v="1495" actId="1076"/>
          <ac:spMkLst>
            <pc:docMk/>
            <pc:sldMk cId="1023739724" sldId="289"/>
            <ac:spMk id="733" creationId="{F445FA6D-9EA1-074B-F612-5D8B2575F98F}"/>
          </ac:spMkLst>
        </pc:spChg>
        <pc:spChg chg="del">
          <ac:chgData name="Guruprasad Mukund" userId="d73c77e08ff70e53" providerId="LiveId" clId="{0D0B0BCC-9322-4329-914E-89B2B727C81D}" dt="2026-09-10T01:36:10.305" v="1460" actId="478"/>
          <ac:spMkLst>
            <pc:docMk/>
            <pc:sldMk cId="1023739724" sldId="289"/>
            <ac:spMk id="734" creationId="{D0C6F0A7-8849-7587-78F2-C0233CC7C52F}"/>
          </ac:spMkLst>
        </pc:spChg>
        <pc:spChg chg="del">
          <ac:chgData name="Guruprasad Mukund" userId="d73c77e08ff70e53" providerId="LiveId" clId="{0D0B0BCC-9322-4329-914E-89B2B727C81D}" dt="2026-09-10T01:35:55.203" v="1457" actId="478"/>
          <ac:spMkLst>
            <pc:docMk/>
            <pc:sldMk cId="1023739724" sldId="289"/>
            <ac:spMk id="735" creationId="{10FBDFF6-A8A6-D57D-7C4D-1BBA37FE7AE6}"/>
          </ac:spMkLst>
        </pc:spChg>
        <pc:spChg chg="mod">
          <ac:chgData name="Guruprasad Mukund" userId="d73c77e08ff70e53" providerId="LiveId" clId="{0D0B0BCC-9322-4329-914E-89B2B727C81D}" dt="2026-09-10T01:36:25.790" v="1463" actId="14100"/>
          <ac:spMkLst>
            <pc:docMk/>
            <pc:sldMk cId="1023739724" sldId="289"/>
            <ac:spMk id="736" creationId="{178CC656-0A50-65EC-5C44-A880DD136299}"/>
          </ac:spMkLst>
        </pc:spChg>
        <pc:spChg chg="del">
          <ac:chgData name="Guruprasad Mukund" userId="d73c77e08ff70e53" providerId="LiveId" clId="{0D0B0BCC-9322-4329-914E-89B2B727C81D}" dt="2026-09-10T01:36:10.305" v="1460" actId="478"/>
          <ac:spMkLst>
            <pc:docMk/>
            <pc:sldMk cId="1023739724" sldId="289"/>
            <ac:spMk id="738" creationId="{714547DB-CDC1-44B7-4BD9-C0D4F8A28786}"/>
          </ac:spMkLst>
        </pc:spChg>
        <pc:spChg chg="del">
          <ac:chgData name="Guruprasad Mukund" userId="d73c77e08ff70e53" providerId="LiveId" clId="{0D0B0BCC-9322-4329-914E-89B2B727C81D}" dt="2026-09-10T01:35:55.203" v="1457" actId="478"/>
          <ac:spMkLst>
            <pc:docMk/>
            <pc:sldMk cId="1023739724" sldId="289"/>
            <ac:spMk id="739" creationId="{139D74A8-23D9-4962-5A3B-6DE7765FE0AB}"/>
          </ac:spMkLst>
        </pc:spChg>
        <pc:picChg chg="add">
          <ac:chgData name="Guruprasad Mukund" userId="d73c77e08ff70e53" providerId="LiveId" clId="{0D0B0BCC-9322-4329-914E-89B2B727C81D}" dt="2026-09-10T01:42:26.117" v="1496" actId="22"/>
          <ac:picMkLst>
            <pc:docMk/>
            <pc:sldMk cId="1023739724" sldId="289"/>
            <ac:picMk id="4" creationId="{2C266ECE-675C-120D-01E9-E0DE09C130E4}"/>
          </ac:picMkLst>
        </pc:picChg>
        <pc:picChg chg="del">
          <ac:chgData name="Guruprasad Mukund" userId="d73c77e08ff70e53" providerId="LiveId" clId="{0D0B0BCC-9322-4329-914E-89B2B727C81D}" dt="2026-09-10T01:35:55.203" v="1457" actId="478"/>
          <ac:picMkLst>
            <pc:docMk/>
            <pc:sldMk cId="1023739724" sldId="289"/>
            <ac:picMk id="5" creationId="{3FC9328A-FDC0-D78D-8242-CF13A516F88B}"/>
          </ac:picMkLst>
        </pc:picChg>
        <pc:picChg chg="add del mod">
          <ac:chgData name="Guruprasad Mukund" userId="d73c77e08ff70e53" providerId="LiveId" clId="{0D0B0BCC-9322-4329-914E-89B2B727C81D}" dt="2026-09-10T01:42:13.934" v="1494" actId="478"/>
          <ac:picMkLst>
            <pc:docMk/>
            <pc:sldMk cId="1023739724" sldId="289"/>
            <ac:picMk id="721" creationId="{851753CC-2028-0013-7B91-B4FC114B6B2F}"/>
          </ac:picMkLst>
        </pc:picChg>
        <pc:picChg chg="del">
          <ac:chgData name="Guruprasad Mukund" userId="d73c77e08ff70e53" providerId="LiveId" clId="{0D0B0BCC-9322-4329-914E-89B2B727C81D}" dt="2026-09-10T01:36:10.305" v="1460" actId="478"/>
          <ac:picMkLst>
            <pc:docMk/>
            <pc:sldMk cId="1023739724" sldId="289"/>
            <ac:picMk id="724" creationId="{A0ADE3FA-FBF4-7A82-4340-A443131A108C}"/>
          </ac:picMkLst>
        </pc:picChg>
        <pc:picChg chg="del">
          <ac:chgData name="Guruprasad Mukund" userId="d73c77e08ff70e53" providerId="LiveId" clId="{0D0B0BCC-9322-4329-914E-89B2B727C81D}" dt="2026-09-10T01:35:55.203" v="1457" actId="478"/>
          <ac:picMkLst>
            <pc:docMk/>
            <pc:sldMk cId="1023739724" sldId="289"/>
            <ac:picMk id="730" creationId="{3AAE8DEB-63BA-9995-E357-E4E78946F88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39789fe7b62_1_1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g39789fe7b62_1_1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42" name="Google Shape;42;g39789fe7b62_1_18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9789fe7b62_1_13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g39789fe7b62_1_1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8" name="Google Shape;58;g39789fe7b62_1_1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789fe7b62_1_2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g39789fe7b62_1_2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90" name="Google Shape;90;g39789fe7b62_1_2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9789fe7b62_1_38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g39789fe7b62_1_38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97" name="Google Shape;97;g39789fe7b62_1_38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100" dirty="0">
              <a:solidFill>
                <a:schemeClr val="dk1"/>
              </a:solidFill>
            </a:endParaRPr>
          </a:p>
        </p:txBody>
      </p:sp>
      <p:sp>
        <p:nvSpPr>
          <p:cNvPr id="108" name="Google Shape;108;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d86e330eee_36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d86e330eee_36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b="1" dirty="0"/>
              <a:t>Same-day panic vs. next-day reversal:</a:t>
            </a:r>
            <a:r>
              <a:rPr lang="en-US" sz="1200" dirty="0"/>
              <a:t> ΔVIX is negatively correlated with EMB returns contemporaneously, but its next-day coefficient is positive, suggesting a possible short-term rebound after volatility shocks. We interpret this as suggestive rather than conclusive because the HC3 p-value is 0.181.</a:t>
            </a:r>
            <a:endParaRPr sz="1200" dirty="0">
              <a:solidFill>
                <a:schemeClr val="dk1"/>
              </a:solidFill>
              <a:latin typeface="Calibri"/>
              <a:ea typeface="Calibri"/>
              <a:cs typeface="Calibri"/>
              <a:sym typeface="Calibri"/>
            </a:endParaRPr>
          </a:p>
        </p:txBody>
      </p:sp>
      <p:sp>
        <p:nvSpPr>
          <p:cNvPr id="128" name="Google Shape;128;g3d86e330eee_36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789fe7b62_1_25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g39789fe7b62_1_25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54" name="Google Shape;154;g39789fe7b62_1_25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d86e330eee_137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d86e330eee_137_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65" name="Google Shape;26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93" name="Google Shape;29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9789fe7b62_1_26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g39789fe7b62_1_26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78" name="Google Shape;178;g39789fe7b62_1_26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B78B54F6-5924-4360-98A9-E08855373DB8}"/>
            </a:ext>
          </a:extLst>
        </p:cNvPr>
        <p:cNvGrpSpPr/>
        <p:nvPr/>
      </p:nvGrpSpPr>
      <p:grpSpPr>
        <a:xfrm>
          <a:off x="0" y="0"/>
          <a:ext cx="0" cy="0"/>
          <a:chOff x="0" y="0"/>
          <a:chExt cx="0" cy="0"/>
        </a:xfrm>
      </p:grpSpPr>
      <p:sp>
        <p:nvSpPr>
          <p:cNvPr id="193" name="Google Shape;193;g3d86e330eee_36_39:notes">
            <a:extLst>
              <a:ext uri="{FF2B5EF4-FFF2-40B4-BE49-F238E27FC236}">
                <a16:creationId xmlns:a16="http://schemas.microsoft.com/office/drawing/2014/main" id="{E9C10A44-E107-A0FE-5492-B61E5955C1F5}"/>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g3d86e330eee_36_39:notes">
            <a:extLst>
              <a:ext uri="{FF2B5EF4-FFF2-40B4-BE49-F238E27FC236}">
                <a16:creationId xmlns:a16="http://schemas.microsoft.com/office/drawing/2014/main" id="{0AAB2BED-C453-A192-FC8E-6A5361BFB334}"/>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95" name="Google Shape;195;g3d86e330eee_36_39:notes">
            <a:extLst>
              <a:ext uri="{FF2B5EF4-FFF2-40B4-BE49-F238E27FC236}">
                <a16:creationId xmlns:a16="http://schemas.microsoft.com/office/drawing/2014/main" id="{4CE9E4E8-5E88-8D35-FA32-57966DC55C2F}"/>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2463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42" name="Google Shape;242;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1BAB2F5E-0DD3-1848-F241-F16438FCE760}"/>
            </a:ext>
          </a:extLst>
        </p:cNvPr>
        <p:cNvGrpSpPr/>
        <p:nvPr/>
      </p:nvGrpSpPr>
      <p:grpSpPr>
        <a:xfrm>
          <a:off x="0" y="0"/>
          <a:ext cx="0" cy="0"/>
          <a:chOff x="0" y="0"/>
          <a:chExt cx="0" cy="0"/>
        </a:xfrm>
      </p:grpSpPr>
      <p:sp>
        <p:nvSpPr>
          <p:cNvPr id="152" name="Google Shape;152;g39789fe7b62_1_251:notes">
            <a:extLst>
              <a:ext uri="{FF2B5EF4-FFF2-40B4-BE49-F238E27FC236}">
                <a16:creationId xmlns:a16="http://schemas.microsoft.com/office/drawing/2014/main" id="{6520D5AD-993D-EDBA-835F-20992A176FDB}"/>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g39789fe7b62_1_251:notes">
            <a:extLst>
              <a:ext uri="{FF2B5EF4-FFF2-40B4-BE49-F238E27FC236}">
                <a16:creationId xmlns:a16="http://schemas.microsoft.com/office/drawing/2014/main" id="{B6DFCFC3-5EAA-6066-C845-B85E75156F03}"/>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54" name="Google Shape;154;g39789fe7b62_1_251:notes">
            <a:extLst>
              <a:ext uri="{FF2B5EF4-FFF2-40B4-BE49-F238E27FC236}">
                <a16:creationId xmlns:a16="http://schemas.microsoft.com/office/drawing/2014/main" id="{DD301F5E-9E7C-1962-2233-57CA69C704BF}"/>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16</a:t>
            </a:fld>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18990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d86e330eee_36_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g3d86e330eee_36_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b="0" dirty="0"/>
              <a:t>Ridge was estimated using standardized predictors so variables with different scales were penalized consistently. Standardized coefficients show the effect of a one-standard-deviation change in each predictor. Original-unit coefficients convert the model back to the variables’ actual measurement units—for example, VIX-point changes, credit-spread percentage-point changes, and oil returns—so they can be used in the final regression equation. Both sets of coefficients represent the same Ridge model.</a:t>
            </a:r>
          </a:p>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95" name="Google Shape;195;g3d86e330eee_36_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667E1AB5-76F3-E172-C2CD-1B3129F77530}"/>
            </a:ext>
          </a:extLst>
        </p:cNvPr>
        <p:cNvGrpSpPr/>
        <p:nvPr/>
      </p:nvGrpSpPr>
      <p:grpSpPr>
        <a:xfrm>
          <a:off x="0" y="0"/>
          <a:ext cx="0" cy="0"/>
          <a:chOff x="0" y="0"/>
          <a:chExt cx="0" cy="0"/>
        </a:xfrm>
      </p:grpSpPr>
      <p:sp>
        <p:nvSpPr>
          <p:cNvPr id="240" name="Google Shape;240;p14:notes">
            <a:extLst>
              <a:ext uri="{FF2B5EF4-FFF2-40B4-BE49-F238E27FC236}">
                <a16:creationId xmlns:a16="http://schemas.microsoft.com/office/drawing/2014/main" id="{023D0E46-A398-1289-0A8B-485CA9C1CD0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4:notes">
            <a:extLst>
              <a:ext uri="{FF2B5EF4-FFF2-40B4-BE49-F238E27FC236}">
                <a16:creationId xmlns:a16="http://schemas.microsoft.com/office/drawing/2014/main" id="{E156BF0B-AF00-696D-B200-8ED041428D58}"/>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42" name="Google Shape;242;p14:notes">
            <a:extLst>
              <a:ext uri="{FF2B5EF4-FFF2-40B4-BE49-F238E27FC236}">
                <a16:creationId xmlns:a16="http://schemas.microsoft.com/office/drawing/2014/main" id="{2F38C242-FAFF-A847-1D69-46004D631D3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18</a:t>
            </a:fld>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8035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86e330eee_36_7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g3d86e330eee_36_7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26" name="Google Shape;226;g3d86e330eee_36_7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70" name="Google Shape;570;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9" name="Google Shape;64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dirty="0"/>
          </a:p>
        </p:txBody>
      </p:sp>
      <p:sp>
        <p:nvSpPr>
          <p:cNvPr id="650" name="Google Shape;650;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mc:AlternateContent xmlns:mc="http://schemas.openxmlformats.org/markup-compatibility/2006">
        <mc:Choice xmlns:a14="http://schemas.microsoft.com/office/drawing/2010/main" Requires="a14">
          <p:sp>
            <p:nvSpPr>
              <p:cNvPr id="688" name="Google Shape;68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dirty="0">
                    <a:solidFill>
                      <a:schemeClr val="dk1"/>
                    </a:solidFill>
                    <a:latin typeface="Calibri"/>
                    <a:ea typeface="Calibri"/>
                    <a:cs typeface="Calibri"/>
                    <a:sym typeface="Calibri"/>
                  </a:rPr>
                  <a:t>Note: First-order autocorrelation means </a:t>
                </a:r>
                <a:r>
                  <a:rPr lang="en-US" sz="1200" dirty="0">
                    <a:solidFill>
                      <a:srgbClr val="000000"/>
                    </a:solidFill>
                    <a:latin typeface="Arial"/>
                    <a:ea typeface="Calibri"/>
                    <a:cs typeface="Arial"/>
                    <a:sym typeface="Arial"/>
                  </a:rPr>
                  <a:t>t</a:t>
                </a:r>
                <a:r>
                  <a:rPr lang="en-US" sz="1200" dirty="0"/>
                  <a:t>he regression error today, </a:t>
                </a:r>
                <a14:m>
                  <m:oMath xmlns:m="http://schemas.openxmlformats.org/officeDocument/2006/math">
                    <m:sSub>
                      <m:sSubPr>
                        <m:ctrlPr>
                          <a:rPr lang="en-US" sz="1100" b="0" i="1" u="none" strike="noStrike" cap="none">
                            <a:solidFill>
                              <a:srgbClr val="000000"/>
                            </a:solidFill>
                            <a:latin typeface="Arial"/>
                            <a:ea typeface="Arial"/>
                            <a:cs typeface="Arial"/>
                            <a:sym typeface="Arial"/>
                          </a:rPr>
                        </m:ctrlPr>
                      </m:sSubPr>
                      <m:e>
                        <m:r>
                          <a:rPr lang="en-US" sz="1100" b="0" i="1" u="none" strike="noStrike" cap="none">
                            <a:solidFill>
                              <a:srgbClr val="000000"/>
                            </a:solidFill>
                            <a:latin typeface="Arial"/>
                            <a:ea typeface="Arial"/>
                            <a:cs typeface="Arial"/>
                            <a:sym typeface="Arial"/>
                          </a:rPr>
                          <m:t>𝑒</m:t>
                        </m:r>
                      </m:e>
                      <m:sub>
                        <m:r>
                          <a:rPr lang="en-US" sz="1100" b="0" i="1" u="none" strike="noStrike" cap="none">
                            <a:solidFill>
                              <a:srgbClr val="000000"/>
                            </a:solidFill>
                            <a:latin typeface="Arial"/>
                            <a:ea typeface="Arial"/>
                            <a:cs typeface="Arial"/>
                            <a:sym typeface="Arial"/>
                          </a:rPr>
                          <m:t>𝑡</m:t>
                        </m:r>
                      </m:sub>
                    </m:sSub>
                  </m:oMath>
                </a14:m>
                <a:r>
                  <a:rPr lang="en-US" sz="1200" dirty="0"/>
                  <a:t>, is correlated with the regression error </a:t>
                </a:r>
                <a:r>
                  <a:rPr lang="en-US" sz="1200" b="1" dirty="0"/>
                  <a:t>one period earlier</a:t>
                </a:r>
                <a:r>
                  <a:rPr lang="en-US" sz="1200" dirty="0"/>
                  <a:t>, </a:t>
                </a:r>
                <a14:m>
                  <m:oMath xmlns:m="http://schemas.openxmlformats.org/officeDocument/2006/math">
                    <m:sSub>
                      <m:sSubPr>
                        <m:ctrlPr>
                          <a:rPr lang="en-US" sz="1100" b="0" i="1" u="none" strike="noStrike" cap="none">
                            <a:solidFill>
                              <a:srgbClr val="000000"/>
                            </a:solidFill>
                            <a:latin typeface="Arial"/>
                            <a:ea typeface="Arial"/>
                            <a:cs typeface="Arial"/>
                            <a:sym typeface="Arial"/>
                          </a:rPr>
                        </m:ctrlPr>
                      </m:sSubPr>
                      <m:e>
                        <m:r>
                          <a:rPr lang="en-US" sz="1100" b="0" i="1" u="none" strike="noStrike" cap="none">
                            <a:solidFill>
                              <a:srgbClr val="000000"/>
                            </a:solidFill>
                            <a:latin typeface="Arial"/>
                            <a:ea typeface="Arial"/>
                            <a:cs typeface="Arial"/>
                            <a:sym typeface="Arial"/>
                          </a:rPr>
                          <m:t>𝑒</m:t>
                        </m:r>
                      </m:e>
                      <m:sub>
                        <m:r>
                          <a:rPr lang="en-US" sz="1100" b="0" i="1" u="none" strike="noStrike" cap="none">
                            <a:solidFill>
                              <a:srgbClr val="000000"/>
                            </a:solidFill>
                            <a:latin typeface="Arial"/>
                            <a:ea typeface="Arial"/>
                            <a:cs typeface="Arial"/>
                            <a:sym typeface="Arial"/>
                          </a:rPr>
                          <m:t>𝑡</m:t>
                        </m:r>
                        <m:r>
                          <a:rPr lang="en-US" sz="1100" b="0" i="0" u="none" strike="noStrike" cap="none">
                            <a:solidFill>
                              <a:srgbClr val="000000"/>
                            </a:solidFill>
                            <a:latin typeface="Arial"/>
                            <a:ea typeface="Arial"/>
                            <a:cs typeface="Arial"/>
                            <a:sym typeface="Arial"/>
                          </a:rPr>
                          <m:t>−1</m:t>
                        </m:r>
                      </m:sub>
                    </m:sSub>
                  </m:oMath>
                </a14:m>
                <a:r>
                  <a:rPr lang="en-US" sz="1200" dirty="0"/>
                  <a:t>. If the autocorrelation is </a:t>
                </a:r>
                <a:r>
                  <a:rPr lang="en-US" sz="1200" b="1" dirty="0"/>
                  <a:t>positive</a:t>
                </a:r>
                <a:r>
                  <a:rPr lang="en-US" sz="1200" dirty="0"/>
                  <a:t>, errors tend to have the same sign on consecutive days. For example, if your model underpredicts EMB's return today, it may also be somewhat more likely to underpredict tomorrow.</a:t>
                </a:r>
                <a:endParaRPr sz="1200" dirty="0">
                  <a:solidFill>
                    <a:schemeClr val="dk1"/>
                  </a:solidFill>
                  <a:latin typeface="Calibri"/>
                  <a:ea typeface="Calibri"/>
                  <a:cs typeface="Calibri"/>
                  <a:sym typeface="Calibri"/>
                </a:endParaRPr>
              </a:p>
            </p:txBody>
          </p:sp>
        </mc:Choice>
        <mc:Fallback>
          <p:sp>
            <p:nvSpPr>
              <p:cNvPr id="688" name="Google Shape;68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dirty="0">
                    <a:solidFill>
                      <a:schemeClr val="dk1"/>
                    </a:solidFill>
                    <a:latin typeface="Calibri"/>
                    <a:ea typeface="Calibri"/>
                    <a:cs typeface="Calibri"/>
                    <a:sym typeface="Calibri"/>
                  </a:rPr>
                  <a:t>Note: First-order autocorrelation means </a:t>
                </a:r>
                <a:r>
                  <a:rPr lang="en-US" sz="1200" dirty="0">
                    <a:solidFill>
                      <a:srgbClr val="000000"/>
                    </a:solidFill>
                    <a:latin typeface="Arial"/>
                    <a:ea typeface="Calibri"/>
                    <a:cs typeface="Arial"/>
                    <a:sym typeface="Arial"/>
                  </a:rPr>
                  <a:t>t</a:t>
                </a:r>
                <a:r>
                  <a:rPr lang="en-US" sz="1200" dirty="0"/>
                  <a:t>he regression error today, </a:t>
                </a:r>
                <a:r>
                  <a:rPr lang="en-US" sz="1100" b="0" i="0" u="none" strike="noStrike" cap="none">
                    <a:solidFill>
                      <a:srgbClr val="000000"/>
                    </a:solidFill>
                    <a:latin typeface="Arial"/>
                    <a:ea typeface="Arial"/>
                    <a:cs typeface="Arial"/>
                    <a:sym typeface="Arial"/>
                  </a:rPr>
                  <a:t>𝑒_𝑡</a:t>
                </a:r>
                <a:r>
                  <a:rPr lang="en-US" sz="1200" dirty="0"/>
                  <a:t>, is correlated with the regression error </a:t>
                </a:r>
                <a:r>
                  <a:rPr lang="en-US" sz="1200" b="1" dirty="0"/>
                  <a:t>one period earlier</a:t>
                </a:r>
                <a:r>
                  <a:rPr lang="en-US" sz="1200" dirty="0"/>
                  <a:t>, </a:t>
                </a:r>
                <a:r>
                  <a:rPr lang="en-US" sz="1100" b="0" i="0" u="none" strike="noStrike" cap="none">
                    <a:solidFill>
                      <a:srgbClr val="000000"/>
                    </a:solidFill>
                    <a:latin typeface="Arial"/>
                    <a:ea typeface="Arial"/>
                    <a:cs typeface="Arial"/>
                    <a:sym typeface="Arial"/>
                  </a:rPr>
                  <a:t>𝑒_(𝑡−1)</a:t>
                </a:r>
                <a:r>
                  <a:rPr lang="en-US" sz="1200" dirty="0"/>
                  <a:t>. If the autocorrelation is </a:t>
                </a:r>
                <a:r>
                  <a:rPr lang="en-US" sz="1200" b="1" dirty="0"/>
                  <a:t>positive</a:t>
                </a:r>
                <a:r>
                  <a:rPr lang="en-US" sz="1200" dirty="0"/>
                  <a:t>, errors tend to have the same sign on consecutive days. For example, if your model underpredicts EMB's return today, it may also be somewhat more likely to underpredict tomorrow.</a:t>
                </a:r>
                <a:endParaRPr sz="1200" dirty="0">
                  <a:solidFill>
                    <a:schemeClr val="dk1"/>
                  </a:solidFill>
                  <a:latin typeface="Calibri"/>
                  <a:ea typeface="Calibri"/>
                  <a:cs typeface="Calibri"/>
                  <a:sym typeface="Calibri"/>
                </a:endParaRPr>
              </a:p>
            </p:txBody>
          </p:sp>
        </mc:Fallback>
      </mc:AlternateContent>
      <p:sp>
        <p:nvSpPr>
          <p:cNvPr id="689" name="Google Shape;689;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5" name="Google Shape;71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b="0" i="0" u="none" strike="noStrike" cap="none" dirty="0">
                <a:solidFill>
                  <a:srgbClr val="1E293B"/>
                </a:solidFill>
                <a:latin typeface="Calibri"/>
                <a:ea typeface="Calibri"/>
                <a:cs typeface="Calibri"/>
                <a:sym typeface="Calibri"/>
              </a:rPr>
              <a:t>A broad USD index (ex. DXY) tells us whether USD strengthens/weakens against other major currencies. EM Currency returns tell us if EM currencies appreciate/depreciate against USD.  Stronger USD = EM country needs more local currency to pay off USD-denominated debt</a:t>
            </a:r>
          </a:p>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716" name="Google Shape;71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a:extLst>
            <a:ext uri="{FF2B5EF4-FFF2-40B4-BE49-F238E27FC236}">
              <a16:creationId xmlns:a16="http://schemas.microsoft.com/office/drawing/2014/main" id="{173188F4-4569-62DF-170D-930E5E16459A}"/>
            </a:ext>
          </a:extLst>
        </p:cNvPr>
        <p:cNvGrpSpPr/>
        <p:nvPr/>
      </p:nvGrpSpPr>
      <p:grpSpPr>
        <a:xfrm>
          <a:off x="0" y="0"/>
          <a:ext cx="0" cy="0"/>
          <a:chOff x="0" y="0"/>
          <a:chExt cx="0" cy="0"/>
        </a:xfrm>
      </p:grpSpPr>
      <p:sp>
        <p:nvSpPr>
          <p:cNvPr id="714" name="Google Shape;714;p17:notes">
            <a:extLst>
              <a:ext uri="{FF2B5EF4-FFF2-40B4-BE49-F238E27FC236}">
                <a16:creationId xmlns:a16="http://schemas.microsoft.com/office/drawing/2014/main" id="{9EAB2976-7EB1-5C94-D878-F7F3CF00713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5" name="Google Shape;715;p17:notes">
            <a:extLst>
              <a:ext uri="{FF2B5EF4-FFF2-40B4-BE49-F238E27FC236}">
                <a16:creationId xmlns:a16="http://schemas.microsoft.com/office/drawing/2014/main" id="{D3C1A0BE-2D3C-8649-C0FD-F97FD33EBB5A}"/>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716" name="Google Shape;716;p17:notes">
            <a:extLst>
              <a:ext uri="{FF2B5EF4-FFF2-40B4-BE49-F238E27FC236}">
                <a16:creationId xmlns:a16="http://schemas.microsoft.com/office/drawing/2014/main" id="{0289DB57-3B14-0A72-4E55-4BC5F26D222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24</a:t>
            </a:fld>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8402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2" name="Google Shape;742;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743" name="Google Shape;743;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
        <p:cNvGrpSpPr/>
        <p:nvPr/>
      </p:nvGrpSpPr>
      <p:grpSpPr>
        <a:xfrm>
          <a:off x="0" y="0"/>
          <a:ext cx="0" cy="0"/>
          <a:chOff x="0" y="0"/>
          <a:chExt cx="0" cy="0"/>
        </a:xfrm>
      </p:grpSpPr>
      <p:sp>
        <p:nvSpPr>
          <p:cNvPr id="12" name="Google Shape;12;p1"/>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0" y="4572000"/>
            <a:ext cx="9144000" cy="571500"/>
          </a:xfrm>
          <a:prstGeom prst="rect">
            <a:avLst/>
          </a:prstGeom>
          <a:solidFill>
            <a:srgbClr val="1A3F7A"/>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
          <p:cNvSpPr/>
          <p:nvPr/>
        </p:nvSpPr>
        <p:spPr>
          <a:xfrm>
            <a:off x="457200" y="1047750"/>
            <a:ext cx="8229600" cy="9525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Emerging Market Bond</a:t>
            </a:r>
            <a:endParaRPr sz="5200" b="1" i="0" u="none" strike="noStrike" cap="none">
              <a:solidFill>
                <a:srgbClr val="FFFFFF"/>
              </a:solidFill>
              <a:latin typeface="Georgia"/>
              <a:ea typeface="Georgia"/>
              <a:cs typeface="Georgia"/>
              <a:sym typeface="Georgia"/>
            </a:endParaRPr>
          </a:p>
        </p:txBody>
      </p:sp>
      <p:sp>
        <p:nvSpPr>
          <p:cNvPr id="15" name="Google Shape;15;p1"/>
          <p:cNvSpPr/>
          <p:nvPr/>
        </p:nvSpPr>
        <p:spPr>
          <a:xfrm>
            <a:off x="457200" y="2000250"/>
            <a:ext cx="8229600" cy="762000"/>
          </a:xfrm>
          <a:prstGeom prst="rect">
            <a:avLst/>
          </a:prstGeom>
          <a:solidFill>
            <a:srgbClr val="000000">
              <a:alpha val="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US" sz="2800" b="0" i="1" u="none" strike="noStrike" cap="none" dirty="0">
                <a:solidFill>
                  <a:srgbClr val="E8A020"/>
                </a:solidFill>
                <a:latin typeface="Georgia"/>
                <a:ea typeface="Georgia"/>
                <a:cs typeface="Georgia"/>
                <a:sym typeface="Georgia"/>
              </a:rPr>
              <a:t>Delta VIX, Oil Returns, and Delta Credit Spreads-Driven Trading Strategy</a:t>
            </a:r>
            <a:endParaRPr sz="2800" b="0" i="1" u="none" strike="noStrike" cap="none" dirty="0">
              <a:solidFill>
                <a:srgbClr val="E8A020"/>
              </a:solidFill>
              <a:latin typeface="Georgia"/>
              <a:ea typeface="Georgia"/>
              <a:cs typeface="Georgia"/>
              <a:sym typeface="Georgia"/>
            </a:endParaRPr>
          </a:p>
        </p:txBody>
      </p:sp>
      <p:sp>
        <p:nvSpPr>
          <p:cNvPr id="16" name="Google Shape;16;p1"/>
          <p:cNvSpPr/>
          <p:nvPr/>
        </p:nvSpPr>
        <p:spPr>
          <a:xfrm>
            <a:off x="319495" y="2714624"/>
            <a:ext cx="6273810" cy="1381125"/>
          </a:xfrm>
          <a:prstGeom prst="rect">
            <a:avLst/>
          </a:prstGeom>
          <a:solidFill>
            <a:srgbClr val="000000">
              <a:alpha val="0"/>
            </a:srgbClr>
          </a:solidFill>
          <a:ln>
            <a:noFill/>
          </a:ln>
        </p:spPr>
        <p:txBody>
          <a:bodyPr spcFirstLastPara="1" wrap="square" lIns="1905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rgbClr val="BFD7ED"/>
                </a:solidFill>
                <a:latin typeface="Georgia"/>
                <a:ea typeface="Georgia"/>
                <a:cs typeface="Georgia"/>
                <a:sym typeface="Georgia"/>
              </a:rPr>
              <a:t>Can changes in VIX, credit spreads, and oil predict next-day EM bond returns, and can those predictions generate a profitable trading strategy?</a:t>
            </a:r>
            <a:endParaRPr sz="2000" b="0" i="0" u="none" strike="noStrike" cap="none" dirty="0">
              <a:solidFill>
                <a:srgbClr val="BFD7ED"/>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OVERVIEW</a:t>
            </a:r>
            <a:endParaRPr sz="1050" b="0" i="0" u="none" strike="noStrike" cap="none">
              <a:solidFill>
                <a:schemeClr val="dk1"/>
              </a:solidFill>
              <a:latin typeface="Calibri"/>
              <a:ea typeface="Calibri"/>
              <a:cs typeface="Calibri"/>
              <a:sym typeface="Calibri"/>
            </a:endParaRPr>
          </a:p>
        </p:txBody>
      </p:sp>
      <p:sp>
        <p:nvSpPr>
          <p:cNvPr id="24" name="Google Shape;24;p2"/>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3400" b="1" i="0" u="none" strike="noStrike" cap="none">
                <a:solidFill>
                  <a:srgbClr val="0C1A35"/>
                </a:solidFill>
                <a:latin typeface="Georgia"/>
                <a:ea typeface="Georgia"/>
                <a:cs typeface="Georgia"/>
                <a:sym typeface="Georgia"/>
              </a:rPr>
              <a:t>What Are Emerging Market Bonds </a:t>
            </a:r>
            <a:endParaRPr sz="3400" b="0" i="0" u="none" strike="noStrike" cap="none">
              <a:solidFill>
                <a:schemeClr val="dk1"/>
              </a:solidFill>
              <a:latin typeface="Calibri"/>
              <a:ea typeface="Calibri"/>
              <a:cs typeface="Calibri"/>
              <a:sym typeface="Calibri"/>
            </a:endParaRPr>
          </a:p>
        </p:txBody>
      </p:sp>
      <p:sp>
        <p:nvSpPr>
          <p:cNvPr id="25" name="Google Shape;25;p2"/>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457200" y="1371600"/>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457200" y="1371600"/>
            <a:ext cx="91500" cy="10515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631701" y="1433997"/>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3F7A"/>
              </a:buClr>
              <a:buSzPts val="2400"/>
              <a:buFont typeface="Georgia"/>
              <a:buNone/>
            </a:pPr>
            <a:r>
              <a:rPr lang="en-US" sz="2400" b="1" i="0" u="none" strike="noStrike" cap="none">
                <a:solidFill>
                  <a:srgbClr val="1A3F7A"/>
                </a:solidFill>
                <a:latin typeface="Josefin Sans"/>
                <a:ea typeface="Josefin Sans"/>
                <a:cs typeface="Josefin Sans"/>
                <a:sym typeface="Josefin Sans"/>
              </a:rPr>
              <a:t>01</a:t>
            </a:r>
            <a:endParaRPr sz="2400" b="0" i="0" u="none" strike="noStrike" cap="none">
              <a:solidFill>
                <a:schemeClr val="dk1"/>
              </a:solidFill>
              <a:latin typeface="Josefin Sans"/>
              <a:ea typeface="Josefin Sans"/>
              <a:cs typeface="Josefin Sans"/>
              <a:sym typeface="Josefin Sans"/>
            </a:endParaRPr>
          </a:p>
        </p:txBody>
      </p:sp>
      <p:sp>
        <p:nvSpPr>
          <p:cNvPr id="29" name="Google Shape;29;p2"/>
          <p:cNvSpPr/>
          <p:nvPr/>
        </p:nvSpPr>
        <p:spPr>
          <a:xfrm>
            <a:off x="1309050" y="1674975"/>
            <a:ext cx="3129300" cy="43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Bonds issued by less stable but developing countries like Turkey, Brazil, and Indonesia</a:t>
            </a:r>
            <a:endParaRPr sz="1250" b="1" i="0" u="none" strike="noStrike" cap="none">
              <a:solidFill>
                <a:srgbClr val="1E293B"/>
              </a:solidFill>
              <a:latin typeface="Calibri"/>
              <a:ea typeface="Calibri"/>
              <a:cs typeface="Calibri"/>
              <a:sym typeface="Calibri"/>
            </a:endParaRPr>
          </a:p>
        </p:txBody>
      </p:sp>
      <p:sp>
        <p:nvSpPr>
          <p:cNvPr id="30" name="Google Shape;30;p2"/>
          <p:cNvSpPr/>
          <p:nvPr/>
        </p:nvSpPr>
        <p:spPr>
          <a:xfrm>
            <a:off x="457200" y="2560323"/>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457200" y="2560320"/>
            <a:ext cx="91500" cy="10515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640080" y="2633472"/>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2400"/>
              <a:buFont typeface="Georgia"/>
              <a:buNone/>
            </a:pPr>
            <a:r>
              <a:rPr lang="en-US" sz="2400" b="1" i="0" u="none" strike="noStrike" cap="none">
                <a:solidFill>
                  <a:srgbClr val="0F766E"/>
                </a:solidFill>
                <a:latin typeface="Josefin Sans"/>
                <a:ea typeface="Josefin Sans"/>
                <a:cs typeface="Josefin Sans"/>
                <a:sym typeface="Josefin Sans"/>
              </a:rPr>
              <a:t>02</a:t>
            </a:r>
            <a:endParaRPr sz="2400" b="0" i="0" u="none" strike="noStrike" cap="none">
              <a:solidFill>
                <a:schemeClr val="dk1"/>
              </a:solidFill>
              <a:latin typeface="Josefin Sans"/>
              <a:ea typeface="Josefin Sans"/>
              <a:cs typeface="Josefin Sans"/>
              <a:sym typeface="Josefin Sans"/>
            </a:endParaRPr>
          </a:p>
        </p:txBody>
      </p:sp>
      <p:sp>
        <p:nvSpPr>
          <p:cNvPr id="33" name="Google Shape;33;p2"/>
          <p:cNvSpPr/>
          <p:nvPr/>
        </p:nvSpPr>
        <p:spPr>
          <a:xfrm>
            <a:off x="457200" y="3749050"/>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457200" y="3749040"/>
            <a:ext cx="91500" cy="10515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a:off x="640080" y="3822192"/>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2400"/>
              <a:buFont typeface="Georgia"/>
              <a:buNone/>
            </a:pPr>
            <a:r>
              <a:rPr lang="en-US" sz="2400" b="1" i="0" u="none" strike="noStrike" cap="none">
                <a:solidFill>
                  <a:srgbClr val="2B6CB0"/>
                </a:solidFill>
                <a:latin typeface="Josefin Sans"/>
                <a:ea typeface="Josefin Sans"/>
                <a:cs typeface="Josefin Sans"/>
                <a:sym typeface="Josefin Sans"/>
              </a:rPr>
              <a:t>03</a:t>
            </a:r>
            <a:endParaRPr sz="2400" b="0" i="0" u="none" strike="noStrike" cap="none">
              <a:solidFill>
                <a:srgbClr val="2B6CB0"/>
              </a:solidFill>
              <a:latin typeface="Josefin Sans"/>
              <a:ea typeface="Josefin Sans"/>
              <a:cs typeface="Josefin Sans"/>
              <a:sym typeface="Josefin Sans"/>
            </a:endParaRPr>
          </a:p>
        </p:txBody>
      </p:sp>
      <p:sp>
        <p:nvSpPr>
          <p:cNvPr id="36" name="Google Shape;36;p2"/>
          <p:cNvSpPr/>
          <p:nvPr/>
        </p:nvSpPr>
        <p:spPr>
          <a:xfrm>
            <a:off x="1309051" y="2866650"/>
            <a:ext cx="2994900" cy="43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Riskier than US Treasury bonds due to a variety of factors (political/economic/social)</a:t>
            </a:r>
            <a:endParaRPr sz="1250" b="1" i="0" u="none" strike="noStrike" cap="none">
              <a:solidFill>
                <a:srgbClr val="1E293B"/>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a:stretch/>
        </p:blipFill>
        <p:spPr>
          <a:xfrm>
            <a:off x="4711075" y="1961388"/>
            <a:ext cx="3975726" cy="2240275"/>
          </a:xfrm>
          <a:prstGeom prst="rect">
            <a:avLst/>
          </a:prstGeom>
          <a:noFill/>
          <a:ln w="19050" cap="flat" cmpd="sng">
            <a:solidFill>
              <a:srgbClr val="E0E5EB"/>
            </a:solidFill>
            <a:prstDash val="solid"/>
            <a:round/>
            <a:headEnd type="none" w="sm" len="sm"/>
            <a:tailEnd type="none" w="sm" len="sm"/>
          </a:ln>
        </p:spPr>
      </p:pic>
      <p:sp>
        <p:nvSpPr>
          <p:cNvPr id="38" name="Google Shape;38;p2"/>
          <p:cNvSpPr/>
          <p:nvPr/>
        </p:nvSpPr>
        <p:spPr>
          <a:xfrm>
            <a:off x="1309048" y="3945575"/>
            <a:ext cx="3129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dirty="0">
                <a:solidFill>
                  <a:srgbClr val="1E293B"/>
                </a:solidFill>
                <a:latin typeface="Calibri"/>
                <a:ea typeface="Calibri"/>
                <a:cs typeface="Calibri"/>
                <a:sym typeface="Calibri"/>
              </a:rPr>
              <a:t>We study the iShares J.P. Morgan USD Emerging Markets Bond ETF (EMB)</a:t>
            </a:r>
            <a:r>
              <a:rPr lang="en-US" sz="1250" b="1" dirty="0">
                <a:solidFill>
                  <a:srgbClr val="1E293B"/>
                </a:solidFill>
                <a:latin typeface="Calibri"/>
                <a:ea typeface="Calibri"/>
                <a:cs typeface="Calibri"/>
                <a:sym typeface="Calibri"/>
              </a:rPr>
              <a:t>. </a:t>
            </a:r>
            <a:r>
              <a:rPr lang="en-US" sz="1250" b="1" i="0" u="none" strike="noStrike" cap="none" dirty="0">
                <a:solidFill>
                  <a:srgbClr val="1E293B"/>
                </a:solidFill>
                <a:latin typeface="Calibri"/>
                <a:ea typeface="Calibri"/>
                <a:cs typeface="Calibri"/>
                <a:sym typeface="Calibri"/>
              </a:rPr>
              <a:t>EMB is the ETF; it tracks an index of USD-denominated EM bonds.</a:t>
            </a:r>
            <a:endParaRPr sz="1250" b="1" i="0" u="none" strike="noStrike" cap="none" dirty="0">
              <a:solidFill>
                <a:srgbClr val="1E293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
        <p:cNvGrpSpPr/>
        <p:nvPr/>
      </p:nvGrpSpPr>
      <p:grpSpPr>
        <a:xfrm>
          <a:off x="0" y="0"/>
          <a:ext cx="0" cy="0"/>
          <a:chOff x="0" y="0"/>
          <a:chExt cx="0" cy="0"/>
        </a:xfrm>
      </p:grpSpPr>
      <p:sp>
        <p:nvSpPr>
          <p:cNvPr id="44" name="Google Shape;44;g39789fe7b62_1_186"/>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g39789fe7b62_1_186"/>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OVERVIEW</a:t>
            </a:r>
            <a:endParaRPr sz="1050" b="0" i="0" u="none" strike="noStrike" cap="none">
              <a:solidFill>
                <a:schemeClr val="dk1"/>
              </a:solidFill>
              <a:latin typeface="Calibri"/>
              <a:ea typeface="Calibri"/>
              <a:cs typeface="Calibri"/>
              <a:sym typeface="Calibri"/>
            </a:endParaRPr>
          </a:p>
        </p:txBody>
      </p:sp>
      <p:pic>
        <p:nvPicPr>
          <p:cNvPr id="46" name="Google Shape;46;g39789fe7b62_1_186"/>
          <p:cNvPicPr preferRelativeResize="0"/>
          <p:nvPr/>
        </p:nvPicPr>
        <p:blipFill rotWithShape="1">
          <a:blip r:embed="rId3">
            <a:alphaModFix/>
          </a:blip>
          <a:srcRect t="7227"/>
          <a:stretch/>
        </p:blipFill>
        <p:spPr>
          <a:xfrm>
            <a:off x="3741151" y="1393075"/>
            <a:ext cx="4945650" cy="3131326"/>
          </a:xfrm>
          <a:prstGeom prst="rect">
            <a:avLst/>
          </a:prstGeom>
          <a:solidFill>
            <a:srgbClr val="FFFFFF"/>
          </a:solidFill>
          <a:ln w="9525" cap="flat" cmpd="sng">
            <a:solidFill>
              <a:srgbClr val="E2E8F0"/>
            </a:solidFill>
            <a:prstDash val="solid"/>
            <a:round/>
            <a:headEnd type="none" w="sm" len="sm"/>
            <a:tailEnd type="none" w="sm" len="sm"/>
          </a:ln>
        </p:spPr>
      </p:pic>
      <p:sp>
        <p:nvSpPr>
          <p:cNvPr id="47" name="Google Shape;47;g39789fe7b62_1_186"/>
          <p:cNvSpPr/>
          <p:nvPr/>
        </p:nvSpPr>
        <p:spPr>
          <a:xfrm>
            <a:off x="545100" y="1851575"/>
            <a:ext cx="30957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39789fe7b62_1_186"/>
          <p:cNvSpPr/>
          <p:nvPr/>
        </p:nvSpPr>
        <p:spPr>
          <a:xfrm>
            <a:off x="629400" y="1911754"/>
            <a:ext cx="2927100" cy="93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The index provides exposure to liquid, US dollar-denominated emerging market sovereign debt.</a:t>
            </a:r>
            <a:endParaRPr sz="1250" b="1" i="0" u="none" strike="noStrike" cap="none">
              <a:solidFill>
                <a:srgbClr val="1E293B"/>
              </a:solidFill>
              <a:latin typeface="Calibri"/>
              <a:ea typeface="Calibri"/>
              <a:cs typeface="Calibri"/>
              <a:sym typeface="Calibri"/>
            </a:endParaRPr>
          </a:p>
        </p:txBody>
      </p:sp>
      <p:sp>
        <p:nvSpPr>
          <p:cNvPr id="49" name="Google Shape;49;g39789fe7b62_1_186"/>
          <p:cNvSpPr/>
          <p:nvPr/>
        </p:nvSpPr>
        <p:spPr>
          <a:xfrm>
            <a:off x="457200" y="1855200"/>
            <a:ext cx="87900" cy="10515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g39789fe7b62_1_186"/>
          <p:cNvSpPr/>
          <p:nvPr/>
        </p:nvSpPr>
        <p:spPr>
          <a:xfrm>
            <a:off x="545100" y="3010775"/>
            <a:ext cx="30957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g39789fe7b62_1_186"/>
          <p:cNvSpPr/>
          <p:nvPr/>
        </p:nvSpPr>
        <p:spPr>
          <a:xfrm>
            <a:off x="629400" y="3070954"/>
            <a:ext cx="2927100" cy="93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The following graph shows some, but not all of the countries’ bonds that make up its portfolio.</a:t>
            </a:r>
            <a:endParaRPr sz="1250" b="1" i="0" u="none" strike="noStrike" cap="none">
              <a:solidFill>
                <a:srgbClr val="1E293B"/>
              </a:solidFill>
              <a:latin typeface="Calibri"/>
              <a:ea typeface="Calibri"/>
              <a:cs typeface="Calibri"/>
              <a:sym typeface="Calibri"/>
            </a:endParaRPr>
          </a:p>
        </p:txBody>
      </p:sp>
      <p:sp>
        <p:nvSpPr>
          <p:cNvPr id="52" name="Google Shape;52;g39789fe7b62_1_186"/>
          <p:cNvSpPr/>
          <p:nvPr/>
        </p:nvSpPr>
        <p:spPr>
          <a:xfrm>
            <a:off x="457200" y="3014400"/>
            <a:ext cx="87900" cy="1051500"/>
          </a:xfrm>
          <a:prstGeom prst="rect">
            <a:avLst/>
          </a:prstGeom>
          <a:solidFill>
            <a:schemeClr val="accent1"/>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g39789fe7b62_1_186"/>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US" sz="3100" b="1" i="0" u="none" strike="noStrike" cap="none">
                <a:solidFill>
                  <a:schemeClr val="dk1"/>
                </a:solidFill>
                <a:latin typeface="Georgia"/>
                <a:ea typeface="Georgia"/>
                <a:cs typeface="Georgia"/>
                <a:sym typeface="Georgia"/>
              </a:rPr>
              <a:t>Composition: JPMorgan EMBI GD Index</a:t>
            </a:r>
            <a:endParaRPr sz="3400" b="0" i="0" u="none" strike="noStrike" cap="none">
              <a:solidFill>
                <a:schemeClr val="dk1"/>
              </a:solidFill>
              <a:latin typeface="Calibri"/>
              <a:ea typeface="Calibri"/>
              <a:cs typeface="Calibri"/>
              <a:sym typeface="Calibri"/>
            </a:endParaRPr>
          </a:p>
        </p:txBody>
      </p:sp>
      <p:sp>
        <p:nvSpPr>
          <p:cNvPr id="54" name="Google Shape;54;g39789fe7b62_1_186"/>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sp>
        <p:nvSpPr>
          <p:cNvPr id="60" name="Google Shape;60;g39789fe7b62_1_137"/>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39789fe7b62_1_137"/>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OUR PITCH</a:t>
            </a:r>
            <a:endParaRPr sz="1050" b="0" i="0" u="none" strike="noStrike" cap="none">
              <a:solidFill>
                <a:schemeClr val="dk1"/>
              </a:solidFill>
              <a:latin typeface="Calibri"/>
              <a:ea typeface="Calibri"/>
              <a:cs typeface="Calibri"/>
              <a:sym typeface="Calibri"/>
            </a:endParaRPr>
          </a:p>
        </p:txBody>
      </p:sp>
      <p:sp>
        <p:nvSpPr>
          <p:cNvPr id="62" name="Google Shape;62;g39789fe7b62_1_137"/>
          <p:cNvSpPr/>
          <p:nvPr/>
        </p:nvSpPr>
        <p:spPr>
          <a:xfrm>
            <a:off x="457200" y="1116017"/>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g39789fe7b62_1_137"/>
          <p:cNvSpPr/>
          <p:nvPr/>
        </p:nvSpPr>
        <p:spPr>
          <a:xfrm>
            <a:off x="457200" y="1218520"/>
            <a:ext cx="8229600" cy="3699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g39789fe7b62_1_137"/>
          <p:cNvSpPr txBox="1"/>
          <p:nvPr/>
        </p:nvSpPr>
        <p:spPr>
          <a:xfrm>
            <a:off x="399900" y="1197370"/>
            <a:ext cx="8344200" cy="412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0" i="0" u="none" strike="noStrike" cap="none">
                <a:solidFill>
                  <a:schemeClr val="dk1"/>
                </a:solidFill>
                <a:latin typeface="Calibri"/>
                <a:ea typeface="Calibri"/>
                <a:cs typeface="Calibri"/>
                <a:sym typeface="Calibri"/>
              </a:rPr>
              <a:t>Can we </a:t>
            </a:r>
            <a:r>
              <a:rPr lang="en-US" sz="1500" b="0" i="0" u="none" strike="noStrike" cap="none">
                <a:solidFill>
                  <a:srgbClr val="1E293B"/>
                </a:solidFill>
                <a:latin typeface="Calibri"/>
                <a:ea typeface="Calibri"/>
                <a:cs typeface="Calibri"/>
                <a:sym typeface="Calibri"/>
              </a:rPr>
              <a:t>predict</a:t>
            </a:r>
            <a:r>
              <a:rPr lang="en-US" sz="1500" b="0" i="0" u="none" strike="noStrike" cap="none">
                <a:solidFill>
                  <a:schemeClr val="dk1"/>
                </a:solidFill>
                <a:latin typeface="Calibri"/>
                <a:ea typeface="Calibri"/>
                <a:cs typeface="Calibri"/>
                <a:sym typeface="Calibri"/>
              </a:rPr>
              <a:t> when EM bonds recover after a flight-to-safety panic, and how can we profit from it?</a:t>
            </a:r>
            <a:endParaRPr sz="1800" b="0" i="0" u="none" strike="noStrike" cap="none">
              <a:solidFill>
                <a:srgbClr val="000000"/>
              </a:solidFill>
              <a:latin typeface="Calibri"/>
              <a:ea typeface="Calibri"/>
              <a:cs typeface="Calibri"/>
              <a:sym typeface="Calibri"/>
            </a:endParaRPr>
          </a:p>
        </p:txBody>
      </p:sp>
      <p:sp>
        <p:nvSpPr>
          <p:cNvPr id="65" name="Google Shape;65;g39789fe7b62_1_137"/>
          <p:cNvSpPr/>
          <p:nvPr/>
        </p:nvSpPr>
        <p:spPr>
          <a:xfrm rot="5400000">
            <a:off x="124050" y="2370978"/>
            <a:ext cx="1069800" cy="403500"/>
          </a:xfrm>
          <a:prstGeom prst="chevron">
            <a:avLst>
              <a:gd name="adj"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g39789fe7b62_1_137"/>
          <p:cNvSpPr/>
          <p:nvPr/>
        </p:nvSpPr>
        <p:spPr>
          <a:xfrm rot="5400000">
            <a:off x="124050" y="3353531"/>
            <a:ext cx="1069800" cy="403500"/>
          </a:xfrm>
          <a:prstGeom prst="chevron">
            <a:avLst>
              <a:gd name="adj"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9789fe7b62_1_137"/>
          <p:cNvSpPr/>
          <p:nvPr/>
        </p:nvSpPr>
        <p:spPr>
          <a:xfrm rot="5400000">
            <a:off x="124050" y="4343576"/>
            <a:ext cx="1069800" cy="403500"/>
          </a:xfrm>
          <a:prstGeom prst="chevron">
            <a:avLst>
              <a:gd name="adj" fmla="val 50000"/>
            </a:avLst>
          </a:prstGeom>
          <a:solidFill>
            <a:srgbClr val="0F766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g39789fe7b62_1_137"/>
          <p:cNvSpPr/>
          <p:nvPr/>
        </p:nvSpPr>
        <p:spPr>
          <a:xfrm>
            <a:off x="975975" y="2046978"/>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39789fe7b62_1_137"/>
          <p:cNvSpPr/>
          <p:nvPr/>
        </p:nvSpPr>
        <p:spPr>
          <a:xfrm>
            <a:off x="1010944" y="209363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Delta (Change in) VIX </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Cboe Volatility Index tracks forward expectations of volatility in the US market</a:t>
            </a:r>
            <a:endParaRPr sz="1100" b="1" i="0" u="none" strike="noStrike" cap="none">
              <a:solidFill>
                <a:srgbClr val="1E293B"/>
              </a:solidFill>
              <a:latin typeface="Calibri"/>
              <a:ea typeface="Calibri"/>
              <a:cs typeface="Calibri"/>
              <a:sym typeface="Calibri"/>
            </a:endParaRPr>
          </a:p>
        </p:txBody>
      </p:sp>
      <p:sp>
        <p:nvSpPr>
          <p:cNvPr id="70" name="Google Shape;70;g39789fe7b62_1_137"/>
          <p:cNvSpPr/>
          <p:nvPr/>
        </p:nvSpPr>
        <p:spPr>
          <a:xfrm>
            <a:off x="975975" y="3020378"/>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g39789fe7b62_1_137"/>
          <p:cNvSpPr/>
          <p:nvPr/>
        </p:nvSpPr>
        <p:spPr>
          <a:xfrm>
            <a:off x="1010944" y="306703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dirty="0">
                <a:solidFill>
                  <a:srgbClr val="1E293B"/>
                </a:solidFill>
                <a:latin typeface="Calibri"/>
                <a:ea typeface="Calibri"/>
                <a:cs typeface="Calibri"/>
                <a:sym typeface="Calibri"/>
              </a:rPr>
              <a:t>Delta Credit Spreads</a:t>
            </a:r>
            <a:endParaRPr sz="1500" b="1" i="0" u="sng" strike="noStrike" cap="none" dirty="0">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dirty="0">
                <a:solidFill>
                  <a:srgbClr val="1E293B"/>
                </a:solidFill>
                <a:latin typeface="Calibri"/>
                <a:ea typeface="Calibri"/>
                <a:cs typeface="Calibri"/>
                <a:sym typeface="Calibri"/>
              </a:rPr>
              <a:t>The credit spread index we used tracks the difference between BB U.S. high-yield credit spread over Treasuries.</a:t>
            </a:r>
            <a:endParaRPr sz="1100" b="1" i="0" u="none" strike="noStrike" cap="none" dirty="0">
              <a:solidFill>
                <a:srgbClr val="1E293B"/>
              </a:solidFill>
              <a:latin typeface="Calibri"/>
              <a:ea typeface="Calibri"/>
              <a:cs typeface="Calibri"/>
              <a:sym typeface="Calibri"/>
            </a:endParaRPr>
          </a:p>
        </p:txBody>
      </p:sp>
      <p:grpSp>
        <p:nvGrpSpPr>
          <p:cNvPr id="72" name="Google Shape;72;g39789fe7b62_1_137"/>
          <p:cNvGrpSpPr/>
          <p:nvPr/>
        </p:nvGrpSpPr>
        <p:grpSpPr>
          <a:xfrm>
            <a:off x="976000" y="4023419"/>
            <a:ext cx="3591900" cy="846300"/>
            <a:chOff x="976000" y="3827816"/>
            <a:chExt cx="3591900" cy="846300"/>
          </a:xfrm>
        </p:grpSpPr>
        <p:sp>
          <p:nvSpPr>
            <p:cNvPr id="73" name="Google Shape;73;g39789fe7b62_1_137"/>
            <p:cNvSpPr/>
            <p:nvPr/>
          </p:nvSpPr>
          <p:spPr>
            <a:xfrm>
              <a:off x="976000" y="3827816"/>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g39789fe7b62_1_137"/>
            <p:cNvSpPr/>
            <p:nvPr/>
          </p:nvSpPr>
          <p:spPr>
            <a:xfrm>
              <a:off x="1010969" y="3847000"/>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dirty="0">
                  <a:solidFill>
                    <a:srgbClr val="1E293B"/>
                  </a:solidFill>
                  <a:latin typeface="Calibri"/>
                  <a:ea typeface="Calibri"/>
                  <a:cs typeface="Calibri"/>
                  <a:sym typeface="Calibri"/>
                </a:rPr>
                <a:t>Oil </a:t>
              </a:r>
              <a:r>
                <a:rPr lang="en-US" sz="1500" b="1" u="sng" dirty="0">
                  <a:solidFill>
                    <a:srgbClr val="1E293B"/>
                  </a:solidFill>
                  <a:latin typeface="Calibri"/>
                  <a:ea typeface="Calibri"/>
                  <a:cs typeface="Calibri"/>
                  <a:sym typeface="Calibri"/>
                </a:rPr>
                <a:t>Returns</a:t>
              </a:r>
              <a:endParaRPr sz="1500" b="1" i="0" u="sng" strike="noStrike" cap="none" dirty="0">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dirty="0">
                  <a:solidFill>
                    <a:srgbClr val="1E293B"/>
                  </a:solidFill>
                  <a:latin typeface="Calibri"/>
                  <a:ea typeface="Calibri"/>
                  <a:cs typeface="Calibri"/>
                  <a:sym typeface="Calibri"/>
                </a:rPr>
                <a:t>Crude oil futures track </a:t>
              </a:r>
              <a:r>
                <a:rPr lang="en-US" sz="1100" b="1" dirty="0">
                  <a:solidFill>
                    <a:srgbClr val="1E293B"/>
                  </a:solidFill>
                  <a:latin typeface="Calibri"/>
                  <a:ea typeface="Calibri"/>
                  <a:cs typeface="Calibri"/>
                  <a:sym typeface="Calibri"/>
                </a:rPr>
                <a:t>changes in the</a:t>
              </a:r>
              <a:r>
                <a:rPr lang="en-US" sz="1100" b="1" i="0" u="none" strike="noStrike" cap="none" dirty="0">
                  <a:solidFill>
                    <a:srgbClr val="1E293B"/>
                  </a:solidFill>
                  <a:latin typeface="Calibri"/>
                  <a:ea typeface="Calibri"/>
                  <a:cs typeface="Calibri"/>
                  <a:sym typeface="Calibri"/>
                </a:rPr>
                <a:t> price of oil</a:t>
              </a:r>
              <a:endParaRPr sz="1100" b="1" i="0" u="none" strike="noStrike" cap="none" dirty="0">
                <a:solidFill>
                  <a:srgbClr val="1E293B"/>
                </a:solidFill>
                <a:latin typeface="Calibri"/>
                <a:ea typeface="Calibri"/>
                <a:cs typeface="Calibri"/>
                <a:sym typeface="Calibri"/>
              </a:endParaRPr>
            </a:p>
          </p:txBody>
        </p:sp>
      </p:grpSp>
      <p:cxnSp>
        <p:nvCxnSpPr>
          <p:cNvPr id="75" name="Google Shape;75;g39789fe7b62_1_137"/>
          <p:cNvCxnSpPr/>
          <p:nvPr/>
        </p:nvCxnSpPr>
        <p:spPr>
          <a:xfrm>
            <a:off x="4828749" y="2046110"/>
            <a:ext cx="0" cy="2837400"/>
          </a:xfrm>
          <a:prstGeom prst="straightConnector1">
            <a:avLst/>
          </a:prstGeom>
          <a:noFill/>
          <a:ln w="19050" cap="flat" cmpd="sng">
            <a:solidFill>
              <a:srgbClr val="94A3B8"/>
            </a:solidFill>
            <a:prstDash val="solid"/>
            <a:round/>
            <a:headEnd type="none" w="sm" len="sm"/>
            <a:tailEnd type="none" w="sm" len="sm"/>
          </a:ln>
        </p:spPr>
      </p:cxnSp>
      <p:sp>
        <p:nvSpPr>
          <p:cNvPr id="76" name="Google Shape;76;g39789fe7b62_1_137"/>
          <p:cNvSpPr/>
          <p:nvPr/>
        </p:nvSpPr>
        <p:spPr>
          <a:xfrm>
            <a:off x="5089599" y="2474256"/>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39789fe7b62_1_137"/>
          <p:cNvSpPr/>
          <p:nvPr/>
        </p:nvSpPr>
        <p:spPr>
          <a:xfrm>
            <a:off x="5124543" y="251677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First Model - Delta VIX Only</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We used a one-factor model with only continuous changes in VIX to predict EMB returns</a:t>
            </a:r>
            <a:endParaRPr sz="1100" b="1" i="0" u="none" strike="noStrike" cap="none">
              <a:solidFill>
                <a:srgbClr val="1E293B"/>
              </a:solidFill>
              <a:latin typeface="Calibri"/>
              <a:ea typeface="Calibri"/>
              <a:cs typeface="Calibri"/>
              <a:sym typeface="Calibri"/>
            </a:endParaRPr>
          </a:p>
        </p:txBody>
      </p:sp>
      <p:grpSp>
        <p:nvGrpSpPr>
          <p:cNvPr id="78" name="Google Shape;78;g39789fe7b62_1_137"/>
          <p:cNvGrpSpPr/>
          <p:nvPr/>
        </p:nvGrpSpPr>
        <p:grpSpPr>
          <a:xfrm>
            <a:off x="5089599" y="3460407"/>
            <a:ext cx="3591900" cy="846300"/>
            <a:chOff x="4819300" y="3453450"/>
            <a:chExt cx="3591900" cy="846300"/>
          </a:xfrm>
        </p:grpSpPr>
        <p:sp>
          <p:nvSpPr>
            <p:cNvPr id="79" name="Google Shape;79;g39789fe7b62_1_137"/>
            <p:cNvSpPr/>
            <p:nvPr/>
          </p:nvSpPr>
          <p:spPr>
            <a:xfrm>
              <a:off x="4819300" y="3453450"/>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g39789fe7b62_1_137"/>
            <p:cNvSpPr/>
            <p:nvPr/>
          </p:nvSpPr>
          <p:spPr>
            <a:xfrm>
              <a:off x="4854269" y="3500110"/>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Second Model - All 3 Signals</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We used a three-factor model continuously trading on changes in oil prices, VIX, and credit spreads</a:t>
              </a:r>
              <a:endParaRPr sz="1100" b="1" i="0" u="none" strike="noStrike" cap="none">
                <a:solidFill>
                  <a:srgbClr val="1E293B"/>
                </a:solidFill>
                <a:latin typeface="Calibri"/>
                <a:ea typeface="Calibri"/>
                <a:cs typeface="Calibri"/>
                <a:sym typeface="Calibri"/>
              </a:endParaRPr>
            </a:p>
          </p:txBody>
        </p:sp>
      </p:grpSp>
      <p:sp>
        <p:nvSpPr>
          <p:cNvPr id="84" name="Google Shape;84;g39789fe7b62_1_137"/>
          <p:cNvSpPr txBox="1"/>
          <p:nvPr/>
        </p:nvSpPr>
        <p:spPr>
          <a:xfrm>
            <a:off x="5089625" y="1604413"/>
            <a:ext cx="3591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dirty="0">
                <a:solidFill>
                  <a:srgbClr val="000000"/>
                </a:solidFill>
                <a:latin typeface="Calibri"/>
                <a:ea typeface="Calibri"/>
                <a:cs typeface="Calibri"/>
                <a:sym typeface="Calibri"/>
              </a:rPr>
              <a:t>We Tested </a:t>
            </a:r>
            <a:r>
              <a:rPr lang="en-US" sz="1600" b="1" u="sng" dirty="0">
                <a:latin typeface="Calibri"/>
                <a:ea typeface="Calibri"/>
                <a:cs typeface="Calibri"/>
                <a:sym typeface="Calibri"/>
              </a:rPr>
              <a:t>3</a:t>
            </a:r>
            <a:r>
              <a:rPr lang="en-US" sz="1600" b="1" i="0" u="sng" strike="noStrike" cap="none" dirty="0">
                <a:solidFill>
                  <a:srgbClr val="000000"/>
                </a:solidFill>
                <a:latin typeface="Calibri"/>
                <a:ea typeface="Calibri"/>
                <a:cs typeface="Calibri"/>
                <a:sym typeface="Calibri"/>
              </a:rPr>
              <a:t> Model</a:t>
            </a:r>
            <a:r>
              <a:rPr lang="en-US" sz="1600" b="1" i="0" u="sng" strike="noStrike" cap="none" dirty="0">
                <a:solidFill>
                  <a:schemeClr val="dk1"/>
                </a:solidFill>
                <a:latin typeface="Calibri"/>
                <a:ea typeface="Calibri"/>
                <a:cs typeface="Calibri"/>
                <a:sym typeface="Calibri"/>
              </a:rPr>
              <a:t>s</a:t>
            </a:r>
            <a:endParaRPr sz="1600" b="1" i="0" u="sng" strike="noStrike" cap="none" dirty="0">
              <a:solidFill>
                <a:srgbClr val="000000"/>
              </a:solidFill>
              <a:latin typeface="Calibri"/>
              <a:ea typeface="Calibri"/>
              <a:cs typeface="Calibri"/>
              <a:sym typeface="Calibri"/>
            </a:endParaRPr>
          </a:p>
        </p:txBody>
      </p:sp>
      <p:sp>
        <p:nvSpPr>
          <p:cNvPr id="85" name="Google Shape;85;g39789fe7b62_1_137"/>
          <p:cNvSpPr txBox="1"/>
          <p:nvPr/>
        </p:nvSpPr>
        <p:spPr>
          <a:xfrm>
            <a:off x="975975" y="1589401"/>
            <a:ext cx="3591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rgbClr val="000000"/>
                </a:solidFill>
                <a:latin typeface="Calibri"/>
                <a:ea typeface="Calibri"/>
                <a:cs typeface="Calibri"/>
                <a:sym typeface="Calibri"/>
              </a:rPr>
              <a:t>We Tested 3 Fear Signals</a:t>
            </a:r>
            <a:endParaRPr sz="1600" b="1" i="0" u="sng" strike="noStrike" cap="none">
              <a:solidFill>
                <a:srgbClr val="000000"/>
              </a:solidFill>
              <a:latin typeface="Calibri"/>
              <a:ea typeface="Calibri"/>
              <a:cs typeface="Calibri"/>
              <a:sym typeface="Calibri"/>
            </a:endParaRPr>
          </a:p>
        </p:txBody>
      </p:sp>
      <p:sp>
        <p:nvSpPr>
          <p:cNvPr id="86" name="Google Shape;86;g39789fe7b62_1_137"/>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3400" b="1" i="0" u="none" strike="noStrike" cap="none">
                <a:solidFill>
                  <a:srgbClr val="0C1A35"/>
                </a:solidFill>
                <a:latin typeface="Georgia"/>
                <a:ea typeface="Georgia"/>
                <a:cs typeface="Georgia"/>
                <a:sym typeface="Georgia"/>
              </a:rPr>
              <a:t>Our Research Question</a:t>
            </a:r>
            <a:endParaRPr sz="3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
        <p:cNvGrpSpPr/>
        <p:nvPr/>
      </p:nvGrpSpPr>
      <p:grpSpPr>
        <a:xfrm>
          <a:off x="0" y="0"/>
          <a:ext cx="0" cy="0"/>
          <a:chOff x="0" y="0"/>
          <a:chExt cx="0" cy="0"/>
        </a:xfrm>
      </p:grpSpPr>
      <p:sp>
        <p:nvSpPr>
          <p:cNvPr id="92" name="Google Shape;92;g39789fe7b62_1_239"/>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g39789fe7b62_1_239"/>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Model 1 </a:t>
            </a:r>
            <a:endParaRPr sz="52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Single Factor OLS</a:t>
            </a:r>
            <a:endParaRPr sz="5200" b="1" i="0" u="none" strike="noStrike" cap="none">
              <a:solidFill>
                <a:srgbClr val="FFFFFF"/>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sp>
        <p:nvSpPr>
          <p:cNvPr id="99" name="Google Shape;99;g39789fe7b62_1_388"/>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39789fe7b62_1_388"/>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 INTRO</a:t>
            </a:r>
            <a:endParaRPr sz="1050" b="0" i="0" u="none" strike="noStrike" cap="none">
              <a:solidFill>
                <a:schemeClr val="dk1"/>
              </a:solidFill>
              <a:latin typeface="Calibri"/>
              <a:ea typeface="Calibri"/>
              <a:cs typeface="Calibri"/>
              <a:sym typeface="Calibri"/>
            </a:endParaRPr>
          </a:p>
        </p:txBody>
      </p:sp>
      <p:sp>
        <p:nvSpPr>
          <p:cNvPr id="101" name="Google Shape;101;g39789fe7b62_1_388"/>
          <p:cNvSpPr/>
          <p:nvPr/>
        </p:nvSpPr>
        <p:spPr>
          <a:xfrm>
            <a:off x="457200" y="481525"/>
            <a:ext cx="8229600" cy="66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2900" b="1" i="0" u="none" strike="noStrike" cap="none">
                <a:solidFill>
                  <a:srgbClr val="0C1A35"/>
                </a:solidFill>
                <a:latin typeface="Georgia"/>
                <a:ea typeface="Georgia"/>
                <a:cs typeface="Georgia"/>
                <a:sym typeface="Georgia"/>
              </a:rPr>
              <a:t>Why Use VIX As Our Independent Variable</a:t>
            </a:r>
            <a:endParaRPr sz="2900" b="0" i="0" u="none" strike="noStrike" cap="none">
              <a:solidFill>
                <a:schemeClr val="dk1"/>
              </a:solidFill>
              <a:latin typeface="Calibri"/>
              <a:ea typeface="Calibri"/>
              <a:cs typeface="Calibri"/>
              <a:sym typeface="Calibri"/>
            </a:endParaRPr>
          </a:p>
        </p:txBody>
      </p:sp>
      <p:pic>
        <p:nvPicPr>
          <p:cNvPr id="102" name="Google Shape;102;g39789fe7b62_1_388"/>
          <p:cNvPicPr preferRelativeResize="0"/>
          <p:nvPr/>
        </p:nvPicPr>
        <p:blipFill rotWithShape="1">
          <a:blip r:embed="rId3">
            <a:alphaModFix/>
          </a:blip>
          <a:srcRect/>
          <a:stretch/>
        </p:blipFill>
        <p:spPr>
          <a:xfrm>
            <a:off x="4898525" y="1531650"/>
            <a:ext cx="3545525" cy="2598000"/>
          </a:xfrm>
          <a:prstGeom prst="rect">
            <a:avLst/>
          </a:prstGeom>
          <a:noFill/>
          <a:ln>
            <a:noFill/>
          </a:ln>
        </p:spPr>
      </p:pic>
      <p:pic>
        <p:nvPicPr>
          <p:cNvPr id="103" name="Google Shape;103;g39789fe7b62_1_388"/>
          <p:cNvPicPr preferRelativeResize="0"/>
          <p:nvPr/>
        </p:nvPicPr>
        <p:blipFill rotWithShape="1">
          <a:blip r:embed="rId4">
            <a:alphaModFix/>
          </a:blip>
          <a:srcRect/>
          <a:stretch/>
        </p:blipFill>
        <p:spPr>
          <a:xfrm>
            <a:off x="504679" y="1514602"/>
            <a:ext cx="4018650" cy="2632098"/>
          </a:xfrm>
          <a:prstGeom prst="rect">
            <a:avLst/>
          </a:prstGeom>
          <a:noFill/>
          <a:ln>
            <a:noFill/>
          </a:ln>
        </p:spPr>
      </p:pic>
      <p:sp>
        <p:nvSpPr>
          <p:cNvPr id="104" name="Google Shape;104;g39789fe7b62_1_388"/>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
        <p:cNvGrpSpPr/>
        <p:nvPr/>
      </p:nvGrpSpPr>
      <p:grpSpPr>
        <a:xfrm>
          <a:off x="0" y="0"/>
          <a:ext cx="0" cy="0"/>
          <a:chOff x="0" y="0"/>
          <a:chExt cx="0" cy="0"/>
        </a:xfrm>
      </p:grpSpPr>
      <p:sp>
        <p:nvSpPr>
          <p:cNvPr id="110" name="Google Shape;110;p6"/>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6"/>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 INTRO</a:t>
            </a:r>
            <a:endParaRPr sz="1050" b="0" i="0" u="none" strike="noStrike" cap="none">
              <a:solidFill>
                <a:schemeClr val="dk1"/>
              </a:solidFill>
              <a:latin typeface="Calibri"/>
              <a:ea typeface="Calibri"/>
              <a:cs typeface="Calibri"/>
              <a:sym typeface="Calibri"/>
            </a:endParaRPr>
          </a:p>
        </p:txBody>
      </p:sp>
      <p:sp>
        <p:nvSpPr>
          <p:cNvPr id="112" name="Google Shape;112;p6"/>
          <p:cNvSpPr/>
          <p:nvPr/>
        </p:nvSpPr>
        <p:spPr>
          <a:xfrm>
            <a:off x="457200" y="502925"/>
            <a:ext cx="75294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1: Setup &amp; Results</a:t>
            </a:r>
            <a:endParaRPr sz="3000" b="0" i="0" u="none" strike="noStrike" cap="none">
              <a:solidFill>
                <a:schemeClr val="dk1"/>
              </a:solidFill>
              <a:latin typeface="Calibri"/>
              <a:ea typeface="Calibri"/>
              <a:cs typeface="Calibri"/>
              <a:sym typeface="Calibri"/>
            </a:endParaRPr>
          </a:p>
        </p:txBody>
      </p:sp>
      <p:sp>
        <p:nvSpPr>
          <p:cNvPr id="113" name="Google Shape;113;p6"/>
          <p:cNvSpPr/>
          <p:nvPr/>
        </p:nvSpPr>
        <p:spPr>
          <a:xfrm>
            <a:off x="365760" y="1353312"/>
            <a:ext cx="8412480" cy="658368"/>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6"/>
          <p:cNvSpPr/>
          <p:nvPr/>
        </p:nvSpPr>
        <p:spPr>
          <a:xfrm>
            <a:off x="502920" y="1389888"/>
            <a:ext cx="8138160" cy="58521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600"/>
              <a:buFont typeface="Courier New"/>
              <a:buNone/>
            </a:pPr>
            <a:r>
              <a:rPr lang="en-US" sz="1600" b="0" i="0" u="none" strike="noStrike" cap="none">
                <a:solidFill>
                  <a:schemeClr val="accent2"/>
                </a:solidFill>
                <a:latin typeface="Courier New"/>
                <a:ea typeface="Courier New"/>
                <a:cs typeface="Courier New"/>
                <a:sym typeface="Courier New"/>
              </a:rPr>
              <a:t>ŷ </a:t>
            </a:r>
            <a:r>
              <a:rPr lang="en-US" sz="1600" b="1" i="0" u="none" strike="noStrike" cap="none">
                <a:solidFill>
                  <a:schemeClr val="accent2"/>
                </a:solidFill>
                <a:latin typeface="Courier New"/>
                <a:ea typeface="Courier New"/>
                <a:cs typeface="Courier New"/>
                <a:sym typeface="Courier New"/>
              </a:rPr>
              <a:t>= -0.0001 + 0.0003 · ΔVIX(t) + ε(t)</a:t>
            </a:r>
            <a:endParaRPr sz="1600" b="1" i="0" u="none" strike="noStrike" cap="none">
              <a:solidFill>
                <a:schemeClr val="accent2"/>
              </a:solidFill>
              <a:latin typeface="Calibri"/>
              <a:ea typeface="Calibri"/>
              <a:cs typeface="Calibri"/>
              <a:sym typeface="Calibri"/>
            </a:endParaRPr>
          </a:p>
        </p:txBody>
      </p:sp>
      <p:sp>
        <p:nvSpPr>
          <p:cNvPr id="115" name="Google Shape;115;p6"/>
          <p:cNvSpPr/>
          <p:nvPr/>
        </p:nvSpPr>
        <p:spPr>
          <a:xfrm>
            <a:off x="365700" y="2163044"/>
            <a:ext cx="3977700" cy="2546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6"/>
          <p:cNvSpPr/>
          <p:nvPr/>
        </p:nvSpPr>
        <p:spPr>
          <a:xfrm>
            <a:off x="365698" y="2163044"/>
            <a:ext cx="91500" cy="2546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p6"/>
          <p:cNvGrpSpPr/>
          <p:nvPr/>
        </p:nvGrpSpPr>
        <p:grpSpPr>
          <a:xfrm>
            <a:off x="548590" y="2236186"/>
            <a:ext cx="3749100" cy="2372185"/>
            <a:chOff x="548640" y="2163161"/>
            <a:chExt cx="3749100" cy="2372185"/>
          </a:xfrm>
        </p:grpSpPr>
        <p:sp>
          <p:nvSpPr>
            <p:cNvPr id="118" name="Google Shape;118;p6"/>
            <p:cNvSpPr/>
            <p:nvPr/>
          </p:nvSpPr>
          <p:spPr>
            <a:xfrm>
              <a:off x="548640" y="216316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250" b="1" i="0" u="none" strike="noStrike" cap="none">
                  <a:solidFill>
                    <a:srgbClr val="1A3F7A"/>
                  </a:solidFill>
                  <a:latin typeface="Calibri"/>
                  <a:ea typeface="Calibri"/>
                  <a:cs typeface="Calibri"/>
                  <a:sym typeface="Calibri"/>
                </a:rPr>
                <a:t>Methodology</a:t>
              </a:r>
              <a:endParaRPr sz="1250" b="0" i="0" u="none" strike="noStrike" cap="none">
                <a:solidFill>
                  <a:schemeClr val="dk1"/>
                </a:solidFill>
                <a:latin typeface="Calibri"/>
                <a:ea typeface="Calibri"/>
                <a:cs typeface="Calibri"/>
                <a:sym typeface="Calibri"/>
              </a:endParaRPr>
            </a:p>
          </p:txBody>
        </p:sp>
        <p:sp>
          <p:nvSpPr>
            <p:cNvPr id="119" name="Google Shape;119;p6"/>
            <p:cNvSpPr/>
            <p:nvPr/>
          </p:nvSpPr>
          <p:spPr>
            <a:xfrm>
              <a:off x="548640" y="2434620"/>
              <a:ext cx="3749100" cy="12345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Bivariate OLS regression: Δ VIX (today) → EMB return (tomorrow)</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70% train / 30% test on daily data 2016–2026</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Predicts t+1 returns — eliminates look-ahead bias</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Strongest single predictor: ΔVIX (</a:t>
              </a:r>
              <a:r>
                <a:rPr lang="en-US" sz="1100" b="0" i="0" u="none" strike="noStrike" cap="none" dirty="0" err="1">
                  <a:solidFill>
                    <a:srgbClr val="1E293B"/>
                  </a:solidFill>
                  <a:latin typeface="Calibri"/>
                  <a:ea typeface="Calibri"/>
                  <a:cs typeface="Calibri"/>
                  <a:sym typeface="Calibri"/>
                </a:rPr>
                <a:t>corr</a:t>
              </a:r>
              <a:r>
                <a:rPr lang="en-US" sz="1100" b="0" i="0" u="none" strike="noStrike" cap="none" dirty="0">
                  <a:solidFill>
                    <a:srgbClr val="1E293B"/>
                  </a:solidFill>
                  <a:latin typeface="Calibri"/>
                  <a:ea typeface="Calibri"/>
                  <a:cs typeface="Calibri"/>
                  <a:sym typeface="Calibri"/>
                </a:rPr>
                <a:t> = −0.47 same day)</a:t>
              </a:r>
              <a:endParaRPr sz="1100" b="0" i="0" u="none" strike="noStrike" cap="none" dirty="0">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On the right, we tested this strategy versus a traditional buy-and-hold</a:t>
              </a:r>
              <a:endParaRPr sz="1100" b="0" i="0" u="none" strike="noStrike" cap="none" dirty="0">
                <a:solidFill>
                  <a:srgbClr val="1E293B"/>
                </a:solidFill>
                <a:latin typeface="Calibri"/>
                <a:ea typeface="Calibri"/>
                <a:cs typeface="Calibri"/>
                <a:sym typeface="Calibri"/>
              </a:endParaRPr>
            </a:p>
          </p:txBody>
        </p:sp>
        <p:sp>
          <p:nvSpPr>
            <p:cNvPr id="120" name="Google Shape;120;p6"/>
            <p:cNvSpPr/>
            <p:nvPr/>
          </p:nvSpPr>
          <p:spPr>
            <a:xfrm>
              <a:off x="548640" y="366410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200" b="1" i="0" u="none" strike="noStrike" cap="none">
                  <a:solidFill>
                    <a:srgbClr val="B91C1C"/>
                  </a:solidFill>
                  <a:latin typeface="Calibri"/>
                  <a:ea typeface="Calibri"/>
                  <a:cs typeface="Calibri"/>
                  <a:sym typeface="Calibri"/>
                </a:rPr>
                <a:t>Key Insight — Sign Reversal</a:t>
              </a:r>
              <a:endParaRPr sz="1200" b="0" i="0" u="none" strike="noStrike" cap="none">
                <a:solidFill>
                  <a:schemeClr val="dk1"/>
                </a:solidFill>
                <a:latin typeface="Calibri"/>
                <a:ea typeface="Calibri"/>
                <a:cs typeface="Calibri"/>
                <a:sym typeface="Calibri"/>
              </a:endParaRPr>
            </a:p>
          </p:txBody>
        </p:sp>
        <p:sp>
          <p:nvSpPr>
            <p:cNvPr id="121" name="Google Shape;121;p6"/>
            <p:cNvSpPr/>
            <p:nvPr/>
          </p:nvSpPr>
          <p:spPr>
            <a:xfrm>
              <a:off x="548640" y="3986646"/>
              <a:ext cx="37491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Correlation is negative (−0.47) but regression coefficient is positive (+0.0003). Why? Correlation is same-day panic. Regression predicts next day — when fear subsides, prices bounce back.</a:t>
              </a:r>
              <a:endParaRPr sz="1050" b="0" i="0" u="none" strike="noStrike" cap="none">
                <a:solidFill>
                  <a:schemeClr val="dk1"/>
                </a:solidFill>
                <a:latin typeface="Calibri"/>
                <a:ea typeface="Calibri"/>
                <a:cs typeface="Calibri"/>
                <a:sym typeface="Calibri"/>
              </a:endParaRPr>
            </a:p>
          </p:txBody>
        </p:sp>
      </p:grpSp>
      <p:cxnSp>
        <p:nvCxnSpPr>
          <p:cNvPr id="122" name="Google Shape;122;p6"/>
          <p:cNvCxnSpPr/>
          <p:nvPr/>
        </p:nvCxnSpPr>
        <p:spPr>
          <a:xfrm>
            <a:off x="4590675" y="2166270"/>
            <a:ext cx="8400" cy="2560200"/>
          </a:xfrm>
          <a:prstGeom prst="straightConnector1">
            <a:avLst/>
          </a:prstGeom>
          <a:noFill/>
          <a:ln w="19050" cap="flat" cmpd="sng">
            <a:solidFill>
              <a:schemeClr val="accent3"/>
            </a:solidFill>
            <a:prstDash val="solid"/>
            <a:round/>
            <a:headEnd type="none" w="sm" len="sm"/>
            <a:tailEnd type="none" w="sm" len="sm"/>
          </a:ln>
        </p:spPr>
      </p:cxnSp>
      <p:sp>
        <p:nvSpPr>
          <p:cNvPr id="124" name="Google Shape;124;p6"/>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EE8E7B0-F64D-0475-69E0-A574989282B9}"/>
              </a:ext>
            </a:extLst>
          </p:cNvPr>
          <p:cNvPicPr>
            <a:picLocks noChangeAspect="1"/>
          </p:cNvPicPr>
          <p:nvPr/>
        </p:nvPicPr>
        <p:blipFill>
          <a:blip r:embed="rId3"/>
          <a:stretch>
            <a:fillRect/>
          </a:stretch>
        </p:blipFill>
        <p:spPr>
          <a:xfrm>
            <a:off x="4752914" y="2163044"/>
            <a:ext cx="4025326" cy="250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g3d86e330eee_36_0"/>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3d86e330eee_36_0"/>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850"/>
              <a:buFont typeface="Calibri"/>
              <a:buNone/>
            </a:pPr>
            <a:r>
              <a:rPr lang="en-US" sz="1050" b="1" i="0" u="none" strike="noStrike" cap="none">
                <a:solidFill>
                  <a:schemeClr val="lt1"/>
                </a:solidFill>
                <a:latin typeface="Calibri"/>
                <a:ea typeface="Calibri"/>
                <a:cs typeface="Calibri"/>
                <a:sym typeface="Calibri"/>
              </a:rPr>
              <a:t>MODEL 1 - RESULTS</a:t>
            </a:r>
            <a:endParaRPr sz="1050" b="0" i="0" u="none" strike="noStrike" cap="none">
              <a:solidFill>
                <a:schemeClr val="dk1"/>
              </a:solidFill>
              <a:latin typeface="Calibri"/>
              <a:ea typeface="Calibri"/>
              <a:cs typeface="Calibri"/>
              <a:sym typeface="Calibri"/>
            </a:endParaRPr>
          </a:p>
        </p:txBody>
      </p:sp>
      <p:sp>
        <p:nvSpPr>
          <p:cNvPr id="132" name="Google Shape;132;g3d86e330eee_36_0"/>
          <p:cNvSpPr/>
          <p:nvPr/>
        </p:nvSpPr>
        <p:spPr>
          <a:xfrm>
            <a:off x="457200" y="502925"/>
            <a:ext cx="73680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1 (continued)</a:t>
            </a:r>
            <a:endParaRPr sz="3000" b="0" i="0" u="none" strike="noStrike" cap="none">
              <a:solidFill>
                <a:schemeClr val="dk1"/>
              </a:solidFill>
              <a:latin typeface="Calibri"/>
              <a:ea typeface="Calibri"/>
              <a:cs typeface="Calibri"/>
              <a:sym typeface="Calibri"/>
            </a:endParaRPr>
          </a:p>
        </p:txBody>
      </p:sp>
      <p:pic>
        <p:nvPicPr>
          <p:cNvPr id="133" name="Google Shape;133;g3d86e330eee_36_0"/>
          <p:cNvPicPr preferRelativeResize="0"/>
          <p:nvPr/>
        </p:nvPicPr>
        <p:blipFill rotWithShape="1">
          <a:blip r:embed="rId3">
            <a:alphaModFix/>
          </a:blip>
          <a:srcRect t="1205" r="3082"/>
          <a:stretch/>
        </p:blipFill>
        <p:spPr>
          <a:xfrm>
            <a:off x="4690750" y="1231550"/>
            <a:ext cx="4161425" cy="3128550"/>
          </a:xfrm>
          <a:prstGeom prst="rect">
            <a:avLst/>
          </a:prstGeom>
          <a:noFill/>
          <a:ln>
            <a:noFill/>
          </a:ln>
        </p:spPr>
      </p:pic>
      <p:sp>
        <p:nvSpPr>
          <p:cNvPr id="134" name="Google Shape;134;g3d86e330eee_36_0"/>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3d86e330eee_36_0"/>
          <p:cNvGrpSpPr/>
          <p:nvPr/>
        </p:nvGrpSpPr>
        <p:grpSpPr>
          <a:xfrm>
            <a:off x="457188" y="1585091"/>
            <a:ext cx="3931869" cy="2546402"/>
            <a:chOff x="457138" y="1710947"/>
            <a:chExt cx="3931869" cy="2546402"/>
          </a:xfrm>
        </p:grpSpPr>
        <p:sp>
          <p:nvSpPr>
            <p:cNvPr id="136" name="Google Shape;136;g3d86e330eee_36_0"/>
            <p:cNvSpPr/>
            <p:nvPr/>
          </p:nvSpPr>
          <p:spPr>
            <a:xfrm>
              <a:off x="457145" y="1710947"/>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 name="Google Shape;137;g3d86e330eee_36_0"/>
            <p:cNvGrpSpPr/>
            <p:nvPr/>
          </p:nvGrpSpPr>
          <p:grpSpPr>
            <a:xfrm>
              <a:off x="457138" y="1934169"/>
              <a:ext cx="1874400" cy="680829"/>
              <a:chOff x="4617725" y="2329900"/>
              <a:chExt cx="1874400" cy="680829"/>
            </a:xfrm>
          </p:grpSpPr>
          <p:sp>
            <p:nvSpPr>
              <p:cNvPr id="138" name="Google Shape;138;g3d86e330eee_36_0"/>
              <p:cNvSpPr/>
              <p:nvPr/>
            </p:nvSpPr>
            <p:spPr>
              <a:xfrm>
                <a:off x="4617725" y="2329900"/>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+0.0003</a:t>
                </a:r>
                <a:endParaRPr sz="2800" b="0" i="0" u="none" strike="noStrike" cap="none">
                  <a:solidFill>
                    <a:schemeClr val="dk1"/>
                  </a:solidFill>
                  <a:latin typeface="Josefin Sans"/>
                  <a:ea typeface="Josefin Sans"/>
                  <a:cs typeface="Josefin Sans"/>
                  <a:sym typeface="Josefin Sans"/>
                </a:endParaRPr>
              </a:p>
            </p:txBody>
          </p:sp>
          <p:sp>
            <p:nvSpPr>
              <p:cNvPr id="139" name="Google Shape;139;g3d86e330eee_36_0"/>
              <p:cNvSpPr/>
              <p:nvPr/>
            </p:nvSpPr>
            <p:spPr>
              <a:xfrm>
                <a:off x="4617725" y="279622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Δ VIX Coefficient</a:t>
                </a:r>
                <a:endParaRPr sz="1000" b="0" i="0" u="none" strike="noStrike" cap="none">
                  <a:solidFill>
                    <a:schemeClr val="dk1"/>
                  </a:solidFill>
                  <a:latin typeface="Calibri"/>
                  <a:ea typeface="Calibri"/>
                  <a:cs typeface="Calibri"/>
                  <a:sym typeface="Calibri"/>
                </a:endParaRPr>
              </a:p>
            </p:txBody>
          </p:sp>
        </p:grpSp>
        <p:sp>
          <p:nvSpPr>
            <p:cNvPr id="140" name="Google Shape;140;g3d86e330eee_36_0"/>
            <p:cNvSpPr/>
            <p:nvPr/>
          </p:nvSpPr>
          <p:spPr>
            <a:xfrm>
              <a:off x="2514545" y="1710947"/>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g3d86e330eee_36_0"/>
            <p:cNvSpPr/>
            <p:nvPr/>
          </p:nvSpPr>
          <p:spPr>
            <a:xfrm>
              <a:off x="2514550" y="1934171"/>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dirty="0">
                  <a:solidFill>
                    <a:srgbClr val="166534"/>
                  </a:solidFill>
                  <a:latin typeface="Josefin Sans"/>
                  <a:ea typeface="Josefin Sans"/>
                  <a:cs typeface="Josefin Sans"/>
                  <a:sym typeface="Josefin Sans"/>
                </a:rPr>
                <a:t>0.181</a:t>
              </a:r>
              <a:endParaRPr sz="2800" b="0" i="0" u="none" strike="noStrike" cap="none" dirty="0">
                <a:solidFill>
                  <a:schemeClr val="dk1"/>
                </a:solidFill>
                <a:latin typeface="Josefin Sans"/>
                <a:ea typeface="Josefin Sans"/>
                <a:cs typeface="Josefin Sans"/>
                <a:sym typeface="Josefin Sans"/>
              </a:endParaRPr>
            </a:p>
          </p:txBody>
        </p:sp>
        <p:sp>
          <p:nvSpPr>
            <p:cNvPr id="142" name="Google Shape;142;g3d86e330eee_36_0"/>
            <p:cNvSpPr/>
            <p:nvPr/>
          </p:nvSpPr>
          <p:spPr>
            <a:xfrm>
              <a:off x="2514550" y="240049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dirty="0">
                  <a:solidFill>
                    <a:srgbClr val="475569"/>
                  </a:solidFill>
                  <a:latin typeface="Calibri"/>
                  <a:ea typeface="Calibri"/>
                  <a:cs typeface="Calibri"/>
                  <a:sym typeface="Calibri"/>
                </a:rPr>
                <a:t>P</a:t>
              </a:r>
              <a:r>
                <a:rPr lang="en-US" sz="1000" b="0" i="0" u="none" strike="noStrike" cap="none" dirty="0">
                  <a:solidFill>
                    <a:srgbClr val="475569"/>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-Value </a:t>
              </a:r>
              <a:endParaRPr sz="1000" b="0" i="0" u="none" strike="noStrike" cap="none" dirty="0">
                <a:solidFill>
                  <a:schemeClr val="dk1"/>
                </a:solidFill>
                <a:latin typeface="Calibri"/>
                <a:ea typeface="Calibri"/>
                <a:cs typeface="Calibri"/>
                <a:sym typeface="Calibri"/>
              </a:endParaRPr>
            </a:p>
          </p:txBody>
        </p:sp>
        <p:sp>
          <p:nvSpPr>
            <p:cNvPr id="143" name="Google Shape;143;g3d86e330eee_36_0"/>
            <p:cNvSpPr/>
            <p:nvPr/>
          </p:nvSpPr>
          <p:spPr>
            <a:xfrm>
              <a:off x="457145" y="3095149"/>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g3d86e330eee_36_0"/>
            <p:cNvSpPr/>
            <p:nvPr/>
          </p:nvSpPr>
          <p:spPr>
            <a:xfrm>
              <a:off x="457145" y="3201432"/>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475569"/>
                </a:buClr>
                <a:buSzPts val="2800"/>
                <a:buFont typeface="Georgia"/>
                <a:buNone/>
              </a:pPr>
              <a:r>
                <a:rPr lang="en-US" sz="2800" b="1" i="0" u="none" strike="noStrike" cap="none">
                  <a:solidFill>
                    <a:srgbClr val="475569"/>
                  </a:solidFill>
                  <a:latin typeface="Josefin Sans"/>
                  <a:ea typeface="Josefin Sans"/>
                  <a:cs typeface="Josefin Sans"/>
                  <a:sym typeface="Josefin Sans"/>
                </a:rPr>
                <a:t>-1.01%</a:t>
              </a:r>
              <a:endParaRPr sz="2800" b="0" i="0" u="none" strike="noStrike" cap="none">
                <a:solidFill>
                  <a:schemeClr val="dk1"/>
                </a:solidFill>
                <a:latin typeface="Josefin Sans"/>
                <a:ea typeface="Josefin Sans"/>
                <a:cs typeface="Josefin Sans"/>
                <a:sym typeface="Josefin Sans"/>
              </a:endParaRPr>
            </a:p>
          </p:txBody>
        </p:sp>
        <p:sp>
          <p:nvSpPr>
            <p:cNvPr id="145" name="Google Shape;145;g3d86e330eee_36_0"/>
            <p:cNvSpPr/>
            <p:nvPr/>
          </p:nvSpPr>
          <p:spPr>
            <a:xfrm>
              <a:off x="457145" y="3825769"/>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Test R-Squared</a:t>
              </a:r>
              <a:endParaRPr sz="1000" b="0" i="0" u="none" strike="noStrike" cap="none">
                <a:solidFill>
                  <a:schemeClr val="dk1"/>
                </a:solidFill>
                <a:latin typeface="Calibri"/>
                <a:ea typeface="Calibri"/>
                <a:cs typeface="Calibri"/>
                <a:sym typeface="Calibri"/>
              </a:endParaRPr>
            </a:p>
          </p:txBody>
        </p:sp>
        <p:sp>
          <p:nvSpPr>
            <p:cNvPr id="146" name="Google Shape;146;g3d86e330eee_36_0"/>
            <p:cNvSpPr/>
            <p:nvPr/>
          </p:nvSpPr>
          <p:spPr>
            <a:xfrm>
              <a:off x="2514545" y="3095149"/>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g3d86e330eee_36_0"/>
            <p:cNvSpPr/>
            <p:nvPr/>
          </p:nvSpPr>
          <p:spPr>
            <a:xfrm>
              <a:off x="2514607" y="3201432"/>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dirty="0">
                  <a:solidFill>
                    <a:srgbClr val="2B6CB0"/>
                  </a:solidFill>
                  <a:latin typeface="Josefin Sans"/>
                  <a:ea typeface="Josefin Sans"/>
                  <a:cs typeface="Josefin Sans"/>
                  <a:sym typeface="Josefin Sans"/>
                </a:rPr>
                <a:t>0.21</a:t>
              </a:r>
              <a:endParaRPr sz="2800" b="0" i="0" u="none" strike="noStrike" cap="none" dirty="0">
                <a:solidFill>
                  <a:schemeClr val="dk1"/>
                </a:solidFill>
                <a:latin typeface="Josefin Sans"/>
                <a:ea typeface="Josefin Sans"/>
                <a:cs typeface="Josefin Sans"/>
                <a:sym typeface="Josefin Sans"/>
              </a:endParaRPr>
            </a:p>
          </p:txBody>
        </p:sp>
        <p:sp>
          <p:nvSpPr>
            <p:cNvPr id="148" name="Google Shape;148;g3d86e330eee_36_0"/>
            <p:cNvSpPr/>
            <p:nvPr/>
          </p:nvSpPr>
          <p:spPr>
            <a:xfrm>
              <a:off x="2514545" y="3825769"/>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dirty="0">
                  <a:solidFill>
                    <a:srgbClr val="475569"/>
                  </a:solidFill>
                  <a:latin typeface="Calibri"/>
                  <a:ea typeface="Calibri"/>
                  <a:cs typeface="Calibri"/>
                  <a:sym typeface="Calibri"/>
                </a:rPr>
                <a:t>Annualized Sharpe Ratio</a:t>
              </a:r>
              <a:endParaRPr sz="1000" b="0" i="0" u="none" strike="noStrike" cap="none" dirty="0">
                <a:solidFill>
                  <a:schemeClr val="dk1"/>
                </a:solidFill>
                <a:latin typeface="Calibri"/>
                <a:ea typeface="Calibri"/>
                <a:cs typeface="Calibri"/>
                <a:sym typeface="Calibri"/>
              </a:endParaRPr>
            </a:p>
          </p:txBody>
        </p:sp>
      </p:grpSp>
      <p:sp>
        <p:nvSpPr>
          <p:cNvPr id="149" name="Google Shape;149;g3d86e330eee_36_0"/>
          <p:cNvSpPr/>
          <p:nvPr/>
        </p:nvSpPr>
        <p:spPr>
          <a:xfrm>
            <a:off x="365699" y="4507174"/>
            <a:ext cx="8407041" cy="604199"/>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g3d86e330eee_36_0"/>
          <p:cNvSpPr/>
          <p:nvPr/>
        </p:nvSpPr>
        <p:spPr>
          <a:xfrm>
            <a:off x="457153" y="4555165"/>
            <a:ext cx="8229600" cy="43921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dirty="0">
                <a:solidFill>
                  <a:srgbClr val="475569"/>
                </a:solidFill>
                <a:latin typeface="Calibri"/>
                <a:ea typeface="Calibri"/>
                <a:cs typeface="Calibri"/>
                <a:sym typeface="Calibri"/>
              </a:rPr>
              <a:t>Negative Test R² (-1.01%) is standard in financial return prediction because of high noise in daily EMB returns. ΔVIX had the strongest same-day relationship with EMB and a positive next-day coefficient (thereby suggesting possible short-term rebound after volatility shocks), but the coefficient was not statistically significant after applying HC3 robust standard errors.</a:t>
            </a:r>
            <a:endParaRPr sz="1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
        <p:cNvGrpSpPr/>
        <p:nvPr/>
      </p:nvGrpSpPr>
      <p:grpSpPr>
        <a:xfrm>
          <a:off x="0" y="0"/>
          <a:ext cx="0" cy="0"/>
          <a:chOff x="0" y="0"/>
          <a:chExt cx="0" cy="0"/>
        </a:xfrm>
      </p:grpSpPr>
      <p:sp>
        <p:nvSpPr>
          <p:cNvPr id="156" name="Google Shape;156;g39789fe7b62_1_251"/>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9789fe7b62_1_251"/>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Model 2 </a:t>
            </a:r>
            <a:endParaRPr sz="52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All Three Signals</a:t>
            </a:r>
            <a:endParaRPr sz="5200" b="1" i="0" u="none" strike="noStrike" cap="none">
              <a:solidFill>
                <a:srgbClr val="FFFFFF"/>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1"/>
        <p:cNvGrpSpPr/>
        <p:nvPr/>
      </p:nvGrpSpPr>
      <p:grpSpPr>
        <a:xfrm>
          <a:off x="0" y="0"/>
          <a:ext cx="0" cy="0"/>
          <a:chOff x="0" y="0"/>
          <a:chExt cx="0" cy="0"/>
        </a:xfrm>
      </p:grpSpPr>
      <p:sp>
        <p:nvSpPr>
          <p:cNvPr id="162" name="Google Shape;162;g3d86e330eee_137_0"/>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g3d86e330eee_137_0"/>
          <p:cNvSpPr/>
          <p:nvPr/>
        </p:nvSpPr>
        <p:spPr>
          <a:xfrm>
            <a:off x="457200" y="146304"/>
            <a:ext cx="2194500" cy="2742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FFFFF"/>
                </a:solidFill>
                <a:latin typeface="Calibri"/>
                <a:ea typeface="Calibri"/>
                <a:cs typeface="Calibri"/>
                <a:sym typeface="Calibri"/>
              </a:rPr>
              <a:t>MODEL 2 - SELECTION</a:t>
            </a:r>
            <a:endParaRPr sz="1050" b="1" i="0" u="none" strike="noStrike" cap="none">
              <a:solidFill>
                <a:srgbClr val="FFFFFF"/>
              </a:solidFill>
              <a:latin typeface="Calibri"/>
              <a:ea typeface="Calibri"/>
              <a:cs typeface="Calibri"/>
              <a:sym typeface="Calibri"/>
            </a:endParaRPr>
          </a:p>
        </p:txBody>
      </p:sp>
      <p:sp>
        <p:nvSpPr>
          <p:cNvPr id="164" name="Google Shape;164;g3d86e330eee_137_0"/>
          <p:cNvSpPr/>
          <p:nvPr/>
        </p:nvSpPr>
        <p:spPr>
          <a:xfrm>
            <a:off x="457200" y="502925"/>
            <a:ext cx="7741200" cy="6585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C1A35"/>
                </a:solidFill>
                <a:latin typeface="Georgia"/>
                <a:ea typeface="Georgia"/>
                <a:cs typeface="Georgia"/>
                <a:sym typeface="Georgia"/>
              </a:rPr>
              <a:t>Why Also Use Oil or Δ Credit Spreads?</a:t>
            </a:r>
            <a:endParaRPr sz="3000" b="1" i="0" u="none" strike="noStrike" cap="none">
              <a:solidFill>
                <a:srgbClr val="0C1A35"/>
              </a:solidFill>
              <a:latin typeface="Georgia"/>
              <a:ea typeface="Georgia"/>
              <a:cs typeface="Georgia"/>
              <a:sym typeface="Georgia"/>
            </a:endParaRPr>
          </a:p>
        </p:txBody>
      </p:sp>
      <p:grpSp>
        <p:nvGrpSpPr>
          <p:cNvPr id="165" name="Google Shape;165;g3d86e330eee_137_0"/>
          <p:cNvGrpSpPr/>
          <p:nvPr/>
        </p:nvGrpSpPr>
        <p:grpSpPr>
          <a:xfrm>
            <a:off x="530925" y="1637075"/>
            <a:ext cx="3972000" cy="2525475"/>
            <a:chOff x="457200" y="2286000"/>
            <a:chExt cx="3972000" cy="2525475"/>
          </a:xfrm>
        </p:grpSpPr>
        <p:sp>
          <p:nvSpPr>
            <p:cNvPr id="166" name="Google Shape;166;g3d86e330eee_137_0"/>
            <p:cNvSpPr/>
            <p:nvPr/>
          </p:nvSpPr>
          <p:spPr>
            <a:xfrm>
              <a:off x="457200" y="2286000"/>
              <a:ext cx="3972000" cy="2190900"/>
            </a:xfrm>
            <a:prstGeom prst="roundRect">
              <a:avLst>
                <a:gd name="adj" fmla="val 3478"/>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g3d86e330eee_137_0"/>
            <p:cNvSpPr/>
            <p:nvPr/>
          </p:nvSpPr>
          <p:spPr>
            <a:xfrm>
              <a:off x="457200" y="2286000"/>
              <a:ext cx="3972000" cy="76200"/>
            </a:xfrm>
            <a:prstGeom prst="roundRect">
              <a:avLst>
                <a:gd name="adj" fmla="val 50000"/>
              </a:avLst>
            </a:prstGeom>
            <a:solidFill>
              <a:srgbClr val="1A3F7A"/>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g3d86e330eee_137_0"/>
            <p:cNvSpPr txBox="1"/>
            <p:nvPr/>
          </p:nvSpPr>
          <p:spPr>
            <a:xfrm>
              <a:off x="457200" y="2428875"/>
              <a:ext cx="3972000" cy="2382600"/>
            </a:xfrm>
            <a:prstGeom prst="rect">
              <a:avLst/>
            </a:prstGeom>
            <a:noFill/>
            <a:ln>
              <a:noFill/>
            </a:ln>
          </p:spPr>
          <p:txBody>
            <a:bodyPr spcFirstLastPara="1" wrap="square" lIns="190500" tIns="190500" rIns="190500" bIns="1905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1A3F7A"/>
                  </a:solidFill>
                  <a:latin typeface="Calibri"/>
                  <a:ea typeface="Calibri"/>
                  <a:cs typeface="Calibri"/>
                  <a:sym typeface="Calibri"/>
                </a:rPr>
                <a:t>Δ Credit Spreads</a:t>
              </a:r>
              <a:endParaRPr sz="1800" b="1" i="0" u="none" strike="noStrike" cap="none">
                <a:solidFill>
                  <a:srgbClr val="1A3F7A"/>
                </a:solidFill>
                <a:latin typeface="Calibri"/>
                <a:ea typeface="Calibri"/>
                <a:cs typeface="Calibri"/>
                <a:sym typeface="Calibri"/>
              </a:endParaRPr>
            </a:p>
            <a:p>
              <a:pPr marL="0" marR="0" lvl="0" indent="0" algn="l" rtl="0">
                <a:lnSpc>
                  <a:spcPct val="100000"/>
                </a:lnSpc>
                <a:spcBef>
                  <a:spcPts val="750"/>
                </a:spcBef>
                <a:spcAft>
                  <a:spcPts val="0"/>
                </a:spcAft>
                <a:buClr>
                  <a:srgbClr val="000000"/>
                </a:buClr>
                <a:buSzPts val="1200"/>
                <a:buFont typeface="Arial"/>
                <a:buNone/>
              </a:pPr>
              <a:r>
                <a:rPr lang="en-US" sz="1200" b="0" i="0" u="none" strike="noStrike" cap="none">
                  <a:solidFill>
                    <a:srgbClr val="334155"/>
                  </a:solidFill>
                  <a:latin typeface="Calibri"/>
                  <a:ea typeface="Calibri"/>
                  <a:cs typeface="Calibri"/>
                  <a:sym typeface="Calibri"/>
                </a:rPr>
                <a:t>Measures default probability and US investment climate.</a:t>
              </a:r>
              <a:endParaRPr sz="1200" b="0" i="0" u="none" strike="noStrike" cap="none">
                <a:solidFill>
                  <a:srgbClr val="334155"/>
                </a:solidFill>
                <a:latin typeface="Calibri"/>
                <a:ea typeface="Calibri"/>
                <a:cs typeface="Calibri"/>
                <a:sym typeface="Calibri"/>
              </a:endParaRPr>
            </a:p>
            <a:p>
              <a:pPr marL="457200" marR="0" lvl="0" indent="-301625" algn="l" rtl="0">
                <a:lnSpc>
                  <a:spcPct val="100000"/>
                </a:lnSpc>
                <a:spcBef>
                  <a:spcPts val="75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Widening Spreads:</a:t>
              </a:r>
              <a:r>
                <a:rPr lang="en-US" sz="1150" b="0" i="0" u="none" strike="noStrike" cap="none">
                  <a:solidFill>
                    <a:srgbClr val="1E293B"/>
                  </a:solidFill>
                  <a:latin typeface="Calibri"/>
                  <a:ea typeface="Calibri"/>
                  <a:cs typeface="Calibri"/>
                  <a:sym typeface="Calibri"/>
                </a:rPr>
                <a:t> Indicates increasing risk and worsening financial conditions.</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60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Return Impact:</a:t>
              </a:r>
              <a:r>
                <a:rPr lang="en-US" sz="1150" b="0" i="0" u="none" strike="noStrike" cap="none">
                  <a:solidFill>
                    <a:srgbClr val="1E293B"/>
                  </a:solidFill>
                  <a:latin typeface="Calibri"/>
                  <a:ea typeface="Calibri"/>
                  <a:cs typeface="Calibri"/>
                  <a:sym typeface="Calibri"/>
                </a:rPr>
                <a:t> Clear link between positive change in spreads (widening) and a </a:t>
              </a:r>
              <a:r>
                <a:rPr lang="en-US" sz="1150" b="1" i="0" u="none" strike="noStrike" cap="none">
                  <a:solidFill>
                    <a:srgbClr val="1E293B"/>
                  </a:solidFill>
                  <a:latin typeface="Calibri"/>
                  <a:ea typeface="Calibri"/>
                  <a:cs typeface="Calibri"/>
                  <a:sym typeface="Calibri"/>
                </a:rPr>
                <a:t>reduction in EMB returns</a:t>
              </a:r>
              <a:r>
                <a:rPr lang="en-US" sz="1150" b="0" i="0" u="none" strike="noStrike" cap="none">
                  <a:solidFill>
                    <a:srgbClr val="1E293B"/>
                  </a:solidFill>
                  <a:latin typeface="Calibri"/>
                  <a:ea typeface="Calibri"/>
                  <a:cs typeface="Calibri"/>
                  <a:sym typeface="Calibri"/>
                </a:rPr>
                <a:t>.</a:t>
              </a:r>
              <a:endParaRPr sz="1150" b="0" i="0" u="none" strike="noStrike" cap="none">
                <a:solidFill>
                  <a:srgbClr val="1E293B"/>
                </a:solidFill>
                <a:latin typeface="Calibri"/>
                <a:ea typeface="Calibri"/>
                <a:cs typeface="Calibri"/>
                <a:sym typeface="Calibri"/>
              </a:endParaRPr>
            </a:p>
          </p:txBody>
        </p:sp>
      </p:grpSp>
      <p:grpSp>
        <p:nvGrpSpPr>
          <p:cNvPr id="169" name="Google Shape;169;g3d86e330eee_137_0"/>
          <p:cNvGrpSpPr/>
          <p:nvPr/>
        </p:nvGrpSpPr>
        <p:grpSpPr>
          <a:xfrm>
            <a:off x="4714800" y="1637075"/>
            <a:ext cx="3972000" cy="2190900"/>
            <a:chOff x="4714875" y="2286000"/>
            <a:chExt cx="3972000" cy="2190900"/>
          </a:xfrm>
        </p:grpSpPr>
        <p:sp>
          <p:nvSpPr>
            <p:cNvPr id="170" name="Google Shape;170;g3d86e330eee_137_0"/>
            <p:cNvSpPr/>
            <p:nvPr/>
          </p:nvSpPr>
          <p:spPr>
            <a:xfrm>
              <a:off x="4714875" y="2286000"/>
              <a:ext cx="3972000" cy="2190900"/>
            </a:xfrm>
            <a:prstGeom prst="roundRect">
              <a:avLst>
                <a:gd name="adj" fmla="val 3478"/>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g3d86e330eee_137_0"/>
            <p:cNvSpPr/>
            <p:nvPr/>
          </p:nvSpPr>
          <p:spPr>
            <a:xfrm>
              <a:off x="4714875" y="2286000"/>
              <a:ext cx="3972000" cy="76200"/>
            </a:xfrm>
            <a:prstGeom prst="roundRect">
              <a:avLst>
                <a:gd name="adj" fmla="val 50000"/>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g3d86e330eee_137_0"/>
            <p:cNvSpPr txBox="1"/>
            <p:nvPr/>
          </p:nvSpPr>
          <p:spPr>
            <a:xfrm>
              <a:off x="4714875" y="2428875"/>
              <a:ext cx="3972000" cy="2047800"/>
            </a:xfrm>
            <a:prstGeom prst="rect">
              <a:avLst/>
            </a:prstGeom>
            <a:noFill/>
            <a:ln>
              <a:noFill/>
            </a:ln>
          </p:spPr>
          <p:txBody>
            <a:bodyPr spcFirstLastPara="1" wrap="square" lIns="190500" tIns="190500" rIns="190500" bIns="1905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C4A03"/>
                  </a:solidFill>
                  <a:latin typeface="Calibri"/>
                  <a:ea typeface="Calibri"/>
                  <a:cs typeface="Calibri"/>
                  <a:sym typeface="Calibri"/>
                </a:rPr>
                <a:t>Oil Returns</a:t>
              </a:r>
              <a:endParaRPr sz="1800" b="1" i="0" u="none" strike="noStrike" cap="none">
                <a:solidFill>
                  <a:srgbClr val="7C4A03"/>
                </a:solidFill>
                <a:latin typeface="Calibri"/>
                <a:ea typeface="Calibri"/>
                <a:cs typeface="Calibri"/>
                <a:sym typeface="Calibri"/>
              </a:endParaRPr>
            </a:p>
            <a:p>
              <a:pPr marL="0" marR="0" lvl="0" indent="0" algn="l" rtl="0">
                <a:lnSpc>
                  <a:spcPct val="100000"/>
                </a:lnSpc>
                <a:spcBef>
                  <a:spcPts val="750"/>
                </a:spcBef>
                <a:spcAft>
                  <a:spcPts val="0"/>
                </a:spcAft>
                <a:buClr>
                  <a:srgbClr val="000000"/>
                </a:buClr>
                <a:buSzPts val="1200"/>
                <a:buFont typeface="Arial"/>
                <a:buNone/>
              </a:pPr>
              <a:r>
                <a:rPr lang="en-US" sz="1200" b="0" i="0" u="none" strike="noStrike" cap="none">
                  <a:solidFill>
                    <a:srgbClr val="334155"/>
                  </a:solidFill>
                  <a:latin typeface="Calibri"/>
                  <a:ea typeface="Calibri"/>
                  <a:cs typeface="Calibri"/>
                  <a:sym typeface="Calibri"/>
                </a:rPr>
                <a:t>Major commodity export for EMB nations.</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75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Return Impact:</a:t>
              </a:r>
              <a:r>
                <a:rPr lang="en-US" sz="1150" b="0" i="0" u="none" strike="noStrike" cap="none">
                  <a:solidFill>
                    <a:srgbClr val="1E293B"/>
                  </a:solidFill>
                  <a:latin typeface="Calibri"/>
                  <a:ea typeface="Calibri"/>
                  <a:cs typeface="Calibri"/>
                  <a:sym typeface="Calibri"/>
                </a:rPr>
                <a:t> Sudden spikes in oil may signify massive </a:t>
              </a:r>
              <a:r>
                <a:rPr lang="en-US" sz="1150" b="1" i="0" u="none" strike="noStrike" cap="none">
                  <a:solidFill>
                    <a:srgbClr val="1E293B"/>
                  </a:solidFill>
                  <a:latin typeface="Calibri"/>
                  <a:ea typeface="Calibri"/>
                  <a:cs typeface="Calibri"/>
                  <a:sym typeface="Calibri"/>
                </a:rPr>
                <a:t>geopolitical volatility</a:t>
              </a:r>
              <a:r>
                <a:rPr lang="en-US" sz="1150" b="0" i="0" u="none" strike="noStrike" cap="none">
                  <a:solidFill>
                    <a:srgbClr val="1E293B"/>
                  </a:solidFill>
                  <a:latin typeface="Calibri"/>
                  <a:ea typeface="Calibri"/>
                  <a:cs typeface="Calibri"/>
                  <a:sym typeface="Calibri"/>
                </a:rPr>
                <a:t>.</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0"/>
                </a:spcBef>
                <a:spcAft>
                  <a:spcPts val="60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One Complication:</a:t>
              </a:r>
              <a:r>
                <a:rPr lang="en-US" sz="1150" b="0" i="0" u="none" strike="noStrike" cap="none">
                  <a:solidFill>
                    <a:srgbClr val="1E293B"/>
                  </a:solidFill>
                  <a:latin typeface="Calibri"/>
                  <a:ea typeface="Calibri"/>
                  <a:cs typeface="Calibri"/>
                  <a:sym typeface="Calibri"/>
                </a:rPr>
                <a:t> Slow longer-term rises in the price may signify a stronger economy and currency for exporting countries.</a:t>
              </a:r>
              <a:endParaRPr sz="1150" b="0" i="0" u="none" strike="noStrike" cap="none">
                <a:solidFill>
                  <a:srgbClr val="1E293B"/>
                </a:solidFill>
                <a:latin typeface="Calibri"/>
                <a:ea typeface="Calibri"/>
                <a:cs typeface="Calibri"/>
                <a:sym typeface="Calibri"/>
              </a:endParaRPr>
            </a:p>
          </p:txBody>
        </p:sp>
      </p:grpSp>
      <p:sp>
        <p:nvSpPr>
          <p:cNvPr id="173" name="Google Shape;173;g3d86e330eee_137_0"/>
          <p:cNvSpPr txBox="1"/>
          <p:nvPr/>
        </p:nvSpPr>
        <p:spPr>
          <a:xfrm>
            <a:off x="457200" y="4162550"/>
            <a:ext cx="82296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1" u="none" strike="noStrike" cap="none">
                <a:solidFill>
                  <a:srgbClr val="475569"/>
                </a:solidFill>
                <a:latin typeface="Calibri"/>
                <a:ea typeface="Calibri"/>
                <a:cs typeface="Calibri"/>
                <a:sym typeface="Calibri"/>
              </a:rPr>
              <a:t>By focusing on the delta (change) of these variables, we capture the momentum and shock factors essential for predicting short-term emerging market bond performance.</a:t>
            </a:r>
            <a:endParaRPr sz="1000" b="0" i="1" u="none" strike="noStrike" cap="none">
              <a:solidFill>
                <a:srgbClr val="475569"/>
              </a:solidFill>
              <a:latin typeface="Calibri"/>
              <a:ea typeface="Calibri"/>
              <a:cs typeface="Calibri"/>
              <a:sym typeface="Calibri"/>
            </a:endParaRPr>
          </a:p>
        </p:txBody>
      </p:sp>
      <p:sp>
        <p:nvSpPr>
          <p:cNvPr id="174" name="Google Shape;174;g3d86e330eee_137_0"/>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6"/>
        <p:cNvGrpSpPr/>
        <p:nvPr/>
      </p:nvGrpSpPr>
      <p:grpSpPr>
        <a:xfrm>
          <a:off x="0" y="0"/>
          <a:ext cx="0" cy="0"/>
          <a:chOff x="0" y="0"/>
          <a:chExt cx="0" cy="0"/>
        </a:xfrm>
      </p:grpSpPr>
      <p:sp>
        <p:nvSpPr>
          <p:cNvPr id="267" name="Google Shape;267;p4"/>
          <p:cNvSpPr/>
          <p:nvPr/>
        </p:nvSpPr>
        <p:spPr>
          <a:xfrm>
            <a:off x="365700" y="4771903"/>
            <a:ext cx="8412600" cy="2742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4"/>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DATA</a:t>
            </a:r>
            <a:endParaRPr sz="1050" b="0" i="0" u="none" strike="noStrike" cap="none">
              <a:solidFill>
                <a:schemeClr val="dk1"/>
              </a:solidFill>
              <a:latin typeface="Calibri"/>
              <a:ea typeface="Calibri"/>
              <a:cs typeface="Calibri"/>
              <a:sym typeface="Calibri"/>
            </a:endParaRPr>
          </a:p>
        </p:txBody>
      </p:sp>
      <p:sp>
        <p:nvSpPr>
          <p:cNvPr id="270" name="Google Shape;270;p4"/>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200"/>
              <a:buFont typeface="Georgia"/>
              <a:buNone/>
            </a:pPr>
            <a:r>
              <a:rPr lang="en-US" sz="3200" b="1" i="0" u="none" strike="noStrike" cap="none" dirty="0">
                <a:solidFill>
                  <a:srgbClr val="0C1A35"/>
                </a:solidFill>
                <a:latin typeface="Georgia"/>
                <a:ea typeface="Georgia"/>
                <a:cs typeface="Georgia"/>
                <a:sym typeface="Georgia"/>
              </a:rPr>
              <a:t>Dataset &amp; Feature Engineering</a:t>
            </a:r>
            <a:endParaRPr sz="3200" b="0" i="0" u="none" strike="noStrike" cap="none" dirty="0">
              <a:solidFill>
                <a:schemeClr val="dk1"/>
              </a:solidFill>
              <a:latin typeface="Calibri"/>
              <a:ea typeface="Calibri"/>
              <a:cs typeface="Calibri"/>
              <a:sym typeface="Calibri"/>
            </a:endParaRPr>
          </a:p>
        </p:txBody>
      </p:sp>
      <p:grpSp>
        <p:nvGrpSpPr>
          <p:cNvPr id="271" name="Google Shape;271;p4"/>
          <p:cNvGrpSpPr/>
          <p:nvPr/>
        </p:nvGrpSpPr>
        <p:grpSpPr>
          <a:xfrm>
            <a:off x="457200" y="1353312"/>
            <a:ext cx="1920300" cy="1079087"/>
            <a:chOff x="457200" y="1353312"/>
            <a:chExt cx="1920300" cy="1079087"/>
          </a:xfrm>
        </p:grpSpPr>
        <p:sp>
          <p:nvSpPr>
            <p:cNvPr id="272" name="Google Shape;272;p4"/>
            <p:cNvSpPr/>
            <p:nvPr/>
          </p:nvSpPr>
          <p:spPr>
            <a:xfrm>
              <a:off x="457200"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4"/>
            <p:cNvSpPr/>
            <p:nvPr/>
          </p:nvSpPr>
          <p:spPr>
            <a:xfrm>
              <a:off x="457200"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1A3F7A"/>
                </a:buClr>
                <a:buSzPts val="2800"/>
                <a:buFont typeface="Georgia"/>
                <a:buNone/>
              </a:pPr>
              <a:r>
                <a:rPr lang="en-US" sz="2800" b="1" i="0" u="none" strike="noStrike" cap="none">
                  <a:solidFill>
                    <a:srgbClr val="1A3F7A"/>
                  </a:solidFill>
                  <a:latin typeface="Josefin Sans"/>
                  <a:ea typeface="Josefin Sans"/>
                  <a:cs typeface="Josefin Sans"/>
                  <a:sym typeface="Josefin Sans"/>
                </a:rPr>
                <a:t>2016–2026</a:t>
              </a:r>
              <a:endParaRPr sz="2800" b="0" i="0" u="none" strike="noStrike" cap="none">
                <a:solidFill>
                  <a:schemeClr val="dk1"/>
                </a:solidFill>
                <a:latin typeface="Josefin Sans"/>
                <a:ea typeface="Josefin Sans"/>
                <a:cs typeface="Josefin Sans"/>
                <a:sym typeface="Josefin Sans"/>
              </a:endParaRPr>
            </a:p>
          </p:txBody>
        </p:sp>
        <p:sp>
          <p:nvSpPr>
            <p:cNvPr id="274" name="Google Shape;274;p4"/>
            <p:cNvSpPr/>
            <p:nvPr/>
          </p:nvSpPr>
          <p:spPr>
            <a:xfrm>
              <a:off x="457200" y="2000699"/>
              <a:ext cx="1920300" cy="43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Date Range</a:t>
              </a:r>
              <a:endParaRPr sz="1000" b="0" i="0" u="none" strike="noStrike" cap="none">
                <a:solidFill>
                  <a:schemeClr val="dk1"/>
                </a:solidFill>
                <a:latin typeface="Calibri"/>
                <a:ea typeface="Calibri"/>
                <a:cs typeface="Calibri"/>
                <a:sym typeface="Calibri"/>
              </a:endParaRPr>
            </a:p>
          </p:txBody>
        </p:sp>
      </p:grpSp>
      <p:grpSp>
        <p:nvGrpSpPr>
          <p:cNvPr id="275" name="Google Shape;275;p4"/>
          <p:cNvGrpSpPr/>
          <p:nvPr/>
        </p:nvGrpSpPr>
        <p:grpSpPr>
          <a:xfrm>
            <a:off x="2560299" y="1353312"/>
            <a:ext cx="1920300" cy="1078992"/>
            <a:chOff x="2542032" y="1353312"/>
            <a:chExt cx="1920300" cy="1078992"/>
          </a:xfrm>
        </p:grpSpPr>
        <p:sp>
          <p:nvSpPr>
            <p:cNvPr id="276" name="Google Shape;276;p4"/>
            <p:cNvSpPr/>
            <p:nvPr/>
          </p:nvSpPr>
          <p:spPr>
            <a:xfrm>
              <a:off x="2542032"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4"/>
            <p:cNvSpPr/>
            <p:nvPr/>
          </p:nvSpPr>
          <p:spPr>
            <a:xfrm>
              <a:off x="2542032"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Josefin Sans"/>
                  <a:ea typeface="Josefin Sans"/>
                  <a:cs typeface="Josefin Sans"/>
                  <a:sym typeface="Josefin Sans"/>
                </a:rPr>
                <a:t>2,500+</a:t>
              </a:r>
              <a:endParaRPr sz="2800" b="0" i="0" u="none" strike="noStrike" cap="none">
                <a:solidFill>
                  <a:schemeClr val="dk1"/>
                </a:solidFill>
                <a:latin typeface="Josefin Sans"/>
                <a:ea typeface="Josefin Sans"/>
                <a:cs typeface="Josefin Sans"/>
                <a:sym typeface="Josefin Sans"/>
              </a:endParaRPr>
            </a:p>
          </p:txBody>
        </p:sp>
        <p:sp>
          <p:nvSpPr>
            <p:cNvPr id="278" name="Google Shape;278;p4"/>
            <p:cNvSpPr/>
            <p:nvPr/>
          </p:nvSpPr>
          <p:spPr>
            <a:xfrm>
              <a:off x="2542032" y="2000707"/>
              <a:ext cx="1920240" cy="3884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Daily Observations</a:t>
              </a:r>
              <a:endParaRPr sz="1000" b="0" i="0" u="none" strike="noStrike" cap="none">
                <a:solidFill>
                  <a:schemeClr val="dk1"/>
                </a:solidFill>
                <a:latin typeface="Calibri"/>
                <a:ea typeface="Calibri"/>
                <a:cs typeface="Calibri"/>
                <a:sym typeface="Calibri"/>
              </a:endParaRPr>
            </a:p>
          </p:txBody>
        </p:sp>
      </p:grpSp>
      <p:grpSp>
        <p:nvGrpSpPr>
          <p:cNvPr id="279" name="Google Shape;279;p4"/>
          <p:cNvGrpSpPr/>
          <p:nvPr/>
        </p:nvGrpSpPr>
        <p:grpSpPr>
          <a:xfrm>
            <a:off x="4663397" y="1353312"/>
            <a:ext cx="1920300" cy="1078992"/>
            <a:chOff x="4626864" y="1353312"/>
            <a:chExt cx="1920300" cy="1078992"/>
          </a:xfrm>
        </p:grpSpPr>
        <p:sp>
          <p:nvSpPr>
            <p:cNvPr id="280" name="Google Shape;280;p4"/>
            <p:cNvSpPr/>
            <p:nvPr/>
          </p:nvSpPr>
          <p:spPr>
            <a:xfrm>
              <a:off x="4626864"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4"/>
            <p:cNvSpPr/>
            <p:nvPr/>
          </p:nvSpPr>
          <p:spPr>
            <a:xfrm>
              <a:off x="4626864"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800"/>
                <a:buFont typeface="Georgia"/>
                <a:buNone/>
              </a:pPr>
              <a:r>
                <a:rPr lang="en-US" sz="2800" b="1" i="0" u="none" strike="noStrike" cap="none" dirty="0">
                  <a:solidFill>
                    <a:srgbClr val="E8A020"/>
                  </a:solidFill>
                  <a:latin typeface="Josefin Sans"/>
                  <a:ea typeface="Josefin Sans"/>
                  <a:cs typeface="Josefin Sans"/>
                  <a:sym typeface="Josefin Sans"/>
                </a:rPr>
                <a:t>3</a:t>
              </a:r>
              <a:endParaRPr sz="2800" b="1" i="0" u="none" strike="noStrike" cap="none" dirty="0">
                <a:solidFill>
                  <a:srgbClr val="E8A020"/>
                </a:solidFill>
                <a:latin typeface="Josefin Sans"/>
                <a:ea typeface="Josefin Sans"/>
                <a:cs typeface="Josefin Sans"/>
                <a:sym typeface="Josefin Sans"/>
              </a:endParaRPr>
            </a:p>
          </p:txBody>
        </p:sp>
        <p:sp>
          <p:nvSpPr>
            <p:cNvPr id="282" name="Google Shape;282;p4"/>
            <p:cNvSpPr/>
            <p:nvPr/>
          </p:nvSpPr>
          <p:spPr>
            <a:xfrm>
              <a:off x="4626864" y="2000707"/>
              <a:ext cx="19203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dirty="0">
                  <a:solidFill>
                    <a:srgbClr val="475569"/>
                  </a:solidFill>
                  <a:latin typeface="Calibri"/>
                  <a:ea typeface="Calibri"/>
                  <a:cs typeface="Calibri"/>
                  <a:sym typeface="Calibri"/>
                </a:rPr>
                <a:t>Predictors</a:t>
              </a:r>
              <a:endParaRPr sz="1000" b="0" i="0" u="none" strike="noStrike" cap="none" dirty="0">
                <a:solidFill>
                  <a:schemeClr val="dk1"/>
                </a:solidFill>
                <a:latin typeface="Calibri"/>
                <a:ea typeface="Calibri"/>
                <a:cs typeface="Calibri"/>
                <a:sym typeface="Calibri"/>
              </a:endParaRPr>
            </a:p>
          </p:txBody>
        </p:sp>
      </p:grpSp>
      <p:grpSp>
        <p:nvGrpSpPr>
          <p:cNvPr id="283" name="Google Shape;283;p4"/>
          <p:cNvGrpSpPr/>
          <p:nvPr/>
        </p:nvGrpSpPr>
        <p:grpSpPr>
          <a:xfrm>
            <a:off x="6766496" y="1349978"/>
            <a:ext cx="1920300" cy="1079100"/>
            <a:chOff x="6766496" y="1349978"/>
            <a:chExt cx="1920300" cy="1079100"/>
          </a:xfrm>
        </p:grpSpPr>
        <p:sp>
          <p:nvSpPr>
            <p:cNvPr id="284" name="Google Shape;284;p4"/>
            <p:cNvSpPr/>
            <p:nvPr/>
          </p:nvSpPr>
          <p:spPr>
            <a:xfrm>
              <a:off x="6766496" y="1349978"/>
              <a:ext cx="1920300" cy="10791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
            <p:cNvSpPr/>
            <p:nvPr/>
          </p:nvSpPr>
          <p:spPr>
            <a:xfrm>
              <a:off x="6766496" y="1390607"/>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F766E"/>
                </a:buClr>
                <a:buSzPts val="2800"/>
                <a:buFont typeface="Georgia"/>
                <a:buNone/>
              </a:pPr>
              <a:r>
                <a:rPr lang="en-US" sz="2800" b="1" i="0" u="none" strike="noStrike" cap="none">
                  <a:solidFill>
                    <a:srgbClr val="0F766E"/>
                  </a:solidFill>
                  <a:latin typeface="Josefin Sans"/>
                  <a:ea typeface="Josefin Sans"/>
                  <a:cs typeface="Josefin Sans"/>
                  <a:sym typeface="Josefin Sans"/>
                </a:rPr>
                <a:t>70 / 30</a:t>
              </a:r>
              <a:endParaRPr sz="2800" b="0" i="0" u="none" strike="noStrike" cap="none">
                <a:solidFill>
                  <a:schemeClr val="dk1"/>
                </a:solidFill>
                <a:latin typeface="Josefin Sans"/>
                <a:ea typeface="Josefin Sans"/>
                <a:cs typeface="Josefin Sans"/>
                <a:sym typeface="Josefin Sans"/>
              </a:endParaRPr>
            </a:p>
          </p:txBody>
        </p:sp>
        <p:sp>
          <p:nvSpPr>
            <p:cNvPr id="286" name="Google Shape;286;p4"/>
            <p:cNvSpPr/>
            <p:nvPr/>
          </p:nvSpPr>
          <p:spPr>
            <a:xfrm>
              <a:off x="6766496" y="1997373"/>
              <a:ext cx="19203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Train / Test Split</a:t>
              </a:r>
              <a:endParaRPr sz="1000" b="0" i="0" u="none" strike="noStrike" cap="none">
                <a:solidFill>
                  <a:schemeClr val="dk1"/>
                </a:solidFill>
                <a:latin typeface="Calibri"/>
                <a:ea typeface="Calibri"/>
                <a:cs typeface="Calibri"/>
                <a:sym typeface="Calibri"/>
              </a:endParaRPr>
            </a:p>
          </p:txBody>
        </p:sp>
      </p:grpSp>
      <p:graphicFrame>
        <p:nvGraphicFramePr>
          <p:cNvPr id="287" name="Google Shape;287;p4"/>
          <p:cNvGraphicFramePr/>
          <p:nvPr>
            <p:extLst>
              <p:ext uri="{D42A27DB-BD31-4B8C-83A1-F6EECF244321}">
                <p14:modId xmlns:p14="http://schemas.microsoft.com/office/powerpoint/2010/main" val="1727310523"/>
              </p:ext>
            </p:extLst>
          </p:nvPr>
        </p:nvGraphicFramePr>
        <p:xfrm>
          <a:off x="457200" y="2578608"/>
          <a:ext cx="8229600" cy="2103125"/>
        </p:xfrm>
        <a:graphic>
          <a:graphicData uri="http://schemas.openxmlformats.org/drawingml/2006/table">
            <a:tbl>
              <a:tblPr>
                <a:noFill/>
                <a:tableStyleId>{3E3B9169-A877-4DBC-8345-1FAB3B18362B}</a:tableStyleId>
              </a:tblPr>
              <a:tblGrid>
                <a:gridCol w="1737350">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560325">
                  <a:extLst>
                    <a:ext uri="{9D8B030D-6E8A-4147-A177-3AD203B41FA5}">
                      <a16:colId xmlns:a16="http://schemas.microsoft.com/office/drawing/2014/main" val="20003"/>
                    </a:ext>
                  </a:extLst>
                </a:gridCol>
              </a:tblGrid>
              <a:tr h="420625">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Variable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Constructed As</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Role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Intuition</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extLst>
                  <a:ext uri="{0D108BD9-81ED-4DB2-BD59-A6C34878D82A}">
                    <a16:rowId xmlns:a16="http://schemas.microsoft.com/office/drawing/2014/main" val="10000"/>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em_return (Y)</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log(EMBt / EMBt-1)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Dependent variable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What we predict and trade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1"/>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VIX (X₁)</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dirty="0">
                          <a:solidFill>
                            <a:srgbClr val="1E293B"/>
                          </a:solidFill>
                          <a:latin typeface="Calibri"/>
                          <a:ea typeface="Calibri"/>
                          <a:cs typeface="Calibri"/>
                          <a:sym typeface="Calibri"/>
                        </a:rPr>
                        <a:t>VIXₜ − VIXₜ₋₁</a:t>
                      </a:r>
                      <a:endParaRPr sz="1100" u="none" strike="noStrike" cap="none" dirty="0">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dirty="0">
                          <a:solidFill>
                            <a:srgbClr val="1E293B"/>
                          </a:solidFill>
                          <a:latin typeface="Calibri"/>
                          <a:ea typeface="Calibri"/>
                          <a:cs typeface="Calibri"/>
                          <a:sym typeface="Calibri"/>
                        </a:rPr>
                        <a:t>Primary predictor</a:t>
                      </a:r>
                      <a:endParaRPr sz="1100" u="none" strike="noStrike" cap="none" dirty="0">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in levels; fear spike detector</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2"/>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Credit Spread (X₂)</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Spreadt − Spreadt-1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Risk premium proxy</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in levels; increased risk off climate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3"/>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Oil Return (X₃)</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log(OIL_t / OIL_t-1)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Global risk appetite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dirty="0">
                          <a:solidFill>
                            <a:srgbClr val="1E293B"/>
                          </a:solidFill>
                          <a:latin typeface="Calibri"/>
                          <a:ea typeface="Calibri"/>
                          <a:cs typeface="Calibri"/>
                          <a:sym typeface="Calibri"/>
                        </a:rPr>
                        <a:t>Δ in levels; increased macro uncertainty</a:t>
                      </a:r>
                      <a:endParaRPr sz="1100" u="none" strike="noStrike" cap="none" dirty="0">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88" name="Google Shape;288;p4"/>
          <p:cNvSpPr/>
          <p:nvPr/>
        </p:nvSpPr>
        <p:spPr>
          <a:xfrm>
            <a:off x="457200" y="4755027"/>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dirty="0">
                <a:solidFill>
                  <a:srgbClr val="475569"/>
                </a:solidFill>
                <a:latin typeface="Calibri"/>
                <a:ea typeface="Calibri"/>
                <a:cs typeface="Calibri"/>
                <a:sym typeface="Calibri"/>
              </a:rPr>
              <a:t>Returns used for prices (oil, EMB); first differences used for non-prices (VIX, spreads). Eliminates look-ahead bias by predicting t+1 returns using t predictors.</a:t>
            </a:r>
            <a:endParaRPr sz="1000" b="0" i="0" u="none" strike="noStrike" cap="none" dirty="0">
              <a:solidFill>
                <a:schemeClr val="dk1"/>
              </a:solidFill>
              <a:latin typeface="Calibri"/>
              <a:ea typeface="Calibri"/>
              <a:cs typeface="Calibri"/>
              <a:sym typeface="Calibri"/>
            </a:endParaRPr>
          </a:p>
        </p:txBody>
      </p:sp>
      <p:sp>
        <p:nvSpPr>
          <p:cNvPr id="289" name="Google Shape;289;p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4"/>
        <p:cNvGrpSpPr/>
        <p:nvPr/>
      </p:nvGrpSpPr>
      <p:grpSpPr>
        <a:xfrm>
          <a:off x="0" y="0"/>
          <a:ext cx="0" cy="0"/>
          <a:chOff x="0" y="0"/>
          <a:chExt cx="0" cy="0"/>
        </a:xfrm>
      </p:grpSpPr>
      <p:sp>
        <p:nvSpPr>
          <p:cNvPr id="295" name="Google Shape;295;p5"/>
          <p:cNvSpPr/>
          <p:nvPr/>
        </p:nvSpPr>
        <p:spPr>
          <a:xfrm>
            <a:off x="365700" y="4912526"/>
            <a:ext cx="8412600" cy="216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5"/>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5"/>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DATA - CORRELATIONS</a:t>
            </a:r>
            <a:endParaRPr sz="1050" b="0" i="0" u="none" strike="noStrike" cap="none">
              <a:solidFill>
                <a:schemeClr val="dk1"/>
              </a:solidFill>
              <a:latin typeface="Calibri"/>
              <a:ea typeface="Calibri"/>
              <a:cs typeface="Calibri"/>
              <a:sym typeface="Calibri"/>
            </a:endParaRPr>
          </a:p>
        </p:txBody>
      </p:sp>
      <p:sp>
        <p:nvSpPr>
          <p:cNvPr id="298" name="Google Shape;298;p5"/>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200"/>
              <a:buFont typeface="Georgia"/>
              <a:buNone/>
            </a:pPr>
            <a:r>
              <a:rPr lang="en-US" sz="3200" b="1" i="0" u="none" strike="noStrike" cap="none">
                <a:solidFill>
                  <a:srgbClr val="0C1A35"/>
                </a:solidFill>
                <a:latin typeface="Georgia"/>
                <a:ea typeface="Georgia"/>
                <a:cs typeface="Georgia"/>
                <a:sym typeface="Georgia"/>
              </a:rPr>
              <a:t>How the Variables Move Together</a:t>
            </a:r>
            <a:endParaRPr sz="3200" b="0" i="0" u="none" strike="noStrike" cap="none">
              <a:solidFill>
                <a:schemeClr val="dk1"/>
              </a:solidFill>
              <a:latin typeface="Calibri"/>
              <a:ea typeface="Calibri"/>
              <a:cs typeface="Calibri"/>
              <a:sym typeface="Calibri"/>
            </a:endParaRPr>
          </a:p>
        </p:txBody>
      </p:sp>
      <p:sp>
        <p:nvSpPr>
          <p:cNvPr id="299" name="Google Shape;299;p5"/>
          <p:cNvSpPr/>
          <p:nvPr/>
        </p:nvSpPr>
        <p:spPr>
          <a:xfrm>
            <a:off x="365750" y="1371600"/>
            <a:ext cx="8412600" cy="79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5"/>
          <p:cNvSpPr/>
          <p:nvPr/>
        </p:nvSpPr>
        <p:spPr>
          <a:xfrm>
            <a:off x="365750" y="1371600"/>
            <a:ext cx="91500" cy="7920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5"/>
          <p:cNvSpPr/>
          <p:nvPr/>
        </p:nvSpPr>
        <p:spPr>
          <a:xfrm>
            <a:off x="631018" y="1569634"/>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VIX vs EMB Return</a:t>
            </a:r>
            <a:endParaRPr sz="1200" b="0" i="0" u="none" strike="noStrike" cap="none">
              <a:solidFill>
                <a:schemeClr val="dk1"/>
              </a:solidFill>
              <a:latin typeface="Calibri"/>
              <a:ea typeface="Calibri"/>
              <a:cs typeface="Calibri"/>
              <a:sym typeface="Calibri"/>
            </a:endParaRPr>
          </a:p>
        </p:txBody>
      </p:sp>
      <p:sp>
        <p:nvSpPr>
          <p:cNvPr id="302" name="Google Shape;302;p5"/>
          <p:cNvSpPr/>
          <p:nvPr/>
        </p:nvSpPr>
        <p:spPr>
          <a:xfrm>
            <a:off x="3098776" y="1632199"/>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91C1C"/>
              </a:buClr>
              <a:buSzPts val="1100"/>
              <a:buFont typeface="Calibri"/>
              <a:buNone/>
            </a:pPr>
            <a:r>
              <a:rPr lang="en-US" sz="1100" b="1" i="0" u="none" strike="noStrike" cap="none">
                <a:solidFill>
                  <a:srgbClr val="B91C1C"/>
                </a:solidFill>
                <a:latin typeface="Calibri"/>
                <a:ea typeface="Calibri"/>
                <a:cs typeface="Calibri"/>
                <a:sym typeface="Calibri"/>
              </a:rPr>
              <a:t>−0.47  (Strong Negative)</a:t>
            </a:r>
            <a:endParaRPr sz="1100" b="0" i="0" u="none" strike="noStrike" cap="none">
              <a:solidFill>
                <a:schemeClr val="dk1"/>
              </a:solidFill>
              <a:latin typeface="Calibri"/>
              <a:ea typeface="Calibri"/>
              <a:cs typeface="Calibri"/>
              <a:sym typeface="Calibri"/>
            </a:endParaRPr>
          </a:p>
        </p:txBody>
      </p:sp>
      <p:sp>
        <p:nvSpPr>
          <p:cNvPr id="303" name="Google Shape;303;p5"/>
          <p:cNvSpPr/>
          <p:nvPr/>
        </p:nvSpPr>
        <p:spPr>
          <a:xfrm>
            <a:off x="5285234" y="1425609"/>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On the SAME day: when fear spikes, investors panic-sell EMBs. This is a contemporaneous reaction, not a prediction.</a:t>
            </a:r>
            <a:endParaRPr sz="1000" b="0" i="0" u="none" strike="noStrike" cap="none">
              <a:solidFill>
                <a:schemeClr val="dk1"/>
              </a:solidFill>
              <a:latin typeface="Calibri"/>
              <a:ea typeface="Calibri"/>
              <a:cs typeface="Calibri"/>
              <a:sym typeface="Calibri"/>
            </a:endParaRPr>
          </a:p>
        </p:txBody>
      </p:sp>
      <p:sp>
        <p:nvSpPr>
          <p:cNvPr id="304" name="Google Shape;304;p5"/>
          <p:cNvSpPr/>
          <p:nvPr/>
        </p:nvSpPr>
        <p:spPr>
          <a:xfrm>
            <a:off x="365750" y="2262741"/>
            <a:ext cx="8412600" cy="7920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5"/>
          <p:cNvSpPr/>
          <p:nvPr/>
        </p:nvSpPr>
        <p:spPr>
          <a:xfrm>
            <a:off x="365750" y="2262741"/>
            <a:ext cx="91500" cy="792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5"/>
          <p:cNvSpPr/>
          <p:nvPr/>
        </p:nvSpPr>
        <p:spPr>
          <a:xfrm>
            <a:off x="631018" y="2467106"/>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Credit Spread vs EMB</a:t>
            </a:r>
            <a:endParaRPr sz="1200" b="0" i="0" u="none" strike="noStrike" cap="none">
              <a:solidFill>
                <a:schemeClr val="dk1"/>
              </a:solidFill>
              <a:latin typeface="Calibri"/>
              <a:ea typeface="Calibri"/>
              <a:cs typeface="Calibri"/>
              <a:sym typeface="Calibri"/>
            </a:endParaRPr>
          </a:p>
        </p:txBody>
      </p:sp>
      <p:sp>
        <p:nvSpPr>
          <p:cNvPr id="307" name="Google Shape;307;p5"/>
          <p:cNvSpPr/>
          <p:nvPr/>
        </p:nvSpPr>
        <p:spPr>
          <a:xfrm>
            <a:off x="3098776" y="2529983"/>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3F7A"/>
              </a:buClr>
              <a:buSzPts val="1100"/>
              <a:buFont typeface="Calibri"/>
              <a:buNone/>
            </a:pPr>
            <a:r>
              <a:rPr lang="en-US" sz="1100" b="1" i="0" u="none" strike="noStrike" cap="none">
                <a:solidFill>
                  <a:srgbClr val="1A3F7A"/>
                </a:solidFill>
                <a:latin typeface="Calibri"/>
                <a:ea typeface="Calibri"/>
                <a:cs typeface="Calibri"/>
                <a:sym typeface="Calibri"/>
              </a:rPr>
              <a:t>−0.35  (Moderate Negative)</a:t>
            </a:r>
            <a:endParaRPr sz="1100" b="0" i="0" u="none" strike="noStrike" cap="none">
              <a:solidFill>
                <a:schemeClr val="dk1"/>
              </a:solidFill>
              <a:latin typeface="Calibri"/>
              <a:ea typeface="Calibri"/>
              <a:cs typeface="Calibri"/>
              <a:sym typeface="Calibri"/>
            </a:endParaRPr>
          </a:p>
        </p:txBody>
      </p:sp>
      <p:sp>
        <p:nvSpPr>
          <p:cNvPr id="308" name="Google Shape;308;p5"/>
          <p:cNvSpPr/>
          <p:nvPr/>
        </p:nvSpPr>
        <p:spPr>
          <a:xfrm>
            <a:off x="5285234" y="2316750"/>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Higher credit spreads = more market stress = investors dump risky EM bonds on the same day they see spreads widen.</a:t>
            </a:r>
            <a:endParaRPr sz="1000" b="0" i="0" u="none" strike="noStrike" cap="none">
              <a:solidFill>
                <a:schemeClr val="dk1"/>
              </a:solidFill>
              <a:latin typeface="Calibri"/>
              <a:ea typeface="Calibri"/>
              <a:cs typeface="Calibri"/>
              <a:sym typeface="Calibri"/>
            </a:endParaRPr>
          </a:p>
        </p:txBody>
      </p:sp>
      <p:sp>
        <p:nvSpPr>
          <p:cNvPr id="309" name="Google Shape;309;p5"/>
          <p:cNvSpPr/>
          <p:nvPr/>
        </p:nvSpPr>
        <p:spPr>
          <a:xfrm>
            <a:off x="365750" y="3153883"/>
            <a:ext cx="8412600" cy="79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5"/>
          <p:cNvSpPr/>
          <p:nvPr/>
        </p:nvSpPr>
        <p:spPr>
          <a:xfrm>
            <a:off x="365750" y="3153883"/>
            <a:ext cx="91500" cy="7920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5"/>
          <p:cNvSpPr/>
          <p:nvPr/>
        </p:nvSpPr>
        <p:spPr>
          <a:xfrm>
            <a:off x="631018" y="3364578"/>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Oil Return vs EMB Return</a:t>
            </a:r>
            <a:endParaRPr sz="1200" b="0" i="0" u="none" strike="noStrike" cap="none">
              <a:solidFill>
                <a:schemeClr val="dk1"/>
              </a:solidFill>
              <a:latin typeface="Calibri"/>
              <a:ea typeface="Calibri"/>
              <a:cs typeface="Calibri"/>
              <a:sym typeface="Calibri"/>
            </a:endParaRPr>
          </a:p>
        </p:txBody>
      </p:sp>
      <p:sp>
        <p:nvSpPr>
          <p:cNvPr id="312" name="Google Shape;312;p5"/>
          <p:cNvSpPr/>
          <p:nvPr/>
        </p:nvSpPr>
        <p:spPr>
          <a:xfrm>
            <a:off x="3098776" y="3427766"/>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1100"/>
              <a:buFont typeface="Calibri"/>
              <a:buNone/>
            </a:pPr>
            <a:r>
              <a:rPr lang="en-US" sz="1100" b="1" i="0" u="none" strike="noStrike" cap="none">
                <a:solidFill>
                  <a:srgbClr val="0F766E"/>
                </a:solidFill>
                <a:latin typeface="Calibri"/>
                <a:ea typeface="Calibri"/>
                <a:cs typeface="Calibri"/>
                <a:sym typeface="Calibri"/>
              </a:rPr>
              <a:t>+0.24  (Weak Positive)</a:t>
            </a:r>
            <a:endParaRPr sz="1100" b="0" i="0" u="none" strike="noStrike" cap="none">
              <a:solidFill>
                <a:schemeClr val="dk1"/>
              </a:solidFill>
              <a:latin typeface="Calibri"/>
              <a:ea typeface="Calibri"/>
              <a:cs typeface="Calibri"/>
              <a:sym typeface="Calibri"/>
            </a:endParaRPr>
          </a:p>
        </p:txBody>
      </p:sp>
      <p:sp>
        <p:nvSpPr>
          <p:cNvPr id="313" name="Google Shape;313;p5"/>
          <p:cNvSpPr/>
          <p:nvPr/>
        </p:nvSpPr>
        <p:spPr>
          <a:xfrm>
            <a:off x="5285234" y="3207891"/>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dirty="0">
                <a:solidFill>
                  <a:srgbClr val="475569"/>
                </a:solidFill>
                <a:latin typeface="Calibri"/>
                <a:ea typeface="Calibri"/>
                <a:cs typeface="Calibri"/>
                <a:sym typeface="Calibri"/>
              </a:rPr>
              <a:t>Rising oil = healthy global economy = more risk appetite. But the relationship is noisy since geopolitical volatility increases prices. </a:t>
            </a:r>
            <a:endParaRPr sz="1000" b="0" i="0" u="none" strike="noStrike" cap="none" dirty="0">
              <a:solidFill>
                <a:schemeClr val="dk1"/>
              </a:solidFill>
              <a:latin typeface="Calibri"/>
              <a:ea typeface="Calibri"/>
              <a:cs typeface="Calibri"/>
              <a:sym typeface="Calibri"/>
            </a:endParaRPr>
          </a:p>
        </p:txBody>
      </p:sp>
      <p:sp>
        <p:nvSpPr>
          <p:cNvPr id="314" name="Google Shape;314;p5"/>
          <p:cNvSpPr/>
          <p:nvPr/>
        </p:nvSpPr>
        <p:spPr>
          <a:xfrm>
            <a:off x="365750" y="4045024"/>
            <a:ext cx="8412600" cy="7920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5"/>
          <p:cNvSpPr/>
          <p:nvPr/>
        </p:nvSpPr>
        <p:spPr>
          <a:xfrm>
            <a:off x="365750" y="4045024"/>
            <a:ext cx="91500" cy="7920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5"/>
          <p:cNvSpPr/>
          <p:nvPr/>
        </p:nvSpPr>
        <p:spPr>
          <a:xfrm>
            <a:off x="631018" y="4262050"/>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VIX vs Δ Credit Spread</a:t>
            </a:r>
            <a:endParaRPr sz="1200" b="0" i="0" u="none" strike="noStrike" cap="none">
              <a:solidFill>
                <a:schemeClr val="dk1"/>
              </a:solidFill>
              <a:latin typeface="Calibri"/>
              <a:ea typeface="Calibri"/>
              <a:cs typeface="Calibri"/>
              <a:sym typeface="Calibri"/>
            </a:endParaRPr>
          </a:p>
        </p:txBody>
      </p:sp>
      <p:sp>
        <p:nvSpPr>
          <p:cNvPr id="317" name="Google Shape;317;p5"/>
          <p:cNvSpPr/>
          <p:nvPr/>
        </p:nvSpPr>
        <p:spPr>
          <a:xfrm>
            <a:off x="3098776" y="4325550"/>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100"/>
              <a:buFont typeface="Calibri"/>
              <a:buNone/>
            </a:pPr>
            <a:r>
              <a:rPr lang="en-US" sz="1100" b="1" i="0" u="none" strike="noStrike" cap="none">
                <a:solidFill>
                  <a:srgbClr val="E8A020"/>
                </a:solidFill>
                <a:latin typeface="Calibri"/>
                <a:ea typeface="Calibri"/>
                <a:cs typeface="Calibri"/>
                <a:sym typeface="Calibri"/>
              </a:rPr>
              <a:t>+0.46  (⚠ Multicollinearity)</a:t>
            </a:r>
            <a:endParaRPr sz="1100" b="0" i="0" u="none" strike="noStrike" cap="none">
              <a:solidFill>
                <a:schemeClr val="dk1"/>
              </a:solidFill>
              <a:latin typeface="Calibri"/>
              <a:ea typeface="Calibri"/>
              <a:cs typeface="Calibri"/>
              <a:sym typeface="Calibri"/>
            </a:endParaRPr>
          </a:p>
        </p:txBody>
      </p:sp>
      <p:sp>
        <p:nvSpPr>
          <p:cNvPr id="318" name="Google Shape;318;p5"/>
          <p:cNvSpPr/>
          <p:nvPr/>
        </p:nvSpPr>
        <p:spPr>
          <a:xfrm>
            <a:off x="5285234" y="4099033"/>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PROBLEM: Two of our predictors are highly correlated with each other; they explain the same variation in EMB returns.</a:t>
            </a:r>
            <a:endParaRPr sz="1000" b="0" i="0" u="none" strike="noStrike" cap="none">
              <a:solidFill>
                <a:schemeClr val="dk1"/>
              </a:solidFill>
              <a:latin typeface="Calibri"/>
              <a:ea typeface="Calibri"/>
              <a:cs typeface="Calibri"/>
              <a:sym typeface="Calibri"/>
            </a:endParaRPr>
          </a:p>
        </p:txBody>
      </p:sp>
      <p:sp>
        <p:nvSpPr>
          <p:cNvPr id="319" name="Google Shape;319;p5"/>
          <p:cNvSpPr/>
          <p:nvPr/>
        </p:nvSpPr>
        <p:spPr>
          <a:xfrm>
            <a:off x="457200" y="4864616"/>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Important: correlations are same-day (time t) relationships which is good for understanding reactions, but NOT as good for predicting future returns.</a:t>
            </a:r>
            <a:endParaRPr sz="1000" b="0" i="0" u="none" strike="noStrike" cap="none">
              <a:solidFill>
                <a:schemeClr val="dk1"/>
              </a:solidFill>
              <a:latin typeface="Calibri"/>
              <a:ea typeface="Calibri"/>
              <a:cs typeface="Calibri"/>
              <a:sym typeface="Calibri"/>
            </a:endParaRPr>
          </a:p>
        </p:txBody>
      </p:sp>
      <p:sp>
        <p:nvSpPr>
          <p:cNvPr id="320" name="Google Shape;320;p5"/>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g39789fe7b62_1_268"/>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g39789fe7b62_1_268"/>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INTRO</a:t>
            </a:r>
            <a:endParaRPr sz="1050" b="0" i="0" u="none" strike="noStrike" cap="none">
              <a:solidFill>
                <a:schemeClr val="dk1"/>
              </a:solidFill>
              <a:latin typeface="Calibri"/>
              <a:ea typeface="Calibri"/>
              <a:cs typeface="Calibri"/>
              <a:sym typeface="Calibri"/>
            </a:endParaRPr>
          </a:p>
        </p:txBody>
      </p:sp>
      <p:sp>
        <p:nvSpPr>
          <p:cNvPr id="182" name="Google Shape;182;g39789fe7b62_1_268"/>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Model 2: Setup &amp; Results</a:t>
            </a:r>
            <a:endParaRPr sz="3000" b="0" i="0" u="none" strike="noStrike" cap="none" dirty="0">
              <a:solidFill>
                <a:schemeClr val="dk1"/>
              </a:solidFill>
              <a:latin typeface="Calibri"/>
              <a:ea typeface="Calibri"/>
              <a:cs typeface="Calibri"/>
              <a:sym typeface="Calibri"/>
            </a:endParaRPr>
          </a:p>
        </p:txBody>
      </p:sp>
      <p:sp>
        <p:nvSpPr>
          <p:cNvPr id="183" name="Google Shape;183;g39789fe7b62_1_268"/>
          <p:cNvSpPr/>
          <p:nvPr/>
        </p:nvSpPr>
        <p:spPr>
          <a:xfrm>
            <a:off x="280705" y="1486219"/>
            <a:ext cx="3977700" cy="2546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g39789fe7b62_1_268"/>
          <p:cNvSpPr/>
          <p:nvPr/>
        </p:nvSpPr>
        <p:spPr>
          <a:xfrm>
            <a:off x="280703" y="1486219"/>
            <a:ext cx="91500" cy="2546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5" name="Google Shape;185;g39789fe7b62_1_268"/>
          <p:cNvGrpSpPr/>
          <p:nvPr/>
        </p:nvGrpSpPr>
        <p:grpSpPr>
          <a:xfrm>
            <a:off x="463595" y="1559361"/>
            <a:ext cx="3749110" cy="2430291"/>
            <a:chOff x="548640" y="2163161"/>
            <a:chExt cx="3749110" cy="2430291"/>
          </a:xfrm>
        </p:grpSpPr>
        <p:sp>
          <p:nvSpPr>
            <p:cNvPr id="186" name="Google Shape;186;g39789fe7b62_1_268"/>
            <p:cNvSpPr/>
            <p:nvPr/>
          </p:nvSpPr>
          <p:spPr>
            <a:xfrm>
              <a:off x="548640" y="216316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250" b="1" i="0" u="none" strike="noStrike" cap="none">
                  <a:solidFill>
                    <a:srgbClr val="1A3F7A"/>
                  </a:solidFill>
                  <a:latin typeface="Calibri"/>
                  <a:ea typeface="Calibri"/>
                  <a:cs typeface="Calibri"/>
                  <a:sym typeface="Calibri"/>
                </a:rPr>
                <a:t>Methodology</a:t>
              </a:r>
              <a:endParaRPr sz="1250" b="0" i="0" u="none" strike="noStrike" cap="none">
                <a:solidFill>
                  <a:schemeClr val="dk1"/>
                </a:solidFill>
                <a:latin typeface="Calibri"/>
                <a:ea typeface="Calibri"/>
                <a:cs typeface="Calibri"/>
                <a:sym typeface="Calibri"/>
              </a:endParaRPr>
            </a:p>
          </p:txBody>
        </p:sp>
        <p:sp>
          <p:nvSpPr>
            <p:cNvPr id="187" name="Google Shape;187;g39789fe7b62_1_268"/>
            <p:cNvSpPr/>
            <p:nvPr/>
          </p:nvSpPr>
          <p:spPr>
            <a:xfrm>
              <a:off x="548650" y="2485652"/>
              <a:ext cx="3749100" cy="21078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Using 3 factors to predict EMB Returns, and we have 2 choices: long (only invest today if predicting EMB return tomorrow is positive) or stay out (do nothing)</a:t>
              </a:r>
              <a:endParaRPr sz="1100" b="0" i="0" u="none" strike="noStrike" cap="none" dirty="0">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Corrected for heteroskedasticity by using HC3 (</a:t>
              </a:r>
              <a:r>
                <a:rPr lang="en-US" sz="1100" b="0" i="0" u="none" strike="noStrike" cap="none" dirty="0" err="1">
                  <a:solidFill>
                    <a:srgbClr val="1E293B"/>
                  </a:solidFill>
                  <a:latin typeface="Calibri"/>
                  <a:ea typeface="Calibri"/>
                  <a:cs typeface="Calibri"/>
                  <a:sym typeface="Calibri"/>
                </a:rPr>
                <a:t>Heteroskedacity</a:t>
              </a:r>
              <a:r>
                <a:rPr lang="en-US" sz="1100" b="0" i="0" u="none" strike="noStrike" cap="none" dirty="0">
                  <a:solidFill>
                    <a:srgbClr val="1E293B"/>
                  </a:solidFill>
                  <a:latin typeface="Calibri"/>
                  <a:ea typeface="Calibri"/>
                  <a:cs typeface="Calibri"/>
                  <a:sym typeface="Calibri"/>
                </a:rPr>
                <a:t>-Consistent standard errors type 3) - helps provide more reliable p-values by ensuring outliers don't make your p-values look smaller </a:t>
              </a:r>
              <a:endParaRPr sz="1100" b="0" i="0" u="none" strike="noStrike" cap="none" dirty="0">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chemeClr val="dk1"/>
                  </a:solidFill>
                  <a:latin typeface="Calibri"/>
                  <a:ea typeface="Calibri"/>
                  <a:cs typeface="Calibri"/>
                  <a:sym typeface="Calibri"/>
                </a:rPr>
                <a:t>The test R-Squared decreased from -0.0101 (for </a:t>
              </a:r>
              <a:r>
                <a:rPr lang="en-US" sz="1100" b="0" i="0" u="none" strike="noStrike" cap="none" dirty="0" err="1">
                  <a:solidFill>
                    <a:schemeClr val="dk1"/>
                  </a:solidFill>
                  <a:latin typeface="Calibri"/>
                  <a:ea typeface="Calibri"/>
                  <a:cs typeface="Calibri"/>
                  <a:sym typeface="Calibri"/>
                </a:rPr>
                <a:t>delta_vix</a:t>
              </a:r>
              <a:r>
                <a:rPr lang="en-US" sz="1100" b="0" i="0" u="none" strike="noStrike" cap="none" dirty="0">
                  <a:solidFill>
                    <a:schemeClr val="dk1"/>
                  </a:solidFill>
                  <a:latin typeface="Calibri"/>
                  <a:ea typeface="Calibri"/>
                  <a:cs typeface="Calibri"/>
                  <a:sym typeface="Calibri"/>
                </a:rPr>
                <a:t> only) to -0.0162 → this means the multivariate model became less accurate in predicting EMB returns</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chemeClr val="dk1"/>
                  </a:solidFill>
                  <a:latin typeface="Calibri"/>
                  <a:ea typeface="Calibri"/>
                  <a:cs typeface="Calibri"/>
                  <a:sym typeface="Calibri"/>
                </a:rPr>
                <a:t>We plotted the cumulative returns of our strategy and compared it to a buy and hold strategy </a:t>
              </a:r>
              <a:endParaRPr sz="1100" b="0" i="0" u="none" strike="noStrike" cap="none" dirty="0">
                <a:solidFill>
                  <a:schemeClr val="dk1"/>
                </a:solidFill>
                <a:latin typeface="Calibri"/>
                <a:ea typeface="Calibri"/>
                <a:cs typeface="Calibri"/>
                <a:sym typeface="Calibri"/>
              </a:endParaRPr>
            </a:p>
          </p:txBody>
        </p:sp>
      </p:grpSp>
      <p:sp>
        <p:nvSpPr>
          <p:cNvPr id="188" name="Google Shape;188;g39789fe7b62_1_268"/>
          <p:cNvSpPr/>
          <p:nvPr/>
        </p:nvSpPr>
        <p:spPr>
          <a:xfrm>
            <a:off x="365700" y="4168725"/>
            <a:ext cx="8412600" cy="38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g39789fe7b62_1_268"/>
          <p:cNvSpPr/>
          <p:nvPr/>
        </p:nvSpPr>
        <p:spPr>
          <a:xfrm>
            <a:off x="457153" y="4216715"/>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dirty="0">
                <a:solidFill>
                  <a:srgbClr val="475569"/>
                </a:solidFill>
                <a:latin typeface="Calibri"/>
                <a:ea typeface="Calibri"/>
                <a:cs typeface="Calibri"/>
                <a:sym typeface="Calibri"/>
              </a:rPr>
              <a:t>Negative Test R² (-1.01%) is standard in financial return prediction because of high noise in daily EMB returns. The key finding is that Δ VIX is statistically significant and directionally correct for short-term reversals.</a:t>
            </a:r>
            <a:endParaRPr sz="1000" b="0" i="0" u="none" strike="noStrike" cap="none" dirty="0">
              <a:solidFill>
                <a:schemeClr val="dk1"/>
              </a:solidFill>
              <a:latin typeface="Calibri"/>
              <a:ea typeface="Calibri"/>
              <a:cs typeface="Calibri"/>
              <a:sym typeface="Calibri"/>
            </a:endParaRPr>
          </a:p>
        </p:txBody>
      </p:sp>
      <p:sp>
        <p:nvSpPr>
          <p:cNvPr id="191" name="Google Shape;191;g39789fe7b62_1_268"/>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Picture 2" descr="The diagram illustrates a comparison between a 3-factor strategy, including VIX, spread, and oil, and a buy-and-hold EMB strategy, showing their respective portfolio values over time from May 2023 to May 2026.&#10;&#10;AI-generated content may be incorrect.">
            <a:extLst>
              <a:ext uri="{FF2B5EF4-FFF2-40B4-BE49-F238E27FC236}">
                <a16:creationId xmlns:a16="http://schemas.microsoft.com/office/drawing/2014/main" id="{CEDDDF26-110C-96B8-A40E-B1C6462E00E5}"/>
              </a:ext>
            </a:extLst>
          </p:cNvPr>
          <p:cNvPicPr>
            <a:picLocks noChangeAspect="1"/>
          </p:cNvPicPr>
          <p:nvPr/>
        </p:nvPicPr>
        <p:blipFill>
          <a:blip r:embed="rId3"/>
          <a:stretch>
            <a:fillRect/>
          </a:stretch>
        </p:blipFill>
        <p:spPr>
          <a:xfrm>
            <a:off x="4540241" y="1410048"/>
            <a:ext cx="4278069" cy="26225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E326A022-4FEF-3819-4184-75D8590DBCE6}"/>
            </a:ext>
          </a:extLst>
        </p:cNvPr>
        <p:cNvGrpSpPr/>
        <p:nvPr/>
      </p:nvGrpSpPr>
      <p:grpSpPr>
        <a:xfrm>
          <a:off x="0" y="0"/>
          <a:ext cx="0" cy="0"/>
          <a:chOff x="0" y="0"/>
          <a:chExt cx="0" cy="0"/>
        </a:xfrm>
      </p:grpSpPr>
      <p:sp>
        <p:nvSpPr>
          <p:cNvPr id="197" name="Google Shape;197;g3d86e330eee_36_39">
            <a:extLst>
              <a:ext uri="{FF2B5EF4-FFF2-40B4-BE49-F238E27FC236}">
                <a16:creationId xmlns:a16="http://schemas.microsoft.com/office/drawing/2014/main" id="{144C9228-51D4-5610-EE41-B228EC0A44E2}"/>
              </a:ext>
            </a:extLst>
          </p:cNvPr>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3d86e330eee_36_39">
            <a:extLst>
              <a:ext uri="{FF2B5EF4-FFF2-40B4-BE49-F238E27FC236}">
                <a16:creationId xmlns:a16="http://schemas.microsoft.com/office/drawing/2014/main" id="{FF6C89D6-25A7-C333-6B9E-D2E02FA6AA9F}"/>
              </a:ext>
            </a:extLst>
          </p:cNvPr>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2 - 3 FACTOR MODEL</a:t>
            </a:r>
            <a:endParaRPr sz="1050" b="0" i="0" u="none" strike="noStrike" cap="none">
              <a:solidFill>
                <a:schemeClr val="dk1"/>
              </a:solidFill>
              <a:latin typeface="Calibri"/>
              <a:ea typeface="Calibri"/>
              <a:cs typeface="Calibri"/>
              <a:sym typeface="Calibri"/>
            </a:endParaRPr>
          </a:p>
        </p:txBody>
      </p:sp>
      <p:sp>
        <p:nvSpPr>
          <p:cNvPr id="199" name="Google Shape;199;g3d86e330eee_36_39">
            <a:extLst>
              <a:ext uri="{FF2B5EF4-FFF2-40B4-BE49-F238E27FC236}">
                <a16:creationId xmlns:a16="http://schemas.microsoft.com/office/drawing/2014/main" id="{571B18A0-982C-6413-E527-5477A4492BFC}"/>
              </a:ext>
            </a:extLst>
          </p:cNvPr>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Model 2 Regression Statistics</a:t>
            </a:r>
            <a:endParaRPr sz="3000" b="1" i="0" u="none" strike="noStrike" cap="none" dirty="0">
              <a:solidFill>
                <a:srgbClr val="0C1A35"/>
              </a:solidFill>
              <a:latin typeface="Georgia"/>
              <a:ea typeface="Georgia"/>
              <a:cs typeface="Georgia"/>
              <a:sym typeface="Georgia"/>
            </a:endParaRPr>
          </a:p>
        </p:txBody>
      </p:sp>
      <p:sp>
        <p:nvSpPr>
          <p:cNvPr id="200" name="Google Shape;200;g3d86e330eee_36_39">
            <a:extLst>
              <a:ext uri="{FF2B5EF4-FFF2-40B4-BE49-F238E27FC236}">
                <a16:creationId xmlns:a16="http://schemas.microsoft.com/office/drawing/2014/main" id="{9E5D33F8-9164-80A2-D0B0-9DF6E0899679}"/>
              </a:ext>
            </a:extLst>
          </p:cNvPr>
          <p:cNvSpPr/>
          <p:nvPr/>
        </p:nvSpPr>
        <p:spPr>
          <a:xfrm>
            <a:off x="365750" y="1333128"/>
            <a:ext cx="3977700" cy="2534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201" name="Google Shape;201;g3d86e330eee_36_39">
            <a:extLst>
              <a:ext uri="{FF2B5EF4-FFF2-40B4-BE49-F238E27FC236}">
                <a16:creationId xmlns:a16="http://schemas.microsoft.com/office/drawing/2014/main" id="{CA1FA83C-EAF8-BD74-FC08-42C5257C905C}"/>
              </a:ext>
            </a:extLst>
          </p:cNvPr>
          <p:cNvSpPr/>
          <p:nvPr/>
        </p:nvSpPr>
        <p:spPr>
          <a:xfrm>
            <a:off x="365750" y="1341773"/>
            <a:ext cx="91500" cy="2534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grpSp>
        <p:nvGrpSpPr>
          <p:cNvPr id="202" name="Google Shape;202;g3d86e330eee_36_39">
            <a:extLst>
              <a:ext uri="{FF2B5EF4-FFF2-40B4-BE49-F238E27FC236}">
                <a16:creationId xmlns:a16="http://schemas.microsoft.com/office/drawing/2014/main" id="{EB9E6251-4D99-9094-574D-6CD3C12C24EF}"/>
              </a:ext>
            </a:extLst>
          </p:cNvPr>
          <p:cNvGrpSpPr/>
          <p:nvPr/>
        </p:nvGrpSpPr>
        <p:grpSpPr>
          <a:xfrm>
            <a:off x="718888" y="1528425"/>
            <a:ext cx="3587426" cy="2374154"/>
            <a:chOff x="718885" y="2192080"/>
            <a:chExt cx="3587426" cy="1242622"/>
          </a:xfrm>
        </p:grpSpPr>
        <p:sp>
          <p:nvSpPr>
            <p:cNvPr id="203" name="Google Shape;203;g3d86e330eee_36_39">
              <a:extLst>
                <a:ext uri="{FF2B5EF4-FFF2-40B4-BE49-F238E27FC236}">
                  <a16:creationId xmlns:a16="http://schemas.microsoft.com/office/drawing/2014/main" id="{63903C5E-5CFB-EB08-C7EF-5CE10996A6C0}"/>
                </a:ext>
              </a:extLst>
            </p:cNvPr>
            <p:cNvSpPr/>
            <p:nvPr/>
          </p:nvSpPr>
          <p:spPr>
            <a:xfrm>
              <a:off x="718885" y="2192080"/>
              <a:ext cx="3492000" cy="42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450" b="1" i="0" u="none" strike="noStrike" cap="none" dirty="0">
                  <a:solidFill>
                    <a:srgbClr val="1A3F7A"/>
                  </a:solidFill>
                  <a:latin typeface="Calibri"/>
                  <a:ea typeface="Calibri"/>
                  <a:cs typeface="Calibri"/>
                  <a:sym typeface="Calibri"/>
                </a:rPr>
                <a:t>3 Factor Model - Delta Vix, Delta Credit Spreads, &amp; Oil Returns </a:t>
              </a:r>
              <a:endParaRPr sz="1450" b="1" i="0" u="none" strike="noStrike" cap="none" dirty="0">
                <a:solidFill>
                  <a:srgbClr val="1A3F7A"/>
                </a:solidFill>
                <a:latin typeface="Calibri"/>
                <a:ea typeface="Calibri"/>
                <a:cs typeface="Calibri"/>
                <a:sym typeface="Calibri"/>
              </a:endParaRPr>
            </a:p>
            <a:p>
              <a:pPr marL="0" marR="0" lvl="0" indent="0" algn="l" rtl="0">
                <a:lnSpc>
                  <a:spcPct val="100000"/>
                </a:lnSpc>
                <a:spcBef>
                  <a:spcPts val="0"/>
                </a:spcBef>
                <a:spcAft>
                  <a:spcPts val="0"/>
                </a:spcAft>
                <a:buClr>
                  <a:srgbClr val="1A3F7A"/>
                </a:buClr>
                <a:buSzPts val="1250"/>
                <a:buFont typeface="Calibri"/>
                <a:buNone/>
              </a:pPr>
              <a:endParaRPr sz="1450" b="1" i="0" u="none" strike="noStrike" cap="none" dirty="0">
                <a:solidFill>
                  <a:srgbClr val="1A3F7A"/>
                </a:solidFill>
                <a:latin typeface="Calibri"/>
                <a:ea typeface="Calibri"/>
                <a:cs typeface="Calibri"/>
                <a:sym typeface="Calibri"/>
              </a:endParaRPr>
            </a:p>
          </p:txBody>
        </p:sp>
        <p:sp>
          <p:nvSpPr>
            <p:cNvPr id="204" name="Google Shape;204;g3d86e330eee_36_39">
              <a:extLst>
                <a:ext uri="{FF2B5EF4-FFF2-40B4-BE49-F238E27FC236}">
                  <a16:creationId xmlns:a16="http://schemas.microsoft.com/office/drawing/2014/main" id="{7A3827C5-C6EA-2892-40F1-5368B8A6AE3D}"/>
                </a:ext>
              </a:extLst>
            </p:cNvPr>
            <p:cNvSpPr/>
            <p:nvPr/>
          </p:nvSpPr>
          <p:spPr>
            <a:xfrm>
              <a:off x="727011" y="2608202"/>
              <a:ext cx="3579300" cy="8265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Test R-Squared = </a:t>
              </a:r>
              <a:r>
                <a:rPr lang="en-US" sz="1300" dirty="0">
                  <a:solidFill>
                    <a:srgbClr val="1E293B"/>
                  </a:solidFill>
                  <a:latin typeface="Calibri"/>
                  <a:ea typeface="Calibri"/>
                  <a:cs typeface="Calibri"/>
                  <a:sym typeface="Calibri"/>
                </a:rPr>
                <a:t>-0.0162</a:t>
              </a:r>
              <a:endParaRPr sz="1300" b="0" i="0" u="none" strike="noStrike" cap="none" dirty="0">
                <a:solidFill>
                  <a:srgbClr val="1E293B"/>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Annualized Sharpe Ratio = 0.84</a:t>
              </a:r>
              <a:endParaRPr sz="1300" b="0" i="0" u="none" strike="noStrike" cap="none" dirty="0">
                <a:solidFill>
                  <a:srgbClr val="1E293B"/>
                </a:solidFill>
                <a:latin typeface="Calibri"/>
                <a:ea typeface="Calibri"/>
                <a:cs typeface="Calibri"/>
                <a:sym typeface="Calibri"/>
              </a:endParaRPr>
            </a:p>
          </p:txBody>
        </p:sp>
      </p:grpSp>
      <p:sp>
        <p:nvSpPr>
          <p:cNvPr id="205" name="Google Shape;205;g3d86e330eee_36_39">
            <a:extLst>
              <a:ext uri="{FF2B5EF4-FFF2-40B4-BE49-F238E27FC236}">
                <a16:creationId xmlns:a16="http://schemas.microsoft.com/office/drawing/2014/main" id="{E5196B14-647A-FEBC-15BC-4A56A12E020B}"/>
              </a:ext>
            </a:extLst>
          </p:cNvPr>
          <p:cNvSpPr/>
          <p:nvPr/>
        </p:nvSpPr>
        <p:spPr>
          <a:xfrm>
            <a:off x="48463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6" name="Google Shape;206;g3d86e330eee_36_39">
            <a:extLst>
              <a:ext uri="{FF2B5EF4-FFF2-40B4-BE49-F238E27FC236}">
                <a16:creationId xmlns:a16="http://schemas.microsoft.com/office/drawing/2014/main" id="{EE81A727-5B11-F0CF-FCFA-891E275EB220}"/>
              </a:ext>
            </a:extLst>
          </p:cNvPr>
          <p:cNvGrpSpPr/>
          <p:nvPr/>
        </p:nvGrpSpPr>
        <p:grpSpPr>
          <a:xfrm>
            <a:off x="4846388" y="1556347"/>
            <a:ext cx="1874400" cy="680829"/>
            <a:chOff x="4617725" y="2329900"/>
            <a:chExt cx="1874400" cy="680829"/>
          </a:xfrm>
        </p:grpSpPr>
        <p:sp>
          <p:nvSpPr>
            <p:cNvPr id="207" name="Google Shape;207;g3d86e330eee_36_39">
              <a:extLst>
                <a:ext uri="{FF2B5EF4-FFF2-40B4-BE49-F238E27FC236}">
                  <a16:creationId xmlns:a16="http://schemas.microsoft.com/office/drawing/2014/main" id="{5A0CE20C-D81F-D77A-3560-C1528B3C92F8}"/>
                </a:ext>
              </a:extLst>
            </p:cNvPr>
            <p:cNvSpPr/>
            <p:nvPr/>
          </p:nvSpPr>
          <p:spPr>
            <a:xfrm>
              <a:off x="4617725" y="2329900"/>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dirty="0">
                  <a:solidFill>
                    <a:srgbClr val="166534"/>
                  </a:solidFill>
                  <a:latin typeface="Josefin Sans"/>
                  <a:ea typeface="Josefin Sans"/>
                  <a:cs typeface="Josefin Sans"/>
                  <a:sym typeface="Josefin Sans"/>
                </a:rPr>
                <a:t>0.0104</a:t>
              </a:r>
              <a:endParaRPr sz="2800" b="0" i="0" u="none" strike="noStrike" cap="none" dirty="0">
                <a:solidFill>
                  <a:schemeClr val="dk1"/>
                </a:solidFill>
                <a:latin typeface="Josefin Sans"/>
                <a:ea typeface="Josefin Sans"/>
                <a:cs typeface="Josefin Sans"/>
                <a:sym typeface="Josefin Sans"/>
              </a:endParaRPr>
            </a:p>
          </p:txBody>
        </p:sp>
        <p:sp>
          <p:nvSpPr>
            <p:cNvPr id="208" name="Google Shape;208;g3d86e330eee_36_39">
              <a:extLst>
                <a:ext uri="{FF2B5EF4-FFF2-40B4-BE49-F238E27FC236}">
                  <a16:creationId xmlns:a16="http://schemas.microsoft.com/office/drawing/2014/main" id="{60A011AA-161E-D34F-36C6-0CFAF787B125}"/>
                </a:ext>
              </a:extLst>
            </p:cNvPr>
            <p:cNvSpPr/>
            <p:nvPr/>
          </p:nvSpPr>
          <p:spPr>
            <a:xfrm>
              <a:off x="4617725" y="279622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Oil Return Coefficient</a:t>
              </a:r>
              <a:endParaRPr sz="1000" b="0" i="0" u="none" strike="noStrike" cap="none">
                <a:solidFill>
                  <a:schemeClr val="dk1"/>
                </a:solidFill>
                <a:latin typeface="Calibri"/>
                <a:ea typeface="Calibri"/>
                <a:cs typeface="Calibri"/>
                <a:sym typeface="Calibri"/>
              </a:endParaRPr>
            </a:p>
          </p:txBody>
        </p:sp>
      </p:grpSp>
      <p:sp>
        <p:nvSpPr>
          <p:cNvPr id="209" name="Google Shape;209;g3d86e330eee_36_39">
            <a:extLst>
              <a:ext uri="{FF2B5EF4-FFF2-40B4-BE49-F238E27FC236}">
                <a16:creationId xmlns:a16="http://schemas.microsoft.com/office/drawing/2014/main" id="{DED05680-010B-8131-ECB1-45D2DD4CAB33}"/>
              </a:ext>
            </a:extLst>
          </p:cNvPr>
          <p:cNvSpPr/>
          <p:nvPr/>
        </p:nvSpPr>
        <p:spPr>
          <a:xfrm>
            <a:off x="69037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d86e330eee_36_39">
            <a:extLst>
              <a:ext uri="{FF2B5EF4-FFF2-40B4-BE49-F238E27FC236}">
                <a16:creationId xmlns:a16="http://schemas.microsoft.com/office/drawing/2014/main" id="{FB3F75C9-72AF-5DC8-026C-721585D2E1FE}"/>
              </a:ext>
            </a:extLst>
          </p:cNvPr>
          <p:cNvSpPr/>
          <p:nvPr/>
        </p:nvSpPr>
        <p:spPr>
          <a:xfrm>
            <a:off x="6903800" y="1556348"/>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dirty="0">
                <a:solidFill>
                  <a:srgbClr val="166534"/>
                </a:solidFill>
                <a:latin typeface="Josefin Sans"/>
                <a:ea typeface="Josefin Sans"/>
                <a:cs typeface="Josefin Sans"/>
                <a:sym typeface="Josefin Sans"/>
              </a:rPr>
              <a:t>0.0003</a:t>
            </a:r>
            <a:endParaRPr sz="2800" b="1" i="0" u="none" strike="noStrike" cap="none" dirty="0">
              <a:solidFill>
                <a:srgbClr val="166534"/>
              </a:solidFill>
              <a:latin typeface="Josefin Sans"/>
              <a:ea typeface="Josefin Sans"/>
              <a:cs typeface="Josefin Sans"/>
              <a:sym typeface="Josefin Sans"/>
            </a:endParaRPr>
          </a:p>
        </p:txBody>
      </p:sp>
      <p:sp>
        <p:nvSpPr>
          <p:cNvPr id="211" name="Google Shape;211;g3d86e330eee_36_39">
            <a:extLst>
              <a:ext uri="{FF2B5EF4-FFF2-40B4-BE49-F238E27FC236}">
                <a16:creationId xmlns:a16="http://schemas.microsoft.com/office/drawing/2014/main" id="{CE56D115-A3C7-2150-00C6-F1A64C20B176}"/>
              </a:ext>
            </a:extLst>
          </p:cNvPr>
          <p:cNvSpPr/>
          <p:nvPr/>
        </p:nvSpPr>
        <p:spPr>
          <a:xfrm>
            <a:off x="6903800" y="2022676"/>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VIX</a:t>
            </a:r>
            <a:endParaRPr sz="1000" b="0" i="0" u="none" strike="noStrike" cap="none">
              <a:solidFill>
                <a:schemeClr val="dk1"/>
              </a:solidFill>
              <a:latin typeface="Calibri"/>
              <a:ea typeface="Calibri"/>
              <a:cs typeface="Calibri"/>
              <a:sym typeface="Calibri"/>
            </a:endParaRPr>
          </a:p>
        </p:txBody>
      </p:sp>
      <p:sp>
        <p:nvSpPr>
          <p:cNvPr id="212" name="Google Shape;212;g3d86e330eee_36_39">
            <a:extLst>
              <a:ext uri="{FF2B5EF4-FFF2-40B4-BE49-F238E27FC236}">
                <a16:creationId xmlns:a16="http://schemas.microsoft.com/office/drawing/2014/main" id="{6CEEECE5-1C69-C843-ADBA-36AF066CD71E}"/>
              </a:ext>
            </a:extLst>
          </p:cNvPr>
          <p:cNvSpPr/>
          <p:nvPr/>
        </p:nvSpPr>
        <p:spPr>
          <a:xfrm>
            <a:off x="48463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g3d86e330eee_36_39">
            <a:extLst>
              <a:ext uri="{FF2B5EF4-FFF2-40B4-BE49-F238E27FC236}">
                <a16:creationId xmlns:a16="http://schemas.microsoft.com/office/drawing/2014/main" id="{5F6B2C73-2640-7D12-6F8D-8ABCF306E598}"/>
              </a:ext>
            </a:extLst>
          </p:cNvPr>
          <p:cNvSpPr/>
          <p:nvPr/>
        </p:nvSpPr>
        <p:spPr>
          <a:xfrm>
            <a:off x="4846395"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475569"/>
              </a:buClr>
              <a:buSzPts val="2800"/>
              <a:buFont typeface="Georgia"/>
              <a:buNone/>
            </a:pPr>
            <a:r>
              <a:rPr lang="en-US" sz="2800" b="1" i="0" u="none" strike="noStrike" cap="none" dirty="0">
                <a:solidFill>
                  <a:srgbClr val="475569"/>
                </a:solidFill>
                <a:latin typeface="Josefin Sans"/>
                <a:ea typeface="Josefin Sans"/>
                <a:cs typeface="Josefin Sans"/>
                <a:sym typeface="Josefin Sans"/>
              </a:rPr>
              <a:t>0.0016</a:t>
            </a:r>
            <a:endParaRPr sz="2800" b="1" i="0" u="none" strike="noStrike" cap="none" dirty="0">
              <a:solidFill>
                <a:srgbClr val="475569"/>
              </a:solidFill>
              <a:latin typeface="Josefin Sans"/>
              <a:ea typeface="Josefin Sans"/>
              <a:cs typeface="Josefin Sans"/>
              <a:sym typeface="Josefin Sans"/>
            </a:endParaRPr>
          </a:p>
        </p:txBody>
      </p:sp>
      <p:sp>
        <p:nvSpPr>
          <p:cNvPr id="214" name="Google Shape;214;g3d86e330eee_36_39">
            <a:extLst>
              <a:ext uri="{FF2B5EF4-FFF2-40B4-BE49-F238E27FC236}">
                <a16:creationId xmlns:a16="http://schemas.microsoft.com/office/drawing/2014/main" id="{6EF120BA-DFE4-19D1-F7DE-C58B6DCE76EB}"/>
              </a:ext>
            </a:extLst>
          </p:cNvPr>
          <p:cNvSpPr/>
          <p:nvPr/>
        </p:nvSpPr>
        <p:spPr>
          <a:xfrm>
            <a:off x="48463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Spread</a:t>
            </a:r>
            <a:endParaRPr sz="1000" b="0" i="0" u="none" strike="noStrike" cap="none">
              <a:solidFill>
                <a:schemeClr val="dk1"/>
              </a:solidFill>
              <a:latin typeface="Calibri"/>
              <a:ea typeface="Calibri"/>
              <a:cs typeface="Calibri"/>
              <a:sym typeface="Calibri"/>
            </a:endParaRPr>
          </a:p>
        </p:txBody>
      </p:sp>
      <p:sp>
        <p:nvSpPr>
          <p:cNvPr id="215" name="Google Shape;215;g3d86e330eee_36_39">
            <a:extLst>
              <a:ext uri="{FF2B5EF4-FFF2-40B4-BE49-F238E27FC236}">
                <a16:creationId xmlns:a16="http://schemas.microsoft.com/office/drawing/2014/main" id="{3456C180-3AC7-B4FB-A12D-34EF4E485569}"/>
              </a:ext>
            </a:extLst>
          </p:cNvPr>
          <p:cNvSpPr/>
          <p:nvPr/>
        </p:nvSpPr>
        <p:spPr>
          <a:xfrm>
            <a:off x="69037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g3d86e330eee_36_39">
            <a:extLst>
              <a:ext uri="{FF2B5EF4-FFF2-40B4-BE49-F238E27FC236}">
                <a16:creationId xmlns:a16="http://schemas.microsoft.com/office/drawing/2014/main" id="{CEE91CD9-1206-5DC7-25B6-C2E6896D5992}"/>
              </a:ext>
            </a:extLst>
          </p:cNvPr>
          <p:cNvSpPr/>
          <p:nvPr/>
        </p:nvSpPr>
        <p:spPr>
          <a:xfrm>
            <a:off x="6903858"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dirty="0">
                <a:solidFill>
                  <a:srgbClr val="2B6CB0"/>
                </a:solidFill>
                <a:latin typeface="Josefin Sans"/>
                <a:ea typeface="Josefin Sans"/>
                <a:cs typeface="Josefin Sans"/>
                <a:sym typeface="Josefin Sans"/>
              </a:rPr>
              <a:t>-0.0001</a:t>
            </a:r>
            <a:endParaRPr sz="2800" b="1" i="0" u="none" strike="noStrike" cap="none" dirty="0">
              <a:solidFill>
                <a:srgbClr val="2B6CB0"/>
              </a:solidFill>
              <a:latin typeface="Josefin Sans"/>
              <a:ea typeface="Josefin Sans"/>
              <a:cs typeface="Josefin Sans"/>
              <a:sym typeface="Josefin Sans"/>
            </a:endParaRPr>
          </a:p>
        </p:txBody>
      </p:sp>
      <p:sp>
        <p:nvSpPr>
          <p:cNvPr id="217" name="Google Shape;217;g3d86e330eee_36_39">
            <a:extLst>
              <a:ext uri="{FF2B5EF4-FFF2-40B4-BE49-F238E27FC236}">
                <a16:creationId xmlns:a16="http://schemas.microsoft.com/office/drawing/2014/main" id="{013CFE89-463E-D06B-0F35-336EB5504C1F}"/>
              </a:ext>
            </a:extLst>
          </p:cNvPr>
          <p:cNvSpPr/>
          <p:nvPr/>
        </p:nvSpPr>
        <p:spPr>
          <a:xfrm>
            <a:off x="69037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Constant</a:t>
            </a:r>
            <a:endParaRPr sz="1000" b="0" i="0" u="none" strike="noStrike" cap="none">
              <a:solidFill>
                <a:schemeClr val="dk1"/>
              </a:solidFill>
              <a:latin typeface="Calibri"/>
              <a:ea typeface="Calibri"/>
              <a:cs typeface="Calibri"/>
              <a:sym typeface="Calibri"/>
            </a:endParaRPr>
          </a:p>
        </p:txBody>
      </p:sp>
      <p:cxnSp>
        <p:nvCxnSpPr>
          <p:cNvPr id="218" name="Google Shape;218;g3d86e330eee_36_39">
            <a:extLst>
              <a:ext uri="{FF2B5EF4-FFF2-40B4-BE49-F238E27FC236}">
                <a16:creationId xmlns:a16="http://schemas.microsoft.com/office/drawing/2014/main" id="{90954DDB-CD19-A2F7-8D71-9E622BC9029D}"/>
              </a:ext>
            </a:extLst>
          </p:cNvPr>
          <p:cNvCxnSpPr/>
          <p:nvPr/>
        </p:nvCxnSpPr>
        <p:spPr>
          <a:xfrm>
            <a:off x="4590725" y="1336347"/>
            <a:ext cx="8400" cy="2560200"/>
          </a:xfrm>
          <a:prstGeom prst="straightConnector1">
            <a:avLst/>
          </a:prstGeom>
          <a:noFill/>
          <a:ln w="19050" cap="flat" cmpd="sng">
            <a:solidFill>
              <a:schemeClr val="accent3"/>
            </a:solidFill>
            <a:prstDash val="solid"/>
            <a:round/>
            <a:headEnd type="none" w="sm" len="sm"/>
            <a:tailEnd type="none" w="sm" len="sm"/>
          </a:ln>
        </p:spPr>
      </p:cxnSp>
      <p:sp>
        <p:nvSpPr>
          <p:cNvPr id="219" name="Google Shape;219;g3d86e330eee_36_39">
            <a:extLst>
              <a:ext uri="{FF2B5EF4-FFF2-40B4-BE49-F238E27FC236}">
                <a16:creationId xmlns:a16="http://schemas.microsoft.com/office/drawing/2014/main" id="{57862266-7CED-A272-D361-094AF5E76E0A}"/>
              </a:ext>
            </a:extLst>
          </p:cNvPr>
          <p:cNvSpPr/>
          <p:nvPr/>
        </p:nvSpPr>
        <p:spPr>
          <a:xfrm>
            <a:off x="388635" y="4101537"/>
            <a:ext cx="8412600" cy="621900"/>
          </a:xfrm>
          <a:prstGeom prst="rect">
            <a:avLst/>
          </a:prstGeom>
          <a:solidFill>
            <a:srgbClr val="0C1A35"/>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d86e330eee_36_39">
            <a:extLst>
              <a:ext uri="{FF2B5EF4-FFF2-40B4-BE49-F238E27FC236}">
                <a16:creationId xmlns:a16="http://schemas.microsoft.com/office/drawing/2014/main" id="{7CAC1B14-4284-86BC-5019-164BEBBD367E}"/>
              </a:ext>
            </a:extLst>
          </p:cNvPr>
          <p:cNvSpPr/>
          <p:nvPr/>
        </p:nvSpPr>
        <p:spPr>
          <a:xfrm>
            <a:off x="388625" y="4101525"/>
            <a:ext cx="8412600" cy="6219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d86e330eee_36_39">
            <a:extLst>
              <a:ext uri="{FF2B5EF4-FFF2-40B4-BE49-F238E27FC236}">
                <a16:creationId xmlns:a16="http://schemas.microsoft.com/office/drawing/2014/main" id="{97CA1460-82C1-E5E0-2482-126536D02179}"/>
              </a:ext>
            </a:extLst>
          </p:cNvPr>
          <p:cNvSpPr/>
          <p:nvPr/>
        </p:nvSpPr>
        <p:spPr>
          <a:xfrm>
            <a:off x="525795" y="4223158"/>
            <a:ext cx="81381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400"/>
              <a:buFont typeface="Courier New"/>
              <a:buNone/>
            </a:pPr>
            <a:r>
              <a:rPr lang="en-US" sz="1400" b="0" i="0" u="none" strike="noStrike" cap="none" dirty="0">
                <a:solidFill>
                  <a:srgbClr val="E8A020"/>
                </a:solidFill>
                <a:latin typeface="Courier New"/>
                <a:ea typeface="Courier New"/>
                <a:cs typeface="Courier New"/>
                <a:sym typeface="Courier New"/>
              </a:rPr>
              <a:t>Equation: ŷ = 0.0104 * (</a:t>
            </a:r>
            <a:r>
              <a:rPr lang="en-US" sz="1400" b="0" i="0" u="none" strike="noStrike" cap="none" dirty="0" err="1">
                <a:solidFill>
                  <a:srgbClr val="E8A020"/>
                </a:solidFill>
                <a:latin typeface="Courier New"/>
                <a:ea typeface="Courier New"/>
                <a:cs typeface="Courier New"/>
                <a:sym typeface="Courier New"/>
              </a:rPr>
              <a:t>oil_return</a:t>
            </a:r>
            <a:r>
              <a:rPr lang="en-US" sz="1400" b="0" i="0" u="none" strike="noStrike" cap="none" dirty="0">
                <a:solidFill>
                  <a:srgbClr val="E8A020"/>
                </a:solidFill>
                <a:latin typeface="Courier New"/>
                <a:ea typeface="Courier New"/>
                <a:cs typeface="Courier New"/>
                <a:sym typeface="Courier New"/>
              </a:rPr>
              <a:t>) + 0.0003 * (</a:t>
            </a:r>
            <a:r>
              <a:rPr lang="en-US" sz="1400" b="0" i="0" u="none" strike="noStrike" cap="none" dirty="0" err="1">
                <a:solidFill>
                  <a:srgbClr val="E8A020"/>
                </a:solidFill>
                <a:latin typeface="Courier New"/>
                <a:ea typeface="Courier New"/>
                <a:cs typeface="Courier New"/>
                <a:sym typeface="Courier New"/>
              </a:rPr>
              <a:t>delta_vix</a:t>
            </a:r>
            <a:r>
              <a:rPr lang="en-US" sz="1400" b="0" i="0" u="none" strike="noStrike" cap="none" dirty="0">
                <a:solidFill>
                  <a:srgbClr val="E8A020"/>
                </a:solidFill>
                <a:latin typeface="Courier New"/>
                <a:ea typeface="Courier New"/>
                <a:cs typeface="Courier New"/>
                <a:sym typeface="Courier New"/>
              </a:rPr>
              <a:t>) + 0.00160 * (</a:t>
            </a:r>
            <a:r>
              <a:rPr lang="en-US" sz="1400" b="0" i="0" u="none" strike="noStrike" cap="none" dirty="0" err="1">
                <a:solidFill>
                  <a:srgbClr val="E8A020"/>
                </a:solidFill>
                <a:latin typeface="Courier New"/>
                <a:ea typeface="Courier New"/>
                <a:cs typeface="Courier New"/>
                <a:sym typeface="Courier New"/>
              </a:rPr>
              <a:t>delta_spread</a:t>
            </a:r>
            <a:r>
              <a:rPr lang="en-US" sz="1400" b="0" i="0" u="none" strike="noStrike" cap="none" dirty="0">
                <a:solidFill>
                  <a:srgbClr val="E8A020"/>
                </a:solidFill>
                <a:latin typeface="Courier New"/>
                <a:ea typeface="Courier New"/>
                <a:cs typeface="Courier New"/>
                <a:sym typeface="Courier New"/>
              </a:rPr>
              <a:t>) - 0.0001</a:t>
            </a:r>
            <a:endParaRPr sz="1400" b="0" i="0" u="none" strike="noStrike" cap="none" dirty="0">
              <a:solidFill>
                <a:srgbClr val="E8A020"/>
              </a:solidFill>
              <a:latin typeface="Courier New"/>
              <a:ea typeface="Courier New"/>
              <a:cs typeface="Courier New"/>
              <a:sym typeface="Courier New"/>
            </a:endParaRPr>
          </a:p>
          <a:p>
            <a:pPr marL="0" marR="0" lvl="0" indent="0" algn="ctr" rtl="0">
              <a:lnSpc>
                <a:spcPct val="100000"/>
              </a:lnSpc>
              <a:spcBef>
                <a:spcPts val="0"/>
              </a:spcBef>
              <a:spcAft>
                <a:spcPts val="0"/>
              </a:spcAft>
              <a:buClr>
                <a:srgbClr val="E8A020"/>
              </a:buClr>
              <a:buSzPts val="1400"/>
              <a:buFont typeface="Courier New"/>
              <a:buNone/>
            </a:pPr>
            <a:endParaRPr sz="1400" b="0" i="0" u="none" strike="noStrike" cap="none" dirty="0">
              <a:solidFill>
                <a:srgbClr val="E8A020"/>
              </a:solidFill>
              <a:latin typeface="Courier New"/>
              <a:ea typeface="Courier New"/>
              <a:cs typeface="Courier New"/>
              <a:sym typeface="Courier New"/>
            </a:endParaRPr>
          </a:p>
        </p:txBody>
      </p:sp>
      <p:sp>
        <p:nvSpPr>
          <p:cNvPr id="222" name="Google Shape;222;g3d86e330eee_36_39">
            <a:extLst>
              <a:ext uri="{FF2B5EF4-FFF2-40B4-BE49-F238E27FC236}">
                <a16:creationId xmlns:a16="http://schemas.microsoft.com/office/drawing/2014/main" id="{EE5DC389-0784-95DC-93B0-0B0FC0A9E29D}"/>
              </a:ext>
            </a:extLst>
          </p:cNvPr>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97014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sp>
        <p:nvSpPr>
          <p:cNvPr id="244" name="Google Shape;244;p14"/>
          <p:cNvSpPr/>
          <p:nvPr/>
        </p:nvSpPr>
        <p:spPr>
          <a:xfrm>
            <a:off x="365700" y="4744427"/>
            <a:ext cx="8412600" cy="2742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4"/>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4"/>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MULTI-FACTOR OLS</a:t>
            </a:r>
            <a:endParaRPr sz="1050" b="0" i="0" u="none" strike="noStrike" cap="none">
              <a:solidFill>
                <a:schemeClr val="dk1"/>
              </a:solidFill>
              <a:latin typeface="Calibri"/>
              <a:ea typeface="Calibri"/>
              <a:cs typeface="Calibri"/>
              <a:sym typeface="Calibri"/>
            </a:endParaRPr>
          </a:p>
        </p:txBody>
      </p:sp>
      <p:sp>
        <p:nvSpPr>
          <p:cNvPr id="247" name="Google Shape;247;p14"/>
          <p:cNvSpPr/>
          <p:nvPr/>
        </p:nvSpPr>
        <p:spPr>
          <a:xfrm>
            <a:off x="457200" y="502925"/>
            <a:ext cx="570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Model 2 Analysis</a:t>
            </a:r>
            <a:endParaRPr sz="3000" b="0" i="0" u="none" strike="noStrike" cap="none" dirty="0">
              <a:solidFill>
                <a:schemeClr val="dk1"/>
              </a:solidFill>
              <a:latin typeface="Calibri"/>
              <a:ea typeface="Calibri"/>
              <a:cs typeface="Calibri"/>
              <a:sym typeface="Calibri"/>
            </a:endParaRPr>
          </a:p>
        </p:txBody>
      </p:sp>
      <p:sp>
        <p:nvSpPr>
          <p:cNvPr id="248" name="Google Shape;248;p14"/>
          <p:cNvSpPr/>
          <p:nvPr/>
        </p:nvSpPr>
        <p:spPr>
          <a:xfrm>
            <a:off x="365750" y="2103124"/>
            <a:ext cx="4005000" cy="256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4"/>
          <p:cNvSpPr/>
          <p:nvPr/>
        </p:nvSpPr>
        <p:spPr>
          <a:xfrm>
            <a:off x="365750" y="2103124"/>
            <a:ext cx="91500" cy="2562000"/>
          </a:xfrm>
          <a:prstGeom prst="rect">
            <a:avLst/>
          </a:prstGeom>
          <a:solidFill>
            <a:schemeClr val="dk2"/>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4"/>
          <p:cNvSpPr/>
          <p:nvPr/>
        </p:nvSpPr>
        <p:spPr>
          <a:xfrm>
            <a:off x="594365" y="2167110"/>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50"/>
              <a:buFont typeface="Calibri"/>
              <a:buNone/>
            </a:pPr>
            <a:r>
              <a:rPr lang="en-US" sz="1250" b="1" i="0" u="none" strike="noStrike" cap="none">
                <a:solidFill>
                  <a:srgbClr val="0F766E"/>
                </a:solidFill>
                <a:latin typeface="Calibri"/>
                <a:ea typeface="Calibri"/>
                <a:cs typeface="Calibri"/>
                <a:sym typeface="Calibri"/>
              </a:rPr>
              <a:t>What Improved</a:t>
            </a:r>
            <a:endParaRPr sz="1250" b="0" i="0" u="none" strike="noStrike" cap="none">
              <a:solidFill>
                <a:schemeClr val="dk1"/>
              </a:solidFill>
              <a:latin typeface="Calibri"/>
              <a:ea typeface="Calibri"/>
              <a:cs typeface="Calibri"/>
              <a:sym typeface="Calibri"/>
            </a:endParaRPr>
          </a:p>
        </p:txBody>
      </p:sp>
      <p:sp>
        <p:nvSpPr>
          <p:cNvPr id="251" name="Google Shape;251;p14"/>
          <p:cNvSpPr/>
          <p:nvPr/>
        </p:nvSpPr>
        <p:spPr>
          <a:xfrm>
            <a:off x="548650" y="2483710"/>
            <a:ext cx="37491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Used HC3 heteroskedasticity correction for more reliable p-values</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Strategy: go long tomorrow if predicted EMB return &gt; 0, else stay out</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Annualized Sharpe ratio: ~0.20 (model 1) vs 0</a:t>
            </a:r>
            <a:r>
              <a:rPr lang="en-US" sz="1100" dirty="0">
                <a:solidFill>
                  <a:srgbClr val="1E293B"/>
                </a:solidFill>
                <a:latin typeface="Calibri"/>
                <a:ea typeface="Calibri"/>
                <a:cs typeface="Calibri"/>
                <a:sym typeface="Calibri"/>
              </a:rPr>
              <a:t>.84 </a:t>
            </a:r>
            <a:r>
              <a:rPr lang="en-US" sz="1100" b="0" i="0" u="none" strike="noStrike" cap="none" dirty="0">
                <a:solidFill>
                  <a:srgbClr val="1E293B"/>
                </a:solidFill>
                <a:latin typeface="Calibri"/>
                <a:ea typeface="Calibri"/>
                <a:cs typeface="Calibri"/>
                <a:sym typeface="Calibri"/>
              </a:rPr>
              <a:t>(model 2)</a:t>
            </a:r>
            <a:endParaRPr sz="1100" b="0" i="0" u="none" strike="noStrike" cap="none" dirty="0">
              <a:solidFill>
                <a:schemeClr val="dk1"/>
              </a:solidFill>
              <a:latin typeface="Calibri"/>
              <a:ea typeface="Calibri"/>
              <a:cs typeface="Calibri"/>
              <a:sym typeface="Calibri"/>
            </a:endParaRPr>
          </a:p>
        </p:txBody>
      </p:sp>
      <p:sp>
        <p:nvSpPr>
          <p:cNvPr id="252" name="Google Shape;252;p14"/>
          <p:cNvSpPr/>
          <p:nvPr/>
        </p:nvSpPr>
        <p:spPr>
          <a:xfrm>
            <a:off x="548640" y="3595707"/>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Strategy vs Buy-and-Hold</a:t>
            </a:r>
            <a:endParaRPr sz="1200" b="0" i="0" u="none" strike="noStrike" cap="none">
              <a:solidFill>
                <a:schemeClr val="dk1"/>
              </a:solidFill>
              <a:latin typeface="Calibri"/>
              <a:ea typeface="Calibri"/>
              <a:cs typeface="Calibri"/>
              <a:sym typeface="Calibri"/>
            </a:endParaRPr>
          </a:p>
        </p:txBody>
      </p:sp>
      <p:sp>
        <p:nvSpPr>
          <p:cNvPr id="253" name="Google Shape;253;p14"/>
          <p:cNvSpPr/>
          <p:nvPr/>
        </p:nvSpPr>
        <p:spPr>
          <a:xfrm>
            <a:off x="548640" y="3894582"/>
            <a:ext cx="3749100" cy="530400"/>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3-factor strategy ends at 1.129 × vs buy-and-hold at 1.09×</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Sep 2023: strategy protected capital when buy-and-hold crashed</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Strategy consistently hovers at or above buy-and-hold</a:t>
            </a:r>
            <a:endParaRPr sz="1100" b="0" i="0" u="none" strike="noStrike" cap="none" dirty="0">
              <a:solidFill>
                <a:schemeClr val="dk1"/>
              </a:solidFill>
              <a:latin typeface="Calibri"/>
              <a:ea typeface="Calibri"/>
              <a:cs typeface="Calibri"/>
              <a:sym typeface="Calibri"/>
            </a:endParaRPr>
          </a:p>
        </p:txBody>
      </p:sp>
      <p:sp>
        <p:nvSpPr>
          <p:cNvPr id="254" name="Google Shape;254;p14"/>
          <p:cNvSpPr/>
          <p:nvPr/>
        </p:nvSpPr>
        <p:spPr>
          <a:xfrm>
            <a:off x="4617725" y="2103124"/>
            <a:ext cx="4114800" cy="256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4"/>
          <p:cNvSpPr/>
          <p:nvPr/>
        </p:nvSpPr>
        <p:spPr>
          <a:xfrm>
            <a:off x="4617725" y="2103124"/>
            <a:ext cx="91500" cy="25620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4"/>
          <p:cNvSpPr/>
          <p:nvPr/>
        </p:nvSpPr>
        <p:spPr>
          <a:xfrm>
            <a:off x="4800600" y="2176272"/>
            <a:ext cx="374904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50"/>
              <a:buFont typeface="Calibri"/>
              <a:buNone/>
            </a:pPr>
            <a:r>
              <a:rPr lang="en-US" sz="1250" b="1" i="0" u="none" strike="noStrike" cap="none">
                <a:solidFill>
                  <a:srgbClr val="B91C1C"/>
                </a:solidFill>
                <a:latin typeface="Calibri"/>
                <a:ea typeface="Calibri"/>
                <a:cs typeface="Calibri"/>
                <a:sym typeface="Calibri"/>
              </a:rPr>
              <a:t>The Problem: Multicollinearity</a:t>
            </a:r>
            <a:endParaRPr sz="1250" b="0" i="0" u="none" strike="noStrike" cap="none">
              <a:solidFill>
                <a:schemeClr val="dk1"/>
              </a:solidFill>
              <a:latin typeface="Calibri"/>
              <a:ea typeface="Calibri"/>
              <a:cs typeface="Calibri"/>
              <a:sym typeface="Calibri"/>
            </a:endParaRPr>
          </a:p>
        </p:txBody>
      </p:sp>
      <p:sp>
        <p:nvSpPr>
          <p:cNvPr id="257" name="Google Shape;257;p14"/>
          <p:cNvSpPr/>
          <p:nvPr/>
        </p:nvSpPr>
        <p:spPr>
          <a:xfrm>
            <a:off x="4800605" y="2497278"/>
            <a:ext cx="3840600" cy="21351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Δ VIX and Δ Credit Spread are 0.46 correlated — shared signal</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Condition number = 84 (&gt;30 = very high multicollinearity)</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Result: none of the 3 predictors are individually significant</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More variables did not improve prediction — double-counting noise</a:t>
            </a:r>
            <a:endParaRPr sz="11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Fix: Ridge regression adds penalty term to shrink correlated predictors</a:t>
            </a:r>
            <a:endParaRPr sz="1100" b="0" i="0" u="none" strike="noStrike" cap="none" dirty="0">
              <a:solidFill>
                <a:schemeClr val="dk1"/>
              </a:solidFill>
              <a:latin typeface="Calibri"/>
              <a:ea typeface="Calibri"/>
              <a:cs typeface="Calibri"/>
              <a:sym typeface="Calibri"/>
            </a:endParaRPr>
          </a:p>
        </p:txBody>
      </p:sp>
      <p:sp>
        <p:nvSpPr>
          <p:cNvPr id="258" name="Google Shape;258;p14"/>
          <p:cNvSpPr/>
          <p:nvPr/>
        </p:nvSpPr>
        <p:spPr>
          <a:xfrm>
            <a:off x="457190" y="4752329"/>
            <a:ext cx="8229600" cy="26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Lesson: adding correlated predictors inflates the condition number and destroys individual significance, even when R² marginally improves.</a:t>
            </a:r>
            <a:endParaRPr sz="1000" b="0" i="0" u="none" strike="noStrike" cap="none">
              <a:solidFill>
                <a:schemeClr val="dk1"/>
              </a:solidFill>
              <a:latin typeface="Calibri"/>
              <a:ea typeface="Calibri"/>
              <a:cs typeface="Calibri"/>
              <a:sym typeface="Calibri"/>
            </a:endParaRPr>
          </a:p>
        </p:txBody>
      </p:sp>
      <p:sp>
        <p:nvSpPr>
          <p:cNvPr id="259" name="Google Shape;259;p14"/>
          <p:cNvSpPr/>
          <p:nvPr/>
        </p:nvSpPr>
        <p:spPr>
          <a:xfrm>
            <a:off x="365710" y="1339550"/>
            <a:ext cx="8412600" cy="6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14"/>
          <p:cNvSpPr txBox="1"/>
          <p:nvPr/>
        </p:nvSpPr>
        <p:spPr>
          <a:xfrm>
            <a:off x="415025" y="1447913"/>
            <a:ext cx="8412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E8A020"/>
              </a:buClr>
              <a:buSzPts val="1400"/>
              <a:buFont typeface="Courier New"/>
              <a:buNone/>
            </a:pPr>
            <a:r>
              <a:rPr lang="en-US" sz="1400" b="0" i="0" u="none" strike="noStrike" cap="none">
                <a:solidFill>
                  <a:srgbClr val="E8A020"/>
                </a:solidFill>
                <a:latin typeface="Courier New"/>
                <a:ea typeface="Courier New"/>
                <a:cs typeface="Courier New"/>
                <a:sym typeface="Courier New"/>
              </a:rPr>
              <a:t>EMB Return_t+1  =  α  +  β₁·ΔVIX_t  +  β₂·ΔSpread_t  +  β₃·Oil_Return_t  +  ε</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1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
          <a:extLst>
            <a:ext uri="{FF2B5EF4-FFF2-40B4-BE49-F238E27FC236}">
              <a16:creationId xmlns:a16="http://schemas.microsoft.com/office/drawing/2014/main" id="{6C7D09D0-58B3-081A-9184-BB961CE24A2A}"/>
            </a:ext>
          </a:extLst>
        </p:cNvPr>
        <p:cNvGrpSpPr/>
        <p:nvPr/>
      </p:nvGrpSpPr>
      <p:grpSpPr>
        <a:xfrm>
          <a:off x="0" y="0"/>
          <a:ext cx="0" cy="0"/>
          <a:chOff x="0" y="0"/>
          <a:chExt cx="0" cy="0"/>
        </a:xfrm>
      </p:grpSpPr>
      <p:sp>
        <p:nvSpPr>
          <p:cNvPr id="156" name="Google Shape;156;g39789fe7b62_1_251">
            <a:extLst>
              <a:ext uri="{FF2B5EF4-FFF2-40B4-BE49-F238E27FC236}">
                <a16:creationId xmlns:a16="http://schemas.microsoft.com/office/drawing/2014/main" id="{8384BF21-525F-BE47-4681-8DBA64FAECED}"/>
              </a:ext>
            </a:extLst>
          </p:cNvPr>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7" name="Google Shape;157;g39789fe7b62_1_251">
            <a:extLst>
              <a:ext uri="{FF2B5EF4-FFF2-40B4-BE49-F238E27FC236}">
                <a16:creationId xmlns:a16="http://schemas.microsoft.com/office/drawing/2014/main" id="{0D070900-A247-8FD2-734E-9096826EFB30}"/>
              </a:ext>
            </a:extLst>
          </p:cNvPr>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200"/>
              <a:buFont typeface="Arial"/>
              <a:buNone/>
              <a:tabLst/>
              <a:defRPr/>
            </a:pPr>
            <a:r>
              <a:rPr kumimoji="0" lang="en-US" sz="5200" b="1" i="0" u="none" strike="noStrike" kern="0" cap="none" spc="0" normalizeH="0" baseline="0" noProof="0" dirty="0">
                <a:ln>
                  <a:noFill/>
                </a:ln>
                <a:solidFill>
                  <a:srgbClr val="FFFFFF"/>
                </a:solidFill>
                <a:effectLst/>
                <a:uLnTx/>
                <a:uFillTx/>
                <a:latin typeface="Georgia"/>
                <a:ea typeface="Georgia"/>
                <a:cs typeface="Georgia"/>
                <a:sym typeface="Georgia"/>
              </a:rPr>
              <a:t>Model 3 </a:t>
            </a:r>
            <a:endParaRPr kumimoji="0" sz="5200" b="1" i="0" u="none" strike="noStrike" kern="0" cap="none" spc="0" normalizeH="0" baseline="0" noProof="0" dirty="0">
              <a:ln>
                <a:noFill/>
              </a:ln>
              <a:solidFill>
                <a:srgbClr val="FFFFFF"/>
              </a:solidFill>
              <a:effectLst/>
              <a:uLnTx/>
              <a:uFillTx/>
              <a:latin typeface="Georgia"/>
              <a:ea typeface="Georgia"/>
              <a:cs typeface="Georgia"/>
              <a:sym typeface="Georgia"/>
            </a:endParaRPr>
          </a:p>
          <a:p>
            <a:pPr marL="0" marR="0" lvl="0" indent="0" algn="ctr" defTabSz="914400" rtl="0" eaLnBrk="1" fontAlgn="auto" latinLnBrk="0" hangingPunct="1">
              <a:lnSpc>
                <a:spcPct val="100000"/>
              </a:lnSpc>
              <a:spcBef>
                <a:spcPts val="0"/>
              </a:spcBef>
              <a:spcAft>
                <a:spcPts val="0"/>
              </a:spcAft>
              <a:buClr>
                <a:srgbClr val="000000"/>
              </a:buClr>
              <a:buSzPts val="5200"/>
              <a:buFont typeface="Arial"/>
              <a:buNone/>
              <a:tabLst/>
              <a:defRPr/>
            </a:pPr>
            <a:r>
              <a:rPr kumimoji="0" lang="en-US" sz="5200" b="1" i="0" u="none" strike="noStrike" kern="0" cap="none" spc="0" normalizeH="0" baseline="0" noProof="0" dirty="0">
                <a:ln>
                  <a:noFill/>
                </a:ln>
                <a:solidFill>
                  <a:srgbClr val="FFFFFF"/>
                </a:solidFill>
                <a:effectLst/>
                <a:uLnTx/>
                <a:uFillTx/>
                <a:latin typeface="Georgia"/>
                <a:ea typeface="Georgia"/>
                <a:cs typeface="Georgia"/>
                <a:sym typeface="Georgia"/>
              </a:rPr>
              <a:t>All Three Signals with Ridge </a:t>
            </a:r>
            <a:endParaRPr kumimoji="0" sz="5200" b="1" i="0" u="none" strike="noStrike" kern="0" cap="none" spc="0" normalizeH="0" baseline="0" noProof="0" dirty="0">
              <a:ln>
                <a:noFill/>
              </a:ln>
              <a:solidFill>
                <a:srgbClr val="FFFFFF"/>
              </a:solidFill>
              <a:effectLst/>
              <a:uLnTx/>
              <a:uFillTx/>
              <a:latin typeface="Georgia"/>
              <a:ea typeface="Georgia"/>
              <a:cs typeface="Georgia"/>
              <a:sym typeface="Georgia"/>
            </a:endParaRPr>
          </a:p>
        </p:txBody>
      </p:sp>
    </p:spTree>
    <p:extLst>
      <p:ext uri="{BB962C8B-B14F-4D97-AF65-F5344CB8AC3E}">
        <p14:creationId xmlns:p14="http://schemas.microsoft.com/office/powerpoint/2010/main" val="3924983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g3d86e330eee_36_39"/>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3d86e330eee_36_39"/>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dirty="0">
                <a:solidFill>
                  <a:srgbClr val="FFFFFF"/>
                </a:solidFill>
                <a:latin typeface="Calibri"/>
                <a:ea typeface="Calibri"/>
                <a:cs typeface="Calibri"/>
                <a:sym typeface="Calibri"/>
              </a:rPr>
              <a:t>MODEL 3 – Ridge 3 FACTOR MODEL</a:t>
            </a:r>
            <a:endParaRPr sz="1050" b="0" i="0" u="none" strike="noStrike" cap="none" dirty="0">
              <a:solidFill>
                <a:schemeClr val="dk1"/>
              </a:solidFill>
              <a:latin typeface="Calibri"/>
              <a:ea typeface="Calibri"/>
              <a:cs typeface="Calibri"/>
              <a:sym typeface="Calibri"/>
            </a:endParaRPr>
          </a:p>
        </p:txBody>
      </p:sp>
      <p:sp>
        <p:nvSpPr>
          <p:cNvPr id="199" name="Google Shape;199;g3d86e330eee_36_39"/>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Model 3: Ridge 3 Factor Model</a:t>
            </a:r>
            <a:endParaRPr sz="3000" b="1" i="0" u="none" strike="noStrike" cap="none" dirty="0">
              <a:solidFill>
                <a:srgbClr val="0C1A35"/>
              </a:solidFill>
              <a:latin typeface="Georgia"/>
              <a:ea typeface="Georgia"/>
              <a:cs typeface="Georgia"/>
              <a:sym typeface="Georgia"/>
            </a:endParaRPr>
          </a:p>
        </p:txBody>
      </p:sp>
      <p:sp>
        <p:nvSpPr>
          <p:cNvPr id="200" name="Google Shape;200;g3d86e330eee_36_39"/>
          <p:cNvSpPr/>
          <p:nvPr/>
        </p:nvSpPr>
        <p:spPr>
          <a:xfrm>
            <a:off x="365750" y="1333128"/>
            <a:ext cx="3977700" cy="2534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01" name="Google Shape;201;g3d86e330eee_36_39"/>
          <p:cNvSpPr/>
          <p:nvPr/>
        </p:nvSpPr>
        <p:spPr>
          <a:xfrm>
            <a:off x="365750" y="1341773"/>
            <a:ext cx="91500" cy="2534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grpSp>
        <p:nvGrpSpPr>
          <p:cNvPr id="202" name="Google Shape;202;g3d86e330eee_36_39"/>
          <p:cNvGrpSpPr/>
          <p:nvPr/>
        </p:nvGrpSpPr>
        <p:grpSpPr>
          <a:xfrm>
            <a:off x="718888" y="1528425"/>
            <a:ext cx="3587426" cy="2374154"/>
            <a:chOff x="718885" y="2192080"/>
            <a:chExt cx="3587426" cy="1242622"/>
          </a:xfrm>
        </p:grpSpPr>
        <p:sp>
          <p:nvSpPr>
            <p:cNvPr id="203" name="Google Shape;203;g3d86e330eee_36_39"/>
            <p:cNvSpPr/>
            <p:nvPr/>
          </p:nvSpPr>
          <p:spPr>
            <a:xfrm>
              <a:off x="718885" y="2192080"/>
              <a:ext cx="3492000" cy="42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450" b="1" i="0" u="none" strike="noStrike" cap="none" dirty="0">
                  <a:solidFill>
                    <a:srgbClr val="1A3F7A"/>
                  </a:solidFill>
                  <a:latin typeface="Calibri"/>
                  <a:ea typeface="Calibri"/>
                  <a:cs typeface="Calibri"/>
                  <a:sym typeface="Calibri"/>
                </a:rPr>
                <a:t>3 Factor Model (Ridge) - Delta Vix, Delta Credit Spreads, &amp; Oil Returns </a:t>
              </a:r>
              <a:endParaRPr sz="1450" b="1" i="0" u="none" strike="noStrike" cap="none" dirty="0">
                <a:solidFill>
                  <a:srgbClr val="1A3F7A"/>
                </a:solidFill>
                <a:latin typeface="Calibri"/>
                <a:ea typeface="Calibri"/>
                <a:cs typeface="Calibri"/>
                <a:sym typeface="Calibri"/>
              </a:endParaRPr>
            </a:p>
            <a:p>
              <a:pPr marL="0" marR="0" lvl="0" indent="0" algn="l" rtl="0">
                <a:lnSpc>
                  <a:spcPct val="100000"/>
                </a:lnSpc>
                <a:spcBef>
                  <a:spcPts val="0"/>
                </a:spcBef>
                <a:spcAft>
                  <a:spcPts val="0"/>
                </a:spcAft>
                <a:buClr>
                  <a:srgbClr val="1A3F7A"/>
                </a:buClr>
                <a:buSzPts val="1250"/>
                <a:buFont typeface="Calibri"/>
                <a:buNone/>
              </a:pPr>
              <a:endParaRPr sz="1450" b="1" i="0" u="none" strike="noStrike" cap="none" dirty="0">
                <a:solidFill>
                  <a:srgbClr val="1A3F7A"/>
                </a:solidFill>
                <a:latin typeface="Calibri"/>
                <a:ea typeface="Calibri"/>
                <a:cs typeface="Calibri"/>
                <a:sym typeface="Calibri"/>
              </a:endParaRPr>
            </a:p>
          </p:txBody>
        </p:sp>
        <p:sp>
          <p:nvSpPr>
            <p:cNvPr id="204" name="Google Shape;204;g3d86e330eee_36_39"/>
            <p:cNvSpPr/>
            <p:nvPr/>
          </p:nvSpPr>
          <p:spPr>
            <a:xfrm>
              <a:off x="727011" y="2608202"/>
              <a:ext cx="3579300" cy="8265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Test R-Squared = -0.0149</a:t>
              </a:r>
              <a:endParaRPr sz="1300" b="0" i="0" u="none" strike="noStrike" cap="none" dirty="0">
                <a:solidFill>
                  <a:srgbClr val="1E293B"/>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Annualized Sharpe Ratio = </a:t>
              </a:r>
              <a:r>
                <a:rPr lang="en-US" sz="1300" dirty="0">
                  <a:solidFill>
                    <a:srgbClr val="1E293B"/>
                  </a:solidFill>
                  <a:latin typeface="Calibri"/>
                  <a:ea typeface="Calibri"/>
                  <a:cs typeface="Calibri"/>
                  <a:sym typeface="Calibri"/>
                </a:rPr>
                <a:t>0.89</a:t>
              </a:r>
              <a:endParaRPr sz="1300" b="0" i="0" u="none" strike="noStrike" cap="none" dirty="0">
                <a:solidFill>
                  <a:srgbClr val="1E293B"/>
                </a:solidFill>
                <a:latin typeface="Calibri"/>
                <a:ea typeface="Calibri"/>
                <a:cs typeface="Calibri"/>
                <a:sym typeface="Calibri"/>
              </a:endParaRPr>
            </a:p>
          </p:txBody>
        </p:sp>
      </p:grpSp>
      <p:sp>
        <p:nvSpPr>
          <p:cNvPr id="205" name="Google Shape;205;g3d86e330eee_36_39"/>
          <p:cNvSpPr/>
          <p:nvPr/>
        </p:nvSpPr>
        <p:spPr>
          <a:xfrm>
            <a:off x="48463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6" name="Google Shape;206;g3d86e330eee_36_39"/>
          <p:cNvGrpSpPr/>
          <p:nvPr/>
        </p:nvGrpSpPr>
        <p:grpSpPr>
          <a:xfrm>
            <a:off x="4846388" y="1556347"/>
            <a:ext cx="1874400" cy="680829"/>
            <a:chOff x="4617725" y="2329900"/>
            <a:chExt cx="1874400" cy="680829"/>
          </a:xfrm>
        </p:grpSpPr>
        <p:sp>
          <p:nvSpPr>
            <p:cNvPr id="207" name="Google Shape;207;g3d86e330eee_36_39"/>
            <p:cNvSpPr/>
            <p:nvPr/>
          </p:nvSpPr>
          <p:spPr>
            <a:xfrm>
              <a:off x="4617725" y="2329900"/>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0.000245</a:t>
              </a:r>
              <a:endParaRPr sz="2800" b="0" i="0" u="none" strike="noStrike" cap="none">
                <a:solidFill>
                  <a:schemeClr val="dk1"/>
                </a:solidFill>
                <a:latin typeface="Josefin Sans"/>
                <a:ea typeface="Josefin Sans"/>
                <a:cs typeface="Josefin Sans"/>
                <a:sym typeface="Josefin Sans"/>
              </a:endParaRPr>
            </a:p>
          </p:txBody>
        </p:sp>
        <p:sp>
          <p:nvSpPr>
            <p:cNvPr id="208" name="Google Shape;208;g3d86e330eee_36_39"/>
            <p:cNvSpPr/>
            <p:nvPr/>
          </p:nvSpPr>
          <p:spPr>
            <a:xfrm>
              <a:off x="4617725" y="279622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Oil Return Coefficient</a:t>
              </a:r>
              <a:endParaRPr sz="1000" b="0" i="0" u="none" strike="noStrike" cap="none">
                <a:solidFill>
                  <a:schemeClr val="dk1"/>
                </a:solidFill>
                <a:latin typeface="Calibri"/>
                <a:ea typeface="Calibri"/>
                <a:cs typeface="Calibri"/>
                <a:sym typeface="Calibri"/>
              </a:endParaRPr>
            </a:p>
          </p:txBody>
        </p:sp>
      </p:grpSp>
      <p:sp>
        <p:nvSpPr>
          <p:cNvPr id="209" name="Google Shape;209;g3d86e330eee_36_39"/>
          <p:cNvSpPr/>
          <p:nvPr/>
        </p:nvSpPr>
        <p:spPr>
          <a:xfrm>
            <a:off x="69037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d86e330eee_36_39"/>
          <p:cNvSpPr/>
          <p:nvPr/>
        </p:nvSpPr>
        <p:spPr>
          <a:xfrm>
            <a:off x="6903800" y="1556348"/>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0.000512</a:t>
            </a:r>
            <a:endParaRPr sz="2800" b="1" i="0" u="none" strike="noStrike" cap="none">
              <a:solidFill>
                <a:srgbClr val="166534"/>
              </a:solidFill>
              <a:latin typeface="Josefin Sans"/>
              <a:ea typeface="Josefin Sans"/>
              <a:cs typeface="Josefin Sans"/>
              <a:sym typeface="Josefin Sans"/>
            </a:endParaRPr>
          </a:p>
        </p:txBody>
      </p:sp>
      <p:sp>
        <p:nvSpPr>
          <p:cNvPr id="211" name="Google Shape;211;g3d86e330eee_36_39"/>
          <p:cNvSpPr/>
          <p:nvPr/>
        </p:nvSpPr>
        <p:spPr>
          <a:xfrm>
            <a:off x="6903800" y="2022676"/>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VIX</a:t>
            </a:r>
            <a:endParaRPr sz="1000" b="0" i="0" u="none" strike="noStrike" cap="none">
              <a:solidFill>
                <a:schemeClr val="dk1"/>
              </a:solidFill>
              <a:latin typeface="Calibri"/>
              <a:ea typeface="Calibri"/>
              <a:cs typeface="Calibri"/>
              <a:sym typeface="Calibri"/>
            </a:endParaRPr>
          </a:p>
        </p:txBody>
      </p:sp>
      <p:sp>
        <p:nvSpPr>
          <p:cNvPr id="212" name="Google Shape;212;g3d86e330eee_36_39"/>
          <p:cNvSpPr/>
          <p:nvPr/>
        </p:nvSpPr>
        <p:spPr>
          <a:xfrm>
            <a:off x="48463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g3d86e330eee_36_39"/>
          <p:cNvSpPr/>
          <p:nvPr/>
        </p:nvSpPr>
        <p:spPr>
          <a:xfrm>
            <a:off x="4846395"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475569"/>
              </a:buClr>
              <a:buSzPts val="2800"/>
              <a:buFont typeface="Georgia"/>
              <a:buNone/>
            </a:pPr>
            <a:r>
              <a:rPr lang="en-US" sz="2800" b="1" i="0" u="none" strike="noStrike" cap="none">
                <a:solidFill>
                  <a:srgbClr val="475569"/>
                </a:solidFill>
                <a:latin typeface="Josefin Sans"/>
                <a:ea typeface="Josefin Sans"/>
                <a:cs typeface="Josefin Sans"/>
                <a:sym typeface="Josefin Sans"/>
              </a:rPr>
              <a:t>0.000160</a:t>
            </a:r>
            <a:endParaRPr sz="2800" b="1" i="0" u="none" strike="noStrike" cap="none">
              <a:solidFill>
                <a:srgbClr val="475569"/>
              </a:solidFill>
              <a:latin typeface="Josefin Sans"/>
              <a:ea typeface="Josefin Sans"/>
              <a:cs typeface="Josefin Sans"/>
              <a:sym typeface="Josefin Sans"/>
            </a:endParaRPr>
          </a:p>
        </p:txBody>
      </p:sp>
      <p:sp>
        <p:nvSpPr>
          <p:cNvPr id="214" name="Google Shape;214;g3d86e330eee_36_39"/>
          <p:cNvSpPr/>
          <p:nvPr/>
        </p:nvSpPr>
        <p:spPr>
          <a:xfrm>
            <a:off x="48463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Spread</a:t>
            </a:r>
            <a:endParaRPr sz="1000" b="0" i="0" u="none" strike="noStrike" cap="none">
              <a:solidFill>
                <a:schemeClr val="dk1"/>
              </a:solidFill>
              <a:latin typeface="Calibri"/>
              <a:ea typeface="Calibri"/>
              <a:cs typeface="Calibri"/>
              <a:sym typeface="Calibri"/>
            </a:endParaRPr>
          </a:p>
        </p:txBody>
      </p:sp>
      <p:sp>
        <p:nvSpPr>
          <p:cNvPr id="215" name="Google Shape;215;g3d86e330eee_36_39"/>
          <p:cNvSpPr/>
          <p:nvPr/>
        </p:nvSpPr>
        <p:spPr>
          <a:xfrm>
            <a:off x="69037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g3d86e330eee_36_39"/>
          <p:cNvSpPr/>
          <p:nvPr/>
        </p:nvSpPr>
        <p:spPr>
          <a:xfrm>
            <a:off x="6903858"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Josefin Sans"/>
                <a:ea typeface="Josefin Sans"/>
                <a:cs typeface="Josefin Sans"/>
                <a:sym typeface="Josefin Sans"/>
              </a:rPr>
              <a:t>-0.000141</a:t>
            </a:r>
            <a:endParaRPr sz="2800" b="1" i="0" u="none" strike="noStrike" cap="none">
              <a:solidFill>
                <a:srgbClr val="2B6CB0"/>
              </a:solidFill>
              <a:latin typeface="Josefin Sans"/>
              <a:ea typeface="Josefin Sans"/>
              <a:cs typeface="Josefin Sans"/>
              <a:sym typeface="Josefin Sans"/>
            </a:endParaRPr>
          </a:p>
        </p:txBody>
      </p:sp>
      <p:sp>
        <p:nvSpPr>
          <p:cNvPr id="217" name="Google Shape;217;g3d86e330eee_36_39"/>
          <p:cNvSpPr/>
          <p:nvPr/>
        </p:nvSpPr>
        <p:spPr>
          <a:xfrm>
            <a:off x="69037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Constant</a:t>
            </a:r>
            <a:endParaRPr sz="1000" b="0" i="0" u="none" strike="noStrike" cap="none">
              <a:solidFill>
                <a:schemeClr val="dk1"/>
              </a:solidFill>
              <a:latin typeface="Calibri"/>
              <a:ea typeface="Calibri"/>
              <a:cs typeface="Calibri"/>
              <a:sym typeface="Calibri"/>
            </a:endParaRPr>
          </a:p>
        </p:txBody>
      </p:sp>
      <p:cxnSp>
        <p:nvCxnSpPr>
          <p:cNvPr id="218" name="Google Shape;218;g3d86e330eee_36_39"/>
          <p:cNvCxnSpPr/>
          <p:nvPr/>
        </p:nvCxnSpPr>
        <p:spPr>
          <a:xfrm>
            <a:off x="4590725" y="1336347"/>
            <a:ext cx="8400" cy="2560200"/>
          </a:xfrm>
          <a:prstGeom prst="straightConnector1">
            <a:avLst/>
          </a:prstGeom>
          <a:noFill/>
          <a:ln w="19050" cap="flat" cmpd="sng">
            <a:solidFill>
              <a:schemeClr val="accent3"/>
            </a:solidFill>
            <a:prstDash val="solid"/>
            <a:round/>
            <a:headEnd type="none" w="sm" len="sm"/>
            <a:tailEnd type="none" w="sm" len="sm"/>
          </a:ln>
        </p:spPr>
      </p:cxnSp>
      <p:sp>
        <p:nvSpPr>
          <p:cNvPr id="219" name="Google Shape;219;g3d86e330eee_36_39"/>
          <p:cNvSpPr/>
          <p:nvPr/>
        </p:nvSpPr>
        <p:spPr>
          <a:xfrm>
            <a:off x="388635" y="4101537"/>
            <a:ext cx="8412600" cy="621900"/>
          </a:xfrm>
          <a:prstGeom prst="rect">
            <a:avLst/>
          </a:prstGeom>
          <a:solidFill>
            <a:srgbClr val="0C1A35"/>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d86e330eee_36_39"/>
          <p:cNvSpPr/>
          <p:nvPr/>
        </p:nvSpPr>
        <p:spPr>
          <a:xfrm>
            <a:off x="388625" y="4101525"/>
            <a:ext cx="8412600" cy="6219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d86e330eee_36_39"/>
          <p:cNvSpPr/>
          <p:nvPr/>
        </p:nvSpPr>
        <p:spPr>
          <a:xfrm>
            <a:off x="525795" y="4223158"/>
            <a:ext cx="81381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400"/>
              <a:buFont typeface="Courier New"/>
              <a:buNone/>
            </a:pPr>
            <a:r>
              <a:rPr lang="en-US" sz="1400" b="0" i="0" u="none" strike="noStrike" cap="none" dirty="0">
                <a:solidFill>
                  <a:srgbClr val="E8A020"/>
                </a:solidFill>
                <a:latin typeface="Courier New"/>
                <a:ea typeface="Courier New"/>
                <a:cs typeface="Courier New"/>
                <a:sym typeface="Courier New"/>
              </a:rPr>
              <a:t>Equation: ŷ = </a:t>
            </a:r>
            <a:r>
              <a:rPr lang="en-US" dirty="0">
                <a:solidFill>
                  <a:srgbClr val="E8A020"/>
                </a:solidFill>
                <a:latin typeface="Courier New"/>
                <a:ea typeface="Courier New"/>
                <a:cs typeface="Courier New"/>
                <a:sym typeface="Courier New"/>
              </a:rPr>
              <a:t>0.00937428</a:t>
            </a:r>
            <a:r>
              <a:rPr lang="en-US" sz="1400" b="0" i="0" u="none" strike="noStrike" cap="none" dirty="0">
                <a:solidFill>
                  <a:srgbClr val="E8A020"/>
                </a:solidFill>
                <a:latin typeface="Courier New"/>
                <a:ea typeface="Courier New"/>
                <a:cs typeface="Courier New"/>
                <a:sym typeface="Courier New"/>
              </a:rPr>
              <a:t>* (</a:t>
            </a:r>
            <a:r>
              <a:rPr lang="en-US" sz="1400" b="0" i="0" u="none" strike="noStrike" cap="none" dirty="0" err="1">
                <a:solidFill>
                  <a:srgbClr val="E8A020"/>
                </a:solidFill>
                <a:latin typeface="Courier New"/>
                <a:ea typeface="Courier New"/>
                <a:cs typeface="Courier New"/>
                <a:sym typeface="Courier New"/>
              </a:rPr>
              <a:t>oil_return</a:t>
            </a:r>
            <a:r>
              <a:rPr lang="en-US" sz="1400" b="0" i="0" u="none" strike="noStrike" cap="none" dirty="0">
                <a:solidFill>
                  <a:srgbClr val="E8A020"/>
                </a:solidFill>
                <a:latin typeface="Courier New"/>
                <a:ea typeface="Courier New"/>
                <a:cs typeface="Courier New"/>
                <a:sym typeface="Courier New"/>
              </a:rPr>
              <a:t>) + 0.00025108 * (</a:t>
            </a:r>
            <a:r>
              <a:rPr lang="en-US" sz="1400" b="0" i="0" u="none" strike="noStrike" cap="none" dirty="0" err="1">
                <a:solidFill>
                  <a:srgbClr val="E8A020"/>
                </a:solidFill>
                <a:latin typeface="Courier New"/>
                <a:ea typeface="Courier New"/>
                <a:cs typeface="Courier New"/>
                <a:sym typeface="Courier New"/>
              </a:rPr>
              <a:t>delta_vix</a:t>
            </a:r>
            <a:r>
              <a:rPr lang="en-US" sz="1400" b="0" i="0" u="none" strike="noStrike" cap="none" dirty="0">
                <a:solidFill>
                  <a:srgbClr val="E8A020"/>
                </a:solidFill>
                <a:latin typeface="Courier New"/>
                <a:ea typeface="Courier New"/>
                <a:cs typeface="Courier New"/>
                <a:sym typeface="Courier New"/>
              </a:rPr>
              <a:t>) + 0.00160883* (</a:t>
            </a:r>
            <a:r>
              <a:rPr lang="en-US" sz="1400" b="0" i="0" u="none" strike="noStrike" cap="none" dirty="0" err="1">
                <a:solidFill>
                  <a:srgbClr val="E8A020"/>
                </a:solidFill>
                <a:latin typeface="Courier New"/>
                <a:ea typeface="Courier New"/>
                <a:cs typeface="Courier New"/>
                <a:sym typeface="Courier New"/>
              </a:rPr>
              <a:t>delta_spread</a:t>
            </a:r>
            <a:r>
              <a:rPr lang="en-US" sz="1400" b="0" i="0" u="none" strike="noStrike" cap="none" dirty="0">
                <a:solidFill>
                  <a:srgbClr val="E8A020"/>
                </a:solidFill>
                <a:latin typeface="Courier New"/>
                <a:ea typeface="Courier New"/>
                <a:cs typeface="Courier New"/>
                <a:sym typeface="Courier New"/>
              </a:rPr>
              <a:t>) - 0.00013946</a:t>
            </a:r>
            <a:endParaRPr sz="1400" b="0" i="0" u="none" strike="noStrike" cap="none" dirty="0">
              <a:solidFill>
                <a:srgbClr val="E8A020"/>
              </a:solidFill>
              <a:latin typeface="Courier New"/>
              <a:ea typeface="Courier New"/>
              <a:cs typeface="Courier New"/>
              <a:sym typeface="Courier New"/>
            </a:endParaRPr>
          </a:p>
          <a:p>
            <a:pPr marL="0" marR="0" lvl="0" indent="0" algn="ctr" rtl="0">
              <a:lnSpc>
                <a:spcPct val="100000"/>
              </a:lnSpc>
              <a:spcBef>
                <a:spcPts val="0"/>
              </a:spcBef>
              <a:spcAft>
                <a:spcPts val="0"/>
              </a:spcAft>
              <a:buClr>
                <a:srgbClr val="E8A020"/>
              </a:buClr>
              <a:buSzPts val="1400"/>
              <a:buFont typeface="Courier New"/>
              <a:buNone/>
            </a:pPr>
            <a:endParaRPr sz="1400" b="0" i="0" u="none" strike="noStrike" cap="none" dirty="0">
              <a:solidFill>
                <a:srgbClr val="E8A020"/>
              </a:solidFill>
              <a:latin typeface="Courier New"/>
              <a:ea typeface="Courier New"/>
              <a:cs typeface="Courier New"/>
              <a:sym typeface="Courier New"/>
            </a:endParaRPr>
          </a:p>
        </p:txBody>
      </p:sp>
      <p:sp>
        <p:nvSpPr>
          <p:cNvPr id="222" name="Google Shape;222;g3d86e330eee_36_39"/>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8D37A56-979B-B554-0A74-8F3D16D98EDB}"/>
              </a:ext>
            </a:extLst>
          </p:cNvPr>
          <p:cNvSpPr txBox="1"/>
          <p:nvPr/>
        </p:nvSpPr>
        <p:spPr>
          <a:xfrm>
            <a:off x="365750" y="4853883"/>
            <a:ext cx="8503242" cy="292388"/>
          </a:xfrm>
          <a:prstGeom prst="rect">
            <a:avLst/>
          </a:prstGeom>
          <a:noFill/>
        </p:spPr>
        <p:txBody>
          <a:bodyPr wrap="square" rtlCol="0">
            <a:spAutoFit/>
          </a:bodyPr>
          <a:lstStyle/>
          <a:p>
            <a:r>
              <a:rPr lang="en-US" sz="1300" dirty="0">
                <a:latin typeface="Calibri" panose="020F0502020204030204" pitchFamily="34" charset="0"/>
                <a:ea typeface="Calibri" panose="020F0502020204030204" pitchFamily="34" charset="0"/>
                <a:cs typeface="Calibri" panose="020F0502020204030204" pitchFamily="34" charset="0"/>
              </a:rPr>
              <a:t>*Note: Coefficients in the boxes are standardized coefficients – these are NOT the original unit-coefficients (see footnote).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DD54F648-2AE1-7063-F9B7-01B5DA5917BF}"/>
            </a:ext>
          </a:extLst>
        </p:cNvPr>
        <p:cNvGrpSpPr/>
        <p:nvPr/>
      </p:nvGrpSpPr>
      <p:grpSpPr>
        <a:xfrm>
          <a:off x="0" y="0"/>
          <a:ext cx="0" cy="0"/>
          <a:chOff x="0" y="0"/>
          <a:chExt cx="0" cy="0"/>
        </a:xfrm>
      </p:grpSpPr>
      <p:sp>
        <p:nvSpPr>
          <p:cNvPr id="244" name="Google Shape;244;p14">
            <a:extLst>
              <a:ext uri="{FF2B5EF4-FFF2-40B4-BE49-F238E27FC236}">
                <a16:creationId xmlns:a16="http://schemas.microsoft.com/office/drawing/2014/main" id="{B53C8959-CDD8-54C6-0E0E-6A188DCB970A}"/>
              </a:ext>
            </a:extLst>
          </p:cNvPr>
          <p:cNvSpPr/>
          <p:nvPr/>
        </p:nvSpPr>
        <p:spPr>
          <a:xfrm>
            <a:off x="365700" y="4744427"/>
            <a:ext cx="8412600" cy="2742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4">
            <a:extLst>
              <a:ext uri="{FF2B5EF4-FFF2-40B4-BE49-F238E27FC236}">
                <a16:creationId xmlns:a16="http://schemas.microsoft.com/office/drawing/2014/main" id="{78CBADAB-911D-55C1-BE75-D3ED7A50E8B4}"/>
              </a:ext>
            </a:extLst>
          </p:cNvPr>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4">
            <a:extLst>
              <a:ext uri="{FF2B5EF4-FFF2-40B4-BE49-F238E27FC236}">
                <a16:creationId xmlns:a16="http://schemas.microsoft.com/office/drawing/2014/main" id="{5E0DE62C-4C1F-4556-EF81-5F7DFBE93E4B}"/>
              </a:ext>
            </a:extLst>
          </p:cNvPr>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dirty="0">
                <a:solidFill>
                  <a:srgbClr val="FFFFFF"/>
                </a:solidFill>
                <a:latin typeface="Calibri"/>
                <a:ea typeface="Calibri"/>
                <a:cs typeface="Calibri"/>
                <a:sym typeface="Calibri"/>
              </a:rPr>
              <a:t>MODEL 3 – Ridge 3 Factor Model</a:t>
            </a:r>
            <a:endParaRPr sz="1050" b="0" i="0" u="none" strike="noStrike" cap="none" dirty="0">
              <a:solidFill>
                <a:schemeClr val="dk1"/>
              </a:solidFill>
              <a:latin typeface="Calibri"/>
              <a:ea typeface="Calibri"/>
              <a:cs typeface="Calibri"/>
              <a:sym typeface="Calibri"/>
            </a:endParaRPr>
          </a:p>
        </p:txBody>
      </p:sp>
      <p:sp>
        <p:nvSpPr>
          <p:cNvPr id="247" name="Google Shape;247;p14">
            <a:extLst>
              <a:ext uri="{FF2B5EF4-FFF2-40B4-BE49-F238E27FC236}">
                <a16:creationId xmlns:a16="http://schemas.microsoft.com/office/drawing/2014/main" id="{A3F21FE5-EADD-1E71-2418-7B29EAAC56C5}"/>
              </a:ext>
            </a:extLst>
          </p:cNvPr>
          <p:cNvSpPr/>
          <p:nvPr/>
        </p:nvSpPr>
        <p:spPr>
          <a:xfrm>
            <a:off x="457200" y="502925"/>
            <a:ext cx="570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Model 3 Analysis</a:t>
            </a:r>
            <a:endParaRPr sz="3000" b="0" i="0" u="none" strike="noStrike" cap="none" dirty="0">
              <a:solidFill>
                <a:schemeClr val="dk1"/>
              </a:solidFill>
              <a:latin typeface="Calibri"/>
              <a:ea typeface="Calibri"/>
              <a:cs typeface="Calibri"/>
              <a:sym typeface="Calibri"/>
            </a:endParaRPr>
          </a:p>
        </p:txBody>
      </p:sp>
      <p:sp>
        <p:nvSpPr>
          <p:cNvPr id="248" name="Google Shape;248;p14">
            <a:extLst>
              <a:ext uri="{FF2B5EF4-FFF2-40B4-BE49-F238E27FC236}">
                <a16:creationId xmlns:a16="http://schemas.microsoft.com/office/drawing/2014/main" id="{112E3877-9867-E231-0852-09A241FFFBC5}"/>
              </a:ext>
            </a:extLst>
          </p:cNvPr>
          <p:cNvSpPr/>
          <p:nvPr/>
        </p:nvSpPr>
        <p:spPr>
          <a:xfrm>
            <a:off x="369275" y="2106413"/>
            <a:ext cx="4005000" cy="256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4">
            <a:extLst>
              <a:ext uri="{FF2B5EF4-FFF2-40B4-BE49-F238E27FC236}">
                <a16:creationId xmlns:a16="http://schemas.microsoft.com/office/drawing/2014/main" id="{8FDF885D-5BAF-7627-3DDB-EE0F9D9D8052}"/>
              </a:ext>
            </a:extLst>
          </p:cNvPr>
          <p:cNvSpPr/>
          <p:nvPr/>
        </p:nvSpPr>
        <p:spPr>
          <a:xfrm>
            <a:off x="369275" y="2106413"/>
            <a:ext cx="91500" cy="2562000"/>
          </a:xfrm>
          <a:prstGeom prst="rect">
            <a:avLst/>
          </a:prstGeom>
          <a:solidFill>
            <a:schemeClr val="dk2"/>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4">
            <a:extLst>
              <a:ext uri="{FF2B5EF4-FFF2-40B4-BE49-F238E27FC236}">
                <a16:creationId xmlns:a16="http://schemas.microsoft.com/office/drawing/2014/main" id="{C35DB035-6065-9558-504D-644050C0DE86}"/>
              </a:ext>
            </a:extLst>
          </p:cNvPr>
          <p:cNvSpPr/>
          <p:nvPr/>
        </p:nvSpPr>
        <p:spPr>
          <a:xfrm>
            <a:off x="597890" y="2170399"/>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50"/>
              <a:buFont typeface="Calibri"/>
              <a:buNone/>
            </a:pPr>
            <a:r>
              <a:rPr lang="en-US" sz="1250" b="1" i="0" u="none" strike="noStrike" cap="none">
                <a:solidFill>
                  <a:srgbClr val="0F766E"/>
                </a:solidFill>
                <a:latin typeface="Calibri"/>
                <a:ea typeface="Calibri"/>
                <a:cs typeface="Calibri"/>
                <a:sym typeface="Calibri"/>
              </a:rPr>
              <a:t>What Improved</a:t>
            </a:r>
            <a:endParaRPr sz="1250" b="0" i="0" u="none" strike="noStrike" cap="none">
              <a:solidFill>
                <a:schemeClr val="dk1"/>
              </a:solidFill>
              <a:latin typeface="Calibri"/>
              <a:ea typeface="Calibri"/>
              <a:cs typeface="Calibri"/>
              <a:sym typeface="Calibri"/>
            </a:endParaRPr>
          </a:p>
        </p:txBody>
      </p:sp>
      <p:sp>
        <p:nvSpPr>
          <p:cNvPr id="251" name="Google Shape;251;p14">
            <a:extLst>
              <a:ext uri="{FF2B5EF4-FFF2-40B4-BE49-F238E27FC236}">
                <a16:creationId xmlns:a16="http://schemas.microsoft.com/office/drawing/2014/main" id="{9238A363-7F00-80E9-FE37-C5C3AC22F76D}"/>
              </a:ext>
            </a:extLst>
          </p:cNvPr>
          <p:cNvSpPr/>
          <p:nvPr/>
        </p:nvSpPr>
        <p:spPr>
          <a:xfrm>
            <a:off x="552175" y="2486999"/>
            <a:ext cx="37491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Annualized Sharpe ratio: ~0.</a:t>
            </a:r>
            <a:r>
              <a:rPr lang="en-US" sz="1100" dirty="0">
                <a:solidFill>
                  <a:srgbClr val="1E293B"/>
                </a:solidFill>
                <a:latin typeface="Calibri"/>
                <a:ea typeface="Calibri"/>
                <a:cs typeface="Calibri"/>
                <a:sym typeface="Calibri"/>
              </a:rPr>
              <a:t>84</a:t>
            </a:r>
            <a:r>
              <a:rPr lang="en-US" sz="1100" b="0" i="0" u="none" strike="noStrike" cap="none" dirty="0">
                <a:solidFill>
                  <a:srgbClr val="1E293B"/>
                </a:solidFill>
                <a:latin typeface="Calibri"/>
                <a:ea typeface="Calibri"/>
                <a:cs typeface="Calibri"/>
                <a:sym typeface="Calibri"/>
              </a:rPr>
              <a:t> (model </a:t>
            </a:r>
            <a:r>
              <a:rPr lang="en-US" sz="1100" dirty="0">
                <a:solidFill>
                  <a:srgbClr val="1E293B"/>
                </a:solidFill>
                <a:latin typeface="Calibri"/>
                <a:ea typeface="Calibri"/>
                <a:cs typeface="Calibri"/>
                <a:sym typeface="Calibri"/>
              </a:rPr>
              <a:t>2</a:t>
            </a:r>
            <a:r>
              <a:rPr lang="en-US" sz="1100" b="0" i="0" u="none" strike="noStrike" cap="none" dirty="0">
                <a:solidFill>
                  <a:srgbClr val="1E293B"/>
                </a:solidFill>
                <a:latin typeface="Calibri"/>
                <a:ea typeface="Calibri"/>
                <a:cs typeface="Calibri"/>
                <a:sym typeface="Calibri"/>
              </a:rPr>
              <a:t>) vs 0</a:t>
            </a:r>
            <a:r>
              <a:rPr lang="en-US" sz="1100" dirty="0">
                <a:solidFill>
                  <a:srgbClr val="1E293B"/>
                </a:solidFill>
                <a:latin typeface="Calibri"/>
                <a:ea typeface="Calibri"/>
                <a:cs typeface="Calibri"/>
                <a:sym typeface="Calibri"/>
              </a:rPr>
              <a:t>.89 </a:t>
            </a:r>
            <a:r>
              <a:rPr lang="en-US" sz="1100" b="0" i="0" u="none" strike="noStrike" cap="none" dirty="0">
                <a:solidFill>
                  <a:srgbClr val="1E293B"/>
                </a:solidFill>
                <a:latin typeface="Calibri"/>
                <a:ea typeface="Calibri"/>
                <a:cs typeface="Calibri"/>
                <a:sym typeface="Calibri"/>
              </a:rPr>
              <a:t>(model 3)</a:t>
            </a:r>
          </a:p>
          <a:p>
            <a:pPr marL="342900" marR="0" lvl="0" indent="-342900" algn="l" rtl="0">
              <a:lnSpc>
                <a:spcPct val="95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Returns: 12.9% (model 2) vs 13.8% (model 3)</a:t>
            </a:r>
          </a:p>
          <a:p>
            <a:pPr marL="342900" marR="0" lvl="0" indent="-342900" algn="l" rtl="0">
              <a:lnSpc>
                <a:spcPct val="95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Penalty term to shrink correlated predictors – more stable</a:t>
            </a: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Test R-Squared: -0.0162 (model 2) vs -0.0149 (model 3)</a:t>
            </a:r>
          </a:p>
          <a:p>
            <a:pPr marL="342900" marR="0" lvl="0" indent="-342900" algn="l" rtl="0">
              <a:lnSpc>
                <a:spcPct val="95000"/>
              </a:lnSpc>
              <a:spcBef>
                <a:spcPts val="0"/>
              </a:spcBef>
              <a:spcAft>
                <a:spcPts val="0"/>
              </a:spcAft>
              <a:buClr>
                <a:srgbClr val="1E293B"/>
              </a:buClr>
              <a:buSzPts val="1100"/>
              <a:buFont typeface="Calibri"/>
              <a:buChar char="•"/>
            </a:pPr>
            <a:endParaRPr sz="1100" b="0" i="0" u="none" strike="noStrike" cap="none" dirty="0">
              <a:solidFill>
                <a:schemeClr val="dk1"/>
              </a:solidFill>
              <a:latin typeface="Calibri"/>
              <a:ea typeface="Calibri"/>
              <a:cs typeface="Calibri"/>
              <a:sym typeface="Calibri"/>
            </a:endParaRPr>
          </a:p>
        </p:txBody>
      </p:sp>
      <p:sp>
        <p:nvSpPr>
          <p:cNvPr id="252" name="Google Shape;252;p14">
            <a:extLst>
              <a:ext uri="{FF2B5EF4-FFF2-40B4-BE49-F238E27FC236}">
                <a16:creationId xmlns:a16="http://schemas.microsoft.com/office/drawing/2014/main" id="{806D9CFE-9C1C-E525-A5CF-14576D8F4D9F}"/>
              </a:ext>
            </a:extLst>
          </p:cNvPr>
          <p:cNvSpPr/>
          <p:nvPr/>
        </p:nvSpPr>
        <p:spPr>
          <a:xfrm>
            <a:off x="506320" y="3347174"/>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00"/>
              <a:buFont typeface="Calibri"/>
              <a:buNone/>
            </a:pPr>
            <a:r>
              <a:rPr lang="en-US" sz="1200" b="1" i="0" u="none" strike="noStrike" cap="none" dirty="0">
                <a:solidFill>
                  <a:srgbClr val="0F766E"/>
                </a:solidFill>
                <a:latin typeface="Calibri"/>
                <a:ea typeface="Calibri"/>
                <a:cs typeface="Calibri"/>
                <a:sym typeface="Calibri"/>
              </a:rPr>
              <a:t>Strategy vs Buy-and-Hold</a:t>
            </a:r>
            <a:endParaRPr sz="1200" b="0" i="0" u="none" strike="noStrike" cap="none" dirty="0">
              <a:solidFill>
                <a:schemeClr val="dk1"/>
              </a:solidFill>
              <a:latin typeface="Calibri"/>
              <a:ea typeface="Calibri"/>
              <a:cs typeface="Calibri"/>
              <a:sym typeface="Calibri"/>
            </a:endParaRPr>
          </a:p>
        </p:txBody>
      </p:sp>
      <p:sp>
        <p:nvSpPr>
          <p:cNvPr id="253" name="Google Shape;253;p14">
            <a:extLst>
              <a:ext uri="{FF2B5EF4-FFF2-40B4-BE49-F238E27FC236}">
                <a16:creationId xmlns:a16="http://schemas.microsoft.com/office/drawing/2014/main" id="{868559D8-CF1E-F3F2-0008-B20E439E278F}"/>
              </a:ext>
            </a:extLst>
          </p:cNvPr>
          <p:cNvSpPr/>
          <p:nvPr/>
        </p:nvSpPr>
        <p:spPr>
          <a:xfrm>
            <a:off x="552175" y="3706885"/>
            <a:ext cx="3749100" cy="846347"/>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Ridge 3-factor strategy ends at 1.138 × vs buy-and-hold at 1.09×</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Sep 2023: strategy protected capital when buy-and-hold crashed</a:t>
            </a:r>
            <a:endParaRPr sz="1100" b="0" i="0" u="none" strike="noStrike" cap="none" dirty="0">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Strategy consistently hovers at or above buy-and-hold</a:t>
            </a:r>
            <a:endParaRPr sz="1100" b="0" i="0" u="none" strike="noStrike" cap="none" dirty="0">
              <a:solidFill>
                <a:schemeClr val="dk1"/>
              </a:solidFill>
              <a:latin typeface="Calibri"/>
              <a:ea typeface="Calibri"/>
              <a:cs typeface="Calibri"/>
              <a:sym typeface="Calibri"/>
            </a:endParaRPr>
          </a:p>
        </p:txBody>
      </p:sp>
      <p:sp>
        <p:nvSpPr>
          <p:cNvPr id="258" name="Google Shape;258;p14">
            <a:extLst>
              <a:ext uri="{FF2B5EF4-FFF2-40B4-BE49-F238E27FC236}">
                <a16:creationId xmlns:a16="http://schemas.microsoft.com/office/drawing/2014/main" id="{768B0687-05EF-A981-3901-5A1368BB6AD9}"/>
              </a:ext>
            </a:extLst>
          </p:cNvPr>
          <p:cNvSpPr/>
          <p:nvPr/>
        </p:nvSpPr>
        <p:spPr>
          <a:xfrm>
            <a:off x="457190" y="4752329"/>
            <a:ext cx="8229600" cy="26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dirty="0">
                <a:solidFill>
                  <a:srgbClr val="475569"/>
                </a:solidFill>
                <a:latin typeface="Calibri"/>
                <a:ea typeface="Calibri"/>
                <a:cs typeface="Calibri"/>
                <a:sym typeface="Calibri"/>
              </a:rPr>
              <a:t>Lesson: </a:t>
            </a:r>
            <a:r>
              <a:rPr lang="en-US" sz="1000" i="1" dirty="0">
                <a:solidFill>
                  <a:srgbClr val="475569"/>
                </a:solidFill>
                <a:latin typeface="Calibri"/>
                <a:ea typeface="Calibri"/>
                <a:cs typeface="Calibri"/>
                <a:sym typeface="Calibri"/>
              </a:rPr>
              <a:t>ridge regression improved returns and Sharpe ratio by adding penalty terms to shrink correlated predictors and reduce the model's sensitivity to overlapping predictor information.</a:t>
            </a:r>
            <a:endParaRPr sz="1000" b="0" i="0" u="none" strike="noStrike" cap="none" dirty="0">
              <a:solidFill>
                <a:schemeClr val="dk1"/>
              </a:solidFill>
              <a:latin typeface="Calibri"/>
              <a:ea typeface="Calibri"/>
              <a:cs typeface="Calibri"/>
              <a:sym typeface="Calibri"/>
            </a:endParaRPr>
          </a:p>
        </p:txBody>
      </p:sp>
      <p:sp>
        <p:nvSpPr>
          <p:cNvPr id="259" name="Google Shape;259;p14">
            <a:extLst>
              <a:ext uri="{FF2B5EF4-FFF2-40B4-BE49-F238E27FC236}">
                <a16:creationId xmlns:a16="http://schemas.microsoft.com/office/drawing/2014/main" id="{FE019692-83CC-F8BF-C4DF-2FE44473800F}"/>
              </a:ext>
            </a:extLst>
          </p:cNvPr>
          <p:cNvSpPr/>
          <p:nvPr/>
        </p:nvSpPr>
        <p:spPr>
          <a:xfrm>
            <a:off x="365710" y="1339550"/>
            <a:ext cx="8412600" cy="6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14">
            <a:extLst>
              <a:ext uri="{FF2B5EF4-FFF2-40B4-BE49-F238E27FC236}">
                <a16:creationId xmlns:a16="http://schemas.microsoft.com/office/drawing/2014/main" id="{3F2C2ECC-30AD-E795-2683-E477B590FFC5}"/>
              </a:ext>
            </a:extLst>
          </p:cNvPr>
          <p:cNvSpPr txBox="1"/>
          <p:nvPr/>
        </p:nvSpPr>
        <p:spPr>
          <a:xfrm>
            <a:off x="415025" y="1447913"/>
            <a:ext cx="8412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E8A020"/>
              </a:buClr>
              <a:buSzPts val="1400"/>
              <a:buFont typeface="Courier New"/>
              <a:buNone/>
            </a:pPr>
            <a:r>
              <a:rPr lang="en-US" sz="1400" b="0" i="0" u="none" strike="noStrike" cap="none" dirty="0">
                <a:solidFill>
                  <a:srgbClr val="E8A020"/>
                </a:solidFill>
                <a:latin typeface="Courier New"/>
                <a:ea typeface="Courier New"/>
                <a:cs typeface="Courier New"/>
                <a:sym typeface="Courier New"/>
              </a:rPr>
              <a:t>EMB Return_t+1  =  α  +  β₁·</a:t>
            </a:r>
            <a:r>
              <a:rPr lang="en-US" sz="1400" b="0" i="0" u="none" strike="noStrike" cap="none" dirty="0" err="1">
                <a:solidFill>
                  <a:srgbClr val="E8A020"/>
                </a:solidFill>
                <a:latin typeface="Courier New"/>
                <a:ea typeface="Courier New"/>
                <a:cs typeface="Courier New"/>
                <a:sym typeface="Courier New"/>
              </a:rPr>
              <a:t>ΔVIX_t</a:t>
            </a:r>
            <a:r>
              <a:rPr lang="en-US" sz="1400" b="0" i="0" u="none" strike="noStrike" cap="none" dirty="0">
                <a:solidFill>
                  <a:srgbClr val="E8A020"/>
                </a:solidFill>
                <a:latin typeface="Courier New"/>
                <a:ea typeface="Courier New"/>
                <a:cs typeface="Courier New"/>
                <a:sym typeface="Courier New"/>
              </a:rPr>
              <a:t>  +  β₂·</a:t>
            </a:r>
            <a:r>
              <a:rPr lang="en-US" sz="1400" b="0" i="0" u="none" strike="noStrike" cap="none" dirty="0" err="1">
                <a:solidFill>
                  <a:srgbClr val="E8A020"/>
                </a:solidFill>
                <a:latin typeface="Courier New"/>
                <a:ea typeface="Courier New"/>
                <a:cs typeface="Courier New"/>
                <a:sym typeface="Courier New"/>
              </a:rPr>
              <a:t>ΔSpread_t</a:t>
            </a:r>
            <a:r>
              <a:rPr lang="en-US" sz="1400" b="0" i="0" u="none" strike="noStrike" cap="none" dirty="0">
                <a:solidFill>
                  <a:srgbClr val="E8A020"/>
                </a:solidFill>
                <a:latin typeface="Courier New"/>
                <a:ea typeface="Courier New"/>
                <a:cs typeface="Courier New"/>
                <a:sym typeface="Courier New"/>
              </a:rPr>
              <a:t>  +  β₃·</a:t>
            </a:r>
            <a:r>
              <a:rPr lang="en-US" sz="1400" b="0" i="0" u="none" strike="noStrike" cap="none" dirty="0" err="1">
                <a:solidFill>
                  <a:srgbClr val="E8A020"/>
                </a:solidFill>
                <a:latin typeface="Courier New"/>
                <a:ea typeface="Courier New"/>
                <a:cs typeface="Courier New"/>
                <a:sym typeface="Courier New"/>
              </a:rPr>
              <a:t>Oil_Return_t</a:t>
            </a:r>
            <a:r>
              <a:rPr lang="en-US" sz="1400" b="0" i="0" u="none" strike="noStrike" cap="none" dirty="0">
                <a:solidFill>
                  <a:srgbClr val="E8A020"/>
                </a:solidFill>
                <a:latin typeface="Courier New"/>
                <a:ea typeface="Courier New"/>
                <a:cs typeface="Courier New"/>
                <a:sym typeface="Courier New"/>
              </a:rPr>
              <a:t>  +  ε</a:t>
            </a:r>
            <a:endParaRPr sz="1400" b="0" i="0" u="none" strike="noStrike" cap="none" dirty="0">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1" name="Google Shape;261;p14">
            <a:extLst>
              <a:ext uri="{FF2B5EF4-FFF2-40B4-BE49-F238E27FC236}">
                <a16:creationId xmlns:a16="http://schemas.microsoft.com/office/drawing/2014/main" id="{AD650498-CC86-12A1-D3CC-9564FF0DD65F}"/>
              </a:ext>
            </a:extLst>
          </p:cNvPr>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23559F42-FD23-0C8F-8C69-0CCCF8B9DA20}"/>
              </a:ext>
            </a:extLst>
          </p:cNvPr>
          <p:cNvPicPr>
            <a:picLocks noChangeAspect="1"/>
          </p:cNvPicPr>
          <p:nvPr/>
        </p:nvPicPr>
        <p:blipFill>
          <a:blip r:embed="rId3"/>
          <a:stretch>
            <a:fillRect/>
          </a:stretch>
        </p:blipFill>
        <p:spPr>
          <a:xfrm>
            <a:off x="4465675" y="2170399"/>
            <a:ext cx="4607375" cy="2509158"/>
          </a:xfrm>
          <a:prstGeom prst="rect">
            <a:avLst/>
          </a:prstGeom>
        </p:spPr>
      </p:pic>
    </p:spTree>
    <p:extLst>
      <p:ext uri="{BB962C8B-B14F-4D97-AF65-F5344CB8AC3E}">
        <p14:creationId xmlns:p14="http://schemas.microsoft.com/office/powerpoint/2010/main" val="2646230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
        <p:cNvGrpSpPr/>
        <p:nvPr/>
      </p:nvGrpSpPr>
      <p:grpSpPr>
        <a:xfrm>
          <a:off x="0" y="0"/>
          <a:ext cx="0" cy="0"/>
          <a:chOff x="0" y="0"/>
          <a:chExt cx="0" cy="0"/>
        </a:xfrm>
      </p:grpSpPr>
      <p:sp>
        <p:nvSpPr>
          <p:cNvPr id="228" name="Google Shape;228;g3d86e330eee_36_74"/>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g3d86e330eee_36_74"/>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850"/>
              <a:buFont typeface="Calibri"/>
              <a:buNone/>
            </a:pPr>
            <a:r>
              <a:rPr lang="en-US" sz="1050" b="1" i="0" u="none" strike="noStrike" cap="none">
                <a:solidFill>
                  <a:schemeClr val="lt1"/>
                </a:solidFill>
                <a:latin typeface="Calibri"/>
                <a:ea typeface="Calibri"/>
                <a:cs typeface="Calibri"/>
                <a:sym typeface="Calibri"/>
              </a:rPr>
              <a:t>MODEL 2 - RESULTS</a:t>
            </a:r>
            <a:endParaRPr sz="1050" b="0" i="0" u="none" strike="noStrike" cap="none">
              <a:solidFill>
                <a:schemeClr val="dk1"/>
              </a:solidFill>
              <a:latin typeface="Calibri"/>
              <a:ea typeface="Calibri"/>
              <a:cs typeface="Calibri"/>
              <a:sym typeface="Calibri"/>
            </a:endParaRPr>
          </a:p>
        </p:txBody>
      </p:sp>
      <p:sp>
        <p:nvSpPr>
          <p:cNvPr id="230" name="Google Shape;230;g3d86e330eee_36_74"/>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2600" b="1" i="0" u="none" strike="noStrike" cap="none" dirty="0">
                <a:solidFill>
                  <a:srgbClr val="0C1A35"/>
                </a:solidFill>
                <a:latin typeface="Georgia"/>
                <a:ea typeface="Georgia"/>
                <a:cs typeface="Georgia"/>
                <a:sym typeface="Georgia"/>
              </a:rPr>
              <a:t>Ending returns comparing Models 1,2, and 3</a:t>
            </a:r>
            <a:endParaRPr sz="3000" b="1" i="0" u="none" strike="noStrike" cap="none" dirty="0">
              <a:solidFill>
                <a:srgbClr val="0C1A35"/>
              </a:solidFill>
              <a:latin typeface="Georgia"/>
              <a:ea typeface="Georgia"/>
              <a:cs typeface="Georgia"/>
              <a:sym typeface="Georgia"/>
            </a:endParaRPr>
          </a:p>
        </p:txBody>
      </p:sp>
      <p:sp>
        <p:nvSpPr>
          <p:cNvPr id="231" name="Google Shape;231;g3d86e330eee_36_74"/>
          <p:cNvSpPr/>
          <p:nvPr/>
        </p:nvSpPr>
        <p:spPr>
          <a:xfrm>
            <a:off x="457200" y="4975383"/>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g3d86e330eee_36_74"/>
          <p:cNvSpPr/>
          <p:nvPr/>
        </p:nvSpPr>
        <p:spPr>
          <a:xfrm>
            <a:off x="4941150" y="1820125"/>
            <a:ext cx="4082700" cy="2937706"/>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34" name="Google Shape;234;g3d86e330eee_36_74"/>
          <p:cNvSpPr/>
          <p:nvPr/>
        </p:nvSpPr>
        <p:spPr>
          <a:xfrm>
            <a:off x="4941150" y="1828759"/>
            <a:ext cx="70862" cy="2937705"/>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grpSp>
        <p:nvGrpSpPr>
          <p:cNvPr id="235" name="Google Shape;235;g3d86e330eee_36_74"/>
          <p:cNvGrpSpPr/>
          <p:nvPr/>
        </p:nvGrpSpPr>
        <p:grpSpPr>
          <a:xfrm>
            <a:off x="5124050" y="2015411"/>
            <a:ext cx="3661850" cy="2200103"/>
            <a:chOff x="548647" y="2192079"/>
            <a:chExt cx="3661850" cy="1151525"/>
          </a:xfrm>
        </p:grpSpPr>
        <p:sp>
          <p:nvSpPr>
            <p:cNvPr id="236" name="Google Shape;236;g3d86e330eee_36_74"/>
            <p:cNvSpPr/>
            <p:nvPr/>
          </p:nvSpPr>
          <p:spPr>
            <a:xfrm>
              <a:off x="548647" y="2192079"/>
              <a:ext cx="3657600" cy="42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450" b="1" i="0" u="none" strike="noStrike" cap="none" dirty="0">
                  <a:solidFill>
                    <a:srgbClr val="1A3F7A"/>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All strategies started off with $1. The following table shows how much we end up with at the end of the 30% testing data period. </a:t>
              </a:r>
              <a:endParaRPr sz="1450" b="1" i="0" u="none" strike="noStrike" cap="none" dirty="0">
                <a:solidFill>
                  <a:srgbClr val="1A3F7A"/>
                </a:solidFill>
                <a:latin typeface="Calibri"/>
                <a:ea typeface="Calibri"/>
                <a:cs typeface="Calibri"/>
                <a:sym typeface="Calibri"/>
              </a:endParaRPr>
            </a:p>
            <a:p>
              <a:pPr marL="0" marR="0" lvl="0" indent="0" algn="l" rtl="0">
                <a:lnSpc>
                  <a:spcPct val="100000"/>
                </a:lnSpc>
                <a:spcBef>
                  <a:spcPts val="0"/>
                </a:spcBef>
                <a:spcAft>
                  <a:spcPts val="0"/>
                </a:spcAft>
                <a:buClr>
                  <a:srgbClr val="1A3F7A"/>
                </a:buClr>
                <a:buSzPts val="1250"/>
                <a:buFont typeface="Calibri"/>
                <a:buNone/>
              </a:pPr>
              <a:endParaRPr sz="1450" b="1" i="0" u="none" strike="noStrike" cap="none" dirty="0">
                <a:solidFill>
                  <a:srgbClr val="1A3F7A"/>
                </a:solidFill>
                <a:latin typeface="Calibri"/>
                <a:ea typeface="Calibri"/>
                <a:cs typeface="Calibri"/>
                <a:sym typeface="Calibri"/>
              </a:endParaRPr>
            </a:p>
          </p:txBody>
        </p:sp>
        <p:sp>
          <p:nvSpPr>
            <p:cNvPr id="237" name="Google Shape;237;g3d86e330eee_36_74"/>
            <p:cNvSpPr/>
            <p:nvPr/>
          </p:nvSpPr>
          <p:spPr>
            <a:xfrm>
              <a:off x="552897" y="2575304"/>
              <a:ext cx="3657600" cy="768300"/>
            </a:xfrm>
            <a:prstGeom prst="rect">
              <a:avLst/>
            </a:prstGeom>
            <a:noFill/>
            <a:ln>
              <a:noFill/>
            </a:ln>
          </p:spPr>
          <p:txBody>
            <a:bodyPr spcFirstLastPara="1" wrap="square" lIns="25400" tIns="50800" rIns="0" bIns="0" anchor="t" anchorCtr="0">
              <a:noAutofit/>
            </a:bodyPr>
            <a:lstStyle/>
            <a:p>
              <a:pPr marL="457200" marR="0" lvl="0" indent="-311150" algn="l" rtl="0">
                <a:lnSpc>
                  <a:spcPct val="100000"/>
                </a:lnSpc>
                <a:spcBef>
                  <a:spcPts val="5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1 factor model (</a:t>
              </a:r>
              <a:r>
                <a:rPr lang="en-US" sz="1300" b="0" i="0" u="none" strike="noStrike" cap="none" dirty="0" err="1">
                  <a:solidFill>
                    <a:srgbClr val="1E293B"/>
                  </a:solidFill>
                  <a:latin typeface="Calibri"/>
                  <a:ea typeface="Calibri"/>
                  <a:cs typeface="Calibri"/>
                  <a:sym typeface="Calibri"/>
                </a:rPr>
                <a:t>delta_vix</a:t>
              </a:r>
              <a:r>
                <a:rPr lang="en-US" sz="1300" b="0" i="0" u="none" strike="noStrike" cap="none" dirty="0">
                  <a:solidFill>
                    <a:srgbClr val="1E293B"/>
                  </a:solidFill>
                  <a:latin typeface="Calibri"/>
                  <a:ea typeface="Calibri"/>
                  <a:cs typeface="Calibri"/>
                  <a:sym typeface="Calibri"/>
                </a:rPr>
                <a:t> only) → Portfolio value  ≈ 1.027 → 2.7% return</a:t>
              </a:r>
            </a:p>
            <a:p>
              <a:pPr marL="457200" lvl="0" indent="-311150">
                <a:spcBef>
                  <a:spcPts val="500"/>
                </a:spcBef>
                <a:buClr>
                  <a:srgbClr val="1E293B"/>
                </a:buClr>
                <a:buSzPts val="1300"/>
                <a:buFont typeface="Calibri"/>
                <a:buChar char="●"/>
              </a:pPr>
              <a:r>
                <a:rPr lang="en-US" sz="1300" dirty="0">
                  <a:solidFill>
                    <a:srgbClr val="1E293B"/>
                  </a:solidFill>
                  <a:latin typeface="Calibri"/>
                  <a:ea typeface="Calibri"/>
                  <a:cs typeface="Calibri"/>
                  <a:sym typeface="Calibri"/>
                </a:rPr>
                <a:t>3 factor model (no ridge) </a:t>
              </a:r>
              <a:r>
                <a:rPr lang="en-US" sz="1300" dirty="0">
                  <a:solidFill>
                    <a:srgbClr val="1E293B"/>
                  </a:solidFill>
                  <a:latin typeface="Calibri"/>
                  <a:ea typeface="Calibri"/>
                  <a:cs typeface="Calibri"/>
                  <a:sym typeface="Wingdings" panose="05000000000000000000" pitchFamily="2" charset="2"/>
                </a:rPr>
                <a:t> </a:t>
              </a:r>
              <a:r>
                <a:rPr lang="en-US" sz="1300" dirty="0">
                  <a:solidFill>
                    <a:srgbClr val="1E293B"/>
                  </a:solidFill>
                  <a:latin typeface="Calibri"/>
                  <a:ea typeface="Calibri"/>
                  <a:cs typeface="Calibri"/>
                  <a:sym typeface="Calibri"/>
                </a:rPr>
                <a:t>Portfolio value ≈ 1.129→ 12.9% return</a:t>
              </a:r>
              <a:endParaRPr sz="1300" b="0" i="0" u="none" strike="noStrike" cap="none" dirty="0">
                <a:solidFill>
                  <a:srgbClr val="1E293B"/>
                </a:solidFill>
                <a:latin typeface="Calibri"/>
                <a:ea typeface="Calibri"/>
                <a:cs typeface="Calibri"/>
                <a:sym typeface="Calibri"/>
              </a:endParaRPr>
            </a:p>
            <a:p>
              <a:pPr marL="457200" marR="0" lvl="0" indent="-311150" algn="l" rtl="0">
                <a:lnSpc>
                  <a:spcPct val="100000"/>
                </a:lnSpc>
                <a:spcBef>
                  <a:spcPts val="1000"/>
                </a:spcBef>
                <a:spcAft>
                  <a:spcPts val="0"/>
                </a:spcAft>
                <a:buClr>
                  <a:srgbClr val="1E293B"/>
                </a:buClr>
                <a:buSzPts val="1300"/>
                <a:buFont typeface="Calibri"/>
                <a:buChar char="●"/>
              </a:pPr>
              <a:r>
                <a:rPr lang="en-US" sz="1300" b="0" i="0" u="none" strike="noStrike" cap="none" dirty="0">
                  <a:solidFill>
                    <a:srgbClr val="1E293B"/>
                  </a:solidFill>
                  <a:highlight>
                    <a:srgbClr val="FFFF00"/>
                  </a:highlight>
                  <a:latin typeface="Calibri"/>
                  <a:ea typeface="Calibri"/>
                  <a:cs typeface="Calibri"/>
                  <a:sym typeface="Calibri"/>
                </a:rPr>
                <a:t>3 factor model (ridge) → Portfolio value ≈ 1.138 → 13.8% return</a:t>
              </a:r>
              <a:endParaRPr sz="1300" b="0" i="0" u="none" strike="noStrike" cap="none" dirty="0">
                <a:solidFill>
                  <a:srgbClr val="1E293B"/>
                </a:solidFill>
                <a:highlight>
                  <a:srgbClr val="FFFF00"/>
                </a:highlight>
                <a:latin typeface="Calibri"/>
                <a:ea typeface="Calibri"/>
                <a:cs typeface="Calibri"/>
                <a:sym typeface="Calibri"/>
              </a:endParaRPr>
            </a:p>
            <a:p>
              <a:pPr marL="457200" marR="0" lvl="0" indent="-311150" algn="l" rtl="0">
                <a:lnSpc>
                  <a:spcPct val="100000"/>
                </a:lnSpc>
                <a:spcBef>
                  <a:spcPts val="1000"/>
                </a:spcBef>
                <a:spcAft>
                  <a:spcPts val="0"/>
                </a:spcAft>
                <a:buClr>
                  <a:srgbClr val="1E293B"/>
                </a:buClr>
                <a:buSzPts val="1300"/>
                <a:buFont typeface="Calibri"/>
                <a:buChar char="●"/>
              </a:pPr>
              <a:r>
                <a:rPr lang="en-US" sz="1300" b="0" i="0" u="none" strike="noStrike" cap="none" dirty="0">
                  <a:solidFill>
                    <a:srgbClr val="1E293B"/>
                  </a:solidFill>
                  <a:latin typeface="Calibri"/>
                  <a:ea typeface="Calibri"/>
                  <a:cs typeface="Calibri"/>
                  <a:sym typeface="Calibri"/>
                </a:rPr>
                <a:t>Buy &amp; Hold strategy → Portfolio value ≈ 1.09 → 9.0% return</a:t>
              </a:r>
              <a:endParaRPr sz="1300" b="0" i="0" u="none" strike="noStrike" cap="none" dirty="0">
                <a:solidFill>
                  <a:srgbClr val="1E293B"/>
                </a:solidFill>
                <a:latin typeface="Calibri"/>
                <a:ea typeface="Calibri"/>
                <a:cs typeface="Calibri"/>
                <a:sym typeface="Calibri"/>
              </a:endParaRPr>
            </a:p>
            <a:p>
              <a:pPr marL="0" marR="0" lvl="0" indent="0" algn="l" rtl="0">
                <a:lnSpc>
                  <a:spcPct val="100000"/>
                </a:lnSpc>
                <a:spcBef>
                  <a:spcPts val="1000"/>
                </a:spcBef>
                <a:spcAft>
                  <a:spcPts val="1000"/>
                </a:spcAft>
                <a:buClr>
                  <a:srgbClr val="000000"/>
                </a:buClr>
                <a:buSzPts val="1300"/>
                <a:buFont typeface="Arial"/>
                <a:buNone/>
              </a:pPr>
              <a:endParaRPr sz="1300" b="0" i="0" u="none" strike="noStrike" cap="none" dirty="0">
                <a:solidFill>
                  <a:srgbClr val="1E293B"/>
                </a:solidFill>
                <a:latin typeface="Calibri"/>
                <a:ea typeface="Calibri"/>
                <a:cs typeface="Calibri"/>
                <a:sym typeface="Calibri"/>
              </a:endParaRPr>
            </a:p>
          </p:txBody>
        </p:sp>
      </p:grpSp>
      <p:sp>
        <p:nvSpPr>
          <p:cNvPr id="238" name="Google Shape;238;g3d86e330eee_36_7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Picture 6" descr="The image displays a table with dates and corresponding values for cumulative returns of Vix, Vix Full, Vix Ridge Robust, and Buy-Hold strategies.&#10;&#10;AI-generated content may be incorrect.">
            <a:extLst>
              <a:ext uri="{FF2B5EF4-FFF2-40B4-BE49-F238E27FC236}">
                <a16:creationId xmlns:a16="http://schemas.microsoft.com/office/drawing/2014/main" id="{99292005-9860-C053-93FE-044FF50AD97E}"/>
              </a:ext>
            </a:extLst>
          </p:cNvPr>
          <p:cNvPicPr>
            <a:picLocks noChangeAspect="1"/>
          </p:cNvPicPr>
          <p:nvPr/>
        </p:nvPicPr>
        <p:blipFill>
          <a:blip r:embed="rId3"/>
          <a:stretch>
            <a:fillRect/>
          </a:stretch>
        </p:blipFill>
        <p:spPr>
          <a:xfrm>
            <a:off x="222589" y="1828758"/>
            <a:ext cx="4476361" cy="281182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1"/>
        <p:cNvGrpSpPr/>
        <p:nvPr/>
      </p:nvGrpSpPr>
      <p:grpSpPr>
        <a:xfrm>
          <a:off x="0" y="0"/>
          <a:ext cx="0" cy="0"/>
          <a:chOff x="0" y="0"/>
          <a:chExt cx="0" cy="0"/>
        </a:xfrm>
      </p:grpSpPr>
      <p:sp>
        <p:nvSpPr>
          <p:cNvPr id="572" name="Google Shape;572;p15"/>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15"/>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COMPARISON</a:t>
            </a:r>
            <a:endParaRPr sz="1050" b="0" i="0" u="none" strike="noStrike" cap="none">
              <a:solidFill>
                <a:schemeClr val="dk1"/>
              </a:solidFill>
              <a:latin typeface="Calibri"/>
              <a:ea typeface="Calibri"/>
              <a:cs typeface="Calibri"/>
              <a:sym typeface="Calibri"/>
            </a:endParaRPr>
          </a:p>
        </p:txBody>
      </p:sp>
      <p:sp>
        <p:nvSpPr>
          <p:cNvPr id="574" name="Google Shape;574;p15"/>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dirty="0">
                <a:solidFill>
                  <a:srgbClr val="0C1A35"/>
                </a:solidFill>
                <a:latin typeface="Georgia"/>
                <a:ea typeface="Georgia"/>
                <a:cs typeface="Georgia"/>
                <a:sym typeface="Georgia"/>
              </a:rPr>
              <a:t>Overview of the Three Models</a:t>
            </a:r>
            <a:endParaRPr sz="3000" b="0" i="0" u="none" strike="noStrike" cap="none" dirty="0">
              <a:solidFill>
                <a:schemeClr val="dk1"/>
              </a:solidFill>
              <a:latin typeface="Calibri"/>
              <a:ea typeface="Calibri"/>
              <a:cs typeface="Calibri"/>
              <a:sym typeface="Calibri"/>
            </a:endParaRPr>
          </a:p>
        </p:txBody>
      </p:sp>
      <p:sp>
        <p:nvSpPr>
          <p:cNvPr id="575" name="Google Shape;575;p15"/>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15"/>
          <p:cNvSpPr/>
          <p:nvPr/>
        </p:nvSpPr>
        <p:spPr>
          <a:xfrm>
            <a:off x="1377896" y="1353300"/>
            <a:ext cx="2349900" cy="567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15"/>
          <p:cNvSpPr/>
          <p:nvPr/>
        </p:nvSpPr>
        <p:spPr>
          <a:xfrm>
            <a:off x="1377896"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Model 1</a:t>
            </a:r>
            <a:endParaRPr sz="1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OLS (1-factor)</a:t>
            </a:r>
            <a:endParaRPr sz="1200" b="0" i="0" u="none" strike="noStrike" cap="none">
              <a:solidFill>
                <a:schemeClr val="dk1"/>
              </a:solidFill>
              <a:latin typeface="Calibri"/>
              <a:ea typeface="Calibri"/>
              <a:cs typeface="Calibri"/>
              <a:sym typeface="Calibri"/>
            </a:endParaRPr>
          </a:p>
        </p:txBody>
      </p:sp>
      <p:sp>
        <p:nvSpPr>
          <p:cNvPr id="580" name="Google Shape;580;p15"/>
          <p:cNvSpPr/>
          <p:nvPr/>
        </p:nvSpPr>
        <p:spPr>
          <a:xfrm>
            <a:off x="3955892" y="1353300"/>
            <a:ext cx="2349900" cy="5670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15"/>
          <p:cNvSpPr/>
          <p:nvPr/>
        </p:nvSpPr>
        <p:spPr>
          <a:xfrm>
            <a:off x="3955892"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Model 2</a:t>
            </a:r>
            <a:endParaRPr sz="12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OLS (3-factor </a:t>
            </a:r>
            <a:r>
              <a:rPr lang="en-US" sz="1200" b="1" dirty="0">
                <a:solidFill>
                  <a:srgbClr val="FFFFFF"/>
                </a:solidFill>
                <a:latin typeface="Calibri"/>
                <a:ea typeface="Calibri"/>
                <a:cs typeface="Calibri"/>
                <a:sym typeface="Calibri"/>
              </a:rPr>
              <a:t>No Ri</a:t>
            </a:r>
            <a:r>
              <a:rPr lang="en-US" sz="1200" b="1" i="0" u="none" strike="noStrike" cap="none" dirty="0">
                <a:solidFill>
                  <a:srgbClr val="FFFFFF"/>
                </a:solidFill>
                <a:latin typeface="Calibri"/>
                <a:ea typeface="Calibri"/>
                <a:cs typeface="Calibri"/>
                <a:sym typeface="Calibri"/>
              </a:rPr>
              <a:t>dge)</a:t>
            </a:r>
            <a:endParaRPr sz="1200" b="0" i="0" u="none" strike="noStrike" cap="none" dirty="0">
              <a:solidFill>
                <a:schemeClr val="dk1"/>
              </a:solidFill>
              <a:latin typeface="Calibri"/>
              <a:ea typeface="Calibri"/>
              <a:cs typeface="Calibri"/>
              <a:sym typeface="Calibri"/>
            </a:endParaRPr>
          </a:p>
        </p:txBody>
      </p:sp>
      <p:sp>
        <p:nvSpPr>
          <p:cNvPr id="582" name="Google Shape;582;p15"/>
          <p:cNvSpPr/>
          <p:nvPr/>
        </p:nvSpPr>
        <p:spPr>
          <a:xfrm>
            <a:off x="430450" y="202997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15"/>
          <p:cNvSpPr/>
          <p:nvPr/>
        </p:nvSpPr>
        <p:spPr>
          <a:xfrm>
            <a:off x="447286" y="202997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Approach</a:t>
            </a:r>
            <a:endParaRPr sz="1050" b="0" i="0" u="none" strike="noStrike" cap="none">
              <a:solidFill>
                <a:schemeClr val="dk1"/>
              </a:solidFill>
              <a:latin typeface="Calibri"/>
              <a:ea typeface="Calibri"/>
              <a:cs typeface="Calibri"/>
              <a:sym typeface="Calibri"/>
            </a:endParaRPr>
          </a:p>
        </p:txBody>
      </p:sp>
      <p:sp>
        <p:nvSpPr>
          <p:cNvPr id="584" name="Google Shape;584;p15"/>
          <p:cNvSpPr/>
          <p:nvPr/>
        </p:nvSpPr>
        <p:spPr>
          <a:xfrm>
            <a:off x="1377897"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15"/>
          <p:cNvSpPr/>
          <p:nvPr/>
        </p:nvSpPr>
        <p:spPr>
          <a:xfrm>
            <a:off x="1426855"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Regression</a:t>
            </a:r>
            <a:endParaRPr sz="1050" b="0" i="0" u="none" strike="noStrike" cap="none">
              <a:solidFill>
                <a:schemeClr val="dk1"/>
              </a:solidFill>
              <a:latin typeface="Calibri"/>
              <a:ea typeface="Calibri"/>
              <a:cs typeface="Calibri"/>
              <a:sym typeface="Calibri"/>
            </a:endParaRPr>
          </a:p>
        </p:txBody>
      </p:sp>
      <p:sp>
        <p:nvSpPr>
          <p:cNvPr id="588" name="Google Shape;588;p15"/>
          <p:cNvSpPr/>
          <p:nvPr/>
        </p:nvSpPr>
        <p:spPr>
          <a:xfrm>
            <a:off x="3955909"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15"/>
          <p:cNvSpPr/>
          <p:nvPr/>
        </p:nvSpPr>
        <p:spPr>
          <a:xfrm>
            <a:off x="4004868"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Regression</a:t>
            </a:r>
            <a:endParaRPr sz="1050" b="0" i="0" u="none" strike="noStrike" cap="none">
              <a:solidFill>
                <a:schemeClr val="dk1"/>
              </a:solidFill>
              <a:latin typeface="Calibri"/>
              <a:ea typeface="Calibri"/>
              <a:cs typeface="Calibri"/>
              <a:sym typeface="Calibri"/>
            </a:endParaRPr>
          </a:p>
        </p:txBody>
      </p:sp>
      <p:sp>
        <p:nvSpPr>
          <p:cNvPr id="590" name="Google Shape;590;p15"/>
          <p:cNvSpPr/>
          <p:nvPr/>
        </p:nvSpPr>
        <p:spPr>
          <a:xfrm>
            <a:off x="430450" y="236830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15"/>
          <p:cNvSpPr/>
          <p:nvPr/>
        </p:nvSpPr>
        <p:spPr>
          <a:xfrm>
            <a:off x="447286" y="236830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Signal</a:t>
            </a:r>
            <a:endParaRPr sz="1050" b="0" i="0" u="none" strike="noStrike" cap="none">
              <a:solidFill>
                <a:schemeClr val="dk1"/>
              </a:solidFill>
              <a:latin typeface="Calibri"/>
              <a:ea typeface="Calibri"/>
              <a:cs typeface="Calibri"/>
              <a:sym typeface="Calibri"/>
            </a:endParaRPr>
          </a:p>
        </p:txBody>
      </p:sp>
      <p:sp>
        <p:nvSpPr>
          <p:cNvPr id="592" name="Google Shape;592;p15"/>
          <p:cNvSpPr/>
          <p:nvPr/>
        </p:nvSpPr>
        <p:spPr>
          <a:xfrm>
            <a:off x="1377897"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15"/>
          <p:cNvSpPr/>
          <p:nvPr/>
        </p:nvSpPr>
        <p:spPr>
          <a:xfrm>
            <a:off x="1426855"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Δ VIX</a:t>
            </a:r>
            <a:endParaRPr sz="1050" b="0" i="0" u="none" strike="noStrike" cap="none">
              <a:solidFill>
                <a:schemeClr val="dk1"/>
              </a:solidFill>
              <a:latin typeface="Calibri"/>
              <a:ea typeface="Calibri"/>
              <a:cs typeface="Calibri"/>
              <a:sym typeface="Calibri"/>
            </a:endParaRPr>
          </a:p>
        </p:txBody>
      </p:sp>
      <p:sp>
        <p:nvSpPr>
          <p:cNvPr id="596" name="Google Shape;596;p15"/>
          <p:cNvSpPr/>
          <p:nvPr/>
        </p:nvSpPr>
        <p:spPr>
          <a:xfrm>
            <a:off x="3955909"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15"/>
          <p:cNvSpPr/>
          <p:nvPr/>
        </p:nvSpPr>
        <p:spPr>
          <a:xfrm>
            <a:off x="4004868"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Δ VIX + Spreads + Oil</a:t>
            </a:r>
            <a:endParaRPr sz="1050" b="0" i="0" u="none" strike="noStrike" cap="none">
              <a:solidFill>
                <a:schemeClr val="dk1"/>
              </a:solidFill>
              <a:latin typeface="Calibri"/>
              <a:ea typeface="Calibri"/>
              <a:cs typeface="Calibri"/>
              <a:sym typeface="Calibri"/>
            </a:endParaRPr>
          </a:p>
        </p:txBody>
      </p:sp>
      <p:sp>
        <p:nvSpPr>
          <p:cNvPr id="598" name="Google Shape;598;p15"/>
          <p:cNvSpPr/>
          <p:nvPr/>
        </p:nvSpPr>
        <p:spPr>
          <a:xfrm>
            <a:off x="430450" y="270662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15"/>
          <p:cNvSpPr/>
          <p:nvPr/>
        </p:nvSpPr>
        <p:spPr>
          <a:xfrm>
            <a:off x="447286" y="270662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Prediction</a:t>
            </a:r>
            <a:endParaRPr sz="1050" b="0" i="0" u="none" strike="noStrike" cap="none">
              <a:solidFill>
                <a:schemeClr val="dk1"/>
              </a:solidFill>
              <a:latin typeface="Calibri"/>
              <a:ea typeface="Calibri"/>
              <a:cs typeface="Calibri"/>
              <a:sym typeface="Calibri"/>
            </a:endParaRPr>
          </a:p>
        </p:txBody>
      </p:sp>
      <p:sp>
        <p:nvSpPr>
          <p:cNvPr id="600" name="Google Shape;600;p15"/>
          <p:cNvSpPr/>
          <p:nvPr/>
        </p:nvSpPr>
        <p:spPr>
          <a:xfrm>
            <a:off x="1377897"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15"/>
          <p:cNvSpPr/>
          <p:nvPr/>
        </p:nvSpPr>
        <p:spPr>
          <a:xfrm>
            <a:off x="1426855"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Tomorrow's return</a:t>
            </a:r>
            <a:endParaRPr sz="1050" b="0" i="0" u="none" strike="noStrike" cap="none">
              <a:solidFill>
                <a:schemeClr val="dk1"/>
              </a:solidFill>
              <a:latin typeface="Calibri"/>
              <a:ea typeface="Calibri"/>
              <a:cs typeface="Calibri"/>
              <a:sym typeface="Calibri"/>
            </a:endParaRPr>
          </a:p>
        </p:txBody>
      </p:sp>
      <p:sp>
        <p:nvSpPr>
          <p:cNvPr id="604" name="Google Shape;604;p15"/>
          <p:cNvSpPr/>
          <p:nvPr/>
        </p:nvSpPr>
        <p:spPr>
          <a:xfrm>
            <a:off x="3955909"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15"/>
          <p:cNvSpPr/>
          <p:nvPr/>
        </p:nvSpPr>
        <p:spPr>
          <a:xfrm>
            <a:off x="4004868"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Tomorrow's return</a:t>
            </a:r>
            <a:endParaRPr sz="1050" b="0" i="0" u="none" strike="noStrike" cap="none">
              <a:solidFill>
                <a:schemeClr val="dk1"/>
              </a:solidFill>
              <a:latin typeface="Calibri"/>
              <a:ea typeface="Calibri"/>
              <a:cs typeface="Calibri"/>
              <a:sym typeface="Calibri"/>
            </a:endParaRPr>
          </a:p>
        </p:txBody>
      </p:sp>
      <p:sp>
        <p:nvSpPr>
          <p:cNvPr id="614" name="Google Shape;614;p15"/>
          <p:cNvSpPr/>
          <p:nvPr/>
        </p:nvSpPr>
        <p:spPr>
          <a:xfrm>
            <a:off x="430433" y="3044950"/>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15"/>
          <p:cNvSpPr/>
          <p:nvPr/>
        </p:nvSpPr>
        <p:spPr>
          <a:xfrm>
            <a:off x="447269" y="304495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dirty="0">
                <a:solidFill>
                  <a:srgbClr val="0C1A35"/>
                </a:solidFill>
                <a:latin typeface="Calibri"/>
                <a:ea typeface="Calibri"/>
                <a:cs typeface="Calibri"/>
                <a:sym typeface="Calibri"/>
              </a:rPr>
              <a:t>Test R²</a:t>
            </a:r>
            <a:endParaRPr sz="1050" b="0" i="0" u="none" strike="noStrike" cap="none" dirty="0">
              <a:solidFill>
                <a:schemeClr val="dk1"/>
              </a:solidFill>
              <a:latin typeface="Calibri"/>
              <a:ea typeface="Calibri"/>
              <a:cs typeface="Calibri"/>
              <a:sym typeface="Calibri"/>
            </a:endParaRPr>
          </a:p>
        </p:txBody>
      </p:sp>
      <p:sp>
        <p:nvSpPr>
          <p:cNvPr id="616" name="Google Shape;616;p15"/>
          <p:cNvSpPr/>
          <p:nvPr/>
        </p:nvSpPr>
        <p:spPr>
          <a:xfrm>
            <a:off x="1377880" y="3044964"/>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15"/>
          <p:cNvSpPr/>
          <p:nvPr/>
        </p:nvSpPr>
        <p:spPr>
          <a:xfrm>
            <a:off x="1426838" y="304496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-1.01%</a:t>
            </a:r>
            <a:endParaRPr sz="1050" b="0" i="0" u="none" strike="noStrike" cap="none" dirty="0">
              <a:solidFill>
                <a:schemeClr val="dk1"/>
              </a:solidFill>
              <a:latin typeface="Calibri"/>
              <a:ea typeface="Calibri"/>
              <a:cs typeface="Calibri"/>
              <a:sym typeface="Calibri"/>
            </a:endParaRPr>
          </a:p>
        </p:txBody>
      </p:sp>
      <p:sp>
        <p:nvSpPr>
          <p:cNvPr id="620" name="Google Shape;620;p15"/>
          <p:cNvSpPr/>
          <p:nvPr/>
        </p:nvSpPr>
        <p:spPr>
          <a:xfrm>
            <a:off x="3955892" y="3044964"/>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15"/>
          <p:cNvSpPr/>
          <p:nvPr/>
        </p:nvSpPr>
        <p:spPr>
          <a:xfrm>
            <a:off x="4004851" y="304496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-1.62%</a:t>
            </a:r>
            <a:endParaRPr sz="1050" b="0" i="0" u="none" strike="noStrike" cap="none" dirty="0">
              <a:solidFill>
                <a:schemeClr val="dk1"/>
              </a:solidFill>
              <a:latin typeface="Calibri"/>
              <a:ea typeface="Calibri"/>
              <a:cs typeface="Calibri"/>
              <a:sym typeface="Calibri"/>
            </a:endParaRPr>
          </a:p>
        </p:txBody>
      </p:sp>
      <p:sp>
        <p:nvSpPr>
          <p:cNvPr id="622" name="Google Shape;622;p15"/>
          <p:cNvSpPr/>
          <p:nvPr/>
        </p:nvSpPr>
        <p:spPr>
          <a:xfrm>
            <a:off x="430433" y="3383275"/>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15"/>
          <p:cNvSpPr/>
          <p:nvPr/>
        </p:nvSpPr>
        <p:spPr>
          <a:xfrm>
            <a:off x="447269" y="338327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Sharpe</a:t>
            </a:r>
            <a:endParaRPr sz="1050" b="0" i="0" u="none" strike="noStrike" cap="none">
              <a:solidFill>
                <a:schemeClr val="dk1"/>
              </a:solidFill>
              <a:latin typeface="Calibri"/>
              <a:ea typeface="Calibri"/>
              <a:cs typeface="Calibri"/>
              <a:sym typeface="Calibri"/>
            </a:endParaRPr>
          </a:p>
        </p:txBody>
      </p:sp>
      <p:sp>
        <p:nvSpPr>
          <p:cNvPr id="624" name="Google Shape;624;p15"/>
          <p:cNvSpPr/>
          <p:nvPr/>
        </p:nvSpPr>
        <p:spPr>
          <a:xfrm>
            <a:off x="1377880" y="3383293"/>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15"/>
          <p:cNvSpPr/>
          <p:nvPr/>
        </p:nvSpPr>
        <p:spPr>
          <a:xfrm>
            <a:off x="1426838" y="3383293"/>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0.20</a:t>
            </a:r>
            <a:endParaRPr sz="1050" b="0" i="0" u="none" strike="noStrike" cap="none" dirty="0">
              <a:solidFill>
                <a:schemeClr val="dk1"/>
              </a:solidFill>
              <a:latin typeface="Calibri"/>
              <a:ea typeface="Calibri"/>
              <a:cs typeface="Calibri"/>
              <a:sym typeface="Calibri"/>
            </a:endParaRPr>
          </a:p>
        </p:txBody>
      </p:sp>
      <p:sp>
        <p:nvSpPr>
          <p:cNvPr id="628" name="Google Shape;628;p15"/>
          <p:cNvSpPr/>
          <p:nvPr/>
        </p:nvSpPr>
        <p:spPr>
          <a:xfrm>
            <a:off x="3955892" y="3383293"/>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15"/>
          <p:cNvSpPr/>
          <p:nvPr/>
        </p:nvSpPr>
        <p:spPr>
          <a:xfrm>
            <a:off x="4004851" y="3383293"/>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0.84</a:t>
            </a:r>
            <a:endParaRPr sz="1050" b="0" i="0" u="none" strike="noStrike" cap="none" dirty="0">
              <a:solidFill>
                <a:schemeClr val="dk1"/>
              </a:solidFill>
              <a:latin typeface="Calibri"/>
              <a:ea typeface="Calibri"/>
              <a:cs typeface="Calibri"/>
              <a:sym typeface="Calibri"/>
            </a:endParaRPr>
          </a:p>
        </p:txBody>
      </p:sp>
      <p:sp>
        <p:nvSpPr>
          <p:cNvPr id="630" name="Google Shape;630;p15"/>
          <p:cNvSpPr/>
          <p:nvPr/>
        </p:nvSpPr>
        <p:spPr>
          <a:xfrm>
            <a:off x="430433" y="404098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15"/>
          <p:cNvSpPr/>
          <p:nvPr/>
        </p:nvSpPr>
        <p:spPr>
          <a:xfrm>
            <a:off x="447269" y="404098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dirty="0">
                <a:solidFill>
                  <a:srgbClr val="0C1A35"/>
                </a:solidFill>
                <a:latin typeface="Calibri"/>
                <a:ea typeface="Calibri"/>
                <a:cs typeface="Calibri"/>
                <a:sym typeface="Calibri"/>
              </a:rPr>
              <a:t>Best Feature</a:t>
            </a:r>
            <a:endParaRPr sz="1050" b="0" i="0" u="none" strike="noStrike" cap="none" dirty="0">
              <a:solidFill>
                <a:schemeClr val="dk1"/>
              </a:solidFill>
              <a:latin typeface="Calibri"/>
              <a:ea typeface="Calibri"/>
              <a:cs typeface="Calibri"/>
              <a:sym typeface="Calibri"/>
            </a:endParaRPr>
          </a:p>
        </p:txBody>
      </p:sp>
      <p:sp>
        <p:nvSpPr>
          <p:cNvPr id="632" name="Google Shape;632;p15"/>
          <p:cNvSpPr/>
          <p:nvPr/>
        </p:nvSpPr>
        <p:spPr>
          <a:xfrm>
            <a:off x="1377880" y="404100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5"/>
          <p:cNvSpPr/>
          <p:nvPr/>
        </p:nvSpPr>
        <p:spPr>
          <a:xfrm>
            <a:off x="1426838" y="404100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Stat. significance</a:t>
            </a:r>
            <a:endParaRPr sz="1050" b="0" i="0" u="none" strike="noStrike" cap="none">
              <a:solidFill>
                <a:schemeClr val="dk1"/>
              </a:solidFill>
              <a:latin typeface="Calibri"/>
              <a:ea typeface="Calibri"/>
              <a:cs typeface="Calibri"/>
              <a:sym typeface="Calibri"/>
            </a:endParaRPr>
          </a:p>
        </p:txBody>
      </p:sp>
      <p:sp>
        <p:nvSpPr>
          <p:cNvPr id="636" name="Google Shape;636;p15"/>
          <p:cNvSpPr/>
          <p:nvPr/>
        </p:nvSpPr>
        <p:spPr>
          <a:xfrm>
            <a:off x="3955892" y="404100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15"/>
          <p:cNvSpPr/>
          <p:nvPr/>
        </p:nvSpPr>
        <p:spPr>
          <a:xfrm>
            <a:off x="4004851" y="404100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Beats buy-and-hold + Model 1</a:t>
            </a:r>
            <a:endParaRPr sz="1050" b="0" i="0" u="none" strike="noStrike" cap="none" dirty="0">
              <a:solidFill>
                <a:schemeClr val="dk1"/>
              </a:solidFill>
              <a:latin typeface="Calibri"/>
              <a:ea typeface="Calibri"/>
              <a:cs typeface="Calibri"/>
              <a:sym typeface="Calibri"/>
            </a:endParaRPr>
          </a:p>
        </p:txBody>
      </p:sp>
      <p:sp>
        <p:nvSpPr>
          <p:cNvPr id="638" name="Google Shape;638;p15"/>
          <p:cNvSpPr/>
          <p:nvPr/>
        </p:nvSpPr>
        <p:spPr>
          <a:xfrm>
            <a:off x="430433" y="437931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15"/>
          <p:cNvSpPr/>
          <p:nvPr/>
        </p:nvSpPr>
        <p:spPr>
          <a:xfrm>
            <a:off x="447269" y="437931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Limitation</a:t>
            </a:r>
            <a:endParaRPr sz="1050" b="0" i="0" u="none" strike="noStrike" cap="none">
              <a:solidFill>
                <a:schemeClr val="dk1"/>
              </a:solidFill>
              <a:latin typeface="Calibri"/>
              <a:ea typeface="Calibri"/>
              <a:cs typeface="Calibri"/>
              <a:sym typeface="Calibri"/>
            </a:endParaRPr>
          </a:p>
        </p:txBody>
      </p:sp>
      <p:sp>
        <p:nvSpPr>
          <p:cNvPr id="640" name="Google Shape;640;p15"/>
          <p:cNvSpPr/>
          <p:nvPr/>
        </p:nvSpPr>
        <p:spPr>
          <a:xfrm>
            <a:off x="1377880" y="437933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15"/>
          <p:cNvSpPr/>
          <p:nvPr/>
        </p:nvSpPr>
        <p:spPr>
          <a:xfrm>
            <a:off x="1426838" y="437933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Single factor</a:t>
            </a:r>
            <a:endParaRPr sz="1050" b="0" i="0" u="none" strike="noStrike" cap="none">
              <a:solidFill>
                <a:schemeClr val="dk1"/>
              </a:solidFill>
              <a:latin typeface="Calibri"/>
              <a:ea typeface="Calibri"/>
              <a:cs typeface="Calibri"/>
              <a:sym typeface="Calibri"/>
            </a:endParaRPr>
          </a:p>
        </p:txBody>
      </p:sp>
      <p:sp>
        <p:nvSpPr>
          <p:cNvPr id="644" name="Google Shape;644;p15"/>
          <p:cNvSpPr/>
          <p:nvPr/>
        </p:nvSpPr>
        <p:spPr>
          <a:xfrm>
            <a:off x="3955892" y="437933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15"/>
          <p:cNvSpPr/>
          <p:nvPr/>
        </p:nvSpPr>
        <p:spPr>
          <a:xfrm>
            <a:off x="4004726" y="437936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Multicollinearity</a:t>
            </a:r>
            <a:endParaRPr sz="1050" b="0" i="0" u="none" strike="noStrike" cap="none">
              <a:solidFill>
                <a:schemeClr val="dk1"/>
              </a:solidFill>
              <a:latin typeface="Calibri"/>
              <a:ea typeface="Calibri"/>
              <a:cs typeface="Calibri"/>
              <a:sym typeface="Calibri"/>
            </a:endParaRPr>
          </a:p>
        </p:txBody>
      </p:sp>
      <p:sp>
        <p:nvSpPr>
          <p:cNvPr id="3" name="Google Shape;630;p15">
            <a:extLst>
              <a:ext uri="{FF2B5EF4-FFF2-40B4-BE49-F238E27FC236}">
                <a16:creationId xmlns:a16="http://schemas.microsoft.com/office/drawing/2014/main" id="{D9336FBD-56AB-0DCC-7042-3E144F6E2E31}"/>
              </a:ext>
            </a:extLst>
          </p:cNvPr>
          <p:cNvSpPr/>
          <p:nvPr/>
        </p:nvSpPr>
        <p:spPr>
          <a:xfrm>
            <a:off x="430433" y="3702660"/>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631;p15">
            <a:extLst>
              <a:ext uri="{FF2B5EF4-FFF2-40B4-BE49-F238E27FC236}">
                <a16:creationId xmlns:a16="http://schemas.microsoft.com/office/drawing/2014/main" id="{D0D2EC64-108E-C2CE-C15D-77BA02592284}"/>
              </a:ext>
            </a:extLst>
          </p:cNvPr>
          <p:cNvSpPr/>
          <p:nvPr/>
        </p:nvSpPr>
        <p:spPr>
          <a:xfrm>
            <a:off x="447269" y="370266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dirty="0">
                <a:solidFill>
                  <a:srgbClr val="0C1A35"/>
                </a:solidFill>
                <a:latin typeface="Calibri"/>
                <a:ea typeface="Calibri"/>
                <a:cs typeface="Calibri"/>
                <a:sym typeface="Calibri"/>
              </a:rPr>
              <a:t>Return</a:t>
            </a:r>
            <a:endParaRPr sz="1050" b="0" i="0" u="none" strike="noStrike" cap="none" dirty="0">
              <a:solidFill>
                <a:schemeClr val="dk1"/>
              </a:solidFill>
              <a:latin typeface="Calibri"/>
              <a:ea typeface="Calibri"/>
              <a:cs typeface="Calibri"/>
              <a:sym typeface="Calibri"/>
            </a:endParaRPr>
          </a:p>
        </p:txBody>
      </p:sp>
      <p:sp>
        <p:nvSpPr>
          <p:cNvPr id="7" name="Google Shape;632;p15">
            <a:extLst>
              <a:ext uri="{FF2B5EF4-FFF2-40B4-BE49-F238E27FC236}">
                <a16:creationId xmlns:a16="http://schemas.microsoft.com/office/drawing/2014/main" id="{03257123-AF1A-E834-49A8-B379A9948D0E}"/>
              </a:ext>
            </a:extLst>
          </p:cNvPr>
          <p:cNvSpPr/>
          <p:nvPr/>
        </p:nvSpPr>
        <p:spPr>
          <a:xfrm>
            <a:off x="1377880" y="3702681"/>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633;p15">
            <a:extLst>
              <a:ext uri="{FF2B5EF4-FFF2-40B4-BE49-F238E27FC236}">
                <a16:creationId xmlns:a16="http://schemas.microsoft.com/office/drawing/2014/main" id="{9ADF21EF-82E6-16B0-DBE1-357195DBE27F}"/>
              </a:ext>
            </a:extLst>
          </p:cNvPr>
          <p:cNvSpPr/>
          <p:nvPr/>
        </p:nvSpPr>
        <p:spPr>
          <a:xfrm>
            <a:off x="1426838" y="370268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2.7%</a:t>
            </a:r>
            <a:endParaRPr sz="1050" b="0" i="0" u="none" strike="noStrike" cap="none" dirty="0">
              <a:solidFill>
                <a:schemeClr val="dk1"/>
              </a:solidFill>
              <a:latin typeface="Calibri"/>
              <a:ea typeface="Calibri"/>
              <a:cs typeface="Calibri"/>
              <a:sym typeface="Calibri"/>
            </a:endParaRPr>
          </a:p>
        </p:txBody>
      </p:sp>
      <p:sp>
        <p:nvSpPr>
          <p:cNvPr id="11" name="Google Shape;636;p15">
            <a:extLst>
              <a:ext uri="{FF2B5EF4-FFF2-40B4-BE49-F238E27FC236}">
                <a16:creationId xmlns:a16="http://schemas.microsoft.com/office/drawing/2014/main" id="{E6EBDC76-7503-F088-86D7-CDB1E069855A}"/>
              </a:ext>
            </a:extLst>
          </p:cNvPr>
          <p:cNvSpPr/>
          <p:nvPr/>
        </p:nvSpPr>
        <p:spPr>
          <a:xfrm>
            <a:off x="3955892" y="3702681"/>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637;p15">
            <a:extLst>
              <a:ext uri="{FF2B5EF4-FFF2-40B4-BE49-F238E27FC236}">
                <a16:creationId xmlns:a16="http://schemas.microsoft.com/office/drawing/2014/main" id="{E1DE4A54-3686-0363-E508-EB2305D51EAB}"/>
              </a:ext>
            </a:extLst>
          </p:cNvPr>
          <p:cNvSpPr/>
          <p:nvPr/>
        </p:nvSpPr>
        <p:spPr>
          <a:xfrm>
            <a:off x="4004851" y="370268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12.9%</a:t>
            </a:r>
            <a:endParaRPr sz="1050" b="0" i="0" u="none" strike="noStrike" cap="none" dirty="0">
              <a:solidFill>
                <a:schemeClr val="dk1"/>
              </a:solidFill>
              <a:latin typeface="Calibri"/>
              <a:ea typeface="Calibri"/>
              <a:cs typeface="Calibri"/>
              <a:sym typeface="Calibri"/>
            </a:endParaRPr>
          </a:p>
        </p:txBody>
      </p:sp>
      <p:sp>
        <p:nvSpPr>
          <p:cNvPr id="15" name="Google Shape;580;p15">
            <a:extLst>
              <a:ext uri="{FF2B5EF4-FFF2-40B4-BE49-F238E27FC236}">
                <a16:creationId xmlns:a16="http://schemas.microsoft.com/office/drawing/2014/main" id="{98FB4E81-6EB1-23DD-51A5-7C512CA3110B}"/>
              </a:ext>
            </a:extLst>
          </p:cNvPr>
          <p:cNvSpPr/>
          <p:nvPr/>
        </p:nvSpPr>
        <p:spPr>
          <a:xfrm>
            <a:off x="6533789" y="1353300"/>
            <a:ext cx="2349900" cy="567000"/>
          </a:xfrm>
          <a:prstGeom prst="rect">
            <a:avLst/>
          </a:prstGeom>
          <a:solidFill>
            <a:schemeClr val="accent2"/>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581;p15">
            <a:extLst>
              <a:ext uri="{FF2B5EF4-FFF2-40B4-BE49-F238E27FC236}">
                <a16:creationId xmlns:a16="http://schemas.microsoft.com/office/drawing/2014/main" id="{41B1E4C5-DC45-6B53-9A0E-31DFE2D5A497}"/>
              </a:ext>
            </a:extLst>
          </p:cNvPr>
          <p:cNvSpPr/>
          <p:nvPr/>
        </p:nvSpPr>
        <p:spPr>
          <a:xfrm>
            <a:off x="6533789"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Model 2</a:t>
            </a:r>
            <a:endParaRPr sz="12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OLS (3-factor </a:t>
            </a:r>
            <a:r>
              <a:rPr lang="en-US" sz="1200" b="1" dirty="0">
                <a:solidFill>
                  <a:srgbClr val="FFFFFF"/>
                </a:solidFill>
                <a:latin typeface="Calibri"/>
                <a:ea typeface="Calibri"/>
                <a:cs typeface="Calibri"/>
                <a:sym typeface="Calibri"/>
              </a:rPr>
              <a:t>No Ri</a:t>
            </a:r>
            <a:r>
              <a:rPr lang="en-US" sz="1200" b="1" i="0" u="none" strike="noStrike" cap="none" dirty="0">
                <a:solidFill>
                  <a:srgbClr val="FFFFFF"/>
                </a:solidFill>
                <a:latin typeface="Calibri"/>
                <a:ea typeface="Calibri"/>
                <a:cs typeface="Calibri"/>
                <a:sym typeface="Calibri"/>
              </a:rPr>
              <a:t>dge)</a:t>
            </a:r>
            <a:endParaRPr sz="1200" b="0" i="0" u="none" strike="noStrike" cap="none" dirty="0">
              <a:solidFill>
                <a:schemeClr val="dk1"/>
              </a:solidFill>
              <a:latin typeface="Calibri"/>
              <a:ea typeface="Calibri"/>
              <a:cs typeface="Calibri"/>
              <a:sym typeface="Calibri"/>
            </a:endParaRPr>
          </a:p>
        </p:txBody>
      </p:sp>
      <p:sp>
        <p:nvSpPr>
          <p:cNvPr id="19" name="Google Shape;588;p15">
            <a:extLst>
              <a:ext uri="{FF2B5EF4-FFF2-40B4-BE49-F238E27FC236}">
                <a16:creationId xmlns:a16="http://schemas.microsoft.com/office/drawing/2014/main" id="{B69369D5-79FD-9919-9FCA-B0694194701F}"/>
              </a:ext>
            </a:extLst>
          </p:cNvPr>
          <p:cNvSpPr/>
          <p:nvPr/>
        </p:nvSpPr>
        <p:spPr>
          <a:xfrm>
            <a:off x="6533806"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589;p15">
            <a:extLst>
              <a:ext uri="{FF2B5EF4-FFF2-40B4-BE49-F238E27FC236}">
                <a16:creationId xmlns:a16="http://schemas.microsoft.com/office/drawing/2014/main" id="{601B0087-1513-B9AA-9C54-9CC7102012D6}"/>
              </a:ext>
            </a:extLst>
          </p:cNvPr>
          <p:cNvSpPr/>
          <p:nvPr/>
        </p:nvSpPr>
        <p:spPr>
          <a:xfrm>
            <a:off x="6582765"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Ridge Regression</a:t>
            </a:r>
            <a:endParaRPr sz="1050" b="0" i="0" u="none" strike="noStrike" cap="none" dirty="0">
              <a:solidFill>
                <a:schemeClr val="dk1"/>
              </a:solidFill>
              <a:latin typeface="Calibri"/>
              <a:ea typeface="Calibri"/>
              <a:cs typeface="Calibri"/>
              <a:sym typeface="Calibri"/>
            </a:endParaRPr>
          </a:p>
        </p:txBody>
      </p:sp>
      <p:sp>
        <p:nvSpPr>
          <p:cNvPr id="23" name="Google Shape;596;p15">
            <a:extLst>
              <a:ext uri="{FF2B5EF4-FFF2-40B4-BE49-F238E27FC236}">
                <a16:creationId xmlns:a16="http://schemas.microsoft.com/office/drawing/2014/main" id="{9932D3B4-9BB5-A478-83A3-BF29B6FE5559}"/>
              </a:ext>
            </a:extLst>
          </p:cNvPr>
          <p:cNvSpPr/>
          <p:nvPr/>
        </p:nvSpPr>
        <p:spPr>
          <a:xfrm>
            <a:off x="6533806"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597;p15">
            <a:extLst>
              <a:ext uri="{FF2B5EF4-FFF2-40B4-BE49-F238E27FC236}">
                <a16:creationId xmlns:a16="http://schemas.microsoft.com/office/drawing/2014/main" id="{F3C8B0C8-F567-447B-76B4-4BFE057AE246}"/>
              </a:ext>
            </a:extLst>
          </p:cNvPr>
          <p:cNvSpPr/>
          <p:nvPr/>
        </p:nvSpPr>
        <p:spPr>
          <a:xfrm>
            <a:off x="6582765"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Δ VIX + Spreads + Oil</a:t>
            </a:r>
            <a:endParaRPr sz="1050" b="0" i="0" u="none" strike="noStrike" cap="none">
              <a:solidFill>
                <a:schemeClr val="dk1"/>
              </a:solidFill>
              <a:latin typeface="Calibri"/>
              <a:ea typeface="Calibri"/>
              <a:cs typeface="Calibri"/>
              <a:sym typeface="Calibri"/>
            </a:endParaRPr>
          </a:p>
        </p:txBody>
      </p:sp>
      <p:sp>
        <p:nvSpPr>
          <p:cNvPr id="27" name="Google Shape;604;p15">
            <a:extLst>
              <a:ext uri="{FF2B5EF4-FFF2-40B4-BE49-F238E27FC236}">
                <a16:creationId xmlns:a16="http://schemas.microsoft.com/office/drawing/2014/main" id="{D11458F1-6E65-D378-C034-A4600CABF08A}"/>
              </a:ext>
            </a:extLst>
          </p:cNvPr>
          <p:cNvSpPr/>
          <p:nvPr/>
        </p:nvSpPr>
        <p:spPr>
          <a:xfrm>
            <a:off x="6533806"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605;p15">
            <a:extLst>
              <a:ext uri="{FF2B5EF4-FFF2-40B4-BE49-F238E27FC236}">
                <a16:creationId xmlns:a16="http://schemas.microsoft.com/office/drawing/2014/main" id="{8DF7BFD4-9BB8-AE0D-64F0-290014C10A75}"/>
              </a:ext>
            </a:extLst>
          </p:cNvPr>
          <p:cNvSpPr/>
          <p:nvPr/>
        </p:nvSpPr>
        <p:spPr>
          <a:xfrm>
            <a:off x="6582765"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Tomorrow's return</a:t>
            </a:r>
            <a:endParaRPr sz="1050" b="0" i="0" u="none" strike="noStrike" cap="none">
              <a:solidFill>
                <a:schemeClr val="dk1"/>
              </a:solidFill>
              <a:latin typeface="Calibri"/>
              <a:ea typeface="Calibri"/>
              <a:cs typeface="Calibri"/>
              <a:sym typeface="Calibri"/>
            </a:endParaRPr>
          </a:p>
        </p:txBody>
      </p:sp>
      <p:sp>
        <p:nvSpPr>
          <p:cNvPr id="35" name="Google Shape;620;p15">
            <a:extLst>
              <a:ext uri="{FF2B5EF4-FFF2-40B4-BE49-F238E27FC236}">
                <a16:creationId xmlns:a16="http://schemas.microsoft.com/office/drawing/2014/main" id="{6C1C5804-2174-034C-F1EA-F8FE1504C963}"/>
              </a:ext>
            </a:extLst>
          </p:cNvPr>
          <p:cNvSpPr/>
          <p:nvPr/>
        </p:nvSpPr>
        <p:spPr>
          <a:xfrm>
            <a:off x="6533789" y="3044964"/>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621;p15">
            <a:extLst>
              <a:ext uri="{FF2B5EF4-FFF2-40B4-BE49-F238E27FC236}">
                <a16:creationId xmlns:a16="http://schemas.microsoft.com/office/drawing/2014/main" id="{83291AF7-63C3-E512-6428-92923CCED62C}"/>
              </a:ext>
            </a:extLst>
          </p:cNvPr>
          <p:cNvSpPr/>
          <p:nvPr/>
        </p:nvSpPr>
        <p:spPr>
          <a:xfrm>
            <a:off x="6582748" y="304496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-1.49%</a:t>
            </a:r>
            <a:endParaRPr sz="1050" b="0" i="0" u="none" strike="noStrike" cap="none" dirty="0">
              <a:solidFill>
                <a:schemeClr val="dk1"/>
              </a:solidFill>
              <a:latin typeface="Calibri"/>
              <a:ea typeface="Calibri"/>
              <a:cs typeface="Calibri"/>
              <a:sym typeface="Calibri"/>
            </a:endParaRPr>
          </a:p>
        </p:txBody>
      </p:sp>
      <p:sp>
        <p:nvSpPr>
          <p:cNvPr id="39" name="Google Shape;628;p15">
            <a:extLst>
              <a:ext uri="{FF2B5EF4-FFF2-40B4-BE49-F238E27FC236}">
                <a16:creationId xmlns:a16="http://schemas.microsoft.com/office/drawing/2014/main" id="{868552D9-342B-14A0-BF97-9B24BB968A81}"/>
              </a:ext>
            </a:extLst>
          </p:cNvPr>
          <p:cNvSpPr/>
          <p:nvPr/>
        </p:nvSpPr>
        <p:spPr>
          <a:xfrm>
            <a:off x="6533789" y="3383293"/>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629;p15">
            <a:extLst>
              <a:ext uri="{FF2B5EF4-FFF2-40B4-BE49-F238E27FC236}">
                <a16:creationId xmlns:a16="http://schemas.microsoft.com/office/drawing/2014/main" id="{16E5110B-7699-E58E-6776-300C04200060}"/>
              </a:ext>
            </a:extLst>
          </p:cNvPr>
          <p:cNvSpPr/>
          <p:nvPr/>
        </p:nvSpPr>
        <p:spPr>
          <a:xfrm>
            <a:off x="6582748" y="3383293"/>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0.89</a:t>
            </a:r>
            <a:endParaRPr sz="1050" b="0" i="0" u="none" strike="noStrike" cap="none" dirty="0">
              <a:solidFill>
                <a:schemeClr val="dk1"/>
              </a:solidFill>
              <a:latin typeface="Calibri"/>
              <a:ea typeface="Calibri"/>
              <a:cs typeface="Calibri"/>
              <a:sym typeface="Calibri"/>
            </a:endParaRPr>
          </a:p>
        </p:txBody>
      </p:sp>
      <p:sp>
        <p:nvSpPr>
          <p:cNvPr id="43" name="Google Shape;636;p15">
            <a:extLst>
              <a:ext uri="{FF2B5EF4-FFF2-40B4-BE49-F238E27FC236}">
                <a16:creationId xmlns:a16="http://schemas.microsoft.com/office/drawing/2014/main" id="{70A1F2DA-ADFD-5B76-A069-27EAAA2D6B1A}"/>
              </a:ext>
            </a:extLst>
          </p:cNvPr>
          <p:cNvSpPr/>
          <p:nvPr/>
        </p:nvSpPr>
        <p:spPr>
          <a:xfrm>
            <a:off x="6533789" y="404100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637;p15">
            <a:extLst>
              <a:ext uri="{FF2B5EF4-FFF2-40B4-BE49-F238E27FC236}">
                <a16:creationId xmlns:a16="http://schemas.microsoft.com/office/drawing/2014/main" id="{4D6E2062-7432-CCE1-6C6E-1833F7D2E34B}"/>
              </a:ext>
            </a:extLst>
          </p:cNvPr>
          <p:cNvSpPr/>
          <p:nvPr/>
        </p:nvSpPr>
        <p:spPr>
          <a:xfrm>
            <a:off x="6582748" y="404100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Beats buy-and-hold + </a:t>
            </a:r>
            <a:r>
              <a:rPr lang="en-US" sz="1050" dirty="0">
                <a:solidFill>
                  <a:srgbClr val="1E293B"/>
                </a:solidFill>
                <a:latin typeface="Calibri"/>
                <a:ea typeface="Calibri"/>
                <a:cs typeface="Calibri"/>
                <a:sym typeface="Calibri"/>
              </a:rPr>
              <a:t>Models 1 &amp; 2</a:t>
            </a:r>
            <a:endParaRPr sz="1050" b="0" i="0" u="none" strike="noStrike" cap="none" dirty="0">
              <a:solidFill>
                <a:schemeClr val="dk1"/>
              </a:solidFill>
              <a:latin typeface="Calibri"/>
              <a:ea typeface="Calibri"/>
              <a:cs typeface="Calibri"/>
              <a:sym typeface="Calibri"/>
            </a:endParaRPr>
          </a:p>
        </p:txBody>
      </p:sp>
      <p:sp>
        <p:nvSpPr>
          <p:cNvPr id="47" name="Google Shape;644;p15">
            <a:extLst>
              <a:ext uri="{FF2B5EF4-FFF2-40B4-BE49-F238E27FC236}">
                <a16:creationId xmlns:a16="http://schemas.microsoft.com/office/drawing/2014/main" id="{3BF0F194-7FE3-E1DC-AA2B-25EC9965AC45}"/>
              </a:ext>
            </a:extLst>
          </p:cNvPr>
          <p:cNvSpPr/>
          <p:nvPr/>
        </p:nvSpPr>
        <p:spPr>
          <a:xfrm>
            <a:off x="6533789" y="437933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645;p15">
            <a:extLst>
              <a:ext uri="{FF2B5EF4-FFF2-40B4-BE49-F238E27FC236}">
                <a16:creationId xmlns:a16="http://schemas.microsoft.com/office/drawing/2014/main" id="{5067CB30-48E0-05D0-4432-7BC6404798B4}"/>
              </a:ext>
            </a:extLst>
          </p:cNvPr>
          <p:cNvSpPr/>
          <p:nvPr/>
        </p:nvSpPr>
        <p:spPr>
          <a:xfrm>
            <a:off x="6582623" y="437936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endParaRPr sz="1050" b="0" i="0" u="none" strike="noStrike" cap="none" dirty="0">
              <a:solidFill>
                <a:schemeClr val="dk1"/>
              </a:solidFill>
              <a:latin typeface="Calibri"/>
              <a:ea typeface="Calibri"/>
              <a:cs typeface="Calibri"/>
              <a:sym typeface="Calibri"/>
            </a:endParaRPr>
          </a:p>
        </p:txBody>
      </p:sp>
      <p:sp>
        <p:nvSpPr>
          <p:cNvPr id="51" name="Google Shape;636;p15">
            <a:extLst>
              <a:ext uri="{FF2B5EF4-FFF2-40B4-BE49-F238E27FC236}">
                <a16:creationId xmlns:a16="http://schemas.microsoft.com/office/drawing/2014/main" id="{390BCB66-7BEE-EDF0-0D05-247BC49518A9}"/>
              </a:ext>
            </a:extLst>
          </p:cNvPr>
          <p:cNvSpPr/>
          <p:nvPr/>
        </p:nvSpPr>
        <p:spPr>
          <a:xfrm>
            <a:off x="6533789" y="3702681"/>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637;p15">
            <a:extLst>
              <a:ext uri="{FF2B5EF4-FFF2-40B4-BE49-F238E27FC236}">
                <a16:creationId xmlns:a16="http://schemas.microsoft.com/office/drawing/2014/main" id="{287C0405-C40D-799C-C3D9-F6AD6C402177}"/>
              </a:ext>
            </a:extLst>
          </p:cNvPr>
          <p:cNvSpPr/>
          <p:nvPr/>
        </p:nvSpPr>
        <p:spPr>
          <a:xfrm>
            <a:off x="6582748" y="370268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dirty="0">
                <a:solidFill>
                  <a:srgbClr val="1E293B"/>
                </a:solidFill>
                <a:latin typeface="Calibri"/>
                <a:ea typeface="Calibri"/>
                <a:cs typeface="Calibri"/>
                <a:sym typeface="Calibri"/>
              </a:rPr>
              <a:t>13.8%</a:t>
            </a:r>
            <a:endParaRPr sz="1050" b="0" i="0" u="none" strike="noStrike" cap="none" dirty="0">
              <a:solidFill>
                <a:schemeClr val="dk1"/>
              </a:solidFill>
              <a:latin typeface="Calibri"/>
              <a:ea typeface="Calibri"/>
              <a:cs typeface="Calibri"/>
              <a:sym typeface="Calibri"/>
            </a:endParaRPr>
          </a:p>
        </p:txBody>
      </p:sp>
      <p:sp>
        <p:nvSpPr>
          <p:cNvPr id="55" name="Google Shape;646;p15">
            <a:extLst>
              <a:ext uri="{FF2B5EF4-FFF2-40B4-BE49-F238E27FC236}">
                <a16:creationId xmlns:a16="http://schemas.microsoft.com/office/drawing/2014/main" id="{EC1ADB71-E676-26AC-34CE-537E5A8D0723}"/>
              </a:ext>
            </a:extLst>
          </p:cNvPr>
          <p:cNvSpPr/>
          <p:nvPr/>
        </p:nvSpPr>
        <p:spPr>
          <a:xfrm>
            <a:off x="1355882" y="3355124"/>
            <a:ext cx="7595595" cy="685847"/>
          </a:xfrm>
          <a:prstGeom prst="ellipse">
            <a:avLst/>
          </a:prstGeom>
          <a:no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B91C1C"/>
              </a:solidFill>
              <a:highlight>
                <a:srgbClr val="B91C1C"/>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1"/>
        <p:cNvGrpSpPr/>
        <p:nvPr/>
      </p:nvGrpSpPr>
      <p:grpSpPr>
        <a:xfrm>
          <a:off x="0" y="0"/>
          <a:ext cx="0" cy="0"/>
          <a:chOff x="0" y="0"/>
          <a:chExt cx="0" cy="0"/>
        </a:xfrm>
      </p:grpSpPr>
      <p:sp>
        <p:nvSpPr>
          <p:cNvPr id="652" name="Google Shape;652;p16"/>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16"/>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RISKS &amp; LIMITATIONS</a:t>
            </a:r>
            <a:endParaRPr sz="1050" b="0" i="0" u="none" strike="noStrike" cap="none">
              <a:solidFill>
                <a:schemeClr val="dk1"/>
              </a:solidFill>
              <a:latin typeface="Calibri"/>
              <a:ea typeface="Calibri"/>
              <a:cs typeface="Calibri"/>
              <a:sym typeface="Calibri"/>
            </a:endParaRPr>
          </a:p>
        </p:txBody>
      </p:sp>
      <p:sp>
        <p:nvSpPr>
          <p:cNvPr id="654" name="Google Shape;654;p16"/>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400" b="1" i="0" u="none" strike="noStrike" cap="none">
                <a:solidFill>
                  <a:srgbClr val="0C1A35"/>
                </a:solidFill>
                <a:latin typeface="Georgia"/>
                <a:ea typeface="Georgia"/>
                <a:cs typeface="Georgia"/>
                <a:sym typeface="Georgia"/>
              </a:rPr>
              <a:t>Key Risks in the Trade &amp; Limitations in the Models</a:t>
            </a:r>
            <a:endParaRPr sz="2400" b="0" i="0" u="none" strike="noStrike" cap="none">
              <a:solidFill>
                <a:schemeClr val="dk1"/>
              </a:solidFill>
              <a:latin typeface="Calibri"/>
              <a:ea typeface="Calibri"/>
              <a:cs typeface="Calibri"/>
              <a:sym typeface="Calibri"/>
            </a:endParaRPr>
          </a:p>
        </p:txBody>
      </p:sp>
      <p:sp>
        <p:nvSpPr>
          <p:cNvPr id="655" name="Google Shape;655;p16"/>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16"/>
          <p:cNvSpPr/>
          <p:nvPr/>
        </p:nvSpPr>
        <p:spPr>
          <a:xfrm>
            <a:off x="208176" y="1381390"/>
            <a:ext cx="4293815" cy="997746"/>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16"/>
          <p:cNvSpPr/>
          <p:nvPr/>
        </p:nvSpPr>
        <p:spPr>
          <a:xfrm>
            <a:off x="208176" y="1381390"/>
            <a:ext cx="95029" cy="997746"/>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67" name="Google Shape;667;p16" descr="preencoded.png"/>
          <p:cNvPicPr preferRelativeResize="0"/>
          <p:nvPr/>
        </p:nvPicPr>
        <p:blipFill rotWithShape="1">
          <a:blip r:embed="rId3">
            <a:alphaModFix/>
          </a:blip>
          <a:srcRect/>
          <a:stretch/>
        </p:blipFill>
        <p:spPr>
          <a:xfrm>
            <a:off x="390546" y="1700480"/>
            <a:ext cx="381660" cy="324756"/>
          </a:xfrm>
          <a:prstGeom prst="rect">
            <a:avLst/>
          </a:prstGeom>
          <a:noFill/>
          <a:ln>
            <a:noFill/>
          </a:ln>
        </p:spPr>
      </p:pic>
      <p:sp>
        <p:nvSpPr>
          <p:cNvPr id="668" name="Google Shape;668;p16"/>
          <p:cNvSpPr/>
          <p:nvPr/>
        </p:nvSpPr>
        <p:spPr>
          <a:xfrm>
            <a:off x="846415" y="1436096"/>
            <a:ext cx="3530303" cy="3085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197"/>
              <a:buFont typeface="Calibri"/>
              <a:buNone/>
            </a:pPr>
            <a:r>
              <a:rPr lang="en-US" sz="1197" b="1" i="0" u="none" strike="noStrike" cap="none" dirty="0">
                <a:solidFill>
                  <a:srgbClr val="E8A020"/>
                </a:solidFill>
                <a:latin typeface="Calibri"/>
                <a:ea typeface="Calibri"/>
                <a:cs typeface="Calibri"/>
                <a:sym typeface="Calibri"/>
              </a:rPr>
              <a:t>OLS Assumptions are Violated</a:t>
            </a:r>
            <a:endParaRPr sz="1197" b="0" i="0" u="none" strike="noStrike" cap="none" dirty="0">
              <a:solidFill>
                <a:schemeClr val="dk1"/>
              </a:solidFill>
              <a:latin typeface="Calibri"/>
              <a:ea typeface="Calibri"/>
              <a:cs typeface="Calibri"/>
              <a:sym typeface="Calibri"/>
            </a:endParaRPr>
          </a:p>
        </p:txBody>
      </p:sp>
      <p:sp>
        <p:nvSpPr>
          <p:cNvPr id="669" name="Google Shape;669;p16"/>
          <p:cNvSpPr/>
          <p:nvPr/>
        </p:nvSpPr>
        <p:spPr>
          <a:xfrm>
            <a:off x="846415" y="1800803"/>
            <a:ext cx="3530303" cy="4709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dirty="0">
                <a:solidFill>
                  <a:srgbClr val="1E293B"/>
                </a:solidFill>
                <a:latin typeface="Calibri"/>
                <a:ea typeface="Calibri"/>
                <a:cs typeface="Calibri"/>
                <a:sym typeface="Calibri"/>
              </a:rPr>
              <a:t>Autocorrelation, heteroskedasticity, and fat tails</a:t>
            </a:r>
            <a:r>
              <a:rPr lang="en-US" sz="997" dirty="0">
                <a:solidFill>
                  <a:srgbClr val="1E293B"/>
                </a:solidFill>
                <a:latin typeface="Calibri"/>
                <a:ea typeface="Calibri"/>
                <a:cs typeface="Calibri"/>
                <a:sym typeface="Calibri"/>
              </a:rPr>
              <a:t> are present</a:t>
            </a:r>
            <a:r>
              <a:rPr lang="en-US" sz="997" b="0" i="0" u="none" strike="noStrike" cap="none" dirty="0">
                <a:solidFill>
                  <a:srgbClr val="1E293B"/>
                </a:solidFill>
                <a:latin typeface="Calibri"/>
                <a:ea typeface="Calibri"/>
                <a:cs typeface="Calibri"/>
                <a:sym typeface="Calibri"/>
              </a:rPr>
              <a:t>. HC3 </a:t>
            </a:r>
            <a:r>
              <a:rPr lang="en-US" sz="997" dirty="0">
                <a:solidFill>
                  <a:srgbClr val="1E293B"/>
                </a:solidFill>
                <a:latin typeface="Calibri"/>
                <a:ea typeface="Calibri"/>
                <a:cs typeface="Calibri"/>
                <a:sym typeface="Calibri"/>
              </a:rPr>
              <a:t>improves inference under</a:t>
            </a:r>
            <a:r>
              <a:rPr lang="en-US" sz="997" b="0" i="0" u="none" strike="noStrike" cap="none" dirty="0">
                <a:solidFill>
                  <a:srgbClr val="1E293B"/>
                </a:solidFill>
                <a:latin typeface="Calibri"/>
                <a:ea typeface="Calibri"/>
                <a:cs typeface="Calibri"/>
                <a:sym typeface="Calibri"/>
              </a:rPr>
              <a:t> heteroskedasticity but doesn’t </a:t>
            </a:r>
            <a:r>
              <a:rPr lang="en-US" sz="997" dirty="0">
                <a:solidFill>
                  <a:srgbClr val="1E293B"/>
                </a:solidFill>
                <a:latin typeface="Calibri"/>
                <a:ea typeface="Calibri"/>
                <a:cs typeface="Calibri"/>
                <a:sym typeface="Calibri"/>
              </a:rPr>
              <a:t>address nonlinear relationships or changing market regimes.</a:t>
            </a:r>
            <a:endParaRPr sz="997" b="0" i="0" u="none" strike="noStrike" cap="none" dirty="0">
              <a:solidFill>
                <a:schemeClr val="dk1"/>
              </a:solidFill>
              <a:latin typeface="Calibri"/>
              <a:ea typeface="Calibri"/>
              <a:cs typeface="Calibri"/>
              <a:sym typeface="Calibri"/>
            </a:endParaRPr>
          </a:p>
        </p:txBody>
      </p:sp>
      <p:sp>
        <p:nvSpPr>
          <p:cNvPr id="670" name="Google Shape;670;p16"/>
          <p:cNvSpPr/>
          <p:nvPr/>
        </p:nvSpPr>
        <p:spPr>
          <a:xfrm>
            <a:off x="4642011" y="1381390"/>
            <a:ext cx="4293815" cy="974076"/>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16"/>
          <p:cNvSpPr/>
          <p:nvPr/>
        </p:nvSpPr>
        <p:spPr>
          <a:xfrm>
            <a:off x="4642012" y="1381390"/>
            <a:ext cx="95028" cy="989847"/>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16"/>
          <p:cNvSpPr/>
          <p:nvPr/>
        </p:nvSpPr>
        <p:spPr>
          <a:xfrm>
            <a:off x="5280050" y="1392926"/>
            <a:ext cx="3530303" cy="3085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197"/>
              <a:buFont typeface="Calibri"/>
              <a:buNone/>
            </a:pPr>
            <a:r>
              <a:rPr lang="en-US" sz="1197" b="1" i="0" u="none" strike="noStrike" cap="none" dirty="0">
                <a:solidFill>
                  <a:srgbClr val="E8A020"/>
                </a:solidFill>
                <a:latin typeface="Calibri"/>
                <a:ea typeface="Calibri"/>
                <a:cs typeface="Calibri"/>
                <a:sym typeface="Calibri"/>
              </a:rPr>
              <a:t>VIX is already priced in</a:t>
            </a:r>
            <a:endParaRPr sz="1197" b="0" i="0" u="none" strike="noStrike" cap="none" dirty="0">
              <a:solidFill>
                <a:schemeClr val="dk1"/>
              </a:solidFill>
              <a:latin typeface="Calibri"/>
              <a:ea typeface="Calibri"/>
              <a:cs typeface="Calibri"/>
              <a:sym typeface="Calibri"/>
            </a:endParaRPr>
          </a:p>
        </p:txBody>
      </p:sp>
      <p:sp>
        <p:nvSpPr>
          <p:cNvPr id="674" name="Google Shape;674;p16"/>
          <p:cNvSpPr/>
          <p:nvPr/>
        </p:nvSpPr>
        <p:spPr>
          <a:xfrm>
            <a:off x="5280249" y="1721009"/>
            <a:ext cx="3625703" cy="671659"/>
          </a:xfrm>
          <a:prstGeom prst="rect">
            <a:avLst/>
          </a:prstGeom>
          <a:noFill/>
          <a:ln>
            <a:noFill/>
          </a:ln>
        </p:spPr>
        <p:txBody>
          <a:bodyPr spcFirstLastPara="1" wrap="square" lIns="0" tIns="0" rIns="0" bIns="0" anchor="t" anchorCtr="0">
            <a:no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VIX is a widely observed measure of market risk, so changes in VIX can be incorporated into asset prices very quickly. As a result, much of the contemporaneous relationship between VIX and EMB returns are already be priced in.</a:t>
            </a:r>
            <a:br>
              <a:rPr lang="en-US" sz="1000" dirty="0">
                <a:latin typeface="Calibri" panose="020F0502020204030204" pitchFamily="34" charset="0"/>
                <a:ea typeface="Calibri" panose="020F0502020204030204" pitchFamily="34" charset="0"/>
                <a:cs typeface="Calibri" panose="020F0502020204030204" pitchFamily="34" charset="0"/>
              </a:rPr>
            </a:br>
            <a:endParaRPr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75" name="Google Shape;675;p16"/>
          <p:cNvSpPr/>
          <p:nvPr/>
        </p:nvSpPr>
        <p:spPr>
          <a:xfrm>
            <a:off x="226715" y="2533568"/>
            <a:ext cx="4293815" cy="122578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16"/>
          <p:cNvSpPr/>
          <p:nvPr/>
        </p:nvSpPr>
        <p:spPr>
          <a:xfrm>
            <a:off x="226715" y="2506986"/>
            <a:ext cx="136492" cy="124945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77" name="Google Shape;677;p16" descr="preencoded.png"/>
          <p:cNvPicPr preferRelativeResize="0"/>
          <p:nvPr/>
        </p:nvPicPr>
        <p:blipFill rotWithShape="1">
          <a:blip r:embed="rId4">
            <a:alphaModFix/>
          </a:blip>
          <a:srcRect/>
          <a:stretch/>
        </p:blipFill>
        <p:spPr>
          <a:xfrm>
            <a:off x="409085" y="2944137"/>
            <a:ext cx="381660" cy="324756"/>
          </a:xfrm>
          <a:prstGeom prst="rect">
            <a:avLst/>
          </a:prstGeom>
          <a:noFill/>
          <a:ln>
            <a:noFill/>
          </a:ln>
        </p:spPr>
      </p:pic>
      <p:sp>
        <p:nvSpPr>
          <p:cNvPr id="678" name="Google Shape;678;p16"/>
          <p:cNvSpPr/>
          <p:nvPr/>
        </p:nvSpPr>
        <p:spPr>
          <a:xfrm>
            <a:off x="864954" y="2561697"/>
            <a:ext cx="3530303" cy="3085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197"/>
              <a:buFont typeface="Calibri"/>
              <a:buNone/>
            </a:pPr>
            <a:r>
              <a:rPr lang="en-US" sz="1197" b="1" i="0" u="none" strike="noStrike" cap="none" dirty="0">
                <a:solidFill>
                  <a:srgbClr val="1A3F7A"/>
                </a:solidFill>
                <a:latin typeface="Calibri"/>
                <a:ea typeface="Calibri"/>
                <a:cs typeface="Calibri"/>
                <a:sym typeface="Calibri"/>
              </a:rPr>
              <a:t>USD/FX Risk Omitted</a:t>
            </a:r>
            <a:endParaRPr sz="1197" b="0" i="0" u="none" strike="noStrike" cap="none" dirty="0">
              <a:solidFill>
                <a:schemeClr val="dk1"/>
              </a:solidFill>
              <a:latin typeface="Calibri"/>
              <a:ea typeface="Calibri"/>
              <a:cs typeface="Calibri"/>
              <a:sym typeface="Calibri"/>
            </a:endParaRPr>
          </a:p>
        </p:txBody>
      </p:sp>
      <p:sp>
        <p:nvSpPr>
          <p:cNvPr id="679" name="Google Shape;679;p16"/>
          <p:cNvSpPr/>
          <p:nvPr/>
        </p:nvSpPr>
        <p:spPr>
          <a:xfrm>
            <a:off x="864954" y="2926405"/>
            <a:ext cx="3530303" cy="4709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dirty="0">
                <a:solidFill>
                  <a:srgbClr val="1E293B"/>
                </a:solidFill>
                <a:latin typeface="Calibri"/>
                <a:ea typeface="Calibri"/>
                <a:cs typeface="Calibri"/>
                <a:sym typeface="Calibri"/>
              </a:rPr>
              <a:t>A strong </a:t>
            </a:r>
            <a:r>
              <a:rPr lang="en-US" sz="997" dirty="0">
                <a:solidFill>
                  <a:srgbClr val="1E293B"/>
                </a:solidFill>
                <a:latin typeface="Calibri"/>
                <a:ea typeface="Calibri"/>
                <a:cs typeface="Calibri"/>
                <a:sym typeface="Calibri"/>
              </a:rPr>
              <a:t>USD </a:t>
            </a:r>
            <a:r>
              <a:rPr lang="en-US" sz="997" b="0" i="0" u="none" strike="noStrike" cap="none" dirty="0">
                <a:solidFill>
                  <a:srgbClr val="1E293B"/>
                </a:solidFill>
                <a:latin typeface="Calibri"/>
                <a:ea typeface="Calibri"/>
                <a:cs typeface="Calibri"/>
                <a:sym typeface="Calibri"/>
              </a:rPr>
              <a:t>increases the local-currency burden of paying off USD-denominated debt for sovereign EMs. This model doesn’t include dollar strength or country-specific currency conditions. </a:t>
            </a:r>
            <a:endParaRPr sz="997" b="0" i="0" u="none" strike="noStrike" cap="none" dirty="0">
              <a:solidFill>
                <a:srgbClr val="1E293B"/>
              </a:solidFill>
              <a:latin typeface="Calibri"/>
              <a:ea typeface="Calibri"/>
              <a:cs typeface="Calibri"/>
              <a:sym typeface="Calibri"/>
            </a:endParaRPr>
          </a:p>
        </p:txBody>
      </p:sp>
      <p:sp>
        <p:nvSpPr>
          <p:cNvPr id="680" name="Google Shape;680;p16"/>
          <p:cNvSpPr/>
          <p:nvPr/>
        </p:nvSpPr>
        <p:spPr>
          <a:xfrm>
            <a:off x="4642011" y="2528799"/>
            <a:ext cx="4293815" cy="1225781"/>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16"/>
          <p:cNvSpPr/>
          <p:nvPr/>
        </p:nvSpPr>
        <p:spPr>
          <a:xfrm>
            <a:off x="4642011" y="2546513"/>
            <a:ext cx="95439" cy="1210009"/>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682" name="Google Shape;682;p16" descr="preencoded.png"/>
          <p:cNvPicPr preferRelativeResize="0"/>
          <p:nvPr/>
        </p:nvPicPr>
        <p:blipFill rotWithShape="1">
          <a:blip r:embed="rId4">
            <a:alphaModFix/>
          </a:blip>
          <a:srcRect/>
          <a:stretch/>
        </p:blipFill>
        <p:spPr>
          <a:xfrm>
            <a:off x="4806130" y="2888293"/>
            <a:ext cx="381660" cy="324756"/>
          </a:xfrm>
          <a:prstGeom prst="rect">
            <a:avLst/>
          </a:prstGeom>
          <a:noFill/>
          <a:ln>
            <a:noFill/>
          </a:ln>
        </p:spPr>
      </p:pic>
      <p:sp>
        <p:nvSpPr>
          <p:cNvPr id="683" name="Google Shape;683;p16"/>
          <p:cNvSpPr/>
          <p:nvPr/>
        </p:nvSpPr>
        <p:spPr>
          <a:xfrm>
            <a:off x="5280250" y="2505853"/>
            <a:ext cx="3530303" cy="3085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197"/>
              <a:buFont typeface="Calibri"/>
              <a:buNone/>
            </a:pPr>
            <a:r>
              <a:rPr lang="en-US" sz="1197" b="1" i="0" u="none" strike="noStrike" cap="none" dirty="0">
                <a:solidFill>
                  <a:srgbClr val="1A3F7A"/>
                </a:solidFill>
                <a:latin typeface="Calibri"/>
                <a:ea typeface="Calibri"/>
                <a:cs typeface="Calibri"/>
                <a:sym typeface="Calibri"/>
              </a:rPr>
              <a:t>Trading Costs</a:t>
            </a:r>
            <a:endParaRPr sz="1197" b="0" i="0" u="none" strike="noStrike" cap="none" dirty="0">
              <a:solidFill>
                <a:schemeClr val="dk1"/>
              </a:solidFill>
              <a:latin typeface="Calibri"/>
              <a:ea typeface="Calibri"/>
              <a:cs typeface="Calibri"/>
              <a:sym typeface="Calibri"/>
            </a:endParaRPr>
          </a:p>
        </p:txBody>
      </p:sp>
      <p:sp>
        <p:nvSpPr>
          <p:cNvPr id="684" name="Google Shape;684;p16"/>
          <p:cNvSpPr/>
          <p:nvPr/>
        </p:nvSpPr>
        <p:spPr>
          <a:xfrm>
            <a:off x="5280250" y="2870561"/>
            <a:ext cx="3530303" cy="617137"/>
          </a:xfrm>
          <a:prstGeom prst="rect">
            <a:avLst/>
          </a:prstGeom>
          <a:noFill/>
          <a:ln>
            <a:noFill/>
          </a:ln>
        </p:spPr>
        <p:txBody>
          <a:bodyPr spcFirstLastPara="1" wrap="square" lIns="0" tIns="0" rIns="0" bIns="0" anchor="t" anchorCtr="0">
            <a:no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We assumed costless entry/exit, but we need to consider bid-ask spreads and broker costs because trading is costly. Incorporating these costs could materially reduce the advantage of our strategy vs buy and hold. </a:t>
            </a:r>
            <a:br>
              <a:rPr lang="en-US" sz="1000" dirty="0">
                <a:latin typeface="Calibri" panose="020F0502020204030204" pitchFamily="34" charset="0"/>
                <a:ea typeface="Calibri" panose="020F0502020204030204" pitchFamily="34" charset="0"/>
                <a:cs typeface="Calibri" panose="020F0502020204030204" pitchFamily="34" charset="0"/>
              </a:rPr>
            </a:br>
            <a:endParaRPr sz="1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685" name="Google Shape;685;p16" descr="preencoded.png"/>
          <p:cNvPicPr preferRelativeResize="0"/>
          <p:nvPr/>
        </p:nvPicPr>
        <p:blipFill rotWithShape="1">
          <a:blip r:embed="rId3">
            <a:alphaModFix/>
          </a:blip>
          <a:srcRect/>
          <a:stretch/>
        </p:blipFill>
        <p:spPr>
          <a:xfrm>
            <a:off x="4824380" y="1700481"/>
            <a:ext cx="381660" cy="324756"/>
          </a:xfrm>
          <a:prstGeom prst="rect">
            <a:avLst/>
          </a:prstGeom>
          <a:noFill/>
          <a:ln>
            <a:noFill/>
          </a:ln>
        </p:spPr>
      </p:pic>
      <p:sp>
        <p:nvSpPr>
          <p:cNvPr id="3" name="Google Shape;675;p16">
            <a:extLst>
              <a:ext uri="{FF2B5EF4-FFF2-40B4-BE49-F238E27FC236}">
                <a16:creationId xmlns:a16="http://schemas.microsoft.com/office/drawing/2014/main" id="{DFF6A84E-9513-957E-E34D-8EFC9977EBE6}"/>
              </a:ext>
            </a:extLst>
          </p:cNvPr>
          <p:cNvSpPr/>
          <p:nvPr/>
        </p:nvSpPr>
        <p:spPr>
          <a:xfrm>
            <a:off x="2218592" y="3913780"/>
            <a:ext cx="4293815" cy="122578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676;p16">
            <a:extLst>
              <a:ext uri="{FF2B5EF4-FFF2-40B4-BE49-F238E27FC236}">
                <a16:creationId xmlns:a16="http://schemas.microsoft.com/office/drawing/2014/main" id="{CCBA13A7-2430-2F50-B3B3-1092E0231EDE}"/>
              </a:ext>
            </a:extLst>
          </p:cNvPr>
          <p:cNvSpPr/>
          <p:nvPr/>
        </p:nvSpPr>
        <p:spPr>
          <a:xfrm>
            <a:off x="2218592" y="3887198"/>
            <a:ext cx="136492" cy="124945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677;p16" descr="preencoded.png">
            <a:extLst>
              <a:ext uri="{FF2B5EF4-FFF2-40B4-BE49-F238E27FC236}">
                <a16:creationId xmlns:a16="http://schemas.microsoft.com/office/drawing/2014/main" id="{1266946C-07B3-0C6D-2824-D68D5AA74741}"/>
              </a:ext>
            </a:extLst>
          </p:cNvPr>
          <p:cNvPicPr preferRelativeResize="0"/>
          <p:nvPr/>
        </p:nvPicPr>
        <p:blipFill rotWithShape="1">
          <a:blip r:embed="rId4">
            <a:alphaModFix/>
          </a:blip>
          <a:srcRect/>
          <a:stretch/>
        </p:blipFill>
        <p:spPr>
          <a:xfrm>
            <a:off x="2400962" y="4324349"/>
            <a:ext cx="381660" cy="324756"/>
          </a:xfrm>
          <a:prstGeom prst="rect">
            <a:avLst/>
          </a:prstGeom>
          <a:noFill/>
          <a:ln>
            <a:noFill/>
          </a:ln>
        </p:spPr>
      </p:pic>
      <p:sp>
        <p:nvSpPr>
          <p:cNvPr id="9" name="Google Shape;678;p16">
            <a:extLst>
              <a:ext uri="{FF2B5EF4-FFF2-40B4-BE49-F238E27FC236}">
                <a16:creationId xmlns:a16="http://schemas.microsoft.com/office/drawing/2014/main" id="{07BB90D9-B4FD-652D-DF9F-D8E83D903F5B}"/>
              </a:ext>
            </a:extLst>
          </p:cNvPr>
          <p:cNvSpPr/>
          <p:nvPr/>
        </p:nvSpPr>
        <p:spPr>
          <a:xfrm>
            <a:off x="2856831" y="3941909"/>
            <a:ext cx="3530303" cy="3085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197"/>
              <a:buFont typeface="Calibri"/>
              <a:buNone/>
            </a:pPr>
            <a:r>
              <a:rPr lang="en-US" sz="1197" b="1" dirty="0">
                <a:solidFill>
                  <a:srgbClr val="1A3F7A"/>
                </a:solidFill>
                <a:latin typeface="Calibri"/>
                <a:ea typeface="Calibri"/>
                <a:cs typeface="Calibri"/>
                <a:sym typeface="Calibri"/>
              </a:rPr>
              <a:t>Not Fully Capturing Total Returns</a:t>
            </a:r>
            <a:endParaRPr sz="1197" b="0" i="0" u="none" strike="noStrike" cap="none" dirty="0">
              <a:solidFill>
                <a:schemeClr val="dk1"/>
              </a:solidFill>
              <a:latin typeface="Calibri"/>
              <a:ea typeface="Calibri"/>
              <a:cs typeface="Calibri"/>
              <a:sym typeface="Calibri"/>
            </a:endParaRPr>
          </a:p>
        </p:txBody>
      </p:sp>
      <p:sp>
        <p:nvSpPr>
          <p:cNvPr id="11" name="Google Shape;679;p16">
            <a:extLst>
              <a:ext uri="{FF2B5EF4-FFF2-40B4-BE49-F238E27FC236}">
                <a16:creationId xmlns:a16="http://schemas.microsoft.com/office/drawing/2014/main" id="{03522767-4AC8-D8CF-8541-FA7B7F4D2C3F}"/>
              </a:ext>
            </a:extLst>
          </p:cNvPr>
          <p:cNvSpPr/>
          <p:nvPr/>
        </p:nvSpPr>
        <p:spPr>
          <a:xfrm>
            <a:off x="2856831" y="4306616"/>
            <a:ext cx="3530303" cy="73939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dirty="0">
                <a:solidFill>
                  <a:srgbClr val="1E293B"/>
                </a:solidFill>
                <a:latin typeface="Calibri"/>
                <a:ea typeface="Calibri"/>
                <a:cs typeface="Calibri"/>
                <a:sym typeface="Calibri"/>
              </a:rPr>
              <a:t>EMB returns are calculated from historical closing prices rather than dividend-adjusted prices. Because EMB makes monthly distributions, the strategy measures price returns rather than total investor returns. Since EMB makes cash distributions via dividends, these aren’t captured in the returns we calculate. </a:t>
            </a:r>
            <a:endParaRPr sz="997" b="0" i="0" u="none" strike="noStrike" cap="none" dirty="0">
              <a:solidFill>
                <a:srgbClr val="1E293B"/>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0"/>
        <p:cNvGrpSpPr/>
        <p:nvPr/>
      </p:nvGrpSpPr>
      <p:grpSpPr>
        <a:xfrm>
          <a:off x="0" y="0"/>
          <a:ext cx="0" cy="0"/>
          <a:chOff x="0" y="0"/>
          <a:chExt cx="0" cy="0"/>
        </a:xfrm>
      </p:grpSpPr>
      <p:sp>
        <p:nvSpPr>
          <p:cNvPr id="691" name="Google Shape;691;p7"/>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7"/>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&amp; 2 — OLS ASSUMPTIONS</a:t>
            </a:r>
            <a:endParaRPr sz="1050" b="0" i="0" u="none" strike="noStrike" cap="none">
              <a:solidFill>
                <a:schemeClr val="dk1"/>
              </a:solidFill>
              <a:latin typeface="Calibri"/>
              <a:ea typeface="Calibri"/>
              <a:cs typeface="Calibri"/>
              <a:sym typeface="Calibri"/>
            </a:endParaRPr>
          </a:p>
        </p:txBody>
      </p:sp>
      <p:sp>
        <p:nvSpPr>
          <p:cNvPr id="693" name="Google Shape;693;p7"/>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900" b="1" i="0" u="none" strike="noStrike" cap="none">
                <a:solidFill>
                  <a:srgbClr val="0C1A35"/>
                </a:solidFill>
                <a:latin typeface="Georgia"/>
                <a:ea typeface="Georgia"/>
                <a:cs typeface="Georgia"/>
                <a:sym typeface="Georgia"/>
              </a:rPr>
              <a:t>OLS Assumptions Are Violated in Practice</a:t>
            </a:r>
            <a:endParaRPr sz="2900" b="0" i="0" u="none" strike="noStrike" cap="none">
              <a:solidFill>
                <a:schemeClr val="dk1"/>
              </a:solidFill>
              <a:latin typeface="Calibri"/>
              <a:ea typeface="Calibri"/>
              <a:cs typeface="Calibri"/>
              <a:sym typeface="Calibri"/>
            </a:endParaRPr>
          </a:p>
        </p:txBody>
      </p:sp>
      <p:sp>
        <p:nvSpPr>
          <p:cNvPr id="694" name="Google Shape;694;p7"/>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7"/>
          <p:cNvSpPr/>
          <p:nvPr/>
        </p:nvSpPr>
        <p:spPr>
          <a:xfrm>
            <a:off x="457250" y="4572000"/>
            <a:ext cx="8229600" cy="40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7"/>
          <p:cNvSpPr/>
          <p:nvPr/>
        </p:nvSpPr>
        <p:spPr>
          <a:xfrm>
            <a:off x="598800" y="4599449"/>
            <a:ext cx="7946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1" u="none" strike="noStrike" cap="none">
                <a:solidFill>
                  <a:srgbClr val="1E293B"/>
                </a:solidFill>
                <a:latin typeface="Calibri"/>
                <a:ea typeface="Calibri"/>
                <a:cs typeface="Calibri"/>
                <a:sym typeface="Calibri"/>
              </a:rPr>
              <a:t>Kurtosis reference: Normal distribution has a kurtosis of </a:t>
            </a:r>
            <a:r>
              <a:rPr lang="en-US" sz="1050" b="0" i="1" u="none" strike="noStrike" cap="none">
                <a:solidFill>
                  <a:srgbClr val="1E293B"/>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rPr>
              <a:t>3.</a:t>
            </a:r>
            <a:r>
              <a:rPr lang="en-US" sz="1050" b="0" i="1" u="none" strike="noStrike" cap="none">
                <a:solidFill>
                  <a:srgbClr val="1E293B"/>
                </a:solidFill>
                <a:latin typeface="Calibri"/>
                <a:ea typeface="Calibri"/>
                <a:cs typeface="Calibri"/>
                <a:sym typeface="Calibri"/>
              </a:rPr>
              <a:t> Financial data has kurtosis levels typically around 5–15+, meaning extreme moves are far more common than OLS assumes.</a:t>
            </a:r>
            <a:endParaRPr sz="1050" b="0" i="0" u="none" strike="noStrike" cap="none">
              <a:solidFill>
                <a:schemeClr val="dk1"/>
              </a:solidFill>
              <a:latin typeface="Calibri"/>
              <a:ea typeface="Calibri"/>
              <a:cs typeface="Calibri"/>
              <a:sym typeface="Calibri"/>
            </a:endParaRPr>
          </a:p>
        </p:txBody>
      </p:sp>
      <p:sp>
        <p:nvSpPr>
          <p:cNvPr id="697" name="Google Shape;697;p7"/>
          <p:cNvSpPr/>
          <p:nvPr/>
        </p:nvSpPr>
        <p:spPr>
          <a:xfrm>
            <a:off x="4709150" y="1371600"/>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7"/>
          <p:cNvSpPr/>
          <p:nvPr/>
        </p:nvSpPr>
        <p:spPr>
          <a:xfrm>
            <a:off x="4709160" y="1371600"/>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7"/>
          <p:cNvSpPr/>
          <p:nvPr/>
        </p:nvSpPr>
        <p:spPr>
          <a:xfrm>
            <a:off x="5073350" y="1506360"/>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dirty="0">
                <a:solidFill>
                  <a:srgbClr val="B91C1C"/>
                </a:solidFill>
                <a:latin typeface="Calibri"/>
                <a:ea typeface="Calibri"/>
                <a:cs typeface="Calibri"/>
                <a:sym typeface="Calibri"/>
              </a:rPr>
              <a:t>Heteroskedasticity</a:t>
            </a:r>
            <a:endParaRPr sz="1300" b="0" i="0" u="none" strike="noStrike" cap="none" dirty="0">
              <a:solidFill>
                <a:schemeClr val="dk1"/>
              </a:solidFill>
              <a:latin typeface="Calibri"/>
              <a:ea typeface="Calibri"/>
              <a:cs typeface="Calibri"/>
              <a:sym typeface="Calibri"/>
            </a:endParaRPr>
          </a:p>
        </p:txBody>
      </p:sp>
      <p:sp>
        <p:nvSpPr>
          <p:cNvPr id="700" name="Google Shape;700;p7"/>
          <p:cNvSpPr/>
          <p:nvPr/>
        </p:nvSpPr>
        <p:spPr>
          <a:xfrm>
            <a:off x="5073350" y="1885468"/>
            <a:ext cx="3337500" cy="682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dirty="0">
                <a:solidFill>
                  <a:srgbClr val="1E293B"/>
                </a:solidFill>
                <a:latin typeface="Calibri"/>
                <a:ea typeface="Calibri"/>
                <a:cs typeface="Calibri"/>
                <a:sym typeface="Calibri"/>
              </a:rPr>
              <a:t>Volatility clustering: tiny errors in calm markets, massive errors during crises. Error variance is NOT constant over time.</a:t>
            </a:r>
            <a:endParaRPr sz="1250" b="0" i="0" u="none" strike="noStrike" cap="none" dirty="0">
              <a:solidFill>
                <a:schemeClr val="dk1"/>
              </a:solidFill>
              <a:latin typeface="Calibri"/>
              <a:ea typeface="Calibri"/>
              <a:cs typeface="Calibri"/>
              <a:sym typeface="Calibri"/>
            </a:endParaRPr>
          </a:p>
        </p:txBody>
      </p:sp>
      <p:sp>
        <p:nvSpPr>
          <p:cNvPr id="701" name="Google Shape;701;p7"/>
          <p:cNvSpPr/>
          <p:nvPr/>
        </p:nvSpPr>
        <p:spPr>
          <a:xfrm>
            <a:off x="4709150" y="2985524"/>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7"/>
          <p:cNvSpPr/>
          <p:nvPr/>
        </p:nvSpPr>
        <p:spPr>
          <a:xfrm>
            <a:off x="4709160" y="2990728"/>
            <a:ext cx="91500" cy="1463100"/>
          </a:xfrm>
          <a:prstGeom prst="rect">
            <a:avLst/>
          </a:prstGeom>
          <a:solidFill>
            <a:srgbClr val="B91C1C"/>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7"/>
          <p:cNvSpPr/>
          <p:nvPr/>
        </p:nvSpPr>
        <p:spPr>
          <a:xfrm>
            <a:off x="5029250" y="3099899"/>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200"/>
              <a:buFont typeface="Calibri"/>
              <a:buNone/>
            </a:pPr>
            <a:r>
              <a:rPr lang="en-US" sz="1300" b="1" i="0" u="none" strike="noStrike" cap="none" dirty="0">
                <a:solidFill>
                  <a:srgbClr val="B91C1C"/>
                </a:solidFill>
                <a:latin typeface="Calibri"/>
                <a:ea typeface="Calibri"/>
                <a:cs typeface="Calibri"/>
                <a:sym typeface="Calibri"/>
              </a:rPr>
              <a:t>Multicollinearity</a:t>
            </a:r>
            <a:endParaRPr sz="1300" b="0" i="0" u="none" strike="noStrike" cap="none" dirty="0">
              <a:solidFill>
                <a:srgbClr val="B91C1C"/>
              </a:solidFill>
              <a:latin typeface="Calibri"/>
              <a:ea typeface="Calibri"/>
              <a:cs typeface="Calibri"/>
              <a:sym typeface="Calibri"/>
            </a:endParaRPr>
          </a:p>
        </p:txBody>
      </p:sp>
      <p:sp>
        <p:nvSpPr>
          <p:cNvPr id="704" name="Google Shape;704;p7"/>
          <p:cNvSpPr/>
          <p:nvPr/>
        </p:nvSpPr>
        <p:spPr>
          <a:xfrm>
            <a:off x="5073350" y="3513093"/>
            <a:ext cx="3337500" cy="682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Δ VIX and Δ Credit Spread are 0.46 correlated. They share explanatory power, inflating standard errors in multi-factor models.</a:t>
            </a:r>
            <a:endParaRPr sz="1250" b="0" i="0" u="none" strike="noStrike" cap="none">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endParaRPr sz="1050" b="0" i="0" u="none" strike="noStrike" cap="none">
              <a:solidFill>
                <a:srgbClr val="1E293B"/>
              </a:solidFill>
              <a:latin typeface="Calibri"/>
              <a:ea typeface="Calibri"/>
              <a:cs typeface="Calibri"/>
              <a:sym typeface="Calibri"/>
            </a:endParaRPr>
          </a:p>
        </p:txBody>
      </p:sp>
      <p:sp>
        <p:nvSpPr>
          <p:cNvPr id="705" name="Google Shape;705;p7"/>
          <p:cNvSpPr/>
          <p:nvPr/>
        </p:nvSpPr>
        <p:spPr>
          <a:xfrm>
            <a:off x="502850" y="1371600"/>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7"/>
          <p:cNvSpPr/>
          <p:nvPr/>
        </p:nvSpPr>
        <p:spPr>
          <a:xfrm>
            <a:off x="844250" y="1506348"/>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dirty="0">
                <a:solidFill>
                  <a:srgbClr val="B91C1C"/>
                </a:solidFill>
                <a:latin typeface="Calibri"/>
                <a:ea typeface="Calibri"/>
                <a:cs typeface="Calibri"/>
                <a:sym typeface="Calibri"/>
              </a:rPr>
              <a:t>Autocorrelation</a:t>
            </a:r>
            <a:endParaRPr sz="1300" b="0" i="0" u="none" strike="noStrike" cap="none" dirty="0">
              <a:solidFill>
                <a:schemeClr val="dk1"/>
              </a:solidFill>
              <a:latin typeface="Calibri"/>
              <a:ea typeface="Calibri"/>
              <a:cs typeface="Calibri"/>
              <a:sym typeface="Calibri"/>
            </a:endParaRPr>
          </a:p>
        </p:txBody>
      </p:sp>
      <p:sp>
        <p:nvSpPr>
          <p:cNvPr id="707" name="Google Shape;707;p7"/>
          <p:cNvSpPr/>
          <p:nvPr/>
        </p:nvSpPr>
        <p:spPr>
          <a:xfrm>
            <a:off x="777310" y="1741038"/>
            <a:ext cx="3655840" cy="108902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rPr>
              <a:t>If model underpredicts during a crash, it also underpredicts the next day. Durbin Watson statistics slightly below 2 for all regression outputs, so there is mildly positive first-order autocorrelation. (See footnote for more info)</a:t>
            </a:r>
            <a:endParaRPr sz="1250" b="0" i="0"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rgbClr val="1E293B"/>
              </a:buClr>
              <a:buSzPts val="1050"/>
              <a:buFont typeface="Calibri"/>
              <a:buNone/>
            </a:pPr>
            <a:endParaRPr sz="1050" b="0" i="0" u="none" strike="noStrike" cap="none" dirty="0">
              <a:solidFill>
                <a:srgbClr val="1E293B"/>
              </a:solidFill>
              <a:latin typeface="Calibri"/>
              <a:ea typeface="Calibri"/>
              <a:cs typeface="Calibri"/>
              <a:sym typeface="Calibri"/>
            </a:endParaRPr>
          </a:p>
        </p:txBody>
      </p:sp>
      <p:sp>
        <p:nvSpPr>
          <p:cNvPr id="708" name="Google Shape;708;p7"/>
          <p:cNvSpPr/>
          <p:nvPr/>
        </p:nvSpPr>
        <p:spPr>
          <a:xfrm>
            <a:off x="457210" y="1371604"/>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7"/>
          <p:cNvSpPr/>
          <p:nvPr/>
        </p:nvSpPr>
        <p:spPr>
          <a:xfrm>
            <a:off x="502850" y="2985524"/>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10" name="Google Shape;710;p7"/>
          <p:cNvSpPr/>
          <p:nvPr/>
        </p:nvSpPr>
        <p:spPr>
          <a:xfrm>
            <a:off x="457198" y="2990721"/>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7"/>
          <p:cNvSpPr/>
          <p:nvPr/>
        </p:nvSpPr>
        <p:spPr>
          <a:xfrm>
            <a:off x="879550" y="3099899"/>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dirty="0">
                <a:solidFill>
                  <a:srgbClr val="B91C1C"/>
                </a:solidFill>
                <a:latin typeface="Calibri"/>
                <a:ea typeface="Calibri"/>
                <a:cs typeface="Calibri"/>
                <a:sym typeface="Calibri"/>
              </a:rPr>
              <a:t>Normal Residuals </a:t>
            </a:r>
            <a:endParaRPr sz="1300" b="0" i="0" u="none" strike="noStrike" cap="none" dirty="0">
              <a:solidFill>
                <a:schemeClr val="dk1"/>
              </a:solidFill>
              <a:latin typeface="Calibri"/>
              <a:ea typeface="Calibri"/>
              <a:cs typeface="Calibri"/>
              <a:sym typeface="Calibri"/>
            </a:endParaRPr>
          </a:p>
        </p:txBody>
      </p:sp>
      <p:sp>
        <p:nvSpPr>
          <p:cNvPr id="712" name="Google Shape;712;p7"/>
          <p:cNvSpPr/>
          <p:nvPr/>
        </p:nvSpPr>
        <p:spPr>
          <a:xfrm>
            <a:off x="879550" y="3513099"/>
            <a:ext cx="3337500" cy="682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Financial data has fat tails (high kurtosis &gt; 3). Extreme events happen far more often than a normal distribution predicts.</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7"/>
        <p:cNvGrpSpPr/>
        <p:nvPr/>
      </p:nvGrpSpPr>
      <p:grpSpPr>
        <a:xfrm>
          <a:off x="0" y="0"/>
          <a:ext cx="0" cy="0"/>
          <a:chOff x="0" y="0"/>
          <a:chExt cx="0" cy="0"/>
        </a:xfrm>
      </p:grpSpPr>
      <p:sp>
        <p:nvSpPr>
          <p:cNvPr id="718" name="Google Shape;718;p17"/>
          <p:cNvSpPr/>
          <p:nvPr/>
        </p:nvSpPr>
        <p:spPr>
          <a:xfrm>
            <a:off x="457200" y="108956"/>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3400"/>
              <a:buFont typeface="Georgia"/>
              <a:buNone/>
            </a:pPr>
            <a:r>
              <a:rPr lang="en-US" sz="3400" b="1" i="0" u="none" strike="noStrike" cap="none">
                <a:solidFill>
                  <a:srgbClr val="0C1A35"/>
                </a:solidFill>
                <a:latin typeface="Georgia"/>
                <a:ea typeface="Georgia"/>
                <a:cs typeface="Georgia"/>
                <a:sym typeface="Georgia"/>
              </a:rPr>
              <a:t>What's Next?</a:t>
            </a:r>
            <a:endParaRPr sz="3400" b="0" i="0" u="none" strike="noStrike" cap="none">
              <a:solidFill>
                <a:srgbClr val="0C1A35"/>
              </a:solidFill>
              <a:latin typeface="Calibri"/>
              <a:ea typeface="Calibri"/>
              <a:cs typeface="Calibri"/>
              <a:sym typeface="Calibri"/>
            </a:endParaRPr>
          </a:p>
        </p:txBody>
      </p:sp>
      <p:sp>
        <p:nvSpPr>
          <p:cNvPr id="719" name="Google Shape;719;p17"/>
          <p:cNvSpPr/>
          <p:nvPr/>
        </p:nvSpPr>
        <p:spPr>
          <a:xfrm>
            <a:off x="457200" y="623945"/>
            <a:ext cx="8229600" cy="32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FD7ED"/>
              </a:buClr>
              <a:buSzPts val="1400"/>
              <a:buFont typeface="Calibri"/>
              <a:buNone/>
            </a:pPr>
            <a:r>
              <a:rPr lang="en-US" sz="1400" b="0" i="1" u="none" strike="noStrike" cap="none" dirty="0">
                <a:solidFill>
                  <a:srgbClr val="0C1A35"/>
                </a:solidFill>
                <a:latin typeface="Calibri"/>
                <a:ea typeface="Calibri"/>
                <a:cs typeface="Calibri"/>
                <a:sym typeface="Calibri"/>
              </a:rPr>
              <a:t>Potential extensions to improve predictive power</a:t>
            </a:r>
            <a:endParaRPr sz="1400" b="0" i="0" u="none" strike="noStrike" cap="none" dirty="0">
              <a:solidFill>
                <a:srgbClr val="0C1A35"/>
              </a:solidFill>
              <a:latin typeface="Calibri"/>
              <a:ea typeface="Calibri"/>
              <a:cs typeface="Calibri"/>
              <a:sym typeface="Calibri"/>
            </a:endParaRPr>
          </a:p>
        </p:txBody>
      </p:sp>
      <p:sp>
        <p:nvSpPr>
          <p:cNvPr id="720" name="Google Shape;720;p17"/>
          <p:cNvSpPr/>
          <p:nvPr/>
        </p:nvSpPr>
        <p:spPr>
          <a:xfrm>
            <a:off x="342900" y="1000327"/>
            <a:ext cx="4114800" cy="1867500"/>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1" name="Google Shape;721;p17" descr="preencoded.png"/>
          <p:cNvPicPr preferRelativeResize="0"/>
          <p:nvPr/>
        </p:nvPicPr>
        <p:blipFill rotWithShape="1">
          <a:blip r:embed="rId3">
            <a:alphaModFix/>
          </a:blip>
          <a:srcRect/>
          <a:stretch/>
        </p:blipFill>
        <p:spPr>
          <a:xfrm>
            <a:off x="520126" y="1108900"/>
            <a:ext cx="475488" cy="475488"/>
          </a:xfrm>
          <a:prstGeom prst="rect">
            <a:avLst/>
          </a:prstGeom>
          <a:noFill/>
          <a:ln>
            <a:noFill/>
          </a:ln>
        </p:spPr>
      </p:pic>
      <p:sp>
        <p:nvSpPr>
          <p:cNvPr id="722" name="Google Shape;722;p17"/>
          <p:cNvSpPr/>
          <p:nvPr/>
        </p:nvSpPr>
        <p:spPr>
          <a:xfrm>
            <a:off x="1120140" y="1000327"/>
            <a:ext cx="3200400" cy="48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dirty="0">
                <a:solidFill>
                  <a:srgbClr val="2B6CB0"/>
                </a:solidFill>
                <a:latin typeface="Calibri"/>
                <a:ea typeface="Calibri"/>
                <a:cs typeface="Calibri"/>
                <a:sym typeface="Calibri"/>
              </a:rPr>
              <a:t>Geopolitical Risk Index</a:t>
            </a:r>
            <a:endParaRPr sz="1500" b="0" i="0" u="none" strike="noStrike" cap="none" dirty="0">
              <a:solidFill>
                <a:srgbClr val="2B6CB0"/>
              </a:solidFill>
              <a:latin typeface="Calibri"/>
              <a:ea typeface="Calibri"/>
              <a:cs typeface="Calibri"/>
              <a:sym typeface="Calibri"/>
            </a:endParaRPr>
          </a:p>
        </p:txBody>
      </p:sp>
      <p:sp>
        <p:nvSpPr>
          <p:cNvPr id="723" name="Google Shape;723;p17"/>
          <p:cNvSpPr/>
          <p:nvPr/>
        </p:nvSpPr>
        <p:spPr>
          <a:xfrm>
            <a:off x="4686300" y="1000327"/>
            <a:ext cx="4114800" cy="1867500"/>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4" name="Google Shape;724;p17" descr="preencoded.png"/>
          <p:cNvPicPr preferRelativeResize="0"/>
          <p:nvPr/>
        </p:nvPicPr>
        <p:blipFill rotWithShape="1">
          <a:blip r:embed="rId4">
            <a:alphaModFix/>
          </a:blip>
          <a:srcRect/>
          <a:stretch/>
        </p:blipFill>
        <p:spPr>
          <a:xfrm>
            <a:off x="4871026" y="1070962"/>
            <a:ext cx="475488" cy="564588"/>
          </a:xfrm>
          <a:prstGeom prst="rect">
            <a:avLst/>
          </a:prstGeom>
          <a:noFill/>
          <a:ln>
            <a:noFill/>
          </a:ln>
        </p:spPr>
      </p:pic>
      <p:sp>
        <p:nvSpPr>
          <p:cNvPr id="725" name="Google Shape;725;p17"/>
          <p:cNvSpPr/>
          <p:nvPr/>
        </p:nvSpPr>
        <p:spPr>
          <a:xfrm>
            <a:off x="5463540" y="994249"/>
            <a:ext cx="3200400" cy="48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dirty="0">
                <a:solidFill>
                  <a:srgbClr val="2B6CB0"/>
                </a:solidFill>
                <a:latin typeface="Calibri"/>
                <a:ea typeface="Calibri"/>
                <a:cs typeface="Calibri"/>
                <a:sym typeface="Calibri"/>
              </a:rPr>
              <a:t>Rolling Model Re-Estimation</a:t>
            </a:r>
            <a:endParaRPr sz="1300" b="0" i="0" u="none" strike="noStrike" cap="none" dirty="0">
              <a:solidFill>
                <a:srgbClr val="2B6CB0"/>
              </a:solidFill>
              <a:latin typeface="Calibri"/>
              <a:ea typeface="Calibri"/>
              <a:cs typeface="Calibri"/>
              <a:sym typeface="Calibri"/>
            </a:endParaRPr>
          </a:p>
        </p:txBody>
      </p:sp>
      <p:sp>
        <p:nvSpPr>
          <p:cNvPr id="729" name="Google Shape;729;p17"/>
          <p:cNvSpPr/>
          <p:nvPr/>
        </p:nvSpPr>
        <p:spPr>
          <a:xfrm>
            <a:off x="304100" y="3079997"/>
            <a:ext cx="4114800" cy="1993603"/>
          </a:xfrm>
          <a:prstGeom prst="rect">
            <a:avLst/>
          </a:prstGeom>
          <a:solidFill>
            <a:schemeClr val="lt1"/>
          </a:solidFill>
          <a:ln w="9525" cap="flat" cmpd="sng">
            <a:solidFill>
              <a:srgbClr val="166534"/>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30" name="Google Shape;730;p17" descr="preencoded.png"/>
          <p:cNvPicPr preferRelativeResize="0"/>
          <p:nvPr/>
        </p:nvPicPr>
        <p:blipFill rotWithShape="1">
          <a:blip r:embed="rId5">
            <a:alphaModFix/>
          </a:blip>
          <a:srcRect/>
          <a:stretch/>
        </p:blipFill>
        <p:spPr>
          <a:xfrm>
            <a:off x="488826" y="3239354"/>
            <a:ext cx="475488" cy="559203"/>
          </a:xfrm>
          <a:prstGeom prst="rect">
            <a:avLst/>
          </a:prstGeom>
          <a:noFill/>
          <a:ln>
            <a:noFill/>
          </a:ln>
        </p:spPr>
      </p:pic>
      <p:sp>
        <p:nvSpPr>
          <p:cNvPr id="731" name="Google Shape;731;p17"/>
          <p:cNvSpPr/>
          <p:nvPr/>
        </p:nvSpPr>
        <p:spPr>
          <a:xfrm>
            <a:off x="1081340" y="3050275"/>
            <a:ext cx="3200400" cy="48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dirty="0">
                <a:solidFill>
                  <a:srgbClr val="2B6CB0"/>
                </a:solidFill>
                <a:latin typeface="Calibri"/>
                <a:ea typeface="Calibri"/>
                <a:cs typeface="Calibri"/>
                <a:sym typeface="Calibri"/>
              </a:rPr>
              <a:t>Move to Country-Level EM Bonds</a:t>
            </a:r>
            <a:endParaRPr sz="1500" b="0" i="0" u="none" strike="noStrike" cap="none" dirty="0">
              <a:solidFill>
                <a:srgbClr val="2B6CB0"/>
              </a:solidFill>
              <a:latin typeface="Calibri"/>
              <a:ea typeface="Calibri"/>
              <a:cs typeface="Calibri"/>
              <a:sym typeface="Calibri"/>
            </a:endParaRPr>
          </a:p>
        </p:txBody>
      </p:sp>
      <p:sp>
        <p:nvSpPr>
          <p:cNvPr id="733" name="Google Shape;733;p17"/>
          <p:cNvSpPr/>
          <p:nvPr/>
        </p:nvSpPr>
        <p:spPr>
          <a:xfrm>
            <a:off x="1131130" y="1437313"/>
            <a:ext cx="32004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Caldara-Iacoviello GPR Index quantifies geopolitical/geoeconomic risk by analyzing international newspaper coverage. </a:t>
            </a:r>
          </a:p>
          <a:p>
            <a:pPr marL="342900" marR="0" lvl="0" indent="-342900" algn="l" rtl="0">
              <a:lnSpc>
                <a:spcPct val="90000"/>
              </a:lnSpc>
              <a:spcBef>
                <a:spcPts val="0"/>
              </a:spcBef>
              <a:spcAft>
                <a:spcPts val="0"/>
              </a:spcAft>
              <a:buClr>
                <a:srgbClr val="1E293B"/>
              </a:buClr>
              <a:buSzPts val="1100"/>
              <a:buFont typeface="Calibri"/>
              <a:buChar char="•"/>
            </a:pPr>
            <a:endParaRPr lang="en-US"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Current model does not capture geopolitical risk directly. </a:t>
            </a:r>
          </a:p>
          <a:p>
            <a:pPr marL="342900" marR="0" lvl="0" indent="-342900" algn="l" rtl="0">
              <a:lnSpc>
                <a:spcPct val="90000"/>
              </a:lnSpc>
              <a:spcBef>
                <a:spcPts val="0"/>
              </a:spcBef>
              <a:spcAft>
                <a:spcPts val="0"/>
              </a:spcAft>
              <a:buClr>
                <a:srgbClr val="1E293B"/>
              </a:buClr>
              <a:buSzPts val="1100"/>
              <a:buFont typeface="Calibri"/>
              <a:buChar char="•"/>
            </a:pPr>
            <a:endParaRPr lang="en-US" sz="1100"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Test if changes in geopolitical risk provide incremental out-of-sample predictive power.</a:t>
            </a:r>
          </a:p>
        </p:txBody>
      </p:sp>
      <p:sp>
        <p:nvSpPr>
          <p:cNvPr id="734" name="Google Shape;734;p17"/>
          <p:cNvSpPr/>
          <p:nvPr/>
        </p:nvSpPr>
        <p:spPr>
          <a:xfrm>
            <a:off x="5463540" y="1340826"/>
            <a:ext cx="3200400" cy="1522187"/>
          </a:xfrm>
          <a:prstGeom prst="rect">
            <a:avLst/>
          </a:prstGeom>
          <a:noFill/>
          <a:ln>
            <a:noFill/>
          </a:ln>
        </p:spPr>
        <p:txBody>
          <a:bodyPr spcFirstLastPara="1" wrap="square" lIns="25400" tIns="50800" rIns="0" bIns="0" anchor="t" anchorCtr="0">
            <a:noAutofit/>
          </a:bodyPr>
          <a:lstStyle/>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The current 70/30 split assumes factor relationships remain stable over the entire period.</a:t>
            </a:r>
          </a:p>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Relationships among factors may change as market regimes and monetary conditions evolve.</a:t>
            </a:r>
          </a:p>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Re-estimate the model periodically using </a:t>
            </a:r>
            <a:r>
              <a:rPr lang="en-US" sz="1100" dirty="0">
                <a:solidFill>
                  <a:srgbClr val="1E293B"/>
                </a:solidFill>
                <a:latin typeface="Calibri"/>
                <a:ea typeface="Calibri"/>
                <a:cs typeface="Calibri"/>
                <a:sym typeface="Calibri"/>
              </a:rPr>
              <a:t>a </a:t>
            </a:r>
            <a:r>
              <a:rPr lang="en-US" sz="1100" b="0" i="0" u="none" strike="noStrike" cap="none" dirty="0">
                <a:solidFill>
                  <a:srgbClr val="1E293B"/>
                </a:solidFill>
                <a:latin typeface="Calibri"/>
                <a:ea typeface="Calibri"/>
                <a:cs typeface="Calibri"/>
                <a:sym typeface="Calibri"/>
              </a:rPr>
              <a:t>rolling window </a:t>
            </a:r>
            <a:r>
              <a:rPr lang="en-US" sz="1100" dirty="0">
                <a:solidFill>
                  <a:srgbClr val="1E293B"/>
                </a:solidFill>
                <a:latin typeface="Calibri"/>
                <a:ea typeface="Calibri"/>
                <a:cs typeface="Calibri"/>
                <a:sym typeface="Calibri"/>
              </a:rPr>
              <a:t>to account for changing factor relationships over time. </a:t>
            </a:r>
            <a:endParaRPr sz="1100" b="0" i="0" u="none" strike="noStrike" cap="none" dirty="0">
              <a:solidFill>
                <a:srgbClr val="1E293B"/>
              </a:solidFill>
              <a:latin typeface="Calibri"/>
              <a:ea typeface="Calibri"/>
              <a:cs typeface="Calibri"/>
              <a:sym typeface="Calibri"/>
            </a:endParaRPr>
          </a:p>
        </p:txBody>
      </p:sp>
      <p:sp>
        <p:nvSpPr>
          <p:cNvPr id="735" name="Google Shape;735;p17"/>
          <p:cNvSpPr/>
          <p:nvPr/>
        </p:nvSpPr>
        <p:spPr>
          <a:xfrm>
            <a:off x="1081329" y="3411648"/>
            <a:ext cx="3200400" cy="1533664"/>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EMB aggregates bonds across countries with very different exposures to commodities, geopolitics, currencies, and capital flows.</a:t>
            </a:r>
          </a:p>
          <a:p>
            <a:pPr marL="342900" marR="0" lvl="0" indent="-342900" algn="l" rtl="0">
              <a:lnSpc>
                <a:spcPct val="90000"/>
              </a:lnSpc>
              <a:spcBef>
                <a:spcPts val="0"/>
              </a:spcBef>
              <a:spcAft>
                <a:spcPts val="0"/>
              </a:spcAft>
              <a:buClr>
                <a:srgbClr val="1E293B"/>
              </a:buClr>
              <a:buSzPts val="1100"/>
              <a:buFont typeface="Calibri"/>
              <a:buChar char="•"/>
            </a:pPr>
            <a:endParaRPr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Aggregation dilutes country-specific relationships between macro shocks and bond returns.</a:t>
            </a:r>
          </a:p>
          <a:p>
            <a:pPr marL="342900" marR="0" lvl="0" indent="-342900" algn="l" rtl="0">
              <a:lnSpc>
                <a:spcPct val="90000"/>
              </a:lnSpc>
              <a:spcBef>
                <a:spcPts val="0"/>
              </a:spcBef>
              <a:spcAft>
                <a:spcPts val="0"/>
              </a:spcAft>
              <a:buClr>
                <a:srgbClr val="1E293B"/>
              </a:buClr>
              <a:buSzPts val="1100"/>
              <a:buFont typeface="Calibri"/>
              <a:buChar char="•"/>
            </a:pPr>
            <a:endParaRPr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Extend the strategy to country-specific EM bond indices and construct a </a:t>
            </a:r>
            <a:r>
              <a:rPr lang="en-US" sz="1100" dirty="0">
                <a:solidFill>
                  <a:srgbClr val="1E293B"/>
                </a:solidFill>
                <a:latin typeface="Calibri"/>
                <a:ea typeface="Calibri"/>
                <a:cs typeface="Calibri"/>
                <a:sym typeface="Calibri"/>
              </a:rPr>
              <a:t>portfolio </a:t>
            </a:r>
            <a:r>
              <a:rPr lang="en-US" sz="1100" b="0" i="0" u="none" strike="noStrike" cap="none" dirty="0">
                <a:solidFill>
                  <a:srgbClr val="1E293B"/>
                </a:solidFill>
                <a:latin typeface="Calibri"/>
                <a:ea typeface="Calibri"/>
                <a:cs typeface="Calibri"/>
                <a:sym typeface="Calibri"/>
              </a:rPr>
              <a:t>based on predicted returns. </a:t>
            </a:r>
          </a:p>
        </p:txBody>
      </p:sp>
      <p:sp>
        <p:nvSpPr>
          <p:cNvPr id="736" name="Google Shape;736;p17"/>
          <p:cNvSpPr/>
          <p:nvPr/>
        </p:nvSpPr>
        <p:spPr>
          <a:xfrm>
            <a:off x="304100" y="994250"/>
            <a:ext cx="91500" cy="18903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17"/>
          <p:cNvSpPr/>
          <p:nvPr/>
        </p:nvSpPr>
        <p:spPr>
          <a:xfrm>
            <a:off x="4662500" y="994250"/>
            <a:ext cx="91500" cy="18903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17"/>
          <p:cNvSpPr/>
          <p:nvPr/>
        </p:nvSpPr>
        <p:spPr>
          <a:xfrm>
            <a:off x="304111" y="3081616"/>
            <a:ext cx="91489" cy="1987723"/>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Google Shape;729;p17">
            <a:extLst>
              <a:ext uri="{FF2B5EF4-FFF2-40B4-BE49-F238E27FC236}">
                <a16:creationId xmlns:a16="http://schemas.microsoft.com/office/drawing/2014/main" id="{A797D4AD-EC9E-69DE-1C08-19A5358B5385}"/>
              </a:ext>
            </a:extLst>
          </p:cNvPr>
          <p:cNvSpPr/>
          <p:nvPr/>
        </p:nvSpPr>
        <p:spPr>
          <a:xfrm>
            <a:off x="4686300" y="3075736"/>
            <a:ext cx="4114800" cy="1993603"/>
          </a:xfrm>
          <a:prstGeom prst="rect">
            <a:avLst/>
          </a:prstGeom>
          <a:solidFill>
            <a:schemeClr val="lt1"/>
          </a:solidFill>
          <a:ln w="9525" cap="flat" cmpd="sng">
            <a:solidFill>
              <a:srgbClr val="166534"/>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Google Shape;730;p17" descr="preencoded.png">
            <a:extLst>
              <a:ext uri="{FF2B5EF4-FFF2-40B4-BE49-F238E27FC236}">
                <a16:creationId xmlns:a16="http://schemas.microsoft.com/office/drawing/2014/main" id="{2C437421-D879-FBD1-F845-6230B3421427}"/>
              </a:ext>
            </a:extLst>
          </p:cNvPr>
          <p:cNvPicPr preferRelativeResize="0"/>
          <p:nvPr/>
        </p:nvPicPr>
        <p:blipFill rotWithShape="1">
          <a:blip r:embed="rId5">
            <a:alphaModFix/>
          </a:blip>
          <a:srcRect/>
          <a:stretch/>
        </p:blipFill>
        <p:spPr>
          <a:xfrm>
            <a:off x="4871026" y="3235093"/>
            <a:ext cx="475488" cy="559203"/>
          </a:xfrm>
          <a:prstGeom prst="rect">
            <a:avLst/>
          </a:prstGeom>
          <a:noFill/>
          <a:ln>
            <a:noFill/>
          </a:ln>
        </p:spPr>
      </p:pic>
      <p:sp>
        <p:nvSpPr>
          <p:cNvPr id="7" name="Google Shape;731;p17">
            <a:extLst>
              <a:ext uri="{FF2B5EF4-FFF2-40B4-BE49-F238E27FC236}">
                <a16:creationId xmlns:a16="http://schemas.microsoft.com/office/drawing/2014/main" id="{A94FD700-C99F-710A-49B3-F0B28824878E}"/>
              </a:ext>
            </a:extLst>
          </p:cNvPr>
          <p:cNvSpPr/>
          <p:nvPr/>
        </p:nvSpPr>
        <p:spPr>
          <a:xfrm>
            <a:off x="5463540" y="3046014"/>
            <a:ext cx="3200400" cy="48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dirty="0">
                <a:solidFill>
                  <a:srgbClr val="2B6CB0"/>
                </a:solidFill>
                <a:latin typeface="Calibri"/>
                <a:ea typeface="Calibri"/>
                <a:cs typeface="Calibri"/>
                <a:sym typeface="Calibri"/>
              </a:rPr>
              <a:t>Add USD/EM-FX Factor</a:t>
            </a:r>
            <a:endParaRPr sz="1500" b="0" i="0" u="none" strike="noStrike" cap="none" dirty="0">
              <a:solidFill>
                <a:srgbClr val="2B6CB0"/>
              </a:solidFill>
              <a:latin typeface="Calibri"/>
              <a:ea typeface="Calibri"/>
              <a:cs typeface="Calibri"/>
              <a:sym typeface="Calibri"/>
            </a:endParaRPr>
          </a:p>
        </p:txBody>
      </p:sp>
      <p:sp>
        <p:nvSpPr>
          <p:cNvPr id="9" name="Google Shape;735;p17">
            <a:extLst>
              <a:ext uri="{FF2B5EF4-FFF2-40B4-BE49-F238E27FC236}">
                <a16:creationId xmlns:a16="http://schemas.microsoft.com/office/drawing/2014/main" id="{DDB6795E-108E-68F2-27EF-36A0C27D7795}"/>
              </a:ext>
            </a:extLst>
          </p:cNvPr>
          <p:cNvSpPr/>
          <p:nvPr/>
        </p:nvSpPr>
        <p:spPr>
          <a:xfrm>
            <a:off x="5463529" y="3407386"/>
            <a:ext cx="3200400" cy="1736113"/>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A stronger U.S. dollar can increase the local-currency burden of servicing USD-denominated debt for emerging-market sovereigns.</a:t>
            </a:r>
          </a:p>
          <a:p>
            <a:pPr marL="342900" marR="0" lvl="0" indent="-342900" algn="l" rtl="0">
              <a:lnSpc>
                <a:spcPct val="90000"/>
              </a:lnSpc>
              <a:spcBef>
                <a:spcPts val="0"/>
              </a:spcBef>
              <a:spcAft>
                <a:spcPts val="0"/>
              </a:spcAft>
              <a:buClr>
                <a:srgbClr val="1E293B"/>
              </a:buClr>
              <a:buSzPts val="1100"/>
              <a:buFont typeface="Calibri"/>
              <a:buChar char="•"/>
            </a:pPr>
            <a:endParaRPr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More </a:t>
            </a:r>
            <a:r>
              <a:rPr lang="en-US" sz="1100" b="0" i="0" u="none" strike="noStrike" cap="none" dirty="0">
                <a:solidFill>
                  <a:srgbClr val="1E293B"/>
                </a:solidFill>
                <a:latin typeface="Calibri"/>
                <a:ea typeface="Calibri"/>
                <a:cs typeface="Calibri"/>
                <a:sym typeface="Calibri"/>
              </a:rPr>
              <a:t>pressure on sovereign bond prices due to  </a:t>
            </a:r>
            <a:r>
              <a:rPr lang="en-US" sz="1100" dirty="0">
                <a:solidFill>
                  <a:srgbClr val="1E293B"/>
                </a:solidFill>
                <a:latin typeface="Calibri"/>
                <a:ea typeface="Calibri"/>
                <a:cs typeface="Calibri"/>
                <a:sym typeface="Calibri"/>
              </a:rPr>
              <a:t>higher</a:t>
            </a:r>
            <a:r>
              <a:rPr lang="en-US" sz="1100" b="0" i="0" u="none" strike="noStrike" cap="none" dirty="0">
                <a:solidFill>
                  <a:srgbClr val="1E293B"/>
                </a:solidFill>
                <a:latin typeface="Calibri"/>
                <a:ea typeface="Calibri"/>
                <a:cs typeface="Calibri"/>
                <a:sym typeface="Calibri"/>
              </a:rPr>
              <a:t> capital outflows and tighter financial conditions in emerging markets. </a:t>
            </a:r>
          </a:p>
          <a:p>
            <a:pPr marL="342900" marR="0" lvl="0" indent="-342900" algn="l" rtl="0">
              <a:lnSpc>
                <a:spcPct val="90000"/>
              </a:lnSpc>
              <a:spcBef>
                <a:spcPts val="0"/>
              </a:spcBef>
              <a:spcAft>
                <a:spcPts val="0"/>
              </a:spcAft>
              <a:buClr>
                <a:srgbClr val="1E293B"/>
              </a:buClr>
              <a:buSzPts val="1100"/>
              <a:buFont typeface="Calibri"/>
              <a:buChar char="•"/>
            </a:pPr>
            <a:endParaRPr lang="en-US" sz="1100" dirty="0">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dirty="0">
                <a:solidFill>
                  <a:srgbClr val="1E293B"/>
                </a:solidFill>
                <a:latin typeface="Calibri"/>
                <a:ea typeface="Calibri"/>
                <a:cs typeface="Calibri"/>
                <a:sym typeface="Calibri"/>
              </a:rPr>
              <a:t>A </a:t>
            </a:r>
            <a:r>
              <a:rPr lang="en-US" sz="1100" b="0" i="0" u="none" strike="noStrike" cap="none" dirty="0">
                <a:solidFill>
                  <a:srgbClr val="1E293B"/>
                </a:solidFill>
                <a:latin typeface="Calibri"/>
                <a:ea typeface="Calibri"/>
                <a:cs typeface="Calibri"/>
                <a:sym typeface="Calibri"/>
              </a:rPr>
              <a:t>USD or EM-FX factor could help capture the effect of dollar strength and EM currency flows.</a:t>
            </a:r>
          </a:p>
          <a:p>
            <a:pPr marL="342900" marR="0" lvl="0" indent="-342900" algn="l" rtl="0">
              <a:lnSpc>
                <a:spcPct val="90000"/>
              </a:lnSpc>
              <a:spcBef>
                <a:spcPts val="0"/>
              </a:spcBef>
              <a:spcAft>
                <a:spcPts val="0"/>
              </a:spcAft>
              <a:buClr>
                <a:srgbClr val="1E293B"/>
              </a:buClr>
              <a:buSzPts val="1100"/>
              <a:buFont typeface="Calibri"/>
              <a:buChar char="•"/>
            </a:pPr>
            <a:endParaRPr sz="1100" b="0" i="0" u="none" strike="noStrike" cap="none" dirty="0">
              <a:solidFill>
                <a:srgbClr val="1E293B"/>
              </a:solidFill>
              <a:latin typeface="Calibri"/>
              <a:ea typeface="Calibri"/>
              <a:cs typeface="Calibri"/>
              <a:sym typeface="Calibri"/>
            </a:endParaRPr>
          </a:p>
        </p:txBody>
      </p:sp>
      <p:sp>
        <p:nvSpPr>
          <p:cNvPr id="11" name="Google Shape;739;p17">
            <a:extLst>
              <a:ext uri="{FF2B5EF4-FFF2-40B4-BE49-F238E27FC236}">
                <a16:creationId xmlns:a16="http://schemas.microsoft.com/office/drawing/2014/main" id="{409A5798-BE7D-E418-48DA-EBB8FCA52896}"/>
              </a:ext>
            </a:extLst>
          </p:cNvPr>
          <p:cNvSpPr/>
          <p:nvPr/>
        </p:nvSpPr>
        <p:spPr>
          <a:xfrm>
            <a:off x="4694535" y="3092459"/>
            <a:ext cx="91489" cy="2021706"/>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7">
          <a:extLst>
            <a:ext uri="{FF2B5EF4-FFF2-40B4-BE49-F238E27FC236}">
              <a16:creationId xmlns:a16="http://schemas.microsoft.com/office/drawing/2014/main" id="{CBF864EF-3FFD-F2F6-FD3C-91788ED49C56}"/>
            </a:ext>
          </a:extLst>
        </p:cNvPr>
        <p:cNvGrpSpPr/>
        <p:nvPr/>
      </p:nvGrpSpPr>
      <p:grpSpPr>
        <a:xfrm>
          <a:off x="0" y="0"/>
          <a:ext cx="0" cy="0"/>
          <a:chOff x="0" y="0"/>
          <a:chExt cx="0" cy="0"/>
        </a:xfrm>
      </p:grpSpPr>
      <p:sp>
        <p:nvSpPr>
          <p:cNvPr id="718" name="Google Shape;718;p17">
            <a:extLst>
              <a:ext uri="{FF2B5EF4-FFF2-40B4-BE49-F238E27FC236}">
                <a16:creationId xmlns:a16="http://schemas.microsoft.com/office/drawing/2014/main" id="{441E6B22-DC84-8BF9-68B4-C068975E641B}"/>
              </a:ext>
            </a:extLst>
          </p:cNvPr>
          <p:cNvSpPr/>
          <p:nvPr/>
        </p:nvSpPr>
        <p:spPr>
          <a:xfrm>
            <a:off x="457200" y="108956"/>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3400"/>
              <a:buFont typeface="Georgia"/>
              <a:buNone/>
            </a:pPr>
            <a:r>
              <a:rPr lang="en-US" sz="3400" b="1" i="0" u="none" strike="noStrike" cap="none" dirty="0">
                <a:solidFill>
                  <a:srgbClr val="0C1A35"/>
                </a:solidFill>
                <a:latin typeface="Georgia"/>
                <a:ea typeface="Georgia"/>
                <a:cs typeface="Georgia"/>
                <a:sym typeface="Georgia"/>
              </a:rPr>
              <a:t>Key Takeaways</a:t>
            </a:r>
            <a:endParaRPr sz="3400" b="0" i="0" u="none" strike="noStrike" cap="none" dirty="0">
              <a:solidFill>
                <a:srgbClr val="0C1A35"/>
              </a:solidFill>
              <a:latin typeface="Calibri"/>
              <a:ea typeface="Calibri"/>
              <a:cs typeface="Calibri"/>
              <a:sym typeface="Calibri"/>
            </a:endParaRPr>
          </a:p>
        </p:txBody>
      </p:sp>
      <p:sp>
        <p:nvSpPr>
          <p:cNvPr id="719" name="Google Shape;719;p17">
            <a:extLst>
              <a:ext uri="{FF2B5EF4-FFF2-40B4-BE49-F238E27FC236}">
                <a16:creationId xmlns:a16="http://schemas.microsoft.com/office/drawing/2014/main" id="{AAD6E65A-3794-7C55-027F-1B78EF11EAC1}"/>
              </a:ext>
            </a:extLst>
          </p:cNvPr>
          <p:cNvSpPr/>
          <p:nvPr/>
        </p:nvSpPr>
        <p:spPr>
          <a:xfrm>
            <a:off x="457200" y="623945"/>
            <a:ext cx="8229600" cy="32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FD7ED"/>
              </a:buClr>
              <a:buSzPts val="1400"/>
              <a:buFont typeface="Calibri"/>
              <a:buNone/>
            </a:pPr>
            <a:r>
              <a:rPr lang="en-US" i="1" dirty="0">
                <a:solidFill>
                  <a:srgbClr val="0C1A35"/>
                </a:solidFill>
                <a:latin typeface="Calibri"/>
                <a:ea typeface="Calibri"/>
                <a:cs typeface="Calibri"/>
                <a:sym typeface="Calibri"/>
              </a:rPr>
              <a:t>Main</a:t>
            </a:r>
            <a:r>
              <a:rPr lang="en-US" sz="1400" b="0" i="1" u="none" strike="noStrike" cap="none" dirty="0">
                <a:solidFill>
                  <a:srgbClr val="0C1A35"/>
                </a:solidFill>
                <a:latin typeface="Calibri"/>
                <a:ea typeface="Calibri"/>
                <a:cs typeface="Calibri"/>
                <a:sym typeface="Calibri"/>
              </a:rPr>
              <a:t> Lessons Learned</a:t>
            </a:r>
            <a:endParaRPr lang="en-US" sz="1400" b="0" i="0" u="none" strike="noStrike" cap="none" dirty="0">
              <a:solidFill>
                <a:srgbClr val="0C1A35"/>
              </a:solidFill>
              <a:latin typeface="Calibri"/>
              <a:ea typeface="Calibri"/>
              <a:cs typeface="Calibri"/>
              <a:sym typeface="Calibri"/>
            </a:endParaRPr>
          </a:p>
        </p:txBody>
      </p:sp>
      <p:sp>
        <p:nvSpPr>
          <p:cNvPr id="720" name="Google Shape;720;p17">
            <a:extLst>
              <a:ext uri="{FF2B5EF4-FFF2-40B4-BE49-F238E27FC236}">
                <a16:creationId xmlns:a16="http://schemas.microsoft.com/office/drawing/2014/main" id="{E30C7E0B-429C-BBF0-81A4-3369F42226A4}"/>
              </a:ext>
            </a:extLst>
          </p:cNvPr>
          <p:cNvSpPr/>
          <p:nvPr/>
        </p:nvSpPr>
        <p:spPr>
          <a:xfrm>
            <a:off x="342900" y="1000326"/>
            <a:ext cx="8649846" cy="3908557"/>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33" name="Google Shape;733;p17">
            <a:extLst>
              <a:ext uri="{FF2B5EF4-FFF2-40B4-BE49-F238E27FC236}">
                <a16:creationId xmlns:a16="http://schemas.microsoft.com/office/drawing/2014/main" id="{F445FA6D-9EA1-074B-F612-5D8B2575F98F}"/>
              </a:ext>
            </a:extLst>
          </p:cNvPr>
          <p:cNvSpPr/>
          <p:nvPr/>
        </p:nvSpPr>
        <p:spPr>
          <a:xfrm>
            <a:off x="476822" y="1663748"/>
            <a:ext cx="8535547" cy="3169507"/>
          </a:xfrm>
          <a:prstGeom prst="rect">
            <a:avLst/>
          </a:prstGeom>
          <a:noFill/>
          <a:ln>
            <a:noFill/>
          </a:ln>
        </p:spPr>
        <p:txBody>
          <a:bodyPr spcFirstLastPara="1" wrap="square" lIns="25400" tIns="50800" rIns="0" bIns="0" anchor="t" anchorCtr="0">
            <a:noAutofit/>
          </a:bodyPr>
          <a:lstStyle/>
          <a:p>
            <a:r>
              <a:rPr lang="en-US" sz="1100" b="1" dirty="0"/>
              <a:t>1. Statistical Fit ≠ Trading Performance</a:t>
            </a:r>
          </a:p>
          <a:p>
            <a:pPr marL="171450" indent="-171450">
              <a:buFont typeface="Arial" panose="020B0604020202020204" pitchFamily="34" charset="0"/>
              <a:buChar char="•"/>
            </a:pPr>
            <a:r>
              <a:rPr lang="en-US" sz="1100" dirty="0"/>
              <a:t>All models had negative test R², showing that next-day EMB return magnitudes are difficult to predict. However, the multifactor models generated substantially stronger risk-adjusted trading performance.</a:t>
            </a:r>
          </a:p>
          <a:p>
            <a:pPr marL="342900" marR="0" lvl="0" indent="-342900" algn="l" rtl="0">
              <a:lnSpc>
                <a:spcPct val="90000"/>
              </a:lnSpc>
              <a:spcBef>
                <a:spcPts val="0"/>
              </a:spcBef>
              <a:spcAft>
                <a:spcPts val="0"/>
              </a:spcAft>
              <a:buClr>
                <a:srgbClr val="1E293B"/>
              </a:buClr>
              <a:buSzPts val="1100"/>
              <a:buFont typeface="Calibri"/>
              <a:buChar char="•"/>
            </a:pPr>
            <a:endParaRPr lang="en-US" sz="1100" b="0" i="0" u="none" strike="noStrike" cap="none" dirty="0">
              <a:solidFill>
                <a:srgbClr val="1E293B"/>
              </a:solidFill>
              <a:latin typeface="Calibri"/>
              <a:ea typeface="Calibri"/>
              <a:cs typeface="Calibri"/>
              <a:sym typeface="Calibri"/>
            </a:endParaRPr>
          </a:p>
          <a:p>
            <a:r>
              <a:rPr lang="en-US" sz="1100" b="1" dirty="0"/>
              <a:t>2. Combining Factors Improved the Trading Signal</a:t>
            </a:r>
          </a:p>
          <a:p>
            <a:pPr marL="171450" indent="-171450">
              <a:buFont typeface="Arial" panose="020B0604020202020204" pitchFamily="34" charset="0"/>
              <a:buChar char="•"/>
            </a:pPr>
            <a:r>
              <a:rPr lang="en-US" sz="1100" dirty="0"/>
              <a:t>VIX alone produced limited economic value, while combining VIX, credit spreads, and oil generated a much stronger trading strategy.</a:t>
            </a:r>
          </a:p>
          <a:p>
            <a:pPr marL="342900" marR="0" lvl="0" indent="-342900" algn="l" rtl="0">
              <a:lnSpc>
                <a:spcPct val="90000"/>
              </a:lnSpc>
              <a:spcBef>
                <a:spcPts val="0"/>
              </a:spcBef>
              <a:spcAft>
                <a:spcPts val="0"/>
              </a:spcAft>
              <a:buClr>
                <a:srgbClr val="1E293B"/>
              </a:buClr>
              <a:buSzPts val="1100"/>
              <a:buFont typeface="Calibri"/>
              <a:buChar char="•"/>
            </a:pPr>
            <a:endParaRPr lang="en-US" sz="1100" dirty="0">
              <a:solidFill>
                <a:srgbClr val="1E293B"/>
              </a:solidFill>
              <a:latin typeface="Calibri"/>
              <a:ea typeface="Calibri"/>
              <a:cs typeface="Calibri"/>
              <a:sym typeface="Calibri"/>
            </a:endParaRPr>
          </a:p>
          <a:p>
            <a:r>
              <a:rPr lang="en-US" sz="1100" b="1" dirty="0"/>
              <a:t>3. Ridge Provided a Modest Improvement</a:t>
            </a:r>
          </a:p>
          <a:p>
            <a:pPr marL="171450" indent="-171450">
              <a:buFont typeface="Arial" panose="020B0604020202020204" pitchFamily="34" charset="0"/>
              <a:buChar char="•"/>
            </a:pPr>
            <a:r>
              <a:rPr lang="en-US" sz="1100" dirty="0"/>
              <a:t>Ridge regularization slightly improved both out-of-sample R² and Sharpe relative to the unregularized 3-factor model, suggesting some benefit from coefficient shrinkage.</a:t>
            </a:r>
          </a:p>
          <a:p>
            <a:pPr marL="171450" indent="-171450">
              <a:buFont typeface="Arial" panose="020B0604020202020204" pitchFamily="34" charset="0"/>
              <a:buChar char="•"/>
            </a:pPr>
            <a:endParaRPr lang="en-US" sz="1100" b="1" dirty="0"/>
          </a:p>
          <a:p>
            <a:r>
              <a:rPr lang="en-US" sz="1100" b="1" dirty="0"/>
              <a:t>4. Results Are Promising, but Not Yet a Deployable Strategy</a:t>
            </a:r>
          </a:p>
          <a:p>
            <a:pPr marL="171450" indent="-171450">
              <a:buFont typeface="Arial" panose="020B0604020202020204" pitchFamily="34" charset="0"/>
              <a:buChar char="•"/>
            </a:pPr>
            <a:r>
              <a:rPr lang="en-US" sz="1100" dirty="0"/>
              <a:t>The Ridge strategy ended the test period at approximately 1.138 versus 1.090 for buy-and-hold, but transaction costs, cash returns, and EMB distributions are not incorporated.</a:t>
            </a:r>
          </a:p>
          <a:p>
            <a:pPr marL="171450" indent="-171450">
              <a:buFont typeface="Arial" panose="020B0604020202020204" pitchFamily="34" charset="0"/>
              <a:buChar char="•"/>
            </a:pPr>
            <a:endParaRPr lang="en-US" sz="1100" dirty="0"/>
          </a:p>
        </p:txBody>
      </p:sp>
      <p:sp>
        <p:nvSpPr>
          <p:cNvPr id="736" name="Google Shape;736;p17">
            <a:extLst>
              <a:ext uri="{FF2B5EF4-FFF2-40B4-BE49-F238E27FC236}">
                <a16:creationId xmlns:a16="http://schemas.microsoft.com/office/drawing/2014/main" id="{178CC656-0A50-65EC-5C44-A880DD136299}"/>
              </a:ext>
            </a:extLst>
          </p:cNvPr>
          <p:cNvSpPr/>
          <p:nvPr/>
        </p:nvSpPr>
        <p:spPr>
          <a:xfrm>
            <a:off x="304099" y="994250"/>
            <a:ext cx="192345" cy="3956276"/>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Google Shape;721;p17" descr="preencoded.png">
            <a:extLst>
              <a:ext uri="{FF2B5EF4-FFF2-40B4-BE49-F238E27FC236}">
                <a16:creationId xmlns:a16="http://schemas.microsoft.com/office/drawing/2014/main" id="{2C266ECE-675C-120D-01E9-E0DE09C130E4}"/>
              </a:ext>
            </a:extLst>
          </p:cNvPr>
          <p:cNvPicPr preferRelativeResize="0"/>
          <p:nvPr/>
        </p:nvPicPr>
        <p:blipFill rotWithShape="1">
          <a:blip r:embed="rId3">
            <a:alphaModFix/>
          </a:blip>
          <a:srcRect/>
          <a:stretch/>
        </p:blipFill>
        <p:spPr>
          <a:xfrm>
            <a:off x="520126" y="1108900"/>
            <a:ext cx="475488" cy="475488"/>
          </a:xfrm>
          <a:prstGeom prst="rect">
            <a:avLst/>
          </a:prstGeom>
          <a:noFill/>
          <a:ln>
            <a:noFill/>
          </a:ln>
        </p:spPr>
      </p:pic>
    </p:spTree>
    <p:extLst>
      <p:ext uri="{BB962C8B-B14F-4D97-AF65-F5344CB8AC3E}">
        <p14:creationId xmlns:p14="http://schemas.microsoft.com/office/powerpoint/2010/main" val="1023739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8364E"/>
        </a:solidFill>
        <a:effectLst/>
      </p:bgPr>
    </p:bg>
    <p:spTree>
      <p:nvGrpSpPr>
        <p:cNvPr id="1" name="Shape 744"/>
        <p:cNvGrpSpPr/>
        <p:nvPr/>
      </p:nvGrpSpPr>
      <p:grpSpPr>
        <a:xfrm>
          <a:off x="0" y="0"/>
          <a:ext cx="0" cy="0"/>
          <a:chOff x="0" y="0"/>
          <a:chExt cx="0" cy="0"/>
        </a:xfrm>
      </p:grpSpPr>
      <p:sp>
        <p:nvSpPr>
          <p:cNvPr id="745" name="Google Shape;745;p18"/>
          <p:cNvSpPr/>
          <p:nvPr/>
        </p:nvSpPr>
        <p:spPr>
          <a:xfrm>
            <a:off x="0" y="0"/>
            <a:ext cx="146304" cy="51435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18"/>
          <p:cNvSpPr/>
          <p:nvPr/>
        </p:nvSpPr>
        <p:spPr>
          <a:xfrm>
            <a:off x="0" y="4586150"/>
            <a:ext cx="9144000" cy="557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18"/>
          <p:cNvSpPr/>
          <p:nvPr/>
        </p:nvSpPr>
        <p:spPr>
          <a:xfrm>
            <a:off x="457200" y="640080"/>
            <a:ext cx="6400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5200"/>
              <a:buFont typeface="Georgia"/>
              <a:buNone/>
            </a:pPr>
            <a:r>
              <a:rPr lang="en-US" sz="5200" b="1" i="0" u="none" strike="noStrike" cap="none">
                <a:solidFill>
                  <a:schemeClr val="lt1"/>
                </a:solidFill>
                <a:latin typeface="Georgia"/>
                <a:ea typeface="Georgia"/>
                <a:cs typeface="Georgia"/>
                <a:sym typeface="Georgia"/>
              </a:rPr>
              <a:t>Thank You</a:t>
            </a:r>
            <a:endParaRPr sz="5200" b="0" i="0" u="none" strike="noStrike" cap="none">
              <a:solidFill>
                <a:schemeClr val="lt1"/>
              </a:solidFill>
              <a:latin typeface="Calibri"/>
              <a:ea typeface="Calibri"/>
              <a:cs typeface="Calibri"/>
              <a:sym typeface="Calibri"/>
            </a:endParaRPr>
          </a:p>
        </p:txBody>
      </p:sp>
      <p:sp>
        <p:nvSpPr>
          <p:cNvPr id="748" name="Google Shape;748;p18"/>
          <p:cNvSpPr/>
          <p:nvPr/>
        </p:nvSpPr>
        <p:spPr>
          <a:xfrm>
            <a:off x="457200" y="1417320"/>
            <a:ext cx="6400800" cy="6400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3600"/>
              <a:buFont typeface="Georgia"/>
              <a:buNone/>
            </a:pPr>
            <a:r>
              <a:rPr lang="en-US" sz="3600" b="0" i="0" u="none" strike="noStrike" cap="none">
                <a:solidFill>
                  <a:srgbClr val="E8A020"/>
                </a:solidFill>
                <a:latin typeface="Georgia"/>
                <a:ea typeface="Georgia"/>
                <a:cs typeface="Georgia"/>
                <a:sym typeface="Georgia"/>
              </a:rPr>
              <a:t>Questions?</a:t>
            </a:r>
            <a:endParaRPr sz="3600" b="0" i="0" u="none" strike="noStrike" cap="none">
              <a:solidFill>
                <a:schemeClr val="dk1"/>
              </a:solidFill>
              <a:latin typeface="Calibri"/>
              <a:ea typeface="Calibri"/>
              <a:cs typeface="Calibri"/>
              <a:sym typeface="Calibri"/>
            </a:endParaRPr>
          </a:p>
        </p:txBody>
      </p:sp>
      <p:sp>
        <p:nvSpPr>
          <p:cNvPr id="756" name="Google Shape;756;p18"/>
          <p:cNvSpPr/>
          <p:nvPr/>
        </p:nvSpPr>
        <p:spPr>
          <a:xfrm>
            <a:off x="1353240" y="2384753"/>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endParaRPr sz="3500" b="0" i="0" u="none" strike="noStrike" cap="none" dirty="0">
              <a:solidFill>
                <a:schemeClr val="dk1"/>
              </a:solidFill>
              <a:latin typeface="Calibri"/>
              <a:ea typeface="Calibri"/>
              <a:cs typeface="Calibri"/>
              <a:sym typeface="Calibri"/>
            </a:endParaRPr>
          </a:p>
        </p:txBody>
      </p:sp>
      <p:sp>
        <p:nvSpPr>
          <p:cNvPr id="758" name="Google Shape;758;p18"/>
          <p:cNvSpPr/>
          <p:nvPr/>
        </p:nvSpPr>
        <p:spPr>
          <a:xfrm>
            <a:off x="3502080" y="2329889"/>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8"/>
          <p:cNvSpPr/>
          <p:nvPr/>
        </p:nvSpPr>
        <p:spPr>
          <a:xfrm>
            <a:off x="3502080" y="2296559"/>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2500" b="1" i="0" u="none" strike="noStrike" cap="none" dirty="0">
                <a:solidFill>
                  <a:srgbClr val="E8A020"/>
                </a:solidFill>
                <a:latin typeface="Georgia"/>
                <a:ea typeface="Georgia"/>
                <a:cs typeface="Georgia"/>
                <a:sym typeface="Georgia"/>
              </a:rPr>
              <a:t>0.89</a:t>
            </a:r>
            <a:endParaRPr sz="2500" b="0" i="0" u="none" strike="noStrike" cap="none" dirty="0">
              <a:solidFill>
                <a:schemeClr val="dk1"/>
              </a:solidFill>
              <a:latin typeface="Calibri"/>
              <a:ea typeface="Calibri"/>
              <a:cs typeface="Calibri"/>
              <a:sym typeface="Calibri"/>
            </a:endParaRPr>
          </a:p>
        </p:txBody>
      </p:sp>
      <p:sp>
        <p:nvSpPr>
          <p:cNvPr id="760" name="Google Shape;760;p18"/>
          <p:cNvSpPr/>
          <p:nvPr/>
        </p:nvSpPr>
        <p:spPr>
          <a:xfrm>
            <a:off x="3502080" y="3043121"/>
            <a:ext cx="1938600" cy="384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BD5E1"/>
              </a:buClr>
              <a:buSzPts val="1000"/>
              <a:buFont typeface="Calibri"/>
              <a:buNone/>
            </a:pPr>
            <a:r>
              <a:rPr lang="en-US" sz="1600" b="0" i="0" u="none" strike="noStrike" cap="none" dirty="0">
                <a:solidFill>
                  <a:srgbClr val="F1F5F9"/>
                </a:solidFill>
                <a:latin typeface="Calibri"/>
                <a:ea typeface="Calibri"/>
                <a:cs typeface="Calibri"/>
                <a:sym typeface="Calibri"/>
              </a:rPr>
              <a:t>Annualized Sharpe Ratio</a:t>
            </a:r>
            <a:endParaRPr sz="1600" b="0" i="0" u="none" strike="noStrike" cap="none" dirty="0">
              <a:solidFill>
                <a:srgbClr val="F1F5F9"/>
              </a:solidFill>
              <a:latin typeface="Calibri"/>
              <a:ea typeface="Calibri"/>
              <a:cs typeface="Calibri"/>
              <a:sym typeface="Calibri"/>
            </a:endParaRPr>
          </a:p>
        </p:txBody>
      </p:sp>
      <p:pic>
        <p:nvPicPr>
          <p:cNvPr id="761" name="Google Shape;761;p18" descr="preencoded.png"/>
          <p:cNvPicPr preferRelativeResize="0"/>
          <p:nvPr/>
        </p:nvPicPr>
        <p:blipFill rotWithShape="1">
          <a:blip r:embed="rId3">
            <a:alphaModFix/>
          </a:blip>
          <a:srcRect/>
          <a:stretch/>
        </p:blipFill>
        <p:spPr>
          <a:xfrm>
            <a:off x="7589520" y="640080"/>
            <a:ext cx="1051560" cy="1051560"/>
          </a:xfrm>
          <a:prstGeom prst="rect">
            <a:avLst/>
          </a:prstGeom>
          <a:noFill/>
          <a:ln>
            <a:noFill/>
          </a:ln>
        </p:spPr>
      </p:pic>
      <p:sp>
        <p:nvSpPr>
          <p:cNvPr id="3" name="Google Shape;758;p18">
            <a:extLst>
              <a:ext uri="{FF2B5EF4-FFF2-40B4-BE49-F238E27FC236}">
                <a16:creationId xmlns:a16="http://schemas.microsoft.com/office/drawing/2014/main" id="{41D1065D-162E-90E1-AE77-88E48C159AB3}"/>
              </a:ext>
            </a:extLst>
          </p:cNvPr>
          <p:cNvSpPr/>
          <p:nvPr/>
        </p:nvSpPr>
        <p:spPr>
          <a:xfrm>
            <a:off x="1380602" y="2340841"/>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759;p18">
            <a:extLst>
              <a:ext uri="{FF2B5EF4-FFF2-40B4-BE49-F238E27FC236}">
                <a16:creationId xmlns:a16="http://schemas.microsoft.com/office/drawing/2014/main" id="{A5A1408D-31A0-6BA6-6945-ECE6B7A2973C}"/>
              </a:ext>
            </a:extLst>
          </p:cNvPr>
          <p:cNvSpPr/>
          <p:nvPr/>
        </p:nvSpPr>
        <p:spPr>
          <a:xfrm>
            <a:off x="1380602" y="2307511"/>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2500" b="1" i="0" u="none" strike="noStrike" cap="none" dirty="0">
                <a:solidFill>
                  <a:srgbClr val="E8A020"/>
                </a:solidFill>
                <a:latin typeface="Georgia"/>
                <a:ea typeface="Georgia"/>
                <a:cs typeface="Georgia"/>
                <a:sym typeface="Georgia"/>
              </a:rPr>
              <a:t>-1.49%</a:t>
            </a:r>
            <a:endParaRPr sz="2500" b="0" i="0" u="none" strike="noStrike" cap="none" dirty="0">
              <a:solidFill>
                <a:schemeClr val="dk1"/>
              </a:solidFill>
              <a:latin typeface="Calibri"/>
              <a:ea typeface="Calibri"/>
              <a:cs typeface="Calibri"/>
              <a:sym typeface="Calibri"/>
            </a:endParaRPr>
          </a:p>
        </p:txBody>
      </p:sp>
      <p:sp>
        <p:nvSpPr>
          <p:cNvPr id="7" name="Google Shape;760;p18">
            <a:extLst>
              <a:ext uri="{FF2B5EF4-FFF2-40B4-BE49-F238E27FC236}">
                <a16:creationId xmlns:a16="http://schemas.microsoft.com/office/drawing/2014/main" id="{F6B2A43F-3064-4B0C-D22D-94522F304C6F}"/>
              </a:ext>
            </a:extLst>
          </p:cNvPr>
          <p:cNvSpPr/>
          <p:nvPr/>
        </p:nvSpPr>
        <p:spPr>
          <a:xfrm>
            <a:off x="1380602" y="3054073"/>
            <a:ext cx="1938600" cy="384000"/>
          </a:xfrm>
          <a:prstGeom prst="rect">
            <a:avLst/>
          </a:prstGeom>
          <a:noFill/>
          <a:ln>
            <a:noFill/>
          </a:ln>
        </p:spPr>
        <p:txBody>
          <a:bodyPr spcFirstLastPara="1" wrap="square" lIns="0" tIns="0" rIns="0" bIns="0" anchor="t" anchorCtr="0">
            <a:noAutofit/>
          </a:bodyPr>
          <a:lstStyle/>
          <a:p>
            <a:pPr lvl="0" algn="ctr">
              <a:buClr>
                <a:srgbClr val="0C1A35"/>
              </a:buClr>
              <a:buSzPts val="1050"/>
            </a:pPr>
            <a:r>
              <a:rPr lang="en-US" sz="1600" dirty="0">
                <a:solidFill>
                  <a:schemeClr val="bg1"/>
                </a:solidFill>
                <a:latin typeface="Calibri"/>
                <a:ea typeface="Calibri"/>
                <a:cs typeface="Calibri"/>
                <a:sym typeface="Calibri"/>
              </a:rPr>
              <a:t>Test R²</a:t>
            </a:r>
          </a:p>
        </p:txBody>
      </p:sp>
      <p:sp>
        <p:nvSpPr>
          <p:cNvPr id="4" name="Google Shape;756;p18">
            <a:extLst>
              <a:ext uri="{FF2B5EF4-FFF2-40B4-BE49-F238E27FC236}">
                <a16:creationId xmlns:a16="http://schemas.microsoft.com/office/drawing/2014/main" id="{63F8A201-3B79-7587-CC0F-0BED91019C69}"/>
              </a:ext>
            </a:extLst>
          </p:cNvPr>
          <p:cNvSpPr/>
          <p:nvPr/>
        </p:nvSpPr>
        <p:spPr>
          <a:xfrm>
            <a:off x="5623558" y="2381510"/>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endParaRPr sz="3500" b="0" i="0" u="none" strike="noStrike" cap="none" dirty="0">
              <a:solidFill>
                <a:schemeClr val="dk1"/>
              </a:solidFill>
              <a:latin typeface="Calibri"/>
              <a:ea typeface="Calibri"/>
              <a:cs typeface="Calibri"/>
              <a:sym typeface="Calibri"/>
            </a:endParaRPr>
          </a:p>
        </p:txBody>
      </p:sp>
      <p:sp>
        <p:nvSpPr>
          <p:cNvPr id="14" name="Google Shape;758;p18">
            <a:extLst>
              <a:ext uri="{FF2B5EF4-FFF2-40B4-BE49-F238E27FC236}">
                <a16:creationId xmlns:a16="http://schemas.microsoft.com/office/drawing/2014/main" id="{59D1FB7A-084C-920A-7B6D-7D3671F54265}"/>
              </a:ext>
            </a:extLst>
          </p:cNvPr>
          <p:cNvSpPr/>
          <p:nvPr/>
        </p:nvSpPr>
        <p:spPr>
          <a:xfrm>
            <a:off x="5650920" y="2337598"/>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759;p18">
            <a:extLst>
              <a:ext uri="{FF2B5EF4-FFF2-40B4-BE49-F238E27FC236}">
                <a16:creationId xmlns:a16="http://schemas.microsoft.com/office/drawing/2014/main" id="{3F3DF4E4-8CE4-7BBD-5B73-E6D3560B949A}"/>
              </a:ext>
            </a:extLst>
          </p:cNvPr>
          <p:cNvSpPr/>
          <p:nvPr/>
        </p:nvSpPr>
        <p:spPr>
          <a:xfrm>
            <a:off x="5650920" y="2304268"/>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2500" b="1" i="0" u="none" strike="noStrike" cap="none" dirty="0">
                <a:solidFill>
                  <a:srgbClr val="E8A020"/>
                </a:solidFill>
                <a:latin typeface="Georgia"/>
                <a:ea typeface="Georgia"/>
                <a:cs typeface="Georgia"/>
                <a:sym typeface="Georgia"/>
              </a:rPr>
              <a:t>13.8%</a:t>
            </a:r>
            <a:endParaRPr sz="2500" b="0" i="0" u="none" strike="noStrike" cap="none" dirty="0">
              <a:solidFill>
                <a:schemeClr val="dk1"/>
              </a:solidFill>
              <a:latin typeface="Calibri"/>
              <a:ea typeface="Calibri"/>
              <a:cs typeface="Calibri"/>
              <a:sym typeface="Calibri"/>
            </a:endParaRPr>
          </a:p>
        </p:txBody>
      </p:sp>
      <p:sp>
        <p:nvSpPr>
          <p:cNvPr id="18" name="Google Shape;760;p18">
            <a:extLst>
              <a:ext uri="{FF2B5EF4-FFF2-40B4-BE49-F238E27FC236}">
                <a16:creationId xmlns:a16="http://schemas.microsoft.com/office/drawing/2014/main" id="{2FB0CE0E-173B-BF42-C9CA-7972ACF53931}"/>
              </a:ext>
            </a:extLst>
          </p:cNvPr>
          <p:cNvSpPr/>
          <p:nvPr/>
        </p:nvSpPr>
        <p:spPr>
          <a:xfrm>
            <a:off x="5650920" y="3050830"/>
            <a:ext cx="1938600" cy="384000"/>
          </a:xfrm>
          <a:prstGeom prst="rect">
            <a:avLst/>
          </a:prstGeom>
          <a:noFill/>
          <a:ln>
            <a:noFill/>
          </a:ln>
        </p:spPr>
        <p:txBody>
          <a:bodyPr spcFirstLastPara="1" wrap="square" lIns="0" tIns="0" rIns="0" bIns="0" anchor="t" anchorCtr="0">
            <a:noAutofit/>
          </a:bodyPr>
          <a:lstStyle/>
          <a:p>
            <a:pPr lvl="0" algn="ctr">
              <a:buClr>
                <a:srgbClr val="0C1A35"/>
              </a:buClr>
              <a:buSzPts val="1050"/>
            </a:pPr>
            <a:r>
              <a:rPr lang="en-US" sz="1600" dirty="0">
                <a:solidFill>
                  <a:schemeClr val="bg1"/>
                </a:solidFill>
                <a:latin typeface="Calibri"/>
                <a:ea typeface="Calibri"/>
                <a:cs typeface="Calibri"/>
                <a:sym typeface="Calibri"/>
              </a:rPr>
              <a:t>Return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1218</TotalTime>
  <Words>2852</Words>
  <Application>Microsoft Office PowerPoint</Application>
  <PresentationFormat>On-screen Show (16:9)</PresentationFormat>
  <Paragraphs>327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Courier New</vt:lpstr>
      <vt:lpstr>Arial</vt:lpstr>
      <vt:lpstr>Georgia</vt:lpstr>
      <vt:lpstr>Calibri</vt:lpstr>
      <vt:lpstr>Josefin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Guruprasad Mukund</cp:lastModifiedBy>
  <cp:revision>2</cp:revision>
  <dcterms:created xsi:type="dcterms:W3CDTF">2026-04-21T18:39:03Z</dcterms:created>
  <dcterms:modified xsi:type="dcterms:W3CDTF">2026-09-10T02:26:56Z</dcterms:modified>
</cp:coreProperties>
</file>