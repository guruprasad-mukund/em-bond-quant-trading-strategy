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27"/>
  </p:notesMasterIdLst>
  <p:sldIdLst>
    <p:sldId id="256" r:id="rId2"/>
    <p:sldId id="257" r:id="rId3"/>
    <p:sldId id="258" r:id="rId4"/>
    <p:sldId id="259" r:id="rId5"/>
    <p:sldId id="260" r:id="rId6"/>
    <p:sldId id="261" r:id="rId7"/>
    <p:sldId id="262" r:id="rId8"/>
    <p:sldId id="263" r:id="rId9"/>
    <p:sldId id="264" r:id="rId10"/>
    <p:sldId id="265" r:id="rId11"/>
    <p:sldId id="270" r:id="rId12"/>
    <p:sldId id="271" r:id="rId13"/>
    <p:sldId id="266" r:id="rId14"/>
    <p:sldId id="286" r:id="rId15"/>
    <p:sldId id="269" r:id="rId16"/>
    <p:sldId id="288" r:id="rId17"/>
    <p:sldId id="267" r:id="rId18"/>
    <p:sldId id="287" r:id="rId19"/>
    <p:sldId id="268" r:id="rId20"/>
    <p:sldId id="281" r:id="rId21"/>
    <p:sldId id="282" r:id="rId22"/>
    <p:sldId id="283" r:id="rId23"/>
    <p:sldId id="284" r:id="rId24"/>
    <p:sldId id="289" r:id="rId25"/>
    <p:sldId id="285" r:id="rId26"/>
  </p:sldIdLst>
  <p:sldSz cx="9144000" cy="5143500" type="screen16x9"/>
  <p:notesSz cx="7315200" cy="9601200"/>
  <p:embeddedFontLst>
    <p:embeddedFont>
      <p:font typeface="Cambria Math" panose="02040503050406030204" pitchFamily="18" charset="0"/>
      <p:regular r:id="rId28"/>
    </p:embeddedFont>
    <p:embeddedFont>
      <p:font typeface="Georgia" panose="02040502050405020303" pitchFamily="18" charset="0"/>
      <p:regular r:id="rId29"/>
      <p:bold r:id="rId30"/>
      <p:italic r:id="rId31"/>
      <p:boldItalic r:id="rId32"/>
    </p:embeddedFont>
    <p:embeddedFont>
      <p:font typeface="Josefin Sans" pitchFamily="2" charset="0"/>
      <p:regular r:id="rId33"/>
      <p:bold r:id="rId34"/>
      <p:italic r:id="rId35"/>
      <p:boldItalic r:id="rId3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41" roundtripDataSignature="AMtx7midq3HjwfvUJWOgPmPqTlNB/9fmHw=="/>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Saami Ali" initials="" lastIdx="1"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2BA4DF8-24A8-4D5C-A0FC-B0C61F6DF720}" v="73" dt="2026-09-11T01:29:58.513"/>
  </p1510:revLst>
</p1510:revInfo>
</file>

<file path=ppt/tableStyles.xml><?xml version="1.0" encoding="utf-8"?>
<a:tblStyleLst xmlns:a="http://schemas.openxmlformats.org/drawingml/2006/main" def="{3E3B9169-A877-4DBC-8345-1FAB3B18362B}">
  <a:tblStyle styleId="{3E3B9169-A877-4DBC-8345-1FAB3B18362B}" styleName="Table_0">
    <a:wholeTbl>
      <a:tcTxStyle b="off" i="off">
        <a:font>
          <a:latin typeface="Arial"/>
          <a:ea typeface="Arial"/>
          <a:cs typeface="Arial"/>
        </a:font>
        <a:srgbClr val="000000"/>
      </a:tcTxStyle>
      <a:tcStyle>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3" d="100"/>
          <a:sy n="93" d="100"/>
        </p:scale>
        <p:origin x="520"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font" Target="fonts/font7.fntdata"/><Relationship Id="rId42" Type="http://schemas.openxmlformats.org/officeDocument/2006/relationships/commentAuthors" Target="commentAuthors.xml"/><Relationship Id="rId47"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2.fntdata"/><Relationship Id="rId41" Type="http://customschemas.google.com/relationships/presentationmetadata" Target="meta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5.fntdata"/><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1.fntdata"/><Relationship Id="rId36" Type="http://schemas.openxmlformats.org/officeDocument/2006/relationships/font" Target="fonts/font9.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4.fntdata"/><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font" Target="fonts/font3.fntdata"/><Relationship Id="rId35" Type="http://schemas.openxmlformats.org/officeDocument/2006/relationships/font" Target="fonts/font8.fntdata"/><Relationship Id="rId43" Type="http://schemas.openxmlformats.org/officeDocument/2006/relationships/presProps" Target="presProps.xml"/><Relationship Id="rId48" Type="http://schemas.microsoft.com/office/2015/10/relationships/revisionInfo" Target="revisionInfo.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6.fntdata"/><Relationship Id="rId46"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uruprasad Mukund" userId="d73c77e08ff70e53" providerId="LiveId" clId="{0D0B0BCC-9322-4329-914E-89B2B727C81D}"/>
    <pc:docChg chg="undo custSel addSld delSld modSld sldOrd modNotesMaster">
      <pc:chgData name="Guruprasad Mukund" userId="d73c77e08ff70e53" providerId="LiveId" clId="{0D0B0BCC-9322-4329-914E-89B2B727C81D}" dt="2026-09-11T01:30:42.922" v="2152" actId="20577"/>
      <pc:docMkLst>
        <pc:docMk/>
      </pc:docMkLst>
      <pc:sldChg chg="modSp mod modNotes">
        <pc:chgData name="Guruprasad Mukund" userId="d73c77e08ff70e53" providerId="LiveId" clId="{0D0B0BCC-9322-4329-914E-89B2B727C81D}" dt="2026-09-10T17:02:24.670" v="2035"/>
        <pc:sldMkLst>
          <pc:docMk/>
          <pc:sldMk cId="0" sldId="256"/>
        </pc:sldMkLst>
        <pc:spChg chg="mod">
          <ac:chgData name="Guruprasad Mukund" userId="d73c77e08ff70e53" providerId="LiveId" clId="{0D0B0BCC-9322-4329-914E-89B2B727C81D}" dt="2026-09-09T15:22:37.592" v="144" actId="255"/>
          <ac:spMkLst>
            <pc:docMk/>
            <pc:sldMk cId="0" sldId="256"/>
            <ac:spMk id="15" creationId="{00000000-0000-0000-0000-000000000000}"/>
          </ac:spMkLst>
        </pc:spChg>
        <pc:spChg chg="mod">
          <ac:chgData name="Guruprasad Mukund" userId="d73c77e08ff70e53" providerId="LiveId" clId="{0D0B0BCC-9322-4329-914E-89B2B727C81D}" dt="2026-09-10T01:50:10.549" v="1511" actId="14100"/>
          <ac:spMkLst>
            <pc:docMk/>
            <pc:sldMk cId="0" sldId="256"/>
            <ac:spMk id="16" creationId="{00000000-0000-0000-0000-000000000000}"/>
          </ac:spMkLst>
        </pc:spChg>
      </pc:sldChg>
      <pc:sldChg chg="modSp mod modNotes">
        <pc:chgData name="Guruprasad Mukund" userId="d73c77e08ff70e53" providerId="LiveId" clId="{0D0B0BCC-9322-4329-914E-89B2B727C81D}" dt="2026-09-10T17:02:24.670" v="2035"/>
        <pc:sldMkLst>
          <pc:docMk/>
          <pc:sldMk cId="0" sldId="257"/>
        </pc:sldMkLst>
        <pc:spChg chg="mod">
          <ac:chgData name="Guruprasad Mukund" userId="d73c77e08ff70e53" providerId="LiveId" clId="{0D0B0BCC-9322-4329-914E-89B2B727C81D}" dt="2026-09-10T01:57:55.282" v="1723" actId="20577"/>
          <ac:spMkLst>
            <pc:docMk/>
            <pc:sldMk cId="0" sldId="257"/>
            <ac:spMk id="38" creationId="{00000000-0000-0000-0000-000000000000}"/>
          </ac:spMkLst>
        </pc:spChg>
      </pc:sldChg>
      <pc:sldChg chg="modNotes">
        <pc:chgData name="Guruprasad Mukund" userId="d73c77e08ff70e53" providerId="LiveId" clId="{0D0B0BCC-9322-4329-914E-89B2B727C81D}" dt="2026-09-10T17:02:24.670" v="2035"/>
        <pc:sldMkLst>
          <pc:docMk/>
          <pc:sldMk cId="0" sldId="258"/>
        </pc:sldMkLst>
      </pc:sldChg>
      <pc:sldChg chg="addSp modSp mod modNotes">
        <pc:chgData name="Guruprasad Mukund" userId="d73c77e08ff70e53" providerId="LiveId" clId="{0D0B0BCC-9322-4329-914E-89B2B727C81D}" dt="2026-09-11T01:30:42.922" v="2152" actId="20577"/>
        <pc:sldMkLst>
          <pc:docMk/>
          <pc:sldMk cId="0" sldId="259"/>
        </pc:sldMkLst>
        <pc:spChg chg="mod">
          <ac:chgData name="Guruprasad Mukund" userId="d73c77e08ff70e53" providerId="LiveId" clId="{0D0B0BCC-9322-4329-914E-89B2B727C81D}" dt="2026-09-11T01:29:58.511" v="2039"/>
          <ac:spMkLst>
            <pc:docMk/>
            <pc:sldMk cId="0" sldId="259"/>
            <ac:spMk id="3" creationId="{D63033A2-9B7E-92B2-6E48-1527C0A74187}"/>
          </ac:spMkLst>
        </pc:spChg>
        <pc:spChg chg="mod">
          <ac:chgData name="Guruprasad Mukund" userId="d73c77e08ff70e53" providerId="LiveId" clId="{0D0B0BCC-9322-4329-914E-89B2B727C81D}" dt="2026-09-11T01:30:42.922" v="2152" actId="20577"/>
          <ac:spMkLst>
            <pc:docMk/>
            <pc:sldMk cId="0" sldId="259"/>
            <ac:spMk id="4" creationId="{F2BD6129-8689-1D8C-EBE0-0136A58AF4E7}"/>
          </ac:spMkLst>
        </pc:spChg>
        <pc:spChg chg="mod">
          <ac:chgData name="Guruprasad Mukund" userId="d73c77e08ff70e53" providerId="LiveId" clId="{0D0B0BCC-9322-4329-914E-89B2B727C81D}" dt="2026-09-10T01:50:38.072" v="1514" actId="20577"/>
          <ac:spMkLst>
            <pc:docMk/>
            <pc:sldMk cId="0" sldId="259"/>
            <ac:spMk id="71" creationId="{00000000-0000-0000-0000-000000000000}"/>
          </ac:spMkLst>
        </pc:spChg>
        <pc:spChg chg="mod">
          <ac:chgData name="Guruprasad Mukund" userId="d73c77e08ff70e53" providerId="LiveId" clId="{0D0B0BCC-9322-4329-914E-89B2B727C81D}" dt="2026-09-09T15:21:10.513" v="29" actId="20577"/>
          <ac:spMkLst>
            <pc:docMk/>
            <pc:sldMk cId="0" sldId="259"/>
            <ac:spMk id="74" creationId="{00000000-0000-0000-0000-000000000000}"/>
          </ac:spMkLst>
        </pc:spChg>
        <pc:spChg chg="mod">
          <ac:chgData name="Guruprasad Mukund" userId="d73c77e08ff70e53" providerId="LiveId" clId="{0D0B0BCC-9322-4329-914E-89B2B727C81D}" dt="2026-09-11T01:29:54.064" v="2038" actId="1076"/>
          <ac:spMkLst>
            <pc:docMk/>
            <pc:sldMk cId="0" sldId="259"/>
            <ac:spMk id="76" creationId="{00000000-0000-0000-0000-000000000000}"/>
          </ac:spMkLst>
        </pc:spChg>
        <pc:spChg chg="mod">
          <ac:chgData name="Guruprasad Mukund" userId="d73c77e08ff70e53" providerId="LiveId" clId="{0D0B0BCC-9322-4329-914E-89B2B727C81D}" dt="2026-09-11T01:29:54.064" v="2038" actId="1076"/>
          <ac:spMkLst>
            <pc:docMk/>
            <pc:sldMk cId="0" sldId="259"/>
            <ac:spMk id="77" creationId="{00000000-0000-0000-0000-000000000000}"/>
          </ac:spMkLst>
        </pc:spChg>
        <pc:spChg chg="mod">
          <ac:chgData name="Guruprasad Mukund" userId="d73c77e08ff70e53" providerId="LiveId" clId="{0D0B0BCC-9322-4329-914E-89B2B727C81D}" dt="2026-09-11T01:30:17.059" v="2078" actId="20577"/>
          <ac:spMkLst>
            <pc:docMk/>
            <pc:sldMk cId="0" sldId="259"/>
            <ac:spMk id="80" creationId="{00000000-0000-0000-0000-000000000000}"/>
          </ac:spMkLst>
        </pc:spChg>
        <pc:spChg chg="mod">
          <ac:chgData name="Guruprasad Mukund" userId="d73c77e08ff70e53" providerId="LiveId" clId="{0D0B0BCC-9322-4329-914E-89B2B727C81D}" dt="2026-09-10T01:59:54.337" v="1749" actId="20577"/>
          <ac:spMkLst>
            <pc:docMk/>
            <pc:sldMk cId="0" sldId="259"/>
            <ac:spMk id="84" creationId="{00000000-0000-0000-0000-000000000000}"/>
          </ac:spMkLst>
        </pc:spChg>
        <pc:grpChg chg="add mod">
          <ac:chgData name="Guruprasad Mukund" userId="d73c77e08ff70e53" providerId="LiveId" clId="{0D0B0BCC-9322-4329-914E-89B2B727C81D}" dt="2026-09-11T01:30:02.867" v="2040" actId="1076"/>
          <ac:grpSpMkLst>
            <pc:docMk/>
            <pc:sldMk cId="0" sldId="259"/>
            <ac:grpSpMk id="2" creationId="{A6F04EEF-99F1-4DC9-F954-8174B7A4EA9A}"/>
          </ac:grpSpMkLst>
        </pc:grpChg>
        <pc:grpChg chg="mod">
          <ac:chgData name="Guruprasad Mukund" userId="d73c77e08ff70e53" providerId="LiveId" clId="{0D0B0BCC-9322-4329-914E-89B2B727C81D}" dt="2026-09-11T01:29:54.064" v="2038" actId="1076"/>
          <ac:grpSpMkLst>
            <pc:docMk/>
            <pc:sldMk cId="0" sldId="259"/>
            <ac:grpSpMk id="78" creationId="{00000000-0000-0000-0000-000000000000}"/>
          </ac:grpSpMkLst>
        </pc:grpChg>
      </pc:sldChg>
      <pc:sldChg chg="modNotes">
        <pc:chgData name="Guruprasad Mukund" userId="d73c77e08ff70e53" providerId="LiveId" clId="{0D0B0BCC-9322-4329-914E-89B2B727C81D}" dt="2026-09-10T17:02:24.670" v="2035"/>
        <pc:sldMkLst>
          <pc:docMk/>
          <pc:sldMk cId="0" sldId="260"/>
        </pc:sldMkLst>
      </pc:sldChg>
      <pc:sldChg chg="modNotes">
        <pc:chgData name="Guruprasad Mukund" userId="d73c77e08ff70e53" providerId="LiveId" clId="{0D0B0BCC-9322-4329-914E-89B2B727C81D}" dt="2026-09-10T17:02:24.670" v="2035"/>
        <pc:sldMkLst>
          <pc:docMk/>
          <pc:sldMk cId="0" sldId="261"/>
        </pc:sldMkLst>
      </pc:sldChg>
      <pc:sldChg chg="addSp delSp modSp mod modNotes">
        <pc:chgData name="Guruprasad Mukund" userId="d73c77e08ff70e53" providerId="LiveId" clId="{0D0B0BCC-9322-4329-914E-89B2B727C81D}" dt="2026-09-10T17:02:24.670" v="2035"/>
        <pc:sldMkLst>
          <pc:docMk/>
          <pc:sldMk cId="0" sldId="262"/>
        </pc:sldMkLst>
        <pc:picChg chg="add mod">
          <ac:chgData name="Guruprasad Mukund" userId="d73c77e08ff70e53" providerId="LiveId" clId="{0D0B0BCC-9322-4329-914E-89B2B727C81D}" dt="2026-09-10T01:02:37.262" v="537" actId="1076"/>
          <ac:picMkLst>
            <pc:docMk/>
            <pc:sldMk cId="0" sldId="262"/>
            <ac:picMk id="3" creationId="{DEE8E7B0-F64D-0475-69E0-A574989282B9}"/>
          </ac:picMkLst>
        </pc:picChg>
        <pc:picChg chg="del">
          <ac:chgData name="Guruprasad Mukund" userId="d73c77e08ff70e53" providerId="LiveId" clId="{0D0B0BCC-9322-4329-914E-89B2B727C81D}" dt="2026-09-10T01:02:30.220" v="534" actId="478"/>
          <ac:picMkLst>
            <pc:docMk/>
            <pc:sldMk cId="0" sldId="262"/>
            <ac:picMk id="123" creationId="{00000000-0000-0000-0000-000000000000}"/>
          </ac:picMkLst>
        </pc:picChg>
      </pc:sldChg>
      <pc:sldChg chg="modSp mod modNotes modNotesTx">
        <pc:chgData name="Guruprasad Mukund" userId="d73c77e08ff70e53" providerId="LiveId" clId="{0D0B0BCC-9322-4329-914E-89B2B727C81D}" dt="2026-09-10T17:02:24.670" v="2035"/>
        <pc:sldMkLst>
          <pc:docMk/>
          <pc:sldMk cId="0" sldId="263"/>
        </pc:sldMkLst>
        <pc:spChg chg="mod">
          <ac:chgData name="Guruprasad Mukund" userId="d73c77e08ff70e53" providerId="LiveId" clId="{0D0B0BCC-9322-4329-914E-89B2B727C81D}" dt="2026-09-10T01:48:07.181" v="1501" actId="20577"/>
          <ac:spMkLst>
            <pc:docMk/>
            <pc:sldMk cId="0" sldId="263"/>
            <ac:spMk id="141" creationId="{00000000-0000-0000-0000-000000000000}"/>
          </ac:spMkLst>
        </pc:spChg>
        <pc:spChg chg="mod">
          <ac:chgData name="Guruprasad Mukund" userId="d73c77e08ff70e53" providerId="LiveId" clId="{0D0B0BCC-9322-4329-914E-89B2B727C81D}" dt="2026-09-10T01:03:05.711" v="552" actId="20577"/>
          <ac:spMkLst>
            <pc:docMk/>
            <pc:sldMk cId="0" sldId="263"/>
            <ac:spMk id="147" creationId="{00000000-0000-0000-0000-000000000000}"/>
          </ac:spMkLst>
        </pc:spChg>
        <pc:spChg chg="mod">
          <ac:chgData name="Guruprasad Mukund" userId="d73c77e08ff70e53" providerId="LiveId" clId="{0D0B0BCC-9322-4329-914E-89B2B727C81D}" dt="2026-09-10T01:02:46.813" v="548" actId="20577"/>
          <ac:spMkLst>
            <pc:docMk/>
            <pc:sldMk cId="0" sldId="263"/>
            <ac:spMk id="148" creationId="{00000000-0000-0000-0000-000000000000}"/>
          </ac:spMkLst>
        </pc:spChg>
        <pc:spChg chg="mod">
          <ac:chgData name="Guruprasad Mukund" userId="d73c77e08ff70e53" providerId="LiveId" clId="{0D0B0BCC-9322-4329-914E-89B2B727C81D}" dt="2026-09-10T02:01:06.173" v="1826" actId="14100"/>
          <ac:spMkLst>
            <pc:docMk/>
            <pc:sldMk cId="0" sldId="263"/>
            <ac:spMk id="149" creationId="{00000000-0000-0000-0000-000000000000}"/>
          </ac:spMkLst>
        </pc:spChg>
        <pc:spChg chg="mod">
          <ac:chgData name="Guruprasad Mukund" userId="d73c77e08ff70e53" providerId="LiveId" clId="{0D0B0BCC-9322-4329-914E-89B2B727C81D}" dt="2026-09-10T02:01:02.448" v="1825" actId="14100"/>
          <ac:spMkLst>
            <pc:docMk/>
            <pc:sldMk cId="0" sldId="263"/>
            <ac:spMk id="150" creationId="{00000000-0000-0000-0000-000000000000}"/>
          </ac:spMkLst>
        </pc:spChg>
      </pc:sldChg>
      <pc:sldChg chg="modNotes">
        <pc:chgData name="Guruprasad Mukund" userId="d73c77e08ff70e53" providerId="LiveId" clId="{0D0B0BCC-9322-4329-914E-89B2B727C81D}" dt="2026-09-10T17:02:24.670" v="2035"/>
        <pc:sldMkLst>
          <pc:docMk/>
          <pc:sldMk cId="0" sldId="264"/>
        </pc:sldMkLst>
      </pc:sldChg>
      <pc:sldChg chg="modNotes">
        <pc:chgData name="Guruprasad Mukund" userId="d73c77e08ff70e53" providerId="LiveId" clId="{0D0B0BCC-9322-4329-914E-89B2B727C81D}" dt="2026-09-10T17:02:24.670" v="2035"/>
        <pc:sldMkLst>
          <pc:docMk/>
          <pc:sldMk cId="0" sldId="265"/>
        </pc:sldMkLst>
      </pc:sldChg>
      <pc:sldChg chg="addSp delSp modSp mod modNotes">
        <pc:chgData name="Guruprasad Mukund" userId="d73c77e08ff70e53" providerId="LiveId" clId="{0D0B0BCC-9322-4329-914E-89B2B727C81D}" dt="2026-09-10T17:02:24.670" v="2035"/>
        <pc:sldMkLst>
          <pc:docMk/>
          <pc:sldMk cId="0" sldId="266"/>
        </pc:sldMkLst>
        <pc:spChg chg="mod">
          <ac:chgData name="Guruprasad Mukund" userId="d73c77e08ff70e53" providerId="LiveId" clId="{0D0B0BCC-9322-4329-914E-89B2B727C81D}" dt="2026-09-10T01:51:49.476" v="1531" actId="20577"/>
          <ac:spMkLst>
            <pc:docMk/>
            <pc:sldMk cId="0" sldId="266"/>
            <ac:spMk id="187" creationId="{00000000-0000-0000-0000-000000000000}"/>
          </ac:spMkLst>
        </pc:spChg>
        <pc:picChg chg="add mod">
          <ac:chgData name="Guruprasad Mukund" userId="d73c77e08ff70e53" providerId="LiveId" clId="{0D0B0BCC-9322-4329-914E-89B2B727C81D}" dt="2026-09-10T01:04:01.718" v="559" actId="14100"/>
          <ac:picMkLst>
            <pc:docMk/>
            <pc:sldMk cId="0" sldId="266"/>
            <ac:picMk id="3" creationId="{CEDDDF26-110C-96B8-A40E-B1C6462E00E5}"/>
          </ac:picMkLst>
        </pc:picChg>
        <pc:picChg chg="del">
          <ac:chgData name="Guruprasad Mukund" userId="d73c77e08ff70e53" providerId="LiveId" clId="{0D0B0BCC-9322-4329-914E-89B2B727C81D}" dt="2026-09-10T01:03:33.502" v="553" actId="478"/>
          <ac:picMkLst>
            <pc:docMk/>
            <pc:sldMk cId="0" sldId="266"/>
            <ac:picMk id="190" creationId="{00000000-0000-0000-0000-000000000000}"/>
          </ac:picMkLst>
        </pc:picChg>
      </pc:sldChg>
      <pc:sldChg chg="addSp modSp mod modNotes modNotesTx">
        <pc:chgData name="Guruprasad Mukund" userId="d73c77e08ff70e53" providerId="LiveId" clId="{0D0B0BCC-9322-4329-914E-89B2B727C81D}" dt="2026-09-10T17:02:24.670" v="2035"/>
        <pc:sldMkLst>
          <pc:docMk/>
          <pc:sldMk cId="0" sldId="267"/>
        </pc:sldMkLst>
        <pc:spChg chg="add mod">
          <ac:chgData name="Guruprasad Mukund" userId="d73c77e08ff70e53" providerId="LiveId" clId="{0D0B0BCC-9322-4329-914E-89B2B727C81D}" dt="2026-09-10T02:04:39.234" v="1842" actId="20577"/>
          <ac:spMkLst>
            <pc:docMk/>
            <pc:sldMk cId="0" sldId="267"/>
            <ac:spMk id="2" creationId="{C8D37A56-979B-B554-0A74-8F3D16D98EDB}"/>
          </ac:spMkLst>
        </pc:spChg>
        <pc:spChg chg="mod">
          <ac:chgData name="Guruprasad Mukund" userId="d73c77e08ff70e53" providerId="LiveId" clId="{0D0B0BCC-9322-4329-914E-89B2B727C81D}" dt="2026-09-10T01:52:12.834" v="1540" actId="5793"/>
          <ac:spMkLst>
            <pc:docMk/>
            <pc:sldMk cId="0" sldId="267"/>
            <ac:spMk id="198" creationId="{00000000-0000-0000-0000-000000000000}"/>
          </ac:spMkLst>
        </pc:spChg>
        <pc:spChg chg="mod">
          <ac:chgData name="Guruprasad Mukund" userId="d73c77e08ff70e53" providerId="LiveId" clId="{0D0B0BCC-9322-4329-914E-89B2B727C81D}" dt="2026-09-10T01:20:26.696" v="766" actId="20577"/>
          <ac:spMkLst>
            <pc:docMk/>
            <pc:sldMk cId="0" sldId="267"/>
            <ac:spMk id="199" creationId="{00000000-0000-0000-0000-000000000000}"/>
          </ac:spMkLst>
        </pc:spChg>
        <pc:spChg chg="mod">
          <ac:chgData name="Guruprasad Mukund" userId="d73c77e08ff70e53" providerId="LiveId" clId="{0D0B0BCC-9322-4329-914E-89B2B727C81D}" dt="2026-09-10T01:21:13.729" v="776" actId="20577"/>
          <ac:spMkLst>
            <pc:docMk/>
            <pc:sldMk cId="0" sldId="267"/>
            <ac:spMk id="204" creationId="{00000000-0000-0000-0000-000000000000}"/>
          </ac:spMkLst>
        </pc:spChg>
        <pc:spChg chg="mod">
          <ac:chgData name="Guruprasad Mukund" userId="d73c77e08ff70e53" providerId="LiveId" clId="{0D0B0BCC-9322-4329-914E-89B2B727C81D}" dt="2026-09-10T01:55:48.128" v="1705"/>
          <ac:spMkLst>
            <pc:docMk/>
            <pc:sldMk cId="0" sldId="267"/>
            <ac:spMk id="221" creationId="{00000000-0000-0000-0000-000000000000}"/>
          </ac:spMkLst>
        </pc:spChg>
      </pc:sldChg>
      <pc:sldChg chg="addSp delSp modSp mod modNotes">
        <pc:chgData name="Guruprasad Mukund" userId="d73c77e08ff70e53" providerId="LiveId" clId="{0D0B0BCC-9322-4329-914E-89B2B727C81D}" dt="2026-09-10T17:02:24.670" v="2035"/>
        <pc:sldMkLst>
          <pc:docMk/>
          <pc:sldMk cId="0" sldId="268"/>
        </pc:sldMkLst>
        <pc:spChg chg="mod">
          <ac:chgData name="Guruprasad Mukund" userId="d73c77e08ff70e53" providerId="LiveId" clId="{0D0B0BCC-9322-4329-914E-89B2B727C81D}" dt="2026-09-10T00:56:10.665" v="457" actId="20577"/>
          <ac:spMkLst>
            <pc:docMk/>
            <pc:sldMk cId="0" sldId="268"/>
            <ac:spMk id="230" creationId="{00000000-0000-0000-0000-000000000000}"/>
          </ac:spMkLst>
        </pc:spChg>
        <pc:spChg chg="mod">
          <ac:chgData name="Guruprasad Mukund" userId="d73c77e08ff70e53" providerId="LiveId" clId="{0D0B0BCC-9322-4329-914E-89B2B727C81D}" dt="2026-09-10T00:56:56.198" v="517" actId="14100"/>
          <ac:spMkLst>
            <pc:docMk/>
            <pc:sldMk cId="0" sldId="268"/>
            <ac:spMk id="233" creationId="{00000000-0000-0000-0000-000000000000}"/>
          </ac:spMkLst>
        </pc:spChg>
        <pc:spChg chg="mod">
          <ac:chgData name="Guruprasad Mukund" userId="d73c77e08ff70e53" providerId="LiveId" clId="{0D0B0BCC-9322-4329-914E-89B2B727C81D}" dt="2026-09-10T00:56:59.845" v="518" actId="14100"/>
          <ac:spMkLst>
            <pc:docMk/>
            <pc:sldMk cId="0" sldId="268"/>
            <ac:spMk id="234" creationId="{00000000-0000-0000-0000-000000000000}"/>
          </ac:spMkLst>
        </pc:spChg>
        <pc:spChg chg="mod">
          <ac:chgData name="Guruprasad Mukund" userId="d73c77e08ff70e53" providerId="LiveId" clId="{0D0B0BCC-9322-4329-914E-89B2B727C81D}" dt="2026-09-10T01:30:37.559" v="1295" actId="13926"/>
          <ac:spMkLst>
            <pc:docMk/>
            <pc:sldMk cId="0" sldId="268"/>
            <ac:spMk id="237" creationId="{00000000-0000-0000-0000-000000000000}"/>
          </ac:spMkLst>
        </pc:spChg>
        <pc:picChg chg="add del mod">
          <ac:chgData name="Guruprasad Mukund" userId="d73c77e08ff70e53" providerId="LiveId" clId="{0D0B0BCC-9322-4329-914E-89B2B727C81D}" dt="2026-09-10T01:29:52.339" v="1273" actId="478"/>
          <ac:picMkLst>
            <pc:docMk/>
            <pc:sldMk cId="0" sldId="268"/>
            <ac:picMk id="5" creationId="{3E8BD0D6-4F08-3DEE-78B8-8AC8EADC4326}"/>
          </ac:picMkLst>
        </pc:picChg>
        <pc:picChg chg="add mod">
          <ac:chgData name="Guruprasad Mukund" userId="d73c77e08ff70e53" providerId="LiveId" clId="{0D0B0BCC-9322-4329-914E-89B2B727C81D}" dt="2026-09-10T01:30:17.550" v="1282" actId="14100"/>
          <ac:picMkLst>
            <pc:docMk/>
            <pc:sldMk cId="0" sldId="268"/>
            <ac:picMk id="7" creationId="{99292005-9860-C053-93FE-044FF50AD97E}"/>
          </ac:picMkLst>
        </pc:picChg>
      </pc:sldChg>
      <pc:sldChg chg="modSp mod ord modNotes">
        <pc:chgData name="Guruprasad Mukund" userId="d73c77e08ff70e53" providerId="LiveId" clId="{0D0B0BCC-9322-4329-914E-89B2B727C81D}" dt="2026-09-10T17:02:24.670" v="2035"/>
        <pc:sldMkLst>
          <pc:docMk/>
          <pc:sldMk cId="0" sldId="269"/>
        </pc:sldMkLst>
        <pc:spChg chg="mod">
          <ac:chgData name="Guruprasad Mukund" userId="d73c77e08ff70e53" providerId="LiveId" clId="{0D0B0BCC-9322-4329-914E-89B2B727C81D}" dt="2026-09-10T01:19:51.910" v="719" actId="20577"/>
          <ac:spMkLst>
            <pc:docMk/>
            <pc:sldMk cId="0" sldId="269"/>
            <ac:spMk id="247" creationId="{00000000-0000-0000-0000-000000000000}"/>
          </ac:spMkLst>
        </pc:spChg>
        <pc:spChg chg="mod">
          <ac:chgData name="Guruprasad Mukund" userId="d73c77e08ff70e53" providerId="LiveId" clId="{0D0B0BCC-9322-4329-914E-89B2B727C81D}" dt="2026-09-10T01:20:13.559" v="751" actId="20577"/>
          <ac:spMkLst>
            <pc:docMk/>
            <pc:sldMk cId="0" sldId="269"/>
            <ac:spMk id="251" creationId="{00000000-0000-0000-0000-000000000000}"/>
          </ac:spMkLst>
        </pc:spChg>
        <pc:spChg chg="mod">
          <ac:chgData name="Guruprasad Mukund" userId="d73c77e08ff70e53" providerId="LiveId" clId="{0D0B0BCC-9322-4329-914E-89B2B727C81D}" dt="2026-09-10T01:19:58.166" v="724" actId="20577"/>
          <ac:spMkLst>
            <pc:docMk/>
            <pc:sldMk cId="0" sldId="269"/>
            <ac:spMk id="253" creationId="{00000000-0000-0000-0000-000000000000}"/>
          </ac:spMkLst>
        </pc:spChg>
      </pc:sldChg>
      <pc:sldChg chg="modSp mod ord modNotes">
        <pc:chgData name="Guruprasad Mukund" userId="d73c77e08ff70e53" providerId="LiveId" clId="{0D0B0BCC-9322-4329-914E-89B2B727C81D}" dt="2026-09-10T17:02:24.670" v="2035"/>
        <pc:sldMkLst>
          <pc:docMk/>
          <pc:sldMk cId="0" sldId="270"/>
        </pc:sldMkLst>
        <pc:spChg chg="mod">
          <ac:chgData name="Guruprasad Mukund" userId="d73c77e08ff70e53" providerId="LiveId" clId="{0D0B0BCC-9322-4329-914E-89B2B727C81D}" dt="2026-09-10T01:51:14.792" v="1515" actId="20577"/>
          <ac:spMkLst>
            <pc:docMk/>
            <pc:sldMk cId="0" sldId="270"/>
            <ac:spMk id="281" creationId="{00000000-0000-0000-0000-000000000000}"/>
          </ac:spMkLst>
        </pc:spChg>
        <pc:spChg chg="mod">
          <ac:chgData name="Guruprasad Mukund" userId="d73c77e08ff70e53" providerId="LiveId" clId="{0D0B0BCC-9322-4329-914E-89B2B727C81D}" dt="2026-09-10T01:51:17.284" v="1525" actId="20577"/>
          <ac:spMkLst>
            <pc:docMk/>
            <pc:sldMk cId="0" sldId="270"/>
            <ac:spMk id="282" creationId="{00000000-0000-0000-0000-000000000000}"/>
          </ac:spMkLst>
        </pc:spChg>
        <pc:graphicFrameChg chg="mod">
          <ac:chgData name="Guruprasad Mukund" userId="d73c77e08ff70e53" providerId="LiveId" clId="{0D0B0BCC-9322-4329-914E-89B2B727C81D}" dt="2026-09-10T01:51:22.217" v="1527"/>
          <ac:graphicFrameMkLst>
            <pc:docMk/>
            <pc:sldMk cId="0" sldId="270"/>
            <ac:graphicFrameMk id="287" creationId="{00000000-0000-0000-0000-000000000000}"/>
          </ac:graphicFrameMkLst>
        </pc:graphicFrameChg>
      </pc:sldChg>
      <pc:sldChg chg="ord modNotes">
        <pc:chgData name="Guruprasad Mukund" userId="d73c77e08ff70e53" providerId="LiveId" clId="{0D0B0BCC-9322-4329-914E-89B2B727C81D}" dt="2026-09-10T17:02:24.670" v="2035"/>
        <pc:sldMkLst>
          <pc:docMk/>
          <pc:sldMk cId="0" sldId="271"/>
        </pc:sldMkLst>
      </pc:sldChg>
      <pc:sldChg chg="addSp delSp modSp mod modNotes">
        <pc:chgData name="Guruprasad Mukund" userId="d73c77e08ff70e53" providerId="LiveId" clId="{0D0B0BCC-9322-4329-914E-89B2B727C81D}" dt="2026-09-10T17:02:24.670" v="2035"/>
        <pc:sldMkLst>
          <pc:docMk/>
          <pc:sldMk cId="0" sldId="281"/>
        </pc:sldMkLst>
        <pc:spChg chg="add mod">
          <ac:chgData name="Guruprasad Mukund" userId="d73c77e08ff70e53" providerId="LiveId" clId="{0D0B0BCC-9322-4329-914E-89B2B727C81D}" dt="2026-09-09T22:13:37.754" v="375" actId="1076"/>
          <ac:spMkLst>
            <pc:docMk/>
            <pc:sldMk cId="0" sldId="281"/>
            <ac:spMk id="3" creationId="{D9336FBD-56AB-0DCC-7042-3E144F6E2E31}"/>
          </ac:spMkLst>
        </pc:spChg>
        <pc:spChg chg="add mod">
          <ac:chgData name="Guruprasad Mukund" userId="d73c77e08ff70e53" providerId="LiveId" clId="{0D0B0BCC-9322-4329-914E-89B2B727C81D}" dt="2026-09-09T22:13:39.975" v="381" actId="20577"/>
          <ac:spMkLst>
            <pc:docMk/>
            <pc:sldMk cId="0" sldId="281"/>
            <ac:spMk id="5" creationId="{D0D2EC64-108E-C2CE-C15D-77BA02592284}"/>
          </ac:spMkLst>
        </pc:spChg>
        <pc:spChg chg="add mod">
          <ac:chgData name="Guruprasad Mukund" userId="d73c77e08ff70e53" providerId="LiveId" clId="{0D0B0BCC-9322-4329-914E-89B2B727C81D}" dt="2026-09-09T22:13:37.754" v="375" actId="1076"/>
          <ac:spMkLst>
            <pc:docMk/>
            <pc:sldMk cId="0" sldId="281"/>
            <ac:spMk id="7" creationId="{03257123-AF1A-E834-49A8-B379A9948D0E}"/>
          </ac:spMkLst>
        </pc:spChg>
        <pc:spChg chg="add mod">
          <ac:chgData name="Guruprasad Mukund" userId="d73c77e08ff70e53" providerId="LiveId" clId="{0D0B0BCC-9322-4329-914E-89B2B727C81D}" dt="2026-09-10T01:33:17.834" v="1392" actId="1076"/>
          <ac:spMkLst>
            <pc:docMk/>
            <pc:sldMk cId="0" sldId="281"/>
            <ac:spMk id="9" creationId="{9ADF21EF-82E6-16B0-DBE1-357195DBE27F}"/>
          </ac:spMkLst>
        </pc:spChg>
        <pc:spChg chg="add mod">
          <ac:chgData name="Guruprasad Mukund" userId="d73c77e08ff70e53" providerId="LiveId" clId="{0D0B0BCC-9322-4329-914E-89B2B727C81D}" dt="2026-09-09T22:13:37.754" v="375" actId="1076"/>
          <ac:spMkLst>
            <pc:docMk/>
            <pc:sldMk cId="0" sldId="281"/>
            <ac:spMk id="11" creationId="{E6EBDC76-7503-F088-86D7-CDB1E069855A}"/>
          </ac:spMkLst>
        </pc:spChg>
        <pc:spChg chg="add mod">
          <ac:chgData name="Guruprasad Mukund" userId="d73c77e08ff70e53" providerId="LiveId" clId="{0D0B0BCC-9322-4329-914E-89B2B727C81D}" dt="2026-09-10T01:33:17.834" v="1392" actId="1076"/>
          <ac:spMkLst>
            <pc:docMk/>
            <pc:sldMk cId="0" sldId="281"/>
            <ac:spMk id="13" creationId="{E1DE4A54-3686-0363-E508-EB2305D51EAB}"/>
          </ac:spMkLst>
        </pc:spChg>
        <pc:spChg chg="add mod">
          <ac:chgData name="Guruprasad Mukund" userId="d73c77e08ff70e53" providerId="LiveId" clId="{0D0B0BCC-9322-4329-914E-89B2B727C81D}" dt="2026-09-10T01:31:04.174" v="1305" actId="207"/>
          <ac:spMkLst>
            <pc:docMk/>
            <pc:sldMk cId="0" sldId="281"/>
            <ac:spMk id="15" creationId="{98FB4E81-6EB1-23DD-51A5-7C512CA3110B}"/>
          </ac:spMkLst>
        </pc:spChg>
        <pc:spChg chg="add mod">
          <ac:chgData name="Guruprasad Mukund" userId="d73c77e08ff70e53" providerId="LiveId" clId="{0D0B0BCC-9322-4329-914E-89B2B727C81D}" dt="2026-09-10T01:30:58.396" v="1304" actId="1076"/>
          <ac:spMkLst>
            <pc:docMk/>
            <pc:sldMk cId="0" sldId="281"/>
            <ac:spMk id="17" creationId="{41B1E4C5-DC45-6B53-9A0E-31DFE2D5A497}"/>
          </ac:spMkLst>
        </pc:spChg>
        <pc:spChg chg="mod">
          <ac:chgData name="Guruprasad Mukund" userId="d73c77e08ff70e53" providerId="LiveId" clId="{0D0B0BCC-9322-4329-914E-89B2B727C81D}" dt="2026-09-10T01:32:32.257" v="1389" actId="20577"/>
          <ac:spMkLst>
            <pc:docMk/>
            <pc:sldMk cId="0" sldId="281"/>
            <ac:spMk id="21" creationId="{601B0087-1513-B9AA-9C54-9CC7102012D6}"/>
          </ac:spMkLst>
        </pc:spChg>
        <pc:spChg chg="add mod">
          <ac:chgData name="Guruprasad Mukund" userId="d73c77e08ff70e53" providerId="LiveId" clId="{0D0B0BCC-9322-4329-914E-89B2B727C81D}" dt="2026-09-10T01:30:58.396" v="1304" actId="1076"/>
          <ac:spMkLst>
            <pc:docMk/>
            <pc:sldMk cId="0" sldId="281"/>
            <ac:spMk id="23" creationId="{9932D3B4-9BB5-A478-83A3-BF29B6FE5559}"/>
          </ac:spMkLst>
        </pc:spChg>
        <pc:spChg chg="add mod">
          <ac:chgData name="Guruprasad Mukund" userId="d73c77e08ff70e53" providerId="LiveId" clId="{0D0B0BCC-9322-4329-914E-89B2B727C81D}" dt="2026-09-10T01:30:58.396" v="1304" actId="1076"/>
          <ac:spMkLst>
            <pc:docMk/>
            <pc:sldMk cId="0" sldId="281"/>
            <ac:spMk id="27" creationId="{D11458F1-6E65-D378-C034-A4600CABF08A}"/>
          </ac:spMkLst>
        </pc:spChg>
        <pc:spChg chg="add del mod">
          <ac:chgData name="Guruprasad Mukund" userId="d73c77e08ff70e53" providerId="LiveId" clId="{0D0B0BCC-9322-4329-914E-89B2B727C81D}" dt="2026-09-10T01:33:06.923" v="1391" actId="478"/>
          <ac:spMkLst>
            <pc:docMk/>
            <pc:sldMk cId="0" sldId="281"/>
            <ac:spMk id="31" creationId="{F913C1EA-C8FF-ADBB-CACB-A9439138B324}"/>
          </ac:spMkLst>
        </pc:spChg>
        <pc:spChg chg="del mod">
          <ac:chgData name="Guruprasad Mukund" userId="d73c77e08ff70e53" providerId="LiveId" clId="{0D0B0BCC-9322-4329-914E-89B2B727C81D}" dt="2026-09-10T01:33:06.923" v="1391" actId="478"/>
          <ac:spMkLst>
            <pc:docMk/>
            <pc:sldMk cId="0" sldId="281"/>
            <ac:spMk id="33" creationId="{2B9E7E89-55CE-C45F-C61C-96CF7C9EA75C}"/>
          </ac:spMkLst>
        </pc:spChg>
        <pc:spChg chg="add mod">
          <ac:chgData name="Guruprasad Mukund" userId="d73c77e08ff70e53" providerId="LiveId" clId="{0D0B0BCC-9322-4329-914E-89B2B727C81D}" dt="2026-09-10T01:33:17.834" v="1392" actId="1076"/>
          <ac:spMkLst>
            <pc:docMk/>
            <pc:sldMk cId="0" sldId="281"/>
            <ac:spMk id="35" creationId="{6C1C5804-2174-034C-F1EA-F8FE1504C963}"/>
          </ac:spMkLst>
        </pc:spChg>
        <pc:spChg chg="add mod">
          <ac:chgData name="Guruprasad Mukund" userId="d73c77e08ff70e53" providerId="LiveId" clId="{0D0B0BCC-9322-4329-914E-89B2B727C81D}" dt="2026-09-10T01:30:58.396" v="1304" actId="1076"/>
          <ac:spMkLst>
            <pc:docMk/>
            <pc:sldMk cId="0" sldId="281"/>
            <ac:spMk id="39" creationId="{868552D9-342B-14A0-BF97-9B24BB968A81}"/>
          </ac:spMkLst>
        </pc:spChg>
        <pc:spChg chg="mod">
          <ac:chgData name="Guruprasad Mukund" userId="d73c77e08ff70e53" providerId="LiveId" clId="{0D0B0BCC-9322-4329-914E-89B2B727C81D}" dt="2026-09-10T01:31:15.587" v="1319" actId="20577"/>
          <ac:spMkLst>
            <pc:docMk/>
            <pc:sldMk cId="0" sldId="281"/>
            <ac:spMk id="41" creationId="{16E5110B-7699-E58E-6776-300C04200060}"/>
          </ac:spMkLst>
        </pc:spChg>
        <pc:spChg chg="add mod">
          <ac:chgData name="Guruprasad Mukund" userId="d73c77e08ff70e53" providerId="LiveId" clId="{0D0B0BCC-9322-4329-914E-89B2B727C81D}" dt="2026-09-10T01:33:17.834" v="1392" actId="1076"/>
          <ac:spMkLst>
            <pc:docMk/>
            <pc:sldMk cId="0" sldId="281"/>
            <ac:spMk id="45" creationId="{4D6E2062-7432-CCE1-6C6E-1833F7D2E34B}"/>
          </ac:spMkLst>
        </pc:spChg>
        <pc:spChg chg="add mod">
          <ac:chgData name="Guruprasad Mukund" userId="d73c77e08ff70e53" providerId="LiveId" clId="{0D0B0BCC-9322-4329-914E-89B2B727C81D}" dt="2026-09-10T01:30:58.396" v="1304" actId="1076"/>
          <ac:spMkLst>
            <pc:docMk/>
            <pc:sldMk cId="0" sldId="281"/>
            <ac:spMk id="47" creationId="{3BF0F194-7FE3-E1DC-AA2B-25EC9965AC45}"/>
          </ac:spMkLst>
        </pc:spChg>
        <pc:spChg chg="mod">
          <ac:chgData name="Guruprasad Mukund" userId="d73c77e08ff70e53" providerId="LiveId" clId="{0D0B0BCC-9322-4329-914E-89B2B727C81D}" dt="2026-09-10T01:32:40.195" v="1390" actId="20577"/>
          <ac:spMkLst>
            <pc:docMk/>
            <pc:sldMk cId="0" sldId="281"/>
            <ac:spMk id="49" creationId="{5067CB30-48E0-05D0-4432-7BC6404798B4}"/>
          </ac:spMkLst>
        </pc:spChg>
        <pc:spChg chg="add mod">
          <ac:chgData name="Guruprasad Mukund" userId="d73c77e08ff70e53" providerId="LiveId" clId="{0D0B0BCC-9322-4329-914E-89B2B727C81D}" dt="2026-09-10T01:30:58.396" v="1304" actId="1076"/>
          <ac:spMkLst>
            <pc:docMk/>
            <pc:sldMk cId="0" sldId="281"/>
            <ac:spMk id="53" creationId="{287C0405-C40D-799C-C3D9-F6AD6C402177}"/>
          </ac:spMkLst>
        </pc:spChg>
        <pc:spChg chg="add mod">
          <ac:chgData name="Guruprasad Mukund" userId="d73c77e08ff70e53" providerId="LiveId" clId="{0D0B0BCC-9322-4329-914E-89B2B727C81D}" dt="2026-09-10T01:31:34.598" v="1325" actId="14100"/>
          <ac:spMkLst>
            <pc:docMk/>
            <pc:sldMk cId="0" sldId="281"/>
            <ac:spMk id="55" creationId="{EC1ADB71-E676-26AC-34CE-537E5A8D0723}"/>
          </ac:spMkLst>
        </pc:spChg>
        <pc:spChg chg="mod">
          <ac:chgData name="Guruprasad Mukund" userId="d73c77e08ff70e53" providerId="LiveId" clId="{0D0B0BCC-9322-4329-914E-89B2B727C81D}" dt="2026-09-10T00:55:50.718" v="431" actId="20577"/>
          <ac:spMkLst>
            <pc:docMk/>
            <pc:sldMk cId="0" sldId="281"/>
            <ac:spMk id="574" creationId="{00000000-0000-0000-0000-000000000000}"/>
          </ac:spMkLst>
        </pc:spChg>
        <pc:spChg chg="mod">
          <ac:chgData name="Guruprasad Mukund" userId="d73c77e08ff70e53" providerId="LiveId" clId="{0D0B0BCC-9322-4329-914E-89B2B727C81D}" dt="2026-09-10T01:30:48.701" v="1302" actId="20577"/>
          <ac:spMkLst>
            <pc:docMk/>
            <pc:sldMk cId="0" sldId="281"/>
            <ac:spMk id="581" creationId="{00000000-0000-0000-0000-000000000000}"/>
          </ac:spMkLst>
        </pc:spChg>
        <pc:spChg chg="del">
          <ac:chgData name="Guruprasad Mukund" userId="d73c77e08ff70e53" providerId="LiveId" clId="{0D0B0BCC-9322-4329-914E-89B2B727C81D}" dt="2026-09-10T01:33:06.923" v="1391" actId="478"/>
          <ac:spMkLst>
            <pc:docMk/>
            <pc:sldMk cId="0" sldId="281"/>
            <ac:spMk id="606" creationId="{00000000-0000-0000-0000-000000000000}"/>
          </ac:spMkLst>
        </pc:spChg>
        <pc:spChg chg="del">
          <ac:chgData name="Guruprasad Mukund" userId="d73c77e08ff70e53" providerId="LiveId" clId="{0D0B0BCC-9322-4329-914E-89B2B727C81D}" dt="2026-09-10T01:33:06.923" v="1391" actId="478"/>
          <ac:spMkLst>
            <pc:docMk/>
            <pc:sldMk cId="0" sldId="281"/>
            <ac:spMk id="607" creationId="{00000000-0000-0000-0000-000000000000}"/>
          </ac:spMkLst>
        </pc:spChg>
        <pc:spChg chg="del">
          <ac:chgData name="Guruprasad Mukund" userId="d73c77e08ff70e53" providerId="LiveId" clId="{0D0B0BCC-9322-4329-914E-89B2B727C81D}" dt="2026-09-10T01:33:06.923" v="1391" actId="478"/>
          <ac:spMkLst>
            <pc:docMk/>
            <pc:sldMk cId="0" sldId="281"/>
            <ac:spMk id="608" creationId="{00000000-0000-0000-0000-000000000000}"/>
          </ac:spMkLst>
        </pc:spChg>
        <pc:spChg chg="del">
          <ac:chgData name="Guruprasad Mukund" userId="d73c77e08ff70e53" providerId="LiveId" clId="{0D0B0BCC-9322-4329-914E-89B2B727C81D}" dt="2026-09-10T01:33:06.923" v="1391" actId="478"/>
          <ac:spMkLst>
            <pc:docMk/>
            <pc:sldMk cId="0" sldId="281"/>
            <ac:spMk id="609" creationId="{00000000-0000-0000-0000-000000000000}"/>
          </ac:spMkLst>
        </pc:spChg>
        <pc:spChg chg="del">
          <ac:chgData name="Guruprasad Mukund" userId="d73c77e08ff70e53" providerId="LiveId" clId="{0D0B0BCC-9322-4329-914E-89B2B727C81D}" dt="2026-09-10T01:33:06.923" v="1391" actId="478"/>
          <ac:spMkLst>
            <pc:docMk/>
            <pc:sldMk cId="0" sldId="281"/>
            <ac:spMk id="612" creationId="{00000000-0000-0000-0000-000000000000}"/>
          </ac:spMkLst>
        </pc:spChg>
        <pc:spChg chg="del">
          <ac:chgData name="Guruprasad Mukund" userId="d73c77e08ff70e53" providerId="LiveId" clId="{0D0B0BCC-9322-4329-914E-89B2B727C81D}" dt="2026-09-10T01:33:06.923" v="1391" actId="478"/>
          <ac:spMkLst>
            <pc:docMk/>
            <pc:sldMk cId="0" sldId="281"/>
            <ac:spMk id="613" creationId="{00000000-0000-0000-0000-000000000000}"/>
          </ac:spMkLst>
        </pc:spChg>
        <pc:spChg chg="mod">
          <ac:chgData name="Guruprasad Mukund" userId="d73c77e08ff70e53" providerId="LiveId" clId="{0D0B0BCC-9322-4329-914E-89B2B727C81D}" dt="2026-09-10T01:32:21.671" v="1382" actId="20577"/>
          <ac:spMkLst>
            <pc:docMk/>
            <pc:sldMk cId="0" sldId="281"/>
            <ac:spMk id="621" creationId="{00000000-0000-0000-0000-000000000000}"/>
          </ac:spMkLst>
        </pc:spChg>
        <pc:spChg chg="mod">
          <ac:chgData name="Guruprasad Mukund" userId="d73c77e08ff70e53" providerId="LiveId" clId="{0D0B0BCC-9322-4329-914E-89B2B727C81D}" dt="2026-09-10T01:33:17.834" v="1392" actId="1076"/>
          <ac:spMkLst>
            <pc:docMk/>
            <pc:sldMk cId="0" sldId="281"/>
            <ac:spMk id="623" creationId="{00000000-0000-0000-0000-000000000000}"/>
          </ac:spMkLst>
        </pc:spChg>
        <pc:spChg chg="mod">
          <ac:chgData name="Guruprasad Mukund" userId="d73c77e08ff70e53" providerId="LiveId" clId="{0D0B0BCC-9322-4329-914E-89B2B727C81D}" dt="2026-09-10T01:31:08.650" v="1309" actId="20577"/>
          <ac:spMkLst>
            <pc:docMk/>
            <pc:sldMk cId="0" sldId="281"/>
            <ac:spMk id="625" creationId="{00000000-0000-0000-0000-000000000000}"/>
          </ac:spMkLst>
        </pc:spChg>
        <pc:spChg chg="mod">
          <ac:chgData name="Guruprasad Mukund" userId="d73c77e08ff70e53" providerId="LiveId" clId="{0D0B0BCC-9322-4329-914E-89B2B727C81D}" dt="2026-09-10T01:31:21.328" v="1321" actId="14100"/>
          <ac:spMkLst>
            <pc:docMk/>
            <pc:sldMk cId="0" sldId="281"/>
            <ac:spMk id="628" creationId="{00000000-0000-0000-0000-000000000000}"/>
          </ac:spMkLst>
        </pc:spChg>
        <pc:spChg chg="mod">
          <ac:chgData name="Guruprasad Mukund" userId="d73c77e08ff70e53" providerId="LiveId" clId="{0D0B0BCC-9322-4329-914E-89B2B727C81D}" dt="2026-09-10T01:31:12.784" v="1315" actId="20577"/>
          <ac:spMkLst>
            <pc:docMk/>
            <pc:sldMk cId="0" sldId="281"/>
            <ac:spMk id="629" creationId="{00000000-0000-0000-0000-000000000000}"/>
          </ac:spMkLst>
        </pc:spChg>
        <pc:spChg chg="mod">
          <ac:chgData name="Guruprasad Mukund" userId="d73c77e08ff70e53" providerId="LiveId" clId="{0D0B0BCC-9322-4329-914E-89B2B727C81D}" dt="2026-09-09T22:13:25.408" v="373" actId="1076"/>
          <ac:spMkLst>
            <pc:docMk/>
            <pc:sldMk cId="0" sldId="281"/>
            <ac:spMk id="630" creationId="{00000000-0000-0000-0000-000000000000}"/>
          </ac:spMkLst>
        </pc:spChg>
        <pc:spChg chg="mod">
          <ac:chgData name="Guruprasad Mukund" userId="d73c77e08ff70e53" providerId="LiveId" clId="{0D0B0BCC-9322-4329-914E-89B2B727C81D}" dt="2026-09-09T22:13:25.408" v="373" actId="1076"/>
          <ac:spMkLst>
            <pc:docMk/>
            <pc:sldMk cId="0" sldId="281"/>
            <ac:spMk id="631" creationId="{00000000-0000-0000-0000-000000000000}"/>
          </ac:spMkLst>
        </pc:spChg>
        <pc:spChg chg="mod">
          <ac:chgData name="Guruprasad Mukund" userId="d73c77e08ff70e53" providerId="LiveId" clId="{0D0B0BCC-9322-4329-914E-89B2B727C81D}" dt="2026-09-10T01:33:17.834" v="1392" actId="1076"/>
          <ac:spMkLst>
            <pc:docMk/>
            <pc:sldMk cId="0" sldId="281"/>
            <ac:spMk id="632" creationId="{00000000-0000-0000-0000-000000000000}"/>
          </ac:spMkLst>
        </pc:spChg>
        <pc:spChg chg="mod">
          <ac:chgData name="Guruprasad Mukund" userId="d73c77e08ff70e53" providerId="LiveId" clId="{0D0B0BCC-9322-4329-914E-89B2B727C81D}" dt="2026-09-09T22:13:25.408" v="373" actId="1076"/>
          <ac:spMkLst>
            <pc:docMk/>
            <pc:sldMk cId="0" sldId="281"/>
            <ac:spMk id="633" creationId="{00000000-0000-0000-0000-000000000000}"/>
          </ac:spMkLst>
        </pc:spChg>
        <pc:spChg chg="mod">
          <ac:chgData name="Guruprasad Mukund" userId="d73c77e08ff70e53" providerId="LiveId" clId="{0D0B0BCC-9322-4329-914E-89B2B727C81D}" dt="2026-09-09T22:13:25.408" v="373" actId="1076"/>
          <ac:spMkLst>
            <pc:docMk/>
            <pc:sldMk cId="0" sldId="281"/>
            <ac:spMk id="636" creationId="{00000000-0000-0000-0000-000000000000}"/>
          </ac:spMkLst>
        </pc:spChg>
        <pc:spChg chg="mod">
          <ac:chgData name="Guruprasad Mukund" userId="d73c77e08ff70e53" providerId="LiveId" clId="{0D0B0BCC-9322-4329-914E-89B2B727C81D}" dt="2026-09-10T01:33:17.834" v="1392" actId="1076"/>
          <ac:spMkLst>
            <pc:docMk/>
            <pc:sldMk cId="0" sldId="281"/>
            <ac:spMk id="637" creationId="{00000000-0000-0000-0000-000000000000}"/>
          </ac:spMkLst>
        </pc:spChg>
        <pc:spChg chg="mod">
          <ac:chgData name="Guruprasad Mukund" userId="d73c77e08ff70e53" providerId="LiveId" clId="{0D0B0BCC-9322-4329-914E-89B2B727C81D}" dt="2026-09-10T01:33:17.834" v="1392" actId="1076"/>
          <ac:spMkLst>
            <pc:docMk/>
            <pc:sldMk cId="0" sldId="281"/>
            <ac:spMk id="638" creationId="{00000000-0000-0000-0000-000000000000}"/>
          </ac:spMkLst>
        </pc:spChg>
        <pc:spChg chg="mod">
          <ac:chgData name="Guruprasad Mukund" userId="d73c77e08ff70e53" providerId="LiveId" clId="{0D0B0BCC-9322-4329-914E-89B2B727C81D}" dt="2026-09-09T22:13:25.408" v="373" actId="1076"/>
          <ac:spMkLst>
            <pc:docMk/>
            <pc:sldMk cId="0" sldId="281"/>
            <ac:spMk id="639" creationId="{00000000-0000-0000-0000-000000000000}"/>
          </ac:spMkLst>
        </pc:spChg>
        <pc:spChg chg="mod">
          <ac:chgData name="Guruprasad Mukund" userId="d73c77e08ff70e53" providerId="LiveId" clId="{0D0B0BCC-9322-4329-914E-89B2B727C81D}" dt="2026-09-09T22:13:25.408" v="373" actId="1076"/>
          <ac:spMkLst>
            <pc:docMk/>
            <pc:sldMk cId="0" sldId="281"/>
            <ac:spMk id="640" creationId="{00000000-0000-0000-0000-000000000000}"/>
          </ac:spMkLst>
        </pc:spChg>
        <pc:spChg chg="mod">
          <ac:chgData name="Guruprasad Mukund" userId="d73c77e08ff70e53" providerId="LiveId" clId="{0D0B0BCC-9322-4329-914E-89B2B727C81D}" dt="2026-09-10T01:33:17.834" v="1392" actId="1076"/>
          <ac:spMkLst>
            <pc:docMk/>
            <pc:sldMk cId="0" sldId="281"/>
            <ac:spMk id="641" creationId="{00000000-0000-0000-0000-000000000000}"/>
          </ac:spMkLst>
        </pc:spChg>
        <pc:spChg chg="mod">
          <ac:chgData name="Guruprasad Mukund" userId="d73c77e08ff70e53" providerId="LiveId" clId="{0D0B0BCC-9322-4329-914E-89B2B727C81D}" dt="2026-09-10T01:33:17.834" v="1392" actId="1076"/>
          <ac:spMkLst>
            <pc:docMk/>
            <pc:sldMk cId="0" sldId="281"/>
            <ac:spMk id="644" creationId="{00000000-0000-0000-0000-000000000000}"/>
          </ac:spMkLst>
        </pc:spChg>
        <pc:spChg chg="mod">
          <ac:chgData name="Guruprasad Mukund" userId="d73c77e08ff70e53" providerId="LiveId" clId="{0D0B0BCC-9322-4329-914E-89B2B727C81D}" dt="2026-09-09T22:13:25.408" v="373" actId="1076"/>
          <ac:spMkLst>
            <pc:docMk/>
            <pc:sldMk cId="0" sldId="281"/>
            <ac:spMk id="645" creationId="{00000000-0000-0000-0000-000000000000}"/>
          </ac:spMkLst>
        </pc:spChg>
        <pc:spChg chg="del">
          <ac:chgData name="Guruprasad Mukund" userId="d73c77e08ff70e53" providerId="LiveId" clId="{0D0B0BCC-9322-4329-914E-89B2B727C81D}" dt="2026-09-10T01:31:25.905" v="1322" actId="478"/>
          <ac:spMkLst>
            <pc:docMk/>
            <pc:sldMk cId="0" sldId="281"/>
            <ac:spMk id="646" creationId="{00000000-0000-0000-0000-000000000000}"/>
          </ac:spMkLst>
        </pc:spChg>
      </pc:sldChg>
      <pc:sldChg chg="addSp modSp mod modNotes">
        <pc:chgData name="Guruprasad Mukund" userId="d73c77e08ff70e53" providerId="LiveId" clId="{0D0B0BCC-9322-4329-914E-89B2B727C81D}" dt="2026-09-10T17:02:24.670" v="2035"/>
        <pc:sldMkLst>
          <pc:docMk/>
          <pc:sldMk cId="0" sldId="282"/>
        </pc:sldMkLst>
        <pc:spChg chg="add mod">
          <ac:chgData name="Guruprasad Mukund" userId="d73c77e08ff70e53" providerId="LiveId" clId="{0D0B0BCC-9322-4329-914E-89B2B727C81D}" dt="2026-09-09T22:06:01.544" v="201" actId="1076"/>
          <ac:spMkLst>
            <pc:docMk/>
            <pc:sldMk cId="0" sldId="282"/>
            <ac:spMk id="3" creationId="{DFF6A84E-9513-957E-E34D-8EFC9977EBE6}"/>
          </ac:spMkLst>
        </pc:spChg>
        <pc:spChg chg="add mod">
          <ac:chgData name="Guruprasad Mukund" userId="d73c77e08ff70e53" providerId="LiveId" clId="{0D0B0BCC-9322-4329-914E-89B2B727C81D}" dt="2026-09-09T22:06:01.544" v="201" actId="1076"/>
          <ac:spMkLst>
            <pc:docMk/>
            <pc:sldMk cId="0" sldId="282"/>
            <ac:spMk id="5" creationId="{CCBA13A7-2430-2F50-B3B3-1092E0231EDE}"/>
          </ac:spMkLst>
        </pc:spChg>
        <pc:spChg chg="add mod">
          <ac:chgData name="Guruprasad Mukund" userId="d73c77e08ff70e53" providerId="LiveId" clId="{0D0B0BCC-9322-4329-914E-89B2B727C81D}" dt="2026-09-09T22:07:29.843" v="256" actId="20577"/>
          <ac:spMkLst>
            <pc:docMk/>
            <pc:sldMk cId="0" sldId="282"/>
            <ac:spMk id="9" creationId="{07BB90D9-B4FD-652D-DF9F-D8E83D903F5B}"/>
          </ac:spMkLst>
        </pc:spChg>
        <pc:spChg chg="add mod">
          <ac:chgData name="Guruprasad Mukund" userId="d73c77e08ff70e53" providerId="LiveId" clId="{0D0B0BCC-9322-4329-914E-89B2B727C81D}" dt="2026-09-09T22:12:46.454" v="372" actId="20577"/>
          <ac:spMkLst>
            <pc:docMk/>
            <pc:sldMk cId="0" sldId="282"/>
            <ac:spMk id="11" creationId="{03522767-4AC8-D8CF-8541-FA7B7F4D2C3F}"/>
          </ac:spMkLst>
        </pc:spChg>
        <pc:spChg chg="mod">
          <ac:chgData name="Guruprasad Mukund" userId="d73c77e08ff70e53" providerId="LiveId" clId="{0D0B0BCC-9322-4329-914E-89B2B727C81D}" dt="2026-09-09T22:06:09.980" v="202" actId="1076"/>
          <ac:spMkLst>
            <pc:docMk/>
            <pc:sldMk cId="0" sldId="282"/>
            <ac:spMk id="665" creationId="{00000000-0000-0000-0000-000000000000}"/>
          </ac:spMkLst>
        </pc:spChg>
        <pc:spChg chg="mod">
          <ac:chgData name="Guruprasad Mukund" userId="d73c77e08ff70e53" providerId="LiveId" clId="{0D0B0BCC-9322-4329-914E-89B2B727C81D}" dt="2026-09-09T22:06:09.980" v="202" actId="1076"/>
          <ac:spMkLst>
            <pc:docMk/>
            <pc:sldMk cId="0" sldId="282"/>
            <ac:spMk id="666" creationId="{00000000-0000-0000-0000-000000000000}"/>
          </ac:spMkLst>
        </pc:spChg>
        <pc:spChg chg="mod">
          <ac:chgData name="Guruprasad Mukund" userId="d73c77e08ff70e53" providerId="LiveId" clId="{0D0B0BCC-9322-4329-914E-89B2B727C81D}" dt="2026-09-09T22:06:09.980" v="202" actId="1076"/>
          <ac:spMkLst>
            <pc:docMk/>
            <pc:sldMk cId="0" sldId="282"/>
            <ac:spMk id="668" creationId="{00000000-0000-0000-0000-000000000000}"/>
          </ac:spMkLst>
        </pc:spChg>
        <pc:spChg chg="mod">
          <ac:chgData name="Guruprasad Mukund" userId="d73c77e08ff70e53" providerId="LiveId" clId="{0D0B0BCC-9322-4329-914E-89B2B727C81D}" dt="2026-09-09T22:06:09.980" v="202" actId="1076"/>
          <ac:spMkLst>
            <pc:docMk/>
            <pc:sldMk cId="0" sldId="282"/>
            <ac:spMk id="669" creationId="{00000000-0000-0000-0000-000000000000}"/>
          </ac:spMkLst>
        </pc:spChg>
        <pc:spChg chg="mod">
          <ac:chgData name="Guruprasad Mukund" userId="d73c77e08ff70e53" providerId="LiveId" clId="{0D0B0BCC-9322-4329-914E-89B2B727C81D}" dt="2026-09-09T22:06:32.895" v="205" actId="1076"/>
          <ac:spMkLst>
            <pc:docMk/>
            <pc:sldMk cId="0" sldId="282"/>
            <ac:spMk id="670" creationId="{00000000-0000-0000-0000-000000000000}"/>
          </ac:spMkLst>
        </pc:spChg>
        <pc:spChg chg="mod">
          <ac:chgData name="Guruprasad Mukund" userId="d73c77e08ff70e53" providerId="LiveId" clId="{0D0B0BCC-9322-4329-914E-89B2B727C81D}" dt="2026-09-09T22:06:32.895" v="205" actId="1076"/>
          <ac:spMkLst>
            <pc:docMk/>
            <pc:sldMk cId="0" sldId="282"/>
            <ac:spMk id="671" creationId="{00000000-0000-0000-0000-000000000000}"/>
          </ac:spMkLst>
        </pc:spChg>
        <pc:spChg chg="mod">
          <ac:chgData name="Guruprasad Mukund" userId="d73c77e08ff70e53" providerId="LiveId" clId="{0D0B0BCC-9322-4329-914E-89B2B727C81D}" dt="2026-09-09T22:06:32.895" v="205" actId="1076"/>
          <ac:spMkLst>
            <pc:docMk/>
            <pc:sldMk cId="0" sldId="282"/>
            <ac:spMk id="673" creationId="{00000000-0000-0000-0000-000000000000}"/>
          </ac:spMkLst>
        </pc:spChg>
        <pc:spChg chg="mod">
          <ac:chgData name="Guruprasad Mukund" userId="d73c77e08ff70e53" providerId="LiveId" clId="{0D0B0BCC-9322-4329-914E-89B2B727C81D}" dt="2026-09-09T22:06:32.895" v="205" actId="1076"/>
          <ac:spMkLst>
            <pc:docMk/>
            <pc:sldMk cId="0" sldId="282"/>
            <ac:spMk id="674" creationId="{00000000-0000-0000-0000-000000000000}"/>
          </ac:spMkLst>
        </pc:spChg>
        <pc:spChg chg="mod">
          <ac:chgData name="Guruprasad Mukund" userId="d73c77e08ff70e53" providerId="LiveId" clId="{0D0B0BCC-9322-4329-914E-89B2B727C81D}" dt="2026-09-09T22:07:10.192" v="213" actId="1076"/>
          <ac:spMkLst>
            <pc:docMk/>
            <pc:sldMk cId="0" sldId="282"/>
            <ac:spMk id="675" creationId="{00000000-0000-0000-0000-000000000000}"/>
          </ac:spMkLst>
        </pc:spChg>
        <pc:spChg chg="mod">
          <ac:chgData name="Guruprasad Mukund" userId="d73c77e08ff70e53" providerId="LiveId" clId="{0D0B0BCC-9322-4329-914E-89B2B727C81D}" dt="2026-09-09T22:06:43.079" v="206" actId="1076"/>
          <ac:spMkLst>
            <pc:docMk/>
            <pc:sldMk cId="0" sldId="282"/>
            <ac:spMk id="676" creationId="{00000000-0000-0000-0000-000000000000}"/>
          </ac:spMkLst>
        </pc:spChg>
        <pc:spChg chg="mod">
          <ac:chgData name="Guruprasad Mukund" userId="d73c77e08ff70e53" providerId="LiveId" clId="{0D0B0BCC-9322-4329-914E-89B2B727C81D}" dt="2026-09-09T22:06:43.079" v="206" actId="1076"/>
          <ac:spMkLst>
            <pc:docMk/>
            <pc:sldMk cId="0" sldId="282"/>
            <ac:spMk id="678" creationId="{00000000-0000-0000-0000-000000000000}"/>
          </ac:spMkLst>
        </pc:spChg>
        <pc:spChg chg="mod">
          <ac:chgData name="Guruprasad Mukund" userId="d73c77e08ff70e53" providerId="LiveId" clId="{0D0B0BCC-9322-4329-914E-89B2B727C81D}" dt="2026-09-09T22:06:43.079" v="206" actId="1076"/>
          <ac:spMkLst>
            <pc:docMk/>
            <pc:sldMk cId="0" sldId="282"/>
            <ac:spMk id="679" creationId="{00000000-0000-0000-0000-000000000000}"/>
          </ac:spMkLst>
        </pc:spChg>
        <pc:spChg chg="mod">
          <ac:chgData name="Guruprasad Mukund" userId="d73c77e08ff70e53" providerId="LiveId" clId="{0D0B0BCC-9322-4329-914E-89B2B727C81D}" dt="2026-09-09T22:07:05.325" v="211" actId="1076"/>
          <ac:spMkLst>
            <pc:docMk/>
            <pc:sldMk cId="0" sldId="282"/>
            <ac:spMk id="680" creationId="{00000000-0000-0000-0000-000000000000}"/>
          </ac:spMkLst>
        </pc:spChg>
        <pc:spChg chg="mod">
          <ac:chgData name="Guruprasad Mukund" userId="d73c77e08ff70e53" providerId="LiveId" clId="{0D0B0BCC-9322-4329-914E-89B2B727C81D}" dt="2026-09-09T22:07:05.325" v="211" actId="1076"/>
          <ac:spMkLst>
            <pc:docMk/>
            <pc:sldMk cId="0" sldId="282"/>
            <ac:spMk id="681" creationId="{00000000-0000-0000-0000-000000000000}"/>
          </ac:spMkLst>
        </pc:spChg>
        <pc:spChg chg="mod">
          <ac:chgData name="Guruprasad Mukund" userId="d73c77e08ff70e53" providerId="LiveId" clId="{0D0B0BCC-9322-4329-914E-89B2B727C81D}" dt="2026-09-09T22:07:05.325" v="211" actId="1076"/>
          <ac:spMkLst>
            <pc:docMk/>
            <pc:sldMk cId="0" sldId="282"/>
            <ac:spMk id="683" creationId="{00000000-0000-0000-0000-000000000000}"/>
          </ac:spMkLst>
        </pc:spChg>
        <pc:spChg chg="mod">
          <ac:chgData name="Guruprasad Mukund" userId="d73c77e08ff70e53" providerId="LiveId" clId="{0D0B0BCC-9322-4329-914E-89B2B727C81D}" dt="2026-09-09T22:07:05.325" v="211" actId="1076"/>
          <ac:spMkLst>
            <pc:docMk/>
            <pc:sldMk cId="0" sldId="282"/>
            <ac:spMk id="684" creationId="{00000000-0000-0000-0000-000000000000}"/>
          </ac:spMkLst>
        </pc:spChg>
        <pc:picChg chg="add mod">
          <ac:chgData name="Guruprasad Mukund" userId="d73c77e08ff70e53" providerId="LiveId" clId="{0D0B0BCC-9322-4329-914E-89B2B727C81D}" dt="2026-09-09T22:06:01.544" v="201" actId="1076"/>
          <ac:picMkLst>
            <pc:docMk/>
            <pc:sldMk cId="0" sldId="282"/>
            <ac:picMk id="7" creationId="{1266946C-07B3-0C6D-2824-D68D5AA74741}"/>
          </ac:picMkLst>
        </pc:picChg>
        <pc:picChg chg="mod">
          <ac:chgData name="Guruprasad Mukund" userId="d73c77e08ff70e53" providerId="LiveId" clId="{0D0B0BCC-9322-4329-914E-89B2B727C81D}" dt="2026-09-09T22:06:09.980" v="202" actId="1076"/>
          <ac:picMkLst>
            <pc:docMk/>
            <pc:sldMk cId="0" sldId="282"/>
            <ac:picMk id="667" creationId="{00000000-0000-0000-0000-000000000000}"/>
          </ac:picMkLst>
        </pc:picChg>
        <pc:picChg chg="mod">
          <ac:chgData name="Guruprasad Mukund" userId="d73c77e08ff70e53" providerId="LiveId" clId="{0D0B0BCC-9322-4329-914E-89B2B727C81D}" dt="2026-09-09T22:06:43.079" v="206" actId="1076"/>
          <ac:picMkLst>
            <pc:docMk/>
            <pc:sldMk cId="0" sldId="282"/>
            <ac:picMk id="677" creationId="{00000000-0000-0000-0000-000000000000}"/>
          </ac:picMkLst>
        </pc:picChg>
        <pc:picChg chg="mod">
          <ac:chgData name="Guruprasad Mukund" userId="d73c77e08ff70e53" providerId="LiveId" clId="{0D0B0BCC-9322-4329-914E-89B2B727C81D}" dt="2026-09-09T22:07:05.325" v="211" actId="1076"/>
          <ac:picMkLst>
            <pc:docMk/>
            <pc:sldMk cId="0" sldId="282"/>
            <ac:picMk id="682" creationId="{00000000-0000-0000-0000-000000000000}"/>
          </ac:picMkLst>
        </pc:picChg>
        <pc:picChg chg="mod">
          <ac:chgData name="Guruprasad Mukund" userId="d73c77e08ff70e53" providerId="LiveId" clId="{0D0B0BCC-9322-4329-914E-89B2B727C81D}" dt="2026-09-09T22:06:32.895" v="205" actId="1076"/>
          <ac:picMkLst>
            <pc:docMk/>
            <pc:sldMk cId="0" sldId="282"/>
            <ac:picMk id="685" creationId="{00000000-0000-0000-0000-000000000000}"/>
          </ac:picMkLst>
        </pc:picChg>
      </pc:sldChg>
      <pc:sldChg chg="modSp mod modNotes modNotesTx">
        <pc:chgData name="Guruprasad Mukund" userId="d73c77e08ff70e53" providerId="LiveId" clId="{0D0B0BCC-9322-4329-914E-89B2B727C81D}" dt="2026-09-10T17:02:24.670" v="2035"/>
        <pc:sldMkLst>
          <pc:docMk/>
          <pc:sldMk cId="0" sldId="283"/>
        </pc:sldMkLst>
        <pc:spChg chg="mod">
          <ac:chgData name="Guruprasad Mukund" userId="d73c77e08ff70e53" providerId="LiveId" clId="{0D0B0BCC-9322-4329-914E-89B2B727C81D}" dt="2026-09-10T02:26:48.685" v="2034" actId="20577"/>
          <ac:spMkLst>
            <pc:docMk/>
            <pc:sldMk cId="0" sldId="283"/>
            <ac:spMk id="707" creationId="{00000000-0000-0000-0000-000000000000}"/>
          </ac:spMkLst>
        </pc:spChg>
      </pc:sldChg>
      <pc:sldChg chg="modSp mod modNotes">
        <pc:chgData name="Guruprasad Mukund" userId="d73c77e08ff70e53" providerId="LiveId" clId="{0D0B0BCC-9322-4329-914E-89B2B727C81D}" dt="2026-09-10T17:02:24.670" v="2035"/>
        <pc:sldMkLst>
          <pc:docMk/>
          <pc:sldMk cId="0" sldId="284"/>
        </pc:sldMkLst>
        <pc:spChg chg="mod">
          <ac:chgData name="Guruprasad Mukund" userId="d73c77e08ff70e53" providerId="LiveId" clId="{0D0B0BCC-9322-4329-914E-89B2B727C81D}" dt="2026-09-10T01:58:18.077" v="1724"/>
          <ac:spMkLst>
            <pc:docMk/>
            <pc:sldMk cId="0" sldId="284"/>
            <ac:spMk id="731" creationId="{00000000-0000-0000-0000-000000000000}"/>
          </ac:spMkLst>
        </pc:spChg>
      </pc:sldChg>
      <pc:sldChg chg="addSp delSp modSp mod modNotes">
        <pc:chgData name="Guruprasad Mukund" userId="d73c77e08ff70e53" providerId="LiveId" clId="{0D0B0BCC-9322-4329-914E-89B2B727C81D}" dt="2026-09-10T17:02:24.670" v="2035"/>
        <pc:sldMkLst>
          <pc:docMk/>
          <pc:sldMk cId="0" sldId="285"/>
        </pc:sldMkLst>
        <pc:spChg chg="mod">
          <ac:chgData name="Guruprasad Mukund" userId="d73c77e08ff70e53" providerId="LiveId" clId="{0D0B0BCC-9322-4329-914E-89B2B727C81D}" dt="2026-09-09T22:15:10.889" v="420" actId="1076"/>
          <ac:spMkLst>
            <pc:docMk/>
            <pc:sldMk cId="0" sldId="285"/>
            <ac:spMk id="3" creationId="{41D1065D-162E-90E1-AE77-88E48C159AB3}"/>
          </ac:spMkLst>
        </pc:spChg>
        <pc:spChg chg="add mod">
          <ac:chgData name="Guruprasad Mukund" userId="d73c77e08ff70e53" providerId="LiveId" clId="{0D0B0BCC-9322-4329-914E-89B2B727C81D}" dt="2026-09-09T22:15:10.889" v="420" actId="1076"/>
          <ac:spMkLst>
            <pc:docMk/>
            <pc:sldMk cId="0" sldId="285"/>
            <ac:spMk id="4" creationId="{63F8A201-3B79-7587-CC0F-0BED91019C69}"/>
          </ac:spMkLst>
        </pc:spChg>
        <pc:spChg chg="mod">
          <ac:chgData name="Guruprasad Mukund" userId="d73c77e08ff70e53" providerId="LiveId" clId="{0D0B0BCC-9322-4329-914E-89B2B727C81D}" dt="2026-09-09T22:14:41.730" v="399" actId="1076"/>
          <ac:spMkLst>
            <pc:docMk/>
            <pc:sldMk cId="0" sldId="285"/>
            <ac:spMk id="5" creationId="{A5A1408D-31A0-6BA6-6945-ECE6B7A2973C}"/>
          </ac:spMkLst>
        </pc:spChg>
        <pc:spChg chg="mod">
          <ac:chgData name="Guruprasad Mukund" userId="d73c77e08ff70e53" providerId="LiveId" clId="{0D0B0BCC-9322-4329-914E-89B2B727C81D}" dt="2026-09-09T22:15:13.315" v="425" actId="20577"/>
          <ac:spMkLst>
            <pc:docMk/>
            <pc:sldMk cId="0" sldId="285"/>
            <ac:spMk id="7" creationId="{F6B2A43F-3064-4B0C-D22D-94522F304C6F}"/>
          </ac:spMkLst>
        </pc:spChg>
        <pc:spChg chg="add mod">
          <ac:chgData name="Guruprasad Mukund" userId="d73c77e08ff70e53" providerId="LiveId" clId="{0D0B0BCC-9322-4329-914E-89B2B727C81D}" dt="2026-09-09T22:15:10.889" v="420" actId="1076"/>
          <ac:spMkLst>
            <pc:docMk/>
            <pc:sldMk cId="0" sldId="285"/>
            <ac:spMk id="14" creationId="{59D1FB7A-084C-920A-7B6D-7D3671F54265}"/>
          </ac:spMkLst>
        </pc:spChg>
        <pc:spChg chg="add mod">
          <ac:chgData name="Guruprasad Mukund" userId="d73c77e08ff70e53" providerId="LiveId" clId="{0D0B0BCC-9322-4329-914E-89B2B727C81D}" dt="2026-09-09T22:15:10.889" v="420" actId="1076"/>
          <ac:spMkLst>
            <pc:docMk/>
            <pc:sldMk cId="0" sldId="285"/>
            <ac:spMk id="16" creationId="{3F3DF4E4-8CE4-7BBD-5B73-E6D3560B949A}"/>
          </ac:spMkLst>
        </pc:spChg>
        <pc:spChg chg="add mod">
          <ac:chgData name="Guruprasad Mukund" userId="d73c77e08ff70e53" providerId="LiveId" clId="{0D0B0BCC-9322-4329-914E-89B2B727C81D}" dt="2026-09-09T22:15:10.889" v="420" actId="1076"/>
          <ac:spMkLst>
            <pc:docMk/>
            <pc:sldMk cId="0" sldId="285"/>
            <ac:spMk id="18" creationId="{2FB0CE0E-173B-BF42-C9CA-7972ACF53931}"/>
          </ac:spMkLst>
        </pc:spChg>
        <pc:spChg chg="mod">
          <ac:chgData name="Guruprasad Mukund" userId="d73c77e08ff70e53" providerId="LiveId" clId="{0D0B0BCC-9322-4329-914E-89B2B727C81D}" dt="2026-09-09T22:15:10.889" v="420" actId="1076"/>
          <ac:spMkLst>
            <pc:docMk/>
            <pc:sldMk cId="0" sldId="285"/>
            <ac:spMk id="756" creationId="{00000000-0000-0000-0000-000000000000}"/>
          </ac:spMkLst>
        </pc:spChg>
        <pc:spChg chg="mod">
          <ac:chgData name="Guruprasad Mukund" userId="d73c77e08ff70e53" providerId="LiveId" clId="{0D0B0BCC-9322-4329-914E-89B2B727C81D}" dt="2026-09-09T22:15:10.889" v="420" actId="1076"/>
          <ac:spMkLst>
            <pc:docMk/>
            <pc:sldMk cId="0" sldId="285"/>
            <ac:spMk id="758" creationId="{00000000-0000-0000-0000-000000000000}"/>
          </ac:spMkLst>
        </pc:spChg>
        <pc:spChg chg="mod">
          <ac:chgData name="Guruprasad Mukund" userId="d73c77e08ff70e53" providerId="LiveId" clId="{0D0B0BCC-9322-4329-914E-89B2B727C81D}" dt="2026-09-10T01:33:28.549" v="1397" actId="20577"/>
          <ac:spMkLst>
            <pc:docMk/>
            <pc:sldMk cId="0" sldId="285"/>
            <ac:spMk id="759" creationId="{00000000-0000-0000-0000-000000000000}"/>
          </ac:spMkLst>
        </pc:spChg>
        <pc:spChg chg="mod">
          <ac:chgData name="Guruprasad Mukund" userId="d73c77e08ff70e53" providerId="LiveId" clId="{0D0B0BCC-9322-4329-914E-89B2B727C81D}" dt="2026-09-10T01:58:26.991" v="1745" actId="20577"/>
          <ac:spMkLst>
            <pc:docMk/>
            <pc:sldMk cId="0" sldId="285"/>
            <ac:spMk id="760" creationId="{00000000-0000-0000-0000-000000000000}"/>
          </ac:spMkLst>
        </pc:spChg>
      </pc:sldChg>
      <pc:sldChg chg="modSp add mod ord setBg modNotes">
        <pc:chgData name="Guruprasad Mukund" userId="d73c77e08ff70e53" providerId="LiveId" clId="{0D0B0BCC-9322-4329-914E-89B2B727C81D}" dt="2026-09-10T17:02:24.670" v="2035"/>
        <pc:sldMkLst>
          <pc:docMk/>
          <pc:sldMk cId="1697014910" sldId="286"/>
        </pc:sldMkLst>
        <pc:spChg chg="mod">
          <ac:chgData name="Guruprasad Mukund" userId="d73c77e08ff70e53" providerId="LiveId" clId="{0D0B0BCC-9322-4329-914E-89B2B727C81D}" dt="2026-09-10T01:19:45.067" v="715" actId="20577"/>
          <ac:spMkLst>
            <pc:docMk/>
            <pc:sldMk cId="1697014910" sldId="286"/>
            <ac:spMk id="199" creationId="{571B18A0-982C-6413-E527-5477A4492BFC}"/>
          </ac:spMkLst>
        </pc:spChg>
        <pc:spChg chg="mod">
          <ac:chgData name="Guruprasad Mukund" userId="d73c77e08ff70e53" providerId="LiveId" clId="{0D0B0BCC-9322-4329-914E-89B2B727C81D}" dt="2026-09-10T01:05:32.405" v="601" actId="20577"/>
          <ac:spMkLst>
            <pc:docMk/>
            <pc:sldMk cId="1697014910" sldId="286"/>
            <ac:spMk id="203" creationId="{63903C5E-5CFB-EB08-C7EF-5CE10996A6C0}"/>
          </ac:spMkLst>
        </pc:spChg>
        <pc:spChg chg="mod">
          <ac:chgData name="Guruprasad Mukund" userId="d73c77e08ff70e53" providerId="LiveId" clId="{0D0B0BCC-9322-4329-914E-89B2B727C81D}" dt="2026-09-10T01:17:57.759" v="615" actId="20577"/>
          <ac:spMkLst>
            <pc:docMk/>
            <pc:sldMk cId="1697014910" sldId="286"/>
            <ac:spMk id="204" creationId="{7A3827C5-C6EA-2892-40F1-5368B8A6AE3D}"/>
          </ac:spMkLst>
        </pc:spChg>
        <pc:spChg chg="mod">
          <ac:chgData name="Guruprasad Mukund" userId="d73c77e08ff70e53" providerId="LiveId" clId="{0D0B0BCC-9322-4329-914E-89B2B727C81D}" dt="2026-09-10T01:18:12.846" v="623" actId="20577"/>
          <ac:spMkLst>
            <pc:docMk/>
            <pc:sldMk cId="1697014910" sldId="286"/>
            <ac:spMk id="207" creationId="{5A0CE20C-D81F-D77A-3560-C1528B3C92F8}"/>
          </ac:spMkLst>
        </pc:spChg>
        <pc:spChg chg="mod">
          <ac:chgData name="Guruprasad Mukund" userId="d73c77e08ff70e53" providerId="LiveId" clId="{0D0B0BCC-9322-4329-914E-89B2B727C81D}" dt="2026-09-10T01:18:26.032" v="631" actId="20577"/>
          <ac:spMkLst>
            <pc:docMk/>
            <pc:sldMk cId="1697014910" sldId="286"/>
            <ac:spMk id="210" creationId="{FB3F75C9-72AF-5DC8-026C-721585D2E1FE}"/>
          </ac:spMkLst>
        </pc:spChg>
        <pc:spChg chg="mod">
          <ac:chgData name="Guruprasad Mukund" userId="d73c77e08ff70e53" providerId="LiveId" clId="{0D0B0BCC-9322-4329-914E-89B2B727C81D}" dt="2026-09-10T01:18:35.089" v="633" actId="20577"/>
          <ac:spMkLst>
            <pc:docMk/>
            <pc:sldMk cId="1697014910" sldId="286"/>
            <ac:spMk id="213" creationId="{5F6B2C73-2640-7D12-6F8D-8ABCF306E598}"/>
          </ac:spMkLst>
        </pc:spChg>
        <pc:spChg chg="mod">
          <ac:chgData name="Guruprasad Mukund" userId="d73c77e08ff70e53" providerId="LiveId" clId="{0D0B0BCC-9322-4329-914E-89B2B727C81D}" dt="2026-09-10T01:18:42.830" v="635" actId="20577"/>
          <ac:spMkLst>
            <pc:docMk/>
            <pc:sldMk cId="1697014910" sldId="286"/>
            <ac:spMk id="216" creationId="{CEE91CD9-1206-5DC7-25B6-C2E6896D5992}"/>
          </ac:spMkLst>
        </pc:spChg>
        <pc:spChg chg="mod">
          <ac:chgData name="Guruprasad Mukund" userId="d73c77e08ff70e53" providerId="LiveId" clId="{0D0B0BCC-9322-4329-914E-89B2B727C81D}" dt="2026-09-10T01:19:06.426" v="652" actId="20577"/>
          <ac:spMkLst>
            <pc:docMk/>
            <pc:sldMk cId="1697014910" sldId="286"/>
            <ac:spMk id="221" creationId="{97CA1460-82C1-E5E0-2482-126536D02179}"/>
          </ac:spMkLst>
        </pc:spChg>
      </pc:sldChg>
      <pc:sldChg chg="addSp delSp modSp add mod setBg modNotes">
        <pc:chgData name="Guruprasad Mukund" userId="d73c77e08ff70e53" providerId="LiveId" clId="{0D0B0BCC-9322-4329-914E-89B2B727C81D}" dt="2026-09-10T17:02:24.670" v="2035"/>
        <pc:sldMkLst>
          <pc:docMk/>
          <pc:sldMk cId="2646230774" sldId="287"/>
        </pc:sldMkLst>
        <pc:spChg chg="mod">
          <ac:chgData name="Guruprasad Mukund" userId="d73c77e08ff70e53" providerId="LiveId" clId="{0D0B0BCC-9322-4329-914E-89B2B727C81D}" dt="2026-09-10T01:52:28.370" v="1565" actId="20577"/>
          <ac:spMkLst>
            <pc:docMk/>
            <pc:sldMk cId="2646230774" sldId="287"/>
            <ac:spMk id="246" creationId="{5E0DE62C-4C1F-4556-EF81-5F7DFBE93E4B}"/>
          </ac:spMkLst>
        </pc:spChg>
        <pc:spChg chg="mod">
          <ac:chgData name="Guruprasad Mukund" userId="d73c77e08ff70e53" providerId="LiveId" clId="{0D0B0BCC-9322-4329-914E-89B2B727C81D}" dt="2026-09-10T01:22:15.405" v="790" actId="20577"/>
          <ac:spMkLst>
            <pc:docMk/>
            <pc:sldMk cId="2646230774" sldId="287"/>
            <ac:spMk id="247" creationId="{A3F21FE5-EADD-1E71-2418-7B29EAAC56C5}"/>
          </ac:spMkLst>
        </pc:spChg>
        <pc:spChg chg="mod">
          <ac:chgData name="Guruprasad Mukund" userId="d73c77e08ff70e53" providerId="LiveId" clId="{0D0B0BCC-9322-4329-914E-89B2B727C81D}" dt="2026-09-10T01:29:04.348" v="1264" actId="1076"/>
          <ac:spMkLst>
            <pc:docMk/>
            <pc:sldMk cId="2646230774" sldId="287"/>
            <ac:spMk id="248" creationId="{112E3877-9867-E231-0852-09A241FFFBC5}"/>
          </ac:spMkLst>
        </pc:spChg>
        <pc:spChg chg="mod">
          <ac:chgData name="Guruprasad Mukund" userId="d73c77e08ff70e53" providerId="LiveId" clId="{0D0B0BCC-9322-4329-914E-89B2B727C81D}" dt="2026-09-10T01:29:04.348" v="1264" actId="1076"/>
          <ac:spMkLst>
            <pc:docMk/>
            <pc:sldMk cId="2646230774" sldId="287"/>
            <ac:spMk id="249" creationId="{8FDF885D-5BAF-7627-3DDB-EE0F9D9D8052}"/>
          </ac:spMkLst>
        </pc:spChg>
        <pc:spChg chg="mod">
          <ac:chgData name="Guruprasad Mukund" userId="d73c77e08ff70e53" providerId="LiveId" clId="{0D0B0BCC-9322-4329-914E-89B2B727C81D}" dt="2026-09-10T01:29:04.348" v="1264" actId="1076"/>
          <ac:spMkLst>
            <pc:docMk/>
            <pc:sldMk cId="2646230774" sldId="287"/>
            <ac:spMk id="250" creationId="{C35DB035-6065-9558-504D-644050C0DE86}"/>
          </ac:spMkLst>
        </pc:spChg>
        <pc:spChg chg="mod">
          <ac:chgData name="Guruprasad Mukund" userId="d73c77e08ff70e53" providerId="LiveId" clId="{0D0B0BCC-9322-4329-914E-89B2B727C81D}" dt="2026-09-10T01:29:04.348" v="1264" actId="1076"/>
          <ac:spMkLst>
            <pc:docMk/>
            <pc:sldMk cId="2646230774" sldId="287"/>
            <ac:spMk id="251" creationId="{9238A363-7F00-80E9-FE37-C5C3AC22F76D}"/>
          </ac:spMkLst>
        </pc:spChg>
        <pc:spChg chg="mod">
          <ac:chgData name="Guruprasad Mukund" userId="d73c77e08ff70e53" providerId="LiveId" clId="{0D0B0BCC-9322-4329-914E-89B2B727C81D}" dt="2026-09-10T01:29:04.348" v="1264" actId="1076"/>
          <ac:spMkLst>
            <pc:docMk/>
            <pc:sldMk cId="2646230774" sldId="287"/>
            <ac:spMk id="252" creationId="{806D9CFE-9C1C-E525-A5CF-14576D8F4D9F}"/>
          </ac:spMkLst>
        </pc:spChg>
        <pc:spChg chg="mod">
          <ac:chgData name="Guruprasad Mukund" userId="d73c77e08ff70e53" providerId="LiveId" clId="{0D0B0BCC-9322-4329-914E-89B2B727C81D}" dt="2026-09-10T01:29:04.348" v="1264" actId="1076"/>
          <ac:spMkLst>
            <pc:docMk/>
            <pc:sldMk cId="2646230774" sldId="287"/>
            <ac:spMk id="253" creationId="{868559D8-CF1E-F3F2-0008-B20E439E278F}"/>
          </ac:spMkLst>
        </pc:spChg>
        <pc:spChg chg="del">
          <ac:chgData name="Guruprasad Mukund" userId="d73c77e08ff70e53" providerId="LiveId" clId="{0D0B0BCC-9322-4329-914E-89B2B727C81D}" dt="2026-09-10T01:27:34.221" v="1099" actId="478"/>
          <ac:spMkLst>
            <pc:docMk/>
            <pc:sldMk cId="2646230774" sldId="287"/>
            <ac:spMk id="254" creationId="{B1966BD5-4AE7-7066-01F4-6A131BC794C3}"/>
          </ac:spMkLst>
        </pc:spChg>
        <pc:spChg chg="del">
          <ac:chgData name="Guruprasad Mukund" userId="d73c77e08ff70e53" providerId="LiveId" clId="{0D0B0BCC-9322-4329-914E-89B2B727C81D}" dt="2026-09-10T01:27:34.221" v="1099" actId="478"/>
          <ac:spMkLst>
            <pc:docMk/>
            <pc:sldMk cId="2646230774" sldId="287"/>
            <ac:spMk id="255" creationId="{17716F27-1B49-996D-EABE-CDC9B64BF2C4}"/>
          </ac:spMkLst>
        </pc:spChg>
        <pc:spChg chg="del">
          <ac:chgData name="Guruprasad Mukund" userId="d73c77e08ff70e53" providerId="LiveId" clId="{0D0B0BCC-9322-4329-914E-89B2B727C81D}" dt="2026-09-10T01:27:34.221" v="1099" actId="478"/>
          <ac:spMkLst>
            <pc:docMk/>
            <pc:sldMk cId="2646230774" sldId="287"/>
            <ac:spMk id="256" creationId="{DDC56562-062E-1F64-8948-C990C333918C}"/>
          </ac:spMkLst>
        </pc:spChg>
        <pc:spChg chg="del mod">
          <ac:chgData name="Guruprasad Mukund" userId="d73c77e08ff70e53" providerId="LiveId" clId="{0D0B0BCC-9322-4329-914E-89B2B727C81D}" dt="2026-09-10T01:27:34.221" v="1099" actId="478"/>
          <ac:spMkLst>
            <pc:docMk/>
            <pc:sldMk cId="2646230774" sldId="287"/>
            <ac:spMk id="257" creationId="{45178674-7B6E-AAFE-E0A6-C4FB85AE0615}"/>
          </ac:spMkLst>
        </pc:spChg>
        <pc:spChg chg="mod">
          <ac:chgData name="Guruprasad Mukund" userId="d73c77e08ff70e53" providerId="LiveId" clId="{0D0B0BCC-9322-4329-914E-89B2B727C81D}" dt="2026-09-10T01:56:48.792" v="1716" actId="20577"/>
          <ac:spMkLst>
            <pc:docMk/>
            <pc:sldMk cId="2646230774" sldId="287"/>
            <ac:spMk id="258" creationId="{768B0687-05EF-A981-3901-5A1368BB6AD9}"/>
          </ac:spMkLst>
        </pc:spChg>
        <pc:picChg chg="add mod">
          <ac:chgData name="Guruprasad Mukund" userId="d73c77e08ff70e53" providerId="LiveId" clId="{0D0B0BCC-9322-4329-914E-89B2B727C81D}" dt="2026-09-10T01:29:46.900" v="1272" actId="14100"/>
          <ac:picMkLst>
            <pc:docMk/>
            <pc:sldMk cId="2646230774" sldId="287"/>
            <ac:picMk id="3" creationId="{23559F42-FD23-0C8F-8C69-0CCCF8B9DA20}"/>
          </ac:picMkLst>
        </pc:picChg>
      </pc:sldChg>
      <pc:sldChg chg="add del setBg">
        <pc:chgData name="Guruprasad Mukund" userId="d73c77e08ff70e53" providerId="LiveId" clId="{0D0B0BCC-9322-4329-914E-89B2B727C81D}" dt="2026-09-10T01:29:07.613" v="1266"/>
        <pc:sldMkLst>
          <pc:docMk/>
          <pc:sldMk cId="356432942" sldId="288"/>
        </pc:sldMkLst>
      </pc:sldChg>
      <pc:sldChg chg="add del setBg">
        <pc:chgData name="Guruprasad Mukund" userId="d73c77e08ff70e53" providerId="LiveId" clId="{0D0B0BCC-9322-4329-914E-89B2B727C81D}" dt="2026-09-10T01:34:04.285" v="1399"/>
        <pc:sldMkLst>
          <pc:docMk/>
          <pc:sldMk cId="1013986938" sldId="288"/>
        </pc:sldMkLst>
      </pc:sldChg>
      <pc:sldChg chg="modSp add mod modNotes">
        <pc:chgData name="Guruprasad Mukund" userId="d73c77e08ff70e53" providerId="LiveId" clId="{0D0B0BCC-9322-4329-914E-89B2B727C81D}" dt="2026-09-10T17:02:24.670" v="2035"/>
        <pc:sldMkLst>
          <pc:docMk/>
          <pc:sldMk cId="3924983298" sldId="288"/>
        </pc:sldMkLst>
        <pc:spChg chg="mod">
          <ac:chgData name="Guruprasad Mukund" userId="d73c77e08ff70e53" providerId="LiveId" clId="{0D0B0BCC-9322-4329-914E-89B2B727C81D}" dt="2026-09-10T01:34:23.858" v="1414" actId="20577"/>
          <ac:spMkLst>
            <pc:docMk/>
            <pc:sldMk cId="3924983298" sldId="288"/>
            <ac:spMk id="157" creationId="{0D070900-A247-8FD2-734E-9096826EFB30}"/>
          </ac:spMkLst>
        </pc:spChg>
      </pc:sldChg>
      <pc:sldChg chg="addSp delSp modSp add mod setBg modNotes modNotesTx">
        <pc:chgData name="Guruprasad Mukund" userId="d73c77e08ff70e53" providerId="LiveId" clId="{0D0B0BCC-9322-4329-914E-89B2B727C81D}" dt="2026-09-10T17:02:24.670" v="2035"/>
        <pc:sldMkLst>
          <pc:docMk/>
          <pc:sldMk cId="1023739724" sldId="289"/>
        </pc:sldMkLst>
        <pc:spChg chg="del">
          <ac:chgData name="Guruprasad Mukund" userId="d73c77e08ff70e53" providerId="LiveId" clId="{0D0B0BCC-9322-4329-914E-89B2B727C81D}" dt="2026-09-10T01:35:55.203" v="1457" actId="478"/>
          <ac:spMkLst>
            <pc:docMk/>
            <pc:sldMk cId="1023739724" sldId="289"/>
            <ac:spMk id="3" creationId="{348BB039-CB46-6086-22A3-DECBE1AF0E1F}"/>
          </ac:spMkLst>
        </pc:spChg>
        <pc:spChg chg="del">
          <ac:chgData name="Guruprasad Mukund" userId="d73c77e08ff70e53" providerId="LiveId" clId="{0D0B0BCC-9322-4329-914E-89B2B727C81D}" dt="2026-09-10T01:35:55.203" v="1457" actId="478"/>
          <ac:spMkLst>
            <pc:docMk/>
            <pc:sldMk cId="1023739724" sldId="289"/>
            <ac:spMk id="7" creationId="{00C33171-9D9C-CB74-F3C1-1CD6644377AD}"/>
          </ac:spMkLst>
        </pc:spChg>
        <pc:spChg chg="del">
          <ac:chgData name="Guruprasad Mukund" userId="d73c77e08ff70e53" providerId="LiveId" clId="{0D0B0BCC-9322-4329-914E-89B2B727C81D}" dt="2026-09-10T01:36:01.287" v="1459" actId="478"/>
          <ac:spMkLst>
            <pc:docMk/>
            <pc:sldMk cId="1023739724" sldId="289"/>
            <ac:spMk id="9" creationId="{C9B52D52-2177-34D9-B521-D4ED40F13843}"/>
          </ac:spMkLst>
        </pc:spChg>
        <pc:spChg chg="del">
          <ac:chgData name="Guruprasad Mukund" userId="d73c77e08ff70e53" providerId="LiveId" clId="{0D0B0BCC-9322-4329-914E-89B2B727C81D}" dt="2026-09-10T01:36:01.287" v="1459" actId="478"/>
          <ac:spMkLst>
            <pc:docMk/>
            <pc:sldMk cId="1023739724" sldId="289"/>
            <ac:spMk id="11" creationId="{EFA520BA-8B1C-06B8-8EEB-F1394A5C38B3}"/>
          </ac:spMkLst>
        </pc:spChg>
        <pc:spChg chg="mod">
          <ac:chgData name="Guruprasad Mukund" userId="d73c77e08ff70e53" providerId="LiveId" clId="{0D0B0BCC-9322-4329-914E-89B2B727C81D}" dt="2026-09-10T01:35:36.864" v="1428" actId="20577"/>
          <ac:spMkLst>
            <pc:docMk/>
            <pc:sldMk cId="1023739724" sldId="289"/>
            <ac:spMk id="718" creationId="{441E6B22-DC84-8BF9-68B4-C068975E641B}"/>
          </ac:spMkLst>
        </pc:spChg>
        <pc:spChg chg="mod">
          <ac:chgData name="Guruprasad Mukund" userId="d73c77e08ff70e53" providerId="LiveId" clId="{0D0B0BCC-9322-4329-914E-89B2B727C81D}" dt="2026-09-10T01:35:48.129" v="1456" actId="20577"/>
          <ac:spMkLst>
            <pc:docMk/>
            <pc:sldMk cId="1023739724" sldId="289"/>
            <ac:spMk id="719" creationId="{AAD6E65A-3794-7C55-027F-1B78EF11EAC1}"/>
          </ac:spMkLst>
        </pc:spChg>
        <pc:spChg chg="mod">
          <ac:chgData name="Guruprasad Mukund" userId="d73c77e08ff70e53" providerId="LiveId" clId="{0D0B0BCC-9322-4329-914E-89B2B727C81D}" dt="2026-09-10T01:36:34.849" v="1467" actId="1076"/>
          <ac:spMkLst>
            <pc:docMk/>
            <pc:sldMk cId="1023739724" sldId="289"/>
            <ac:spMk id="720" creationId="{E30C7E0B-429C-BBF0-81A4-3369F42226A4}"/>
          </ac:spMkLst>
        </pc:spChg>
        <pc:spChg chg="del mod">
          <ac:chgData name="Guruprasad Mukund" userId="d73c77e08ff70e53" providerId="LiveId" clId="{0D0B0BCC-9322-4329-914E-89B2B727C81D}" dt="2026-09-10T01:36:50.938" v="1471" actId="478"/>
          <ac:spMkLst>
            <pc:docMk/>
            <pc:sldMk cId="1023739724" sldId="289"/>
            <ac:spMk id="722" creationId="{6AFBFD50-A0D1-98B9-2BAE-6B0D491ACCCD}"/>
          </ac:spMkLst>
        </pc:spChg>
        <pc:spChg chg="del">
          <ac:chgData name="Guruprasad Mukund" userId="d73c77e08ff70e53" providerId="LiveId" clId="{0D0B0BCC-9322-4329-914E-89B2B727C81D}" dt="2026-09-10T01:36:10.305" v="1460" actId="478"/>
          <ac:spMkLst>
            <pc:docMk/>
            <pc:sldMk cId="1023739724" sldId="289"/>
            <ac:spMk id="723" creationId="{1C0D6125-84A3-D19D-8DAD-8E29298AB13C}"/>
          </ac:spMkLst>
        </pc:spChg>
        <pc:spChg chg="del">
          <ac:chgData name="Guruprasad Mukund" userId="d73c77e08ff70e53" providerId="LiveId" clId="{0D0B0BCC-9322-4329-914E-89B2B727C81D}" dt="2026-09-10T01:36:10.305" v="1460" actId="478"/>
          <ac:spMkLst>
            <pc:docMk/>
            <pc:sldMk cId="1023739724" sldId="289"/>
            <ac:spMk id="725" creationId="{77D704E2-4263-F93A-C858-BDF31C2A895D}"/>
          </ac:spMkLst>
        </pc:spChg>
        <pc:spChg chg="del">
          <ac:chgData name="Guruprasad Mukund" userId="d73c77e08ff70e53" providerId="LiveId" clId="{0D0B0BCC-9322-4329-914E-89B2B727C81D}" dt="2026-09-10T01:35:55.203" v="1457" actId="478"/>
          <ac:spMkLst>
            <pc:docMk/>
            <pc:sldMk cId="1023739724" sldId="289"/>
            <ac:spMk id="729" creationId="{EDA71B4C-1C69-3986-F506-C03297CC4952}"/>
          </ac:spMkLst>
        </pc:spChg>
        <pc:spChg chg="del">
          <ac:chgData name="Guruprasad Mukund" userId="d73c77e08ff70e53" providerId="LiveId" clId="{0D0B0BCC-9322-4329-914E-89B2B727C81D}" dt="2026-09-10T01:35:55.203" v="1457" actId="478"/>
          <ac:spMkLst>
            <pc:docMk/>
            <pc:sldMk cId="1023739724" sldId="289"/>
            <ac:spMk id="731" creationId="{ED105E2E-ECAE-BD08-1145-281ECC12A2EB}"/>
          </ac:spMkLst>
        </pc:spChg>
        <pc:spChg chg="mod">
          <ac:chgData name="Guruprasad Mukund" userId="d73c77e08ff70e53" providerId="LiveId" clId="{0D0B0BCC-9322-4329-914E-89B2B727C81D}" dt="2026-09-10T01:42:19.212" v="1495" actId="1076"/>
          <ac:spMkLst>
            <pc:docMk/>
            <pc:sldMk cId="1023739724" sldId="289"/>
            <ac:spMk id="733" creationId="{F445FA6D-9EA1-074B-F612-5D8B2575F98F}"/>
          </ac:spMkLst>
        </pc:spChg>
        <pc:spChg chg="del">
          <ac:chgData name="Guruprasad Mukund" userId="d73c77e08ff70e53" providerId="LiveId" clId="{0D0B0BCC-9322-4329-914E-89B2B727C81D}" dt="2026-09-10T01:36:10.305" v="1460" actId="478"/>
          <ac:spMkLst>
            <pc:docMk/>
            <pc:sldMk cId="1023739724" sldId="289"/>
            <ac:spMk id="734" creationId="{D0C6F0A7-8849-7587-78F2-C0233CC7C52F}"/>
          </ac:spMkLst>
        </pc:spChg>
        <pc:spChg chg="del">
          <ac:chgData name="Guruprasad Mukund" userId="d73c77e08ff70e53" providerId="LiveId" clId="{0D0B0BCC-9322-4329-914E-89B2B727C81D}" dt="2026-09-10T01:35:55.203" v="1457" actId="478"/>
          <ac:spMkLst>
            <pc:docMk/>
            <pc:sldMk cId="1023739724" sldId="289"/>
            <ac:spMk id="735" creationId="{10FBDFF6-A8A6-D57D-7C4D-1BBA37FE7AE6}"/>
          </ac:spMkLst>
        </pc:spChg>
        <pc:spChg chg="mod">
          <ac:chgData name="Guruprasad Mukund" userId="d73c77e08ff70e53" providerId="LiveId" clId="{0D0B0BCC-9322-4329-914E-89B2B727C81D}" dt="2026-09-10T01:36:25.790" v="1463" actId="14100"/>
          <ac:spMkLst>
            <pc:docMk/>
            <pc:sldMk cId="1023739724" sldId="289"/>
            <ac:spMk id="736" creationId="{178CC656-0A50-65EC-5C44-A880DD136299}"/>
          </ac:spMkLst>
        </pc:spChg>
        <pc:spChg chg="del">
          <ac:chgData name="Guruprasad Mukund" userId="d73c77e08ff70e53" providerId="LiveId" clId="{0D0B0BCC-9322-4329-914E-89B2B727C81D}" dt="2026-09-10T01:36:10.305" v="1460" actId="478"/>
          <ac:spMkLst>
            <pc:docMk/>
            <pc:sldMk cId="1023739724" sldId="289"/>
            <ac:spMk id="738" creationId="{714547DB-CDC1-44B7-4BD9-C0D4F8A28786}"/>
          </ac:spMkLst>
        </pc:spChg>
        <pc:spChg chg="del">
          <ac:chgData name="Guruprasad Mukund" userId="d73c77e08ff70e53" providerId="LiveId" clId="{0D0B0BCC-9322-4329-914E-89B2B727C81D}" dt="2026-09-10T01:35:55.203" v="1457" actId="478"/>
          <ac:spMkLst>
            <pc:docMk/>
            <pc:sldMk cId="1023739724" sldId="289"/>
            <ac:spMk id="739" creationId="{139D74A8-23D9-4962-5A3B-6DE7765FE0AB}"/>
          </ac:spMkLst>
        </pc:spChg>
        <pc:picChg chg="add">
          <ac:chgData name="Guruprasad Mukund" userId="d73c77e08ff70e53" providerId="LiveId" clId="{0D0B0BCC-9322-4329-914E-89B2B727C81D}" dt="2026-09-10T01:42:26.117" v="1496" actId="22"/>
          <ac:picMkLst>
            <pc:docMk/>
            <pc:sldMk cId="1023739724" sldId="289"/>
            <ac:picMk id="4" creationId="{2C266ECE-675C-120D-01E9-E0DE09C130E4}"/>
          </ac:picMkLst>
        </pc:picChg>
        <pc:picChg chg="del">
          <ac:chgData name="Guruprasad Mukund" userId="d73c77e08ff70e53" providerId="LiveId" clId="{0D0B0BCC-9322-4329-914E-89B2B727C81D}" dt="2026-09-10T01:35:55.203" v="1457" actId="478"/>
          <ac:picMkLst>
            <pc:docMk/>
            <pc:sldMk cId="1023739724" sldId="289"/>
            <ac:picMk id="5" creationId="{3FC9328A-FDC0-D78D-8242-CF13A516F88B}"/>
          </ac:picMkLst>
        </pc:picChg>
        <pc:picChg chg="add del mod">
          <ac:chgData name="Guruprasad Mukund" userId="d73c77e08ff70e53" providerId="LiveId" clId="{0D0B0BCC-9322-4329-914E-89B2B727C81D}" dt="2026-09-10T01:42:13.934" v="1494" actId="478"/>
          <ac:picMkLst>
            <pc:docMk/>
            <pc:sldMk cId="1023739724" sldId="289"/>
            <ac:picMk id="721" creationId="{851753CC-2028-0013-7B91-B4FC114B6B2F}"/>
          </ac:picMkLst>
        </pc:picChg>
        <pc:picChg chg="del">
          <ac:chgData name="Guruprasad Mukund" userId="d73c77e08ff70e53" providerId="LiveId" clId="{0D0B0BCC-9322-4329-914E-89B2B727C81D}" dt="2026-09-10T01:36:10.305" v="1460" actId="478"/>
          <ac:picMkLst>
            <pc:docMk/>
            <pc:sldMk cId="1023739724" sldId="289"/>
            <ac:picMk id="724" creationId="{A0ADE3FA-FBF4-7A82-4340-A443131A108C}"/>
          </ac:picMkLst>
        </pc:picChg>
        <pc:picChg chg="del">
          <ac:chgData name="Guruprasad Mukund" userId="d73c77e08ff70e53" providerId="LiveId" clId="{0D0B0BCC-9322-4329-914E-89B2B727C81D}" dt="2026-09-10T01:35:55.203" v="1457" actId="478"/>
          <ac:picMkLst>
            <pc:docMk/>
            <pc:sldMk cId="1023739724" sldId="289"/>
            <ac:picMk id="730" creationId="{3AAE8DEB-63BA-9995-E357-E4E78946F881}"/>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457200" y="720725"/>
            <a:ext cx="6400800" cy="360045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731520" y="4560570"/>
            <a:ext cx="5852160" cy="4320540"/>
          </a:xfrm>
          <a:prstGeom prst="rect">
            <a:avLst/>
          </a:prstGeom>
          <a:noFill/>
          <a:ln>
            <a:noFill/>
          </a:ln>
        </p:spPr>
        <p:txBody>
          <a:bodyPr spcFirstLastPara="1" wrap="square" lIns="108247" tIns="108247" rIns="108247" bIns="108247"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
        <p:cNvGrpSpPr/>
        <p:nvPr/>
      </p:nvGrpSpPr>
      <p:grpSpPr>
        <a:xfrm>
          <a:off x="0" y="0"/>
          <a:ext cx="0" cy="0"/>
          <a:chOff x="0" y="0"/>
          <a:chExt cx="0" cy="0"/>
        </a:xfrm>
      </p:grpSpPr>
      <p:sp>
        <p:nvSpPr>
          <p:cNvPr id="8" name="Google Shape;8;p1:notes"/>
          <p:cNvSpPr>
            <a:spLocks noGrp="1" noRot="1" noChangeAspect="1"/>
          </p:cNvSpPr>
          <p:nvPr>
            <p:ph type="sldImg" idx="2"/>
          </p:nvPr>
        </p:nvSpPr>
        <p:spPr>
          <a:xfrm>
            <a:off x="-666750" y="0"/>
            <a:ext cx="5600700" cy="3151188"/>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 name="Google Shape;9;p1:notes"/>
          <p:cNvSpPr txBox="1">
            <a:spLocks noGrp="1"/>
          </p:cNvSpPr>
          <p:nvPr>
            <p:ph type="body" idx="1"/>
          </p:nvPr>
        </p:nvSpPr>
        <p:spPr>
          <a:xfrm>
            <a:off x="0" y="0"/>
            <a:ext cx="4266667" cy="3150000"/>
          </a:xfrm>
          <a:prstGeom prst="rect">
            <a:avLst/>
          </a:prstGeom>
          <a:noFill/>
          <a:ln>
            <a:noFill/>
          </a:ln>
        </p:spPr>
        <p:txBody>
          <a:bodyPr spcFirstLastPara="1" wrap="square" lIns="108247" tIns="54109" rIns="108247" bIns="54109" anchor="t" anchorCtr="0">
            <a:noAutofit/>
          </a:bodyPr>
          <a:lstStyle/>
          <a:p>
            <a:pPr marL="0" indent="0">
              <a:buNone/>
            </a:pPr>
            <a:endParaRPr sz="1400" dirty="0">
              <a:solidFill>
                <a:schemeClr val="dk1"/>
              </a:solidFill>
              <a:latin typeface="Calibri"/>
              <a:ea typeface="Calibri"/>
              <a:cs typeface="Calibri"/>
              <a:sym typeface="Calibri"/>
            </a:endParaRPr>
          </a:p>
        </p:txBody>
      </p:sp>
      <p:sp>
        <p:nvSpPr>
          <p:cNvPr id="10" name="Google Shape;10;p1:notes"/>
          <p:cNvSpPr txBox="1">
            <a:spLocks noGrp="1"/>
          </p:cNvSpPr>
          <p:nvPr>
            <p:ph type="sldNum" idx="12"/>
          </p:nvPr>
        </p:nvSpPr>
        <p:spPr>
          <a:xfrm>
            <a:off x="0" y="0"/>
            <a:ext cx="4266667" cy="3150000"/>
          </a:xfrm>
          <a:prstGeom prst="rect">
            <a:avLst/>
          </a:prstGeom>
          <a:noFill/>
          <a:ln>
            <a:noFill/>
          </a:ln>
        </p:spPr>
        <p:txBody>
          <a:bodyPr spcFirstLastPara="1" wrap="square" lIns="108247" tIns="54109" rIns="108247" bIns="54109" anchor="t" anchorCtr="0">
            <a:noAutofit/>
          </a:bodyPr>
          <a:lstStyle/>
          <a:p>
            <a:pPr>
              <a:buSzPts val="1800"/>
            </a:pPr>
            <a:fld id="{00000000-1234-1234-1234-123412341234}" type="slidenum">
              <a:rPr lang="en-US" sz="2100">
                <a:solidFill>
                  <a:schemeClr val="dk1"/>
                </a:solidFill>
                <a:latin typeface="Calibri"/>
                <a:ea typeface="Calibri"/>
                <a:cs typeface="Calibri"/>
                <a:sym typeface="Calibri"/>
              </a:rPr>
              <a:pPr>
                <a:buSzPts val="1800"/>
              </a:pPr>
              <a:t>1</a:t>
            </a:fld>
            <a:endParaRPr sz="2100">
              <a:solidFill>
                <a:schemeClr val="dk1"/>
              </a:solidFill>
              <a:latin typeface="Calibri"/>
              <a:ea typeface="Calibri"/>
              <a:cs typeface="Calibri"/>
              <a:sym typeface="Calibri"/>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
        <p:cNvGrpSpPr/>
        <p:nvPr/>
      </p:nvGrpSpPr>
      <p:grpSpPr>
        <a:xfrm>
          <a:off x="0" y="0"/>
          <a:ext cx="0" cy="0"/>
          <a:chOff x="0" y="0"/>
          <a:chExt cx="0" cy="0"/>
        </a:xfrm>
      </p:grpSpPr>
      <p:sp>
        <p:nvSpPr>
          <p:cNvPr id="18" name="Google Shape;18;p2:notes"/>
          <p:cNvSpPr>
            <a:spLocks noGrp="1" noRot="1" noChangeAspect="1"/>
          </p:cNvSpPr>
          <p:nvPr>
            <p:ph type="sldImg" idx="2"/>
          </p:nvPr>
        </p:nvSpPr>
        <p:spPr>
          <a:xfrm>
            <a:off x="-666750" y="0"/>
            <a:ext cx="5600700" cy="3151188"/>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9" name="Google Shape;19;p2:notes"/>
          <p:cNvSpPr txBox="1">
            <a:spLocks noGrp="1"/>
          </p:cNvSpPr>
          <p:nvPr>
            <p:ph type="body" idx="1"/>
          </p:nvPr>
        </p:nvSpPr>
        <p:spPr>
          <a:xfrm>
            <a:off x="0" y="0"/>
            <a:ext cx="4266667" cy="3150000"/>
          </a:xfrm>
          <a:prstGeom prst="rect">
            <a:avLst/>
          </a:prstGeom>
          <a:noFill/>
          <a:ln>
            <a:noFill/>
          </a:ln>
        </p:spPr>
        <p:txBody>
          <a:bodyPr spcFirstLastPara="1" wrap="square" lIns="108247" tIns="54109" rIns="108247" bIns="54109" anchor="t" anchorCtr="0">
            <a:noAutofit/>
          </a:bodyPr>
          <a:lstStyle/>
          <a:p>
            <a:pPr marL="0" indent="0">
              <a:buNone/>
            </a:pPr>
            <a:endParaRPr sz="1400" dirty="0">
              <a:solidFill>
                <a:schemeClr val="dk1"/>
              </a:solidFill>
              <a:latin typeface="Calibri"/>
              <a:ea typeface="Calibri"/>
              <a:cs typeface="Calibri"/>
              <a:sym typeface="Calibri"/>
            </a:endParaRPr>
          </a:p>
        </p:txBody>
      </p:sp>
      <p:sp>
        <p:nvSpPr>
          <p:cNvPr id="20" name="Google Shape;20;p2:notes"/>
          <p:cNvSpPr txBox="1">
            <a:spLocks noGrp="1"/>
          </p:cNvSpPr>
          <p:nvPr>
            <p:ph type="sldNum" idx="12"/>
          </p:nvPr>
        </p:nvSpPr>
        <p:spPr>
          <a:xfrm>
            <a:off x="0" y="0"/>
            <a:ext cx="4266667" cy="3150000"/>
          </a:xfrm>
          <a:prstGeom prst="rect">
            <a:avLst/>
          </a:prstGeom>
          <a:noFill/>
          <a:ln>
            <a:noFill/>
          </a:ln>
        </p:spPr>
        <p:txBody>
          <a:bodyPr spcFirstLastPara="1" wrap="square" lIns="108247" tIns="54109" rIns="108247" bIns="54109" anchor="t" anchorCtr="0">
            <a:noAutofit/>
          </a:bodyPr>
          <a:lstStyle/>
          <a:p>
            <a:pPr>
              <a:buSzPts val="1800"/>
            </a:pPr>
            <a:fld id="{00000000-1234-1234-1234-123412341234}" type="slidenum">
              <a:rPr lang="en-US" sz="2100">
                <a:solidFill>
                  <a:schemeClr val="dk1"/>
                </a:solidFill>
                <a:latin typeface="Calibri"/>
                <a:ea typeface="Calibri"/>
                <a:cs typeface="Calibri"/>
                <a:sym typeface="Calibri"/>
              </a:rPr>
              <a:pPr>
                <a:buSzPts val="1800"/>
              </a:pPr>
              <a:t>2</a:t>
            </a:fld>
            <a:endParaRPr sz="2100">
              <a:solidFill>
                <a:schemeClr val="dk1"/>
              </a:solidFill>
              <a:latin typeface="Calibri"/>
              <a:ea typeface="Calibri"/>
              <a:cs typeface="Calibri"/>
              <a:sym typeface="Calibri"/>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
        <p:cNvGrpSpPr/>
        <p:nvPr/>
      </p:nvGrpSpPr>
      <p:grpSpPr>
        <a:xfrm>
          <a:off x="0" y="0"/>
          <a:ext cx="0" cy="0"/>
          <a:chOff x="0" y="0"/>
          <a:chExt cx="0" cy="0"/>
        </a:xfrm>
      </p:grpSpPr>
      <p:sp>
        <p:nvSpPr>
          <p:cNvPr id="40" name="Google Shape;40;g39789fe7b62_1_186:notes"/>
          <p:cNvSpPr>
            <a:spLocks noGrp="1" noRot="1" noChangeAspect="1"/>
          </p:cNvSpPr>
          <p:nvPr>
            <p:ph type="sldImg" idx="2"/>
          </p:nvPr>
        </p:nvSpPr>
        <p:spPr>
          <a:xfrm>
            <a:off x="-666750" y="0"/>
            <a:ext cx="5600700" cy="3151188"/>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1" name="Google Shape;41;g39789fe7b62_1_186:notes"/>
          <p:cNvSpPr txBox="1">
            <a:spLocks noGrp="1"/>
          </p:cNvSpPr>
          <p:nvPr>
            <p:ph type="body" idx="1"/>
          </p:nvPr>
        </p:nvSpPr>
        <p:spPr>
          <a:xfrm>
            <a:off x="0" y="0"/>
            <a:ext cx="4266667" cy="3150000"/>
          </a:xfrm>
          <a:prstGeom prst="rect">
            <a:avLst/>
          </a:prstGeom>
          <a:noFill/>
          <a:ln>
            <a:noFill/>
          </a:ln>
        </p:spPr>
        <p:txBody>
          <a:bodyPr spcFirstLastPara="1" wrap="square" lIns="108247" tIns="54109" rIns="108247" bIns="54109" anchor="t" anchorCtr="0">
            <a:noAutofit/>
          </a:bodyPr>
          <a:lstStyle/>
          <a:p>
            <a:pPr marL="0" indent="0">
              <a:buNone/>
            </a:pPr>
            <a:endParaRPr sz="1400" dirty="0">
              <a:solidFill>
                <a:schemeClr val="dk1"/>
              </a:solidFill>
              <a:latin typeface="Calibri"/>
              <a:ea typeface="Calibri"/>
              <a:cs typeface="Calibri"/>
              <a:sym typeface="Calibri"/>
            </a:endParaRPr>
          </a:p>
        </p:txBody>
      </p:sp>
      <p:sp>
        <p:nvSpPr>
          <p:cNvPr id="42" name="Google Shape;42;g39789fe7b62_1_186:notes"/>
          <p:cNvSpPr txBox="1">
            <a:spLocks noGrp="1"/>
          </p:cNvSpPr>
          <p:nvPr>
            <p:ph type="sldNum" idx="12"/>
          </p:nvPr>
        </p:nvSpPr>
        <p:spPr>
          <a:xfrm>
            <a:off x="0" y="0"/>
            <a:ext cx="4266667" cy="3150000"/>
          </a:xfrm>
          <a:prstGeom prst="rect">
            <a:avLst/>
          </a:prstGeom>
          <a:noFill/>
          <a:ln>
            <a:noFill/>
          </a:ln>
        </p:spPr>
        <p:txBody>
          <a:bodyPr spcFirstLastPara="1" wrap="square" lIns="108247" tIns="54109" rIns="108247" bIns="54109" anchor="t" anchorCtr="0">
            <a:noAutofit/>
          </a:bodyPr>
          <a:lstStyle/>
          <a:p>
            <a:pPr>
              <a:buSzPts val="1800"/>
            </a:pPr>
            <a:fld id="{00000000-1234-1234-1234-123412341234}" type="slidenum">
              <a:rPr lang="en-US" sz="2100">
                <a:solidFill>
                  <a:schemeClr val="dk1"/>
                </a:solidFill>
                <a:latin typeface="Calibri"/>
                <a:ea typeface="Calibri"/>
                <a:cs typeface="Calibri"/>
                <a:sym typeface="Calibri"/>
              </a:rPr>
              <a:pPr>
                <a:buSzPts val="1800"/>
              </a:pPr>
              <a:t>3</a:t>
            </a:fld>
            <a:endParaRPr sz="2100">
              <a:solidFill>
                <a:schemeClr val="dk1"/>
              </a:solidFill>
              <a:latin typeface="Calibri"/>
              <a:ea typeface="Calibri"/>
              <a:cs typeface="Calibri"/>
              <a:sym typeface="Calibri"/>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p:cNvGrpSpPr/>
        <p:nvPr/>
      </p:nvGrpSpPr>
      <p:grpSpPr>
        <a:xfrm>
          <a:off x="0" y="0"/>
          <a:ext cx="0" cy="0"/>
          <a:chOff x="0" y="0"/>
          <a:chExt cx="0" cy="0"/>
        </a:xfrm>
      </p:grpSpPr>
      <p:sp>
        <p:nvSpPr>
          <p:cNvPr id="56" name="Google Shape;56;g39789fe7b62_1_137:notes"/>
          <p:cNvSpPr>
            <a:spLocks noGrp="1" noRot="1" noChangeAspect="1"/>
          </p:cNvSpPr>
          <p:nvPr>
            <p:ph type="sldImg" idx="2"/>
          </p:nvPr>
        </p:nvSpPr>
        <p:spPr>
          <a:xfrm>
            <a:off x="-666750" y="0"/>
            <a:ext cx="5600700" cy="3151188"/>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7" name="Google Shape;57;g39789fe7b62_1_137:notes"/>
          <p:cNvSpPr txBox="1">
            <a:spLocks noGrp="1"/>
          </p:cNvSpPr>
          <p:nvPr>
            <p:ph type="body" idx="1"/>
          </p:nvPr>
        </p:nvSpPr>
        <p:spPr>
          <a:xfrm>
            <a:off x="0" y="0"/>
            <a:ext cx="4266667" cy="3150000"/>
          </a:xfrm>
          <a:prstGeom prst="rect">
            <a:avLst/>
          </a:prstGeom>
          <a:noFill/>
          <a:ln>
            <a:noFill/>
          </a:ln>
        </p:spPr>
        <p:txBody>
          <a:bodyPr spcFirstLastPara="1" wrap="square" lIns="108247" tIns="54109" rIns="108247" bIns="54109" anchor="t" anchorCtr="0">
            <a:noAutofit/>
          </a:bodyPr>
          <a:lstStyle/>
          <a:p>
            <a:pPr marL="0" indent="0">
              <a:buNone/>
            </a:pPr>
            <a:endParaRPr sz="1400" dirty="0">
              <a:solidFill>
                <a:schemeClr val="dk1"/>
              </a:solidFill>
              <a:latin typeface="Calibri"/>
              <a:ea typeface="Calibri"/>
              <a:cs typeface="Calibri"/>
              <a:sym typeface="Calibri"/>
            </a:endParaRPr>
          </a:p>
        </p:txBody>
      </p:sp>
      <p:sp>
        <p:nvSpPr>
          <p:cNvPr id="58" name="Google Shape;58;g39789fe7b62_1_137:notes"/>
          <p:cNvSpPr txBox="1">
            <a:spLocks noGrp="1"/>
          </p:cNvSpPr>
          <p:nvPr>
            <p:ph type="sldNum" idx="12"/>
          </p:nvPr>
        </p:nvSpPr>
        <p:spPr>
          <a:xfrm>
            <a:off x="0" y="0"/>
            <a:ext cx="4266667" cy="3150000"/>
          </a:xfrm>
          <a:prstGeom prst="rect">
            <a:avLst/>
          </a:prstGeom>
          <a:noFill/>
          <a:ln>
            <a:noFill/>
          </a:ln>
        </p:spPr>
        <p:txBody>
          <a:bodyPr spcFirstLastPara="1" wrap="square" lIns="108247" tIns="54109" rIns="108247" bIns="54109" anchor="t" anchorCtr="0">
            <a:noAutofit/>
          </a:bodyPr>
          <a:lstStyle/>
          <a:p>
            <a:pPr>
              <a:buSzPts val="1800"/>
            </a:pPr>
            <a:fld id="{00000000-1234-1234-1234-123412341234}" type="slidenum">
              <a:rPr lang="en-US" sz="2100">
                <a:solidFill>
                  <a:schemeClr val="dk1"/>
                </a:solidFill>
                <a:latin typeface="Calibri"/>
                <a:ea typeface="Calibri"/>
                <a:cs typeface="Calibri"/>
                <a:sym typeface="Calibri"/>
              </a:rPr>
              <a:pPr>
                <a:buSzPts val="1800"/>
              </a:pPr>
              <a:t>4</a:t>
            </a:fld>
            <a:endParaRPr sz="2100">
              <a:solidFill>
                <a:schemeClr val="dk1"/>
              </a:solidFill>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g39789fe7b62_1_239:notes"/>
          <p:cNvSpPr>
            <a:spLocks noGrp="1" noRot="1" noChangeAspect="1"/>
          </p:cNvSpPr>
          <p:nvPr>
            <p:ph type="sldImg" idx="2"/>
          </p:nvPr>
        </p:nvSpPr>
        <p:spPr>
          <a:xfrm>
            <a:off x="-666750" y="0"/>
            <a:ext cx="5600700" cy="3151188"/>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9" name="Google Shape;89;g39789fe7b62_1_239:notes"/>
          <p:cNvSpPr txBox="1">
            <a:spLocks noGrp="1"/>
          </p:cNvSpPr>
          <p:nvPr>
            <p:ph type="body" idx="1"/>
          </p:nvPr>
        </p:nvSpPr>
        <p:spPr>
          <a:xfrm>
            <a:off x="0" y="0"/>
            <a:ext cx="4266667" cy="3150000"/>
          </a:xfrm>
          <a:prstGeom prst="rect">
            <a:avLst/>
          </a:prstGeom>
          <a:noFill/>
          <a:ln>
            <a:noFill/>
          </a:ln>
        </p:spPr>
        <p:txBody>
          <a:bodyPr spcFirstLastPara="1" wrap="square" lIns="108247" tIns="54109" rIns="108247" bIns="54109" anchor="t" anchorCtr="0">
            <a:noAutofit/>
          </a:bodyPr>
          <a:lstStyle/>
          <a:p>
            <a:pPr marL="0" indent="0">
              <a:buNone/>
            </a:pPr>
            <a:endParaRPr sz="1400" dirty="0">
              <a:solidFill>
                <a:schemeClr val="dk1"/>
              </a:solidFill>
              <a:latin typeface="Calibri"/>
              <a:ea typeface="Calibri"/>
              <a:cs typeface="Calibri"/>
              <a:sym typeface="Calibri"/>
            </a:endParaRPr>
          </a:p>
        </p:txBody>
      </p:sp>
      <p:sp>
        <p:nvSpPr>
          <p:cNvPr id="90" name="Google Shape;90;g39789fe7b62_1_239:notes"/>
          <p:cNvSpPr txBox="1">
            <a:spLocks noGrp="1"/>
          </p:cNvSpPr>
          <p:nvPr>
            <p:ph type="sldNum" idx="12"/>
          </p:nvPr>
        </p:nvSpPr>
        <p:spPr>
          <a:xfrm>
            <a:off x="0" y="0"/>
            <a:ext cx="4266667" cy="3150000"/>
          </a:xfrm>
          <a:prstGeom prst="rect">
            <a:avLst/>
          </a:prstGeom>
          <a:noFill/>
          <a:ln>
            <a:noFill/>
          </a:ln>
        </p:spPr>
        <p:txBody>
          <a:bodyPr spcFirstLastPara="1" wrap="square" lIns="108247" tIns="54109" rIns="108247" bIns="54109" anchor="t" anchorCtr="0">
            <a:noAutofit/>
          </a:bodyPr>
          <a:lstStyle/>
          <a:p>
            <a:pPr>
              <a:buSzPts val="1800"/>
            </a:pPr>
            <a:fld id="{00000000-1234-1234-1234-123412341234}" type="slidenum">
              <a:rPr lang="en-US" sz="2100">
                <a:solidFill>
                  <a:schemeClr val="dk1"/>
                </a:solidFill>
                <a:latin typeface="Calibri"/>
                <a:ea typeface="Calibri"/>
                <a:cs typeface="Calibri"/>
                <a:sym typeface="Calibri"/>
              </a:rPr>
              <a:pPr>
                <a:buSzPts val="1800"/>
              </a:pPr>
              <a:t>5</a:t>
            </a:fld>
            <a:endParaRPr sz="2100">
              <a:solidFill>
                <a:schemeClr val="dk1"/>
              </a:solidFill>
              <a:latin typeface="Calibri"/>
              <a:ea typeface="Calibri"/>
              <a:cs typeface="Calibri"/>
              <a:sym typeface="Calibri"/>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g39789fe7b62_1_388:notes"/>
          <p:cNvSpPr>
            <a:spLocks noGrp="1" noRot="1" noChangeAspect="1"/>
          </p:cNvSpPr>
          <p:nvPr>
            <p:ph type="sldImg" idx="2"/>
          </p:nvPr>
        </p:nvSpPr>
        <p:spPr>
          <a:xfrm>
            <a:off x="-666750" y="0"/>
            <a:ext cx="5600700" cy="3151188"/>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6" name="Google Shape;96;g39789fe7b62_1_388:notes"/>
          <p:cNvSpPr txBox="1">
            <a:spLocks noGrp="1"/>
          </p:cNvSpPr>
          <p:nvPr>
            <p:ph type="body" idx="1"/>
          </p:nvPr>
        </p:nvSpPr>
        <p:spPr>
          <a:xfrm>
            <a:off x="0" y="0"/>
            <a:ext cx="4266667" cy="3150000"/>
          </a:xfrm>
          <a:prstGeom prst="rect">
            <a:avLst/>
          </a:prstGeom>
          <a:noFill/>
          <a:ln>
            <a:noFill/>
          </a:ln>
        </p:spPr>
        <p:txBody>
          <a:bodyPr spcFirstLastPara="1" wrap="square" lIns="108247" tIns="54109" rIns="108247" bIns="54109" anchor="t" anchorCtr="0">
            <a:noAutofit/>
          </a:bodyPr>
          <a:lstStyle/>
          <a:p>
            <a:pPr marL="0" indent="0">
              <a:buNone/>
            </a:pPr>
            <a:endParaRPr sz="1400" dirty="0">
              <a:solidFill>
                <a:schemeClr val="dk1"/>
              </a:solidFill>
              <a:latin typeface="Calibri"/>
              <a:ea typeface="Calibri"/>
              <a:cs typeface="Calibri"/>
              <a:sym typeface="Calibri"/>
            </a:endParaRPr>
          </a:p>
        </p:txBody>
      </p:sp>
      <p:sp>
        <p:nvSpPr>
          <p:cNvPr id="97" name="Google Shape;97;g39789fe7b62_1_388:notes"/>
          <p:cNvSpPr txBox="1">
            <a:spLocks noGrp="1"/>
          </p:cNvSpPr>
          <p:nvPr>
            <p:ph type="sldNum" idx="12"/>
          </p:nvPr>
        </p:nvSpPr>
        <p:spPr>
          <a:xfrm>
            <a:off x="0" y="0"/>
            <a:ext cx="4266667" cy="3150000"/>
          </a:xfrm>
          <a:prstGeom prst="rect">
            <a:avLst/>
          </a:prstGeom>
          <a:noFill/>
          <a:ln>
            <a:noFill/>
          </a:ln>
        </p:spPr>
        <p:txBody>
          <a:bodyPr spcFirstLastPara="1" wrap="square" lIns="108247" tIns="54109" rIns="108247" bIns="54109" anchor="t" anchorCtr="0">
            <a:noAutofit/>
          </a:bodyPr>
          <a:lstStyle/>
          <a:p>
            <a:pPr>
              <a:buSzPts val="1800"/>
            </a:pPr>
            <a:fld id="{00000000-1234-1234-1234-123412341234}" type="slidenum">
              <a:rPr lang="en-US" sz="2100">
                <a:solidFill>
                  <a:schemeClr val="dk1"/>
                </a:solidFill>
                <a:latin typeface="Calibri"/>
                <a:ea typeface="Calibri"/>
                <a:cs typeface="Calibri"/>
                <a:sym typeface="Calibri"/>
              </a:rPr>
              <a:pPr>
                <a:buSzPts val="1800"/>
              </a:pPr>
              <a:t>6</a:t>
            </a:fld>
            <a:endParaRPr sz="2100">
              <a:solidFill>
                <a:schemeClr val="dk1"/>
              </a:solidFill>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p:cNvGrpSpPr/>
        <p:nvPr/>
      </p:nvGrpSpPr>
      <p:grpSpPr>
        <a:xfrm>
          <a:off x="0" y="0"/>
          <a:ext cx="0" cy="0"/>
          <a:chOff x="0" y="0"/>
          <a:chExt cx="0" cy="0"/>
        </a:xfrm>
      </p:grpSpPr>
      <p:sp>
        <p:nvSpPr>
          <p:cNvPr id="106" name="Google Shape;106;p6:notes"/>
          <p:cNvSpPr>
            <a:spLocks noGrp="1" noRot="1" noChangeAspect="1"/>
          </p:cNvSpPr>
          <p:nvPr>
            <p:ph type="sldImg" idx="2"/>
          </p:nvPr>
        </p:nvSpPr>
        <p:spPr>
          <a:xfrm>
            <a:off x="-666750" y="0"/>
            <a:ext cx="5600700" cy="3151188"/>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7" name="Google Shape;107;p6:notes"/>
          <p:cNvSpPr txBox="1">
            <a:spLocks noGrp="1"/>
          </p:cNvSpPr>
          <p:nvPr>
            <p:ph type="body" idx="1"/>
          </p:nvPr>
        </p:nvSpPr>
        <p:spPr>
          <a:xfrm>
            <a:off x="0" y="0"/>
            <a:ext cx="4266667" cy="3150000"/>
          </a:xfrm>
          <a:prstGeom prst="rect">
            <a:avLst/>
          </a:prstGeom>
          <a:noFill/>
          <a:ln>
            <a:noFill/>
          </a:ln>
        </p:spPr>
        <p:txBody>
          <a:bodyPr spcFirstLastPara="1" wrap="square" lIns="108247" tIns="54109" rIns="108247" bIns="54109" anchor="t" anchorCtr="0">
            <a:noAutofit/>
          </a:bodyPr>
          <a:lstStyle/>
          <a:p>
            <a:pPr marL="0" indent="0">
              <a:buNone/>
            </a:pPr>
            <a:endParaRPr sz="1300" dirty="0">
              <a:solidFill>
                <a:schemeClr val="dk1"/>
              </a:solidFill>
            </a:endParaRPr>
          </a:p>
        </p:txBody>
      </p:sp>
      <p:sp>
        <p:nvSpPr>
          <p:cNvPr id="108" name="Google Shape;108;p6:notes"/>
          <p:cNvSpPr txBox="1">
            <a:spLocks noGrp="1"/>
          </p:cNvSpPr>
          <p:nvPr>
            <p:ph type="sldNum" idx="12"/>
          </p:nvPr>
        </p:nvSpPr>
        <p:spPr>
          <a:xfrm>
            <a:off x="0" y="0"/>
            <a:ext cx="4266667" cy="3150000"/>
          </a:xfrm>
          <a:prstGeom prst="rect">
            <a:avLst/>
          </a:prstGeom>
          <a:noFill/>
          <a:ln>
            <a:noFill/>
          </a:ln>
        </p:spPr>
        <p:txBody>
          <a:bodyPr spcFirstLastPara="1" wrap="square" lIns="108247" tIns="54109" rIns="108247" bIns="54109" anchor="t" anchorCtr="0">
            <a:noAutofit/>
          </a:bodyPr>
          <a:lstStyle/>
          <a:p>
            <a:pPr>
              <a:buSzPts val="1800"/>
            </a:pPr>
            <a:fld id="{00000000-1234-1234-1234-123412341234}" type="slidenum">
              <a:rPr lang="en-US" sz="2100">
                <a:solidFill>
                  <a:schemeClr val="dk1"/>
                </a:solidFill>
                <a:latin typeface="Calibri"/>
                <a:ea typeface="Calibri"/>
                <a:cs typeface="Calibri"/>
                <a:sym typeface="Calibri"/>
              </a:rPr>
              <a:pPr>
                <a:buSzPts val="1800"/>
              </a:pPr>
              <a:t>7</a:t>
            </a:fld>
            <a:endParaRPr sz="2100">
              <a:solidFill>
                <a:schemeClr val="dk1"/>
              </a:solidFill>
              <a:latin typeface="Calibri"/>
              <a:ea typeface="Calibri"/>
              <a:cs typeface="Calibri"/>
              <a:sym typeface="Calibri"/>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
        <p:cNvGrpSpPr/>
        <p:nvPr/>
      </p:nvGrpSpPr>
      <p:grpSpPr>
        <a:xfrm>
          <a:off x="0" y="0"/>
          <a:ext cx="0" cy="0"/>
          <a:chOff x="0" y="0"/>
          <a:chExt cx="0" cy="0"/>
        </a:xfrm>
      </p:grpSpPr>
      <p:sp>
        <p:nvSpPr>
          <p:cNvPr id="126" name="Google Shape;126;g3d86e330eee_36_0:notes"/>
          <p:cNvSpPr>
            <a:spLocks noGrp="1" noRot="1" noChangeAspect="1"/>
          </p:cNvSpPr>
          <p:nvPr>
            <p:ph type="sldImg" idx="2"/>
          </p:nvPr>
        </p:nvSpPr>
        <p:spPr>
          <a:xfrm>
            <a:off x="-666750" y="0"/>
            <a:ext cx="5600700" cy="3151188"/>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27" name="Google Shape;127;g3d86e330eee_36_0:notes"/>
          <p:cNvSpPr txBox="1">
            <a:spLocks noGrp="1"/>
          </p:cNvSpPr>
          <p:nvPr>
            <p:ph type="body" idx="1"/>
          </p:nvPr>
        </p:nvSpPr>
        <p:spPr>
          <a:xfrm>
            <a:off x="0" y="0"/>
            <a:ext cx="4266667" cy="3150000"/>
          </a:xfrm>
          <a:prstGeom prst="rect">
            <a:avLst/>
          </a:prstGeom>
          <a:noFill/>
          <a:ln>
            <a:noFill/>
          </a:ln>
        </p:spPr>
        <p:txBody>
          <a:bodyPr spcFirstLastPara="1" wrap="square" lIns="108247" tIns="54109" rIns="108247" bIns="54109" anchor="t" anchorCtr="0">
            <a:noAutofit/>
          </a:bodyPr>
          <a:lstStyle/>
          <a:p>
            <a:pPr marL="0" indent="0">
              <a:buNone/>
            </a:pPr>
            <a:r>
              <a:rPr lang="en-US" sz="1400" b="1" dirty="0"/>
              <a:t>Same-day panic vs. next-day reversal:</a:t>
            </a:r>
            <a:r>
              <a:rPr lang="en-US" sz="1400" dirty="0"/>
              <a:t> ΔVIX is negatively correlated with EMB returns contemporaneously, but its next-day coefficient is positive, suggesting a possible short-term rebound after volatility shocks. We interpret this as suggestive rather than conclusive because the HC3 p-value is 0.181.</a:t>
            </a:r>
            <a:endParaRPr sz="1400" dirty="0">
              <a:solidFill>
                <a:schemeClr val="dk1"/>
              </a:solidFill>
              <a:latin typeface="Calibri"/>
              <a:ea typeface="Calibri"/>
              <a:cs typeface="Calibri"/>
              <a:sym typeface="Calibri"/>
            </a:endParaRPr>
          </a:p>
        </p:txBody>
      </p:sp>
      <p:sp>
        <p:nvSpPr>
          <p:cNvPr id="128" name="Google Shape;128;g3d86e330eee_36_0:notes"/>
          <p:cNvSpPr txBox="1">
            <a:spLocks noGrp="1"/>
          </p:cNvSpPr>
          <p:nvPr>
            <p:ph type="sldNum" idx="12"/>
          </p:nvPr>
        </p:nvSpPr>
        <p:spPr>
          <a:xfrm>
            <a:off x="0" y="0"/>
            <a:ext cx="4266667" cy="3150000"/>
          </a:xfrm>
          <a:prstGeom prst="rect">
            <a:avLst/>
          </a:prstGeom>
          <a:noFill/>
          <a:ln>
            <a:noFill/>
          </a:ln>
        </p:spPr>
        <p:txBody>
          <a:bodyPr spcFirstLastPara="1" wrap="square" lIns="108247" tIns="54109" rIns="108247" bIns="54109" anchor="t" anchorCtr="0">
            <a:noAutofit/>
          </a:bodyPr>
          <a:lstStyle/>
          <a:p>
            <a:pPr>
              <a:buSzPts val="1800"/>
            </a:pPr>
            <a:fld id="{00000000-1234-1234-1234-123412341234}" type="slidenum">
              <a:rPr lang="en-US" sz="2100">
                <a:solidFill>
                  <a:schemeClr val="dk1"/>
                </a:solidFill>
                <a:latin typeface="Calibri"/>
                <a:ea typeface="Calibri"/>
                <a:cs typeface="Calibri"/>
                <a:sym typeface="Calibri"/>
              </a:rPr>
              <a:pPr>
                <a:buSzPts val="1800"/>
              </a:pPr>
              <a:t>8</a:t>
            </a:fld>
            <a:endParaRPr sz="2100">
              <a:solidFill>
                <a:schemeClr val="dk1"/>
              </a:solidFill>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
        <p:cNvGrpSpPr/>
        <p:nvPr/>
      </p:nvGrpSpPr>
      <p:grpSpPr>
        <a:xfrm>
          <a:off x="0" y="0"/>
          <a:ext cx="0" cy="0"/>
          <a:chOff x="0" y="0"/>
          <a:chExt cx="0" cy="0"/>
        </a:xfrm>
      </p:grpSpPr>
      <p:sp>
        <p:nvSpPr>
          <p:cNvPr id="152" name="Google Shape;152;g39789fe7b62_1_251:notes"/>
          <p:cNvSpPr>
            <a:spLocks noGrp="1" noRot="1" noChangeAspect="1"/>
          </p:cNvSpPr>
          <p:nvPr>
            <p:ph type="sldImg" idx="2"/>
          </p:nvPr>
        </p:nvSpPr>
        <p:spPr>
          <a:xfrm>
            <a:off x="-666750" y="0"/>
            <a:ext cx="5600700" cy="3151188"/>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53" name="Google Shape;153;g39789fe7b62_1_251:notes"/>
          <p:cNvSpPr txBox="1">
            <a:spLocks noGrp="1"/>
          </p:cNvSpPr>
          <p:nvPr>
            <p:ph type="body" idx="1"/>
          </p:nvPr>
        </p:nvSpPr>
        <p:spPr>
          <a:xfrm>
            <a:off x="0" y="0"/>
            <a:ext cx="4266667" cy="3150000"/>
          </a:xfrm>
          <a:prstGeom prst="rect">
            <a:avLst/>
          </a:prstGeom>
          <a:noFill/>
          <a:ln>
            <a:noFill/>
          </a:ln>
        </p:spPr>
        <p:txBody>
          <a:bodyPr spcFirstLastPara="1" wrap="square" lIns="108247" tIns="54109" rIns="108247" bIns="54109" anchor="t" anchorCtr="0">
            <a:noAutofit/>
          </a:bodyPr>
          <a:lstStyle/>
          <a:p>
            <a:pPr marL="0" indent="0">
              <a:buNone/>
            </a:pPr>
            <a:endParaRPr sz="1400" dirty="0">
              <a:solidFill>
                <a:schemeClr val="dk1"/>
              </a:solidFill>
              <a:latin typeface="Calibri"/>
              <a:ea typeface="Calibri"/>
              <a:cs typeface="Calibri"/>
              <a:sym typeface="Calibri"/>
            </a:endParaRPr>
          </a:p>
        </p:txBody>
      </p:sp>
      <p:sp>
        <p:nvSpPr>
          <p:cNvPr id="154" name="Google Shape;154;g39789fe7b62_1_251:notes"/>
          <p:cNvSpPr txBox="1">
            <a:spLocks noGrp="1"/>
          </p:cNvSpPr>
          <p:nvPr>
            <p:ph type="sldNum" idx="12"/>
          </p:nvPr>
        </p:nvSpPr>
        <p:spPr>
          <a:xfrm>
            <a:off x="0" y="0"/>
            <a:ext cx="4266667" cy="3150000"/>
          </a:xfrm>
          <a:prstGeom prst="rect">
            <a:avLst/>
          </a:prstGeom>
          <a:noFill/>
          <a:ln>
            <a:noFill/>
          </a:ln>
        </p:spPr>
        <p:txBody>
          <a:bodyPr spcFirstLastPara="1" wrap="square" lIns="108247" tIns="54109" rIns="108247" bIns="54109" anchor="t" anchorCtr="0">
            <a:noAutofit/>
          </a:bodyPr>
          <a:lstStyle/>
          <a:p>
            <a:pPr>
              <a:buSzPts val="1800"/>
            </a:pPr>
            <a:fld id="{00000000-1234-1234-1234-123412341234}" type="slidenum">
              <a:rPr lang="en-US" sz="2100">
                <a:solidFill>
                  <a:schemeClr val="dk1"/>
                </a:solidFill>
                <a:latin typeface="Calibri"/>
                <a:ea typeface="Calibri"/>
                <a:cs typeface="Calibri"/>
                <a:sym typeface="Calibri"/>
              </a:rPr>
              <a:pPr>
                <a:buSzPts val="1800"/>
              </a:pPr>
              <a:t>9</a:t>
            </a:fld>
            <a:endParaRPr sz="2100">
              <a:solidFill>
                <a:schemeClr val="dk1"/>
              </a:solidFill>
              <a:latin typeface="Calibri"/>
              <a:ea typeface="Calibri"/>
              <a:cs typeface="Calibri"/>
              <a:sym typeface="Calibri"/>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
        <p:cNvGrpSpPr/>
        <p:nvPr/>
      </p:nvGrpSpPr>
      <p:grpSpPr>
        <a:xfrm>
          <a:off x="0" y="0"/>
          <a:ext cx="0" cy="0"/>
          <a:chOff x="0" y="0"/>
          <a:chExt cx="0" cy="0"/>
        </a:xfrm>
      </p:grpSpPr>
      <p:sp>
        <p:nvSpPr>
          <p:cNvPr id="159" name="Google Shape;159;g3d86e330eee_137_0:notes"/>
          <p:cNvSpPr>
            <a:spLocks noGrp="1" noRot="1" noChangeAspect="1"/>
          </p:cNvSpPr>
          <p:nvPr>
            <p:ph type="sldImg" idx="2"/>
          </p:nvPr>
        </p:nvSpPr>
        <p:spPr>
          <a:xfrm>
            <a:off x="457200" y="720725"/>
            <a:ext cx="6400800" cy="360045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0" name="Google Shape;160;g3d86e330eee_137_0:notes"/>
          <p:cNvSpPr txBox="1">
            <a:spLocks noGrp="1"/>
          </p:cNvSpPr>
          <p:nvPr>
            <p:ph type="body" idx="1"/>
          </p:nvPr>
        </p:nvSpPr>
        <p:spPr>
          <a:xfrm>
            <a:off x="731520" y="4560570"/>
            <a:ext cx="5852160" cy="4320540"/>
          </a:xfrm>
          <a:prstGeom prst="rect">
            <a:avLst/>
          </a:prstGeom>
          <a:noFill/>
          <a:ln>
            <a:noFill/>
          </a:ln>
        </p:spPr>
        <p:txBody>
          <a:bodyPr spcFirstLastPara="1" wrap="square" lIns="108247" tIns="108247" rIns="108247" bIns="108247" anchor="t" anchorCtr="0">
            <a:noAutofit/>
          </a:bodyPr>
          <a:lstStyle/>
          <a:p>
            <a:pPr marL="0" indent="0">
              <a:buNone/>
            </a:pPr>
            <a:endParaRPr dirty="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2"/>
        <p:cNvGrpSpPr/>
        <p:nvPr/>
      </p:nvGrpSpPr>
      <p:grpSpPr>
        <a:xfrm>
          <a:off x="0" y="0"/>
          <a:ext cx="0" cy="0"/>
          <a:chOff x="0" y="0"/>
          <a:chExt cx="0" cy="0"/>
        </a:xfrm>
      </p:grpSpPr>
      <p:sp>
        <p:nvSpPr>
          <p:cNvPr id="263" name="Google Shape;263;p4:notes"/>
          <p:cNvSpPr>
            <a:spLocks noGrp="1" noRot="1" noChangeAspect="1"/>
          </p:cNvSpPr>
          <p:nvPr>
            <p:ph type="sldImg" idx="2"/>
          </p:nvPr>
        </p:nvSpPr>
        <p:spPr>
          <a:xfrm>
            <a:off x="-666750" y="0"/>
            <a:ext cx="5600700" cy="3151188"/>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64" name="Google Shape;264;p4:notes"/>
          <p:cNvSpPr txBox="1">
            <a:spLocks noGrp="1"/>
          </p:cNvSpPr>
          <p:nvPr>
            <p:ph type="body" idx="1"/>
          </p:nvPr>
        </p:nvSpPr>
        <p:spPr>
          <a:xfrm>
            <a:off x="0" y="0"/>
            <a:ext cx="4266667" cy="3150000"/>
          </a:xfrm>
          <a:prstGeom prst="rect">
            <a:avLst/>
          </a:prstGeom>
          <a:noFill/>
          <a:ln>
            <a:noFill/>
          </a:ln>
        </p:spPr>
        <p:txBody>
          <a:bodyPr spcFirstLastPara="1" wrap="square" lIns="108247" tIns="54109" rIns="108247" bIns="54109" anchor="t" anchorCtr="0">
            <a:noAutofit/>
          </a:bodyPr>
          <a:lstStyle/>
          <a:p>
            <a:pPr marL="0" indent="0">
              <a:buNone/>
            </a:pPr>
            <a:endParaRPr sz="1400" dirty="0">
              <a:solidFill>
                <a:schemeClr val="dk1"/>
              </a:solidFill>
              <a:latin typeface="Calibri"/>
              <a:ea typeface="Calibri"/>
              <a:cs typeface="Calibri"/>
              <a:sym typeface="Calibri"/>
            </a:endParaRPr>
          </a:p>
        </p:txBody>
      </p:sp>
      <p:sp>
        <p:nvSpPr>
          <p:cNvPr id="265" name="Google Shape;265;p4:notes"/>
          <p:cNvSpPr txBox="1">
            <a:spLocks noGrp="1"/>
          </p:cNvSpPr>
          <p:nvPr>
            <p:ph type="sldNum" idx="12"/>
          </p:nvPr>
        </p:nvSpPr>
        <p:spPr>
          <a:xfrm>
            <a:off x="0" y="0"/>
            <a:ext cx="4266667" cy="3150000"/>
          </a:xfrm>
          <a:prstGeom prst="rect">
            <a:avLst/>
          </a:prstGeom>
          <a:noFill/>
          <a:ln>
            <a:noFill/>
          </a:ln>
        </p:spPr>
        <p:txBody>
          <a:bodyPr spcFirstLastPara="1" wrap="square" lIns="108247" tIns="54109" rIns="108247" bIns="54109" anchor="t" anchorCtr="0">
            <a:noAutofit/>
          </a:bodyPr>
          <a:lstStyle/>
          <a:p>
            <a:pPr>
              <a:buSzPts val="1800"/>
            </a:pPr>
            <a:fld id="{00000000-1234-1234-1234-123412341234}" type="slidenum">
              <a:rPr lang="en-US" sz="2100">
                <a:solidFill>
                  <a:schemeClr val="dk1"/>
                </a:solidFill>
                <a:latin typeface="Calibri"/>
                <a:ea typeface="Calibri"/>
                <a:cs typeface="Calibri"/>
                <a:sym typeface="Calibri"/>
              </a:rPr>
              <a:pPr>
                <a:buSzPts val="1800"/>
              </a:pPr>
              <a:t>11</a:t>
            </a:fld>
            <a:endParaRPr sz="2100">
              <a:solidFill>
                <a:schemeClr val="dk1"/>
              </a:solidFill>
              <a:latin typeface="Calibri"/>
              <a:ea typeface="Calibri"/>
              <a:cs typeface="Calibri"/>
              <a:sym typeface="Calibri"/>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0"/>
        <p:cNvGrpSpPr/>
        <p:nvPr/>
      </p:nvGrpSpPr>
      <p:grpSpPr>
        <a:xfrm>
          <a:off x="0" y="0"/>
          <a:ext cx="0" cy="0"/>
          <a:chOff x="0" y="0"/>
          <a:chExt cx="0" cy="0"/>
        </a:xfrm>
      </p:grpSpPr>
      <p:sp>
        <p:nvSpPr>
          <p:cNvPr id="291" name="Google Shape;291;p5:notes"/>
          <p:cNvSpPr>
            <a:spLocks noGrp="1" noRot="1" noChangeAspect="1"/>
          </p:cNvSpPr>
          <p:nvPr>
            <p:ph type="sldImg" idx="2"/>
          </p:nvPr>
        </p:nvSpPr>
        <p:spPr>
          <a:xfrm>
            <a:off x="-666750" y="0"/>
            <a:ext cx="5600700" cy="3151188"/>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92" name="Google Shape;292;p5:notes"/>
          <p:cNvSpPr txBox="1">
            <a:spLocks noGrp="1"/>
          </p:cNvSpPr>
          <p:nvPr>
            <p:ph type="body" idx="1"/>
          </p:nvPr>
        </p:nvSpPr>
        <p:spPr>
          <a:xfrm>
            <a:off x="0" y="0"/>
            <a:ext cx="4266667" cy="3150000"/>
          </a:xfrm>
          <a:prstGeom prst="rect">
            <a:avLst/>
          </a:prstGeom>
          <a:noFill/>
          <a:ln>
            <a:noFill/>
          </a:ln>
        </p:spPr>
        <p:txBody>
          <a:bodyPr spcFirstLastPara="1" wrap="square" lIns="108247" tIns="54109" rIns="108247" bIns="54109" anchor="t" anchorCtr="0">
            <a:noAutofit/>
          </a:bodyPr>
          <a:lstStyle/>
          <a:p>
            <a:pPr marL="0" indent="0">
              <a:buNone/>
            </a:pPr>
            <a:endParaRPr sz="1400" dirty="0">
              <a:solidFill>
                <a:schemeClr val="dk1"/>
              </a:solidFill>
              <a:latin typeface="Calibri"/>
              <a:ea typeface="Calibri"/>
              <a:cs typeface="Calibri"/>
              <a:sym typeface="Calibri"/>
            </a:endParaRPr>
          </a:p>
        </p:txBody>
      </p:sp>
      <p:sp>
        <p:nvSpPr>
          <p:cNvPr id="293" name="Google Shape;293;p5:notes"/>
          <p:cNvSpPr txBox="1">
            <a:spLocks noGrp="1"/>
          </p:cNvSpPr>
          <p:nvPr>
            <p:ph type="sldNum" idx="12"/>
          </p:nvPr>
        </p:nvSpPr>
        <p:spPr>
          <a:xfrm>
            <a:off x="0" y="0"/>
            <a:ext cx="4266667" cy="3150000"/>
          </a:xfrm>
          <a:prstGeom prst="rect">
            <a:avLst/>
          </a:prstGeom>
          <a:noFill/>
          <a:ln>
            <a:noFill/>
          </a:ln>
        </p:spPr>
        <p:txBody>
          <a:bodyPr spcFirstLastPara="1" wrap="square" lIns="108247" tIns="54109" rIns="108247" bIns="54109" anchor="t" anchorCtr="0">
            <a:noAutofit/>
          </a:bodyPr>
          <a:lstStyle/>
          <a:p>
            <a:pPr>
              <a:buSzPts val="1800"/>
            </a:pPr>
            <a:fld id="{00000000-1234-1234-1234-123412341234}" type="slidenum">
              <a:rPr lang="en-US" sz="2100">
                <a:solidFill>
                  <a:schemeClr val="dk1"/>
                </a:solidFill>
                <a:latin typeface="Calibri"/>
                <a:ea typeface="Calibri"/>
                <a:cs typeface="Calibri"/>
                <a:sym typeface="Calibri"/>
              </a:rPr>
              <a:pPr>
                <a:buSzPts val="1800"/>
              </a:pPr>
              <a:t>12</a:t>
            </a:fld>
            <a:endParaRPr sz="2100">
              <a:solidFill>
                <a:schemeClr val="dk1"/>
              </a:solidFill>
              <a:latin typeface="Calibri"/>
              <a:ea typeface="Calibri"/>
              <a:cs typeface="Calibri"/>
              <a:sym typeface="Calibri"/>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g39789fe7b62_1_268:notes"/>
          <p:cNvSpPr>
            <a:spLocks noGrp="1" noRot="1" noChangeAspect="1"/>
          </p:cNvSpPr>
          <p:nvPr>
            <p:ph type="sldImg" idx="2"/>
          </p:nvPr>
        </p:nvSpPr>
        <p:spPr>
          <a:xfrm>
            <a:off x="-666750" y="0"/>
            <a:ext cx="5600700" cy="3151188"/>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77" name="Google Shape;177;g39789fe7b62_1_268:notes"/>
          <p:cNvSpPr txBox="1">
            <a:spLocks noGrp="1"/>
          </p:cNvSpPr>
          <p:nvPr>
            <p:ph type="body" idx="1"/>
          </p:nvPr>
        </p:nvSpPr>
        <p:spPr>
          <a:xfrm>
            <a:off x="0" y="0"/>
            <a:ext cx="4266667" cy="3150000"/>
          </a:xfrm>
          <a:prstGeom prst="rect">
            <a:avLst/>
          </a:prstGeom>
          <a:noFill/>
          <a:ln>
            <a:noFill/>
          </a:ln>
        </p:spPr>
        <p:txBody>
          <a:bodyPr spcFirstLastPara="1" wrap="square" lIns="108247" tIns="54109" rIns="108247" bIns="54109" anchor="t" anchorCtr="0">
            <a:noAutofit/>
          </a:bodyPr>
          <a:lstStyle/>
          <a:p>
            <a:pPr marL="0" indent="0">
              <a:buNone/>
            </a:pPr>
            <a:endParaRPr sz="1400" dirty="0">
              <a:solidFill>
                <a:schemeClr val="dk1"/>
              </a:solidFill>
              <a:latin typeface="Calibri"/>
              <a:ea typeface="Calibri"/>
              <a:cs typeface="Calibri"/>
              <a:sym typeface="Calibri"/>
            </a:endParaRPr>
          </a:p>
        </p:txBody>
      </p:sp>
      <p:sp>
        <p:nvSpPr>
          <p:cNvPr id="178" name="Google Shape;178;g39789fe7b62_1_268:notes"/>
          <p:cNvSpPr txBox="1">
            <a:spLocks noGrp="1"/>
          </p:cNvSpPr>
          <p:nvPr>
            <p:ph type="sldNum" idx="12"/>
          </p:nvPr>
        </p:nvSpPr>
        <p:spPr>
          <a:xfrm>
            <a:off x="0" y="0"/>
            <a:ext cx="4266667" cy="3150000"/>
          </a:xfrm>
          <a:prstGeom prst="rect">
            <a:avLst/>
          </a:prstGeom>
          <a:noFill/>
          <a:ln>
            <a:noFill/>
          </a:ln>
        </p:spPr>
        <p:txBody>
          <a:bodyPr spcFirstLastPara="1" wrap="square" lIns="108247" tIns="54109" rIns="108247" bIns="54109" anchor="t" anchorCtr="0">
            <a:noAutofit/>
          </a:bodyPr>
          <a:lstStyle/>
          <a:p>
            <a:pPr>
              <a:buSzPts val="1800"/>
            </a:pPr>
            <a:fld id="{00000000-1234-1234-1234-123412341234}" type="slidenum">
              <a:rPr lang="en-US" sz="2100">
                <a:solidFill>
                  <a:schemeClr val="dk1"/>
                </a:solidFill>
                <a:latin typeface="Calibri"/>
                <a:ea typeface="Calibri"/>
                <a:cs typeface="Calibri"/>
                <a:sym typeface="Calibri"/>
              </a:rPr>
              <a:pPr>
                <a:buSzPts val="1800"/>
              </a:pPr>
              <a:t>13</a:t>
            </a:fld>
            <a:endParaRPr sz="2100">
              <a:solidFill>
                <a:schemeClr val="dk1"/>
              </a:solidFill>
              <a:latin typeface="Calibri"/>
              <a:ea typeface="Calibri"/>
              <a:cs typeface="Calibri"/>
              <a:sym typeface="Calibri"/>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
          <a:extLst>
            <a:ext uri="{FF2B5EF4-FFF2-40B4-BE49-F238E27FC236}">
              <a16:creationId xmlns:a16="http://schemas.microsoft.com/office/drawing/2014/main" id="{B78B54F6-5924-4360-98A9-E08855373DB8}"/>
            </a:ext>
          </a:extLst>
        </p:cNvPr>
        <p:cNvGrpSpPr/>
        <p:nvPr/>
      </p:nvGrpSpPr>
      <p:grpSpPr>
        <a:xfrm>
          <a:off x="0" y="0"/>
          <a:ext cx="0" cy="0"/>
          <a:chOff x="0" y="0"/>
          <a:chExt cx="0" cy="0"/>
        </a:xfrm>
      </p:grpSpPr>
      <p:sp>
        <p:nvSpPr>
          <p:cNvPr id="193" name="Google Shape;193;g3d86e330eee_36_39:notes">
            <a:extLst>
              <a:ext uri="{FF2B5EF4-FFF2-40B4-BE49-F238E27FC236}">
                <a16:creationId xmlns:a16="http://schemas.microsoft.com/office/drawing/2014/main" id="{E9C10A44-E107-A0FE-5492-B61E5955C1F5}"/>
              </a:ext>
            </a:extLst>
          </p:cNvPr>
          <p:cNvSpPr>
            <a:spLocks noGrp="1" noRot="1" noChangeAspect="1"/>
          </p:cNvSpPr>
          <p:nvPr>
            <p:ph type="sldImg" idx="2"/>
          </p:nvPr>
        </p:nvSpPr>
        <p:spPr>
          <a:xfrm>
            <a:off x="-666750" y="0"/>
            <a:ext cx="5600700" cy="3151188"/>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94" name="Google Shape;194;g3d86e330eee_36_39:notes">
            <a:extLst>
              <a:ext uri="{FF2B5EF4-FFF2-40B4-BE49-F238E27FC236}">
                <a16:creationId xmlns:a16="http://schemas.microsoft.com/office/drawing/2014/main" id="{0AAB2BED-C453-A192-FC8E-6A5361BFB334}"/>
              </a:ext>
            </a:extLst>
          </p:cNvPr>
          <p:cNvSpPr txBox="1">
            <a:spLocks noGrp="1"/>
          </p:cNvSpPr>
          <p:nvPr>
            <p:ph type="body" idx="1"/>
          </p:nvPr>
        </p:nvSpPr>
        <p:spPr>
          <a:xfrm>
            <a:off x="0" y="0"/>
            <a:ext cx="4266667" cy="3150000"/>
          </a:xfrm>
          <a:prstGeom prst="rect">
            <a:avLst/>
          </a:prstGeom>
          <a:noFill/>
          <a:ln>
            <a:noFill/>
          </a:ln>
        </p:spPr>
        <p:txBody>
          <a:bodyPr spcFirstLastPara="1" wrap="square" lIns="108247" tIns="54109" rIns="108247" bIns="54109" anchor="t" anchorCtr="0">
            <a:noAutofit/>
          </a:bodyPr>
          <a:lstStyle/>
          <a:p>
            <a:pPr marL="0" indent="0">
              <a:buNone/>
            </a:pPr>
            <a:endParaRPr sz="1400" dirty="0">
              <a:solidFill>
                <a:schemeClr val="dk1"/>
              </a:solidFill>
              <a:latin typeface="Calibri"/>
              <a:ea typeface="Calibri"/>
              <a:cs typeface="Calibri"/>
              <a:sym typeface="Calibri"/>
            </a:endParaRPr>
          </a:p>
        </p:txBody>
      </p:sp>
      <p:sp>
        <p:nvSpPr>
          <p:cNvPr id="195" name="Google Shape;195;g3d86e330eee_36_39:notes">
            <a:extLst>
              <a:ext uri="{FF2B5EF4-FFF2-40B4-BE49-F238E27FC236}">
                <a16:creationId xmlns:a16="http://schemas.microsoft.com/office/drawing/2014/main" id="{4CE9E4E8-5E88-8D35-FA32-57966DC55C2F}"/>
              </a:ext>
            </a:extLst>
          </p:cNvPr>
          <p:cNvSpPr txBox="1">
            <a:spLocks noGrp="1"/>
          </p:cNvSpPr>
          <p:nvPr>
            <p:ph type="sldNum" idx="12"/>
          </p:nvPr>
        </p:nvSpPr>
        <p:spPr>
          <a:xfrm>
            <a:off x="0" y="0"/>
            <a:ext cx="4266667" cy="3150000"/>
          </a:xfrm>
          <a:prstGeom prst="rect">
            <a:avLst/>
          </a:prstGeom>
          <a:noFill/>
          <a:ln>
            <a:noFill/>
          </a:ln>
        </p:spPr>
        <p:txBody>
          <a:bodyPr spcFirstLastPara="1" wrap="square" lIns="108247" tIns="54109" rIns="108247" bIns="54109" anchor="t" anchorCtr="0">
            <a:noAutofit/>
          </a:bodyPr>
          <a:lstStyle/>
          <a:p>
            <a:pPr>
              <a:buSzPts val="1800"/>
            </a:pPr>
            <a:fld id="{00000000-1234-1234-1234-123412341234}" type="slidenum">
              <a:rPr lang="en-US" sz="2100">
                <a:solidFill>
                  <a:schemeClr val="dk1"/>
                </a:solidFill>
                <a:latin typeface="Calibri"/>
                <a:ea typeface="Calibri"/>
                <a:cs typeface="Calibri"/>
                <a:sym typeface="Calibri"/>
              </a:rPr>
              <a:pPr>
                <a:buSzPts val="1800"/>
              </a:pPr>
              <a:t>14</a:t>
            </a:fld>
            <a:endParaRPr sz="21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92246369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4:notes"/>
          <p:cNvSpPr>
            <a:spLocks noGrp="1" noRot="1" noChangeAspect="1"/>
          </p:cNvSpPr>
          <p:nvPr>
            <p:ph type="sldImg" idx="2"/>
          </p:nvPr>
        </p:nvSpPr>
        <p:spPr>
          <a:xfrm>
            <a:off x="-666750" y="0"/>
            <a:ext cx="5600700" cy="3151188"/>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41" name="Google Shape;241;p14:notes"/>
          <p:cNvSpPr txBox="1">
            <a:spLocks noGrp="1"/>
          </p:cNvSpPr>
          <p:nvPr>
            <p:ph type="body" idx="1"/>
          </p:nvPr>
        </p:nvSpPr>
        <p:spPr>
          <a:xfrm>
            <a:off x="0" y="0"/>
            <a:ext cx="4266667" cy="3150000"/>
          </a:xfrm>
          <a:prstGeom prst="rect">
            <a:avLst/>
          </a:prstGeom>
          <a:noFill/>
          <a:ln>
            <a:noFill/>
          </a:ln>
        </p:spPr>
        <p:txBody>
          <a:bodyPr spcFirstLastPara="1" wrap="square" lIns="108247" tIns="54109" rIns="108247" bIns="54109" anchor="t" anchorCtr="0">
            <a:noAutofit/>
          </a:bodyPr>
          <a:lstStyle/>
          <a:p>
            <a:pPr marL="0" indent="0">
              <a:buNone/>
            </a:pPr>
            <a:endParaRPr sz="1400" dirty="0">
              <a:solidFill>
                <a:schemeClr val="dk1"/>
              </a:solidFill>
              <a:latin typeface="Calibri"/>
              <a:ea typeface="Calibri"/>
              <a:cs typeface="Calibri"/>
              <a:sym typeface="Calibri"/>
            </a:endParaRPr>
          </a:p>
        </p:txBody>
      </p:sp>
      <p:sp>
        <p:nvSpPr>
          <p:cNvPr id="242" name="Google Shape;242;p14:notes"/>
          <p:cNvSpPr txBox="1">
            <a:spLocks noGrp="1"/>
          </p:cNvSpPr>
          <p:nvPr>
            <p:ph type="sldNum" idx="12"/>
          </p:nvPr>
        </p:nvSpPr>
        <p:spPr>
          <a:xfrm>
            <a:off x="0" y="0"/>
            <a:ext cx="4266667" cy="3150000"/>
          </a:xfrm>
          <a:prstGeom prst="rect">
            <a:avLst/>
          </a:prstGeom>
          <a:noFill/>
          <a:ln>
            <a:noFill/>
          </a:ln>
        </p:spPr>
        <p:txBody>
          <a:bodyPr spcFirstLastPara="1" wrap="square" lIns="108247" tIns="54109" rIns="108247" bIns="54109" anchor="t" anchorCtr="0">
            <a:noAutofit/>
          </a:bodyPr>
          <a:lstStyle/>
          <a:p>
            <a:pPr>
              <a:buSzPts val="1800"/>
            </a:pPr>
            <a:fld id="{00000000-1234-1234-1234-123412341234}" type="slidenum">
              <a:rPr lang="en-US" sz="2100">
                <a:solidFill>
                  <a:schemeClr val="dk1"/>
                </a:solidFill>
                <a:latin typeface="Calibri"/>
                <a:ea typeface="Calibri"/>
                <a:cs typeface="Calibri"/>
                <a:sym typeface="Calibri"/>
              </a:rPr>
              <a:pPr>
                <a:buSzPts val="1800"/>
              </a:pPr>
              <a:t>15</a:t>
            </a:fld>
            <a:endParaRPr sz="2100">
              <a:solidFill>
                <a:schemeClr val="dk1"/>
              </a:solidFill>
              <a:latin typeface="Calibri"/>
              <a:ea typeface="Calibri"/>
              <a:cs typeface="Calibri"/>
              <a:sym typeface="Calibri"/>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
          <a:extLst>
            <a:ext uri="{FF2B5EF4-FFF2-40B4-BE49-F238E27FC236}">
              <a16:creationId xmlns:a16="http://schemas.microsoft.com/office/drawing/2014/main" id="{1BAB2F5E-0DD3-1848-F241-F16438FCE760}"/>
            </a:ext>
          </a:extLst>
        </p:cNvPr>
        <p:cNvGrpSpPr/>
        <p:nvPr/>
      </p:nvGrpSpPr>
      <p:grpSpPr>
        <a:xfrm>
          <a:off x="0" y="0"/>
          <a:ext cx="0" cy="0"/>
          <a:chOff x="0" y="0"/>
          <a:chExt cx="0" cy="0"/>
        </a:xfrm>
      </p:grpSpPr>
      <p:sp>
        <p:nvSpPr>
          <p:cNvPr id="152" name="Google Shape;152;g39789fe7b62_1_251:notes">
            <a:extLst>
              <a:ext uri="{FF2B5EF4-FFF2-40B4-BE49-F238E27FC236}">
                <a16:creationId xmlns:a16="http://schemas.microsoft.com/office/drawing/2014/main" id="{6520D5AD-993D-EDBA-835F-20992A176FDB}"/>
              </a:ext>
            </a:extLst>
          </p:cNvPr>
          <p:cNvSpPr>
            <a:spLocks noGrp="1" noRot="1" noChangeAspect="1"/>
          </p:cNvSpPr>
          <p:nvPr>
            <p:ph type="sldImg" idx="2"/>
          </p:nvPr>
        </p:nvSpPr>
        <p:spPr>
          <a:xfrm>
            <a:off x="-666750" y="0"/>
            <a:ext cx="5600700" cy="3151188"/>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53" name="Google Shape;153;g39789fe7b62_1_251:notes">
            <a:extLst>
              <a:ext uri="{FF2B5EF4-FFF2-40B4-BE49-F238E27FC236}">
                <a16:creationId xmlns:a16="http://schemas.microsoft.com/office/drawing/2014/main" id="{B6DFCFC3-5EAA-6066-C845-B85E75156F03}"/>
              </a:ext>
            </a:extLst>
          </p:cNvPr>
          <p:cNvSpPr txBox="1">
            <a:spLocks noGrp="1"/>
          </p:cNvSpPr>
          <p:nvPr>
            <p:ph type="body" idx="1"/>
          </p:nvPr>
        </p:nvSpPr>
        <p:spPr>
          <a:xfrm>
            <a:off x="0" y="0"/>
            <a:ext cx="4266667" cy="3150000"/>
          </a:xfrm>
          <a:prstGeom prst="rect">
            <a:avLst/>
          </a:prstGeom>
          <a:noFill/>
          <a:ln>
            <a:noFill/>
          </a:ln>
        </p:spPr>
        <p:txBody>
          <a:bodyPr spcFirstLastPara="1" wrap="square" lIns="108247" tIns="54109" rIns="108247" bIns="54109" anchor="t" anchorCtr="0">
            <a:noAutofit/>
          </a:bodyPr>
          <a:lstStyle/>
          <a:p>
            <a:pPr marL="0" indent="0">
              <a:buNone/>
            </a:pPr>
            <a:endParaRPr sz="1400" dirty="0">
              <a:solidFill>
                <a:schemeClr val="dk1"/>
              </a:solidFill>
              <a:latin typeface="Calibri"/>
              <a:ea typeface="Calibri"/>
              <a:cs typeface="Calibri"/>
              <a:sym typeface="Calibri"/>
            </a:endParaRPr>
          </a:p>
        </p:txBody>
      </p:sp>
      <p:sp>
        <p:nvSpPr>
          <p:cNvPr id="154" name="Google Shape;154;g39789fe7b62_1_251:notes">
            <a:extLst>
              <a:ext uri="{FF2B5EF4-FFF2-40B4-BE49-F238E27FC236}">
                <a16:creationId xmlns:a16="http://schemas.microsoft.com/office/drawing/2014/main" id="{DD301F5E-9E7C-1962-2233-57CA69C704BF}"/>
              </a:ext>
            </a:extLst>
          </p:cNvPr>
          <p:cNvSpPr txBox="1">
            <a:spLocks noGrp="1"/>
          </p:cNvSpPr>
          <p:nvPr>
            <p:ph type="sldNum" idx="12"/>
          </p:nvPr>
        </p:nvSpPr>
        <p:spPr>
          <a:xfrm>
            <a:off x="0" y="0"/>
            <a:ext cx="4266667" cy="3150000"/>
          </a:xfrm>
          <a:prstGeom prst="rect">
            <a:avLst/>
          </a:prstGeom>
          <a:noFill/>
          <a:ln>
            <a:noFill/>
          </a:ln>
        </p:spPr>
        <p:txBody>
          <a:bodyPr spcFirstLastPara="1" wrap="square" lIns="108247" tIns="54109" rIns="108247" bIns="54109" anchor="t" anchorCtr="0">
            <a:noAutofit/>
          </a:bodyPr>
          <a:lstStyle/>
          <a:p>
            <a:pPr defTabSz="1082650">
              <a:buSzPts val="1800"/>
              <a:defRPr/>
            </a:pPr>
            <a:fld id="{00000000-1234-1234-1234-123412341234}" type="slidenum">
              <a:rPr lang="en-US" sz="2100">
                <a:latin typeface="Calibri"/>
                <a:ea typeface="Calibri"/>
                <a:cs typeface="Calibri"/>
                <a:sym typeface="Calibri"/>
              </a:rPr>
              <a:pPr defTabSz="1082650">
                <a:buSzPts val="1800"/>
                <a:defRPr/>
              </a:pPr>
              <a:t>16</a:t>
            </a:fld>
            <a:endParaRPr sz="2100">
              <a:latin typeface="Calibri"/>
              <a:ea typeface="Calibri"/>
              <a:cs typeface="Calibri"/>
              <a:sym typeface="Calibri"/>
            </a:endParaRPr>
          </a:p>
        </p:txBody>
      </p:sp>
    </p:spTree>
    <p:extLst>
      <p:ext uri="{BB962C8B-B14F-4D97-AF65-F5344CB8AC3E}">
        <p14:creationId xmlns:p14="http://schemas.microsoft.com/office/powerpoint/2010/main" val="351899042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
        <p:cNvGrpSpPr/>
        <p:nvPr/>
      </p:nvGrpSpPr>
      <p:grpSpPr>
        <a:xfrm>
          <a:off x="0" y="0"/>
          <a:ext cx="0" cy="0"/>
          <a:chOff x="0" y="0"/>
          <a:chExt cx="0" cy="0"/>
        </a:xfrm>
      </p:grpSpPr>
      <p:sp>
        <p:nvSpPr>
          <p:cNvPr id="193" name="Google Shape;193;g3d86e330eee_36_39:notes"/>
          <p:cNvSpPr>
            <a:spLocks noGrp="1" noRot="1" noChangeAspect="1"/>
          </p:cNvSpPr>
          <p:nvPr>
            <p:ph type="sldImg" idx="2"/>
          </p:nvPr>
        </p:nvSpPr>
        <p:spPr>
          <a:xfrm>
            <a:off x="-666750" y="0"/>
            <a:ext cx="5600700" cy="3151188"/>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94" name="Google Shape;194;g3d86e330eee_36_39:notes"/>
          <p:cNvSpPr txBox="1">
            <a:spLocks noGrp="1"/>
          </p:cNvSpPr>
          <p:nvPr>
            <p:ph type="body" idx="1"/>
          </p:nvPr>
        </p:nvSpPr>
        <p:spPr>
          <a:xfrm>
            <a:off x="0" y="0"/>
            <a:ext cx="4266667" cy="3150000"/>
          </a:xfrm>
          <a:prstGeom prst="rect">
            <a:avLst/>
          </a:prstGeom>
          <a:noFill/>
          <a:ln>
            <a:noFill/>
          </a:ln>
        </p:spPr>
        <p:txBody>
          <a:bodyPr spcFirstLastPara="1" wrap="square" lIns="108247" tIns="54109" rIns="108247" bIns="54109" anchor="t" anchorCtr="0">
            <a:noAutofit/>
          </a:bodyPr>
          <a:lstStyle/>
          <a:p>
            <a:pPr marL="0" indent="0" defTabSz="1082650">
              <a:buNone/>
              <a:defRPr/>
            </a:pPr>
            <a:r>
              <a:rPr lang="en-US" sz="1400" dirty="0"/>
              <a:t>Ridge was estimated using standardized predictors so variables with different scales were penalized consistently. Standardized coefficients show the effect of a one-standard-deviation change in each predictor. Original-unit coefficients convert the model back to the variables’ actual measurement units—for example, VIX-point changes, credit-spread percentage-point changes, and oil returns—so they can be used in the final regression equation. Both sets of coefficients represent the same Ridge model.</a:t>
            </a:r>
          </a:p>
          <a:p>
            <a:pPr marL="0" indent="0">
              <a:buNone/>
            </a:pPr>
            <a:endParaRPr sz="1400" dirty="0">
              <a:solidFill>
                <a:schemeClr val="dk1"/>
              </a:solidFill>
              <a:latin typeface="Calibri"/>
              <a:ea typeface="Calibri"/>
              <a:cs typeface="Calibri"/>
              <a:sym typeface="Calibri"/>
            </a:endParaRPr>
          </a:p>
        </p:txBody>
      </p:sp>
      <p:sp>
        <p:nvSpPr>
          <p:cNvPr id="195" name="Google Shape;195;g3d86e330eee_36_39:notes"/>
          <p:cNvSpPr txBox="1">
            <a:spLocks noGrp="1"/>
          </p:cNvSpPr>
          <p:nvPr>
            <p:ph type="sldNum" idx="12"/>
          </p:nvPr>
        </p:nvSpPr>
        <p:spPr>
          <a:xfrm>
            <a:off x="0" y="0"/>
            <a:ext cx="4266667" cy="3150000"/>
          </a:xfrm>
          <a:prstGeom prst="rect">
            <a:avLst/>
          </a:prstGeom>
          <a:noFill/>
          <a:ln>
            <a:noFill/>
          </a:ln>
        </p:spPr>
        <p:txBody>
          <a:bodyPr spcFirstLastPara="1" wrap="square" lIns="108247" tIns="54109" rIns="108247" bIns="54109" anchor="t" anchorCtr="0">
            <a:noAutofit/>
          </a:bodyPr>
          <a:lstStyle/>
          <a:p>
            <a:pPr>
              <a:buSzPts val="1800"/>
            </a:pPr>
            <a:fld id="{00000000-1234-1234-1234-123412341234}" type="slidenum">
              <a:rPr lang="en-US" sz="2100">
                <a:solidFill>
                  <a:schemeClr val="dk1"/>
                </a:solidFill>
                <a:latin typeface="Calibri"/>
                <a:ea typeface="Calibri"/>
                <a:cs typeface="Calibri"/>
                <a:sym typeface="Calibri"/>
              </a:rPr>
              <a:pPr>
                <a:buSzPts val="1800"/>
              </a:pPr>
              <a:t>17</a:t>
            </a:fld>
            <a:endParaRPr sz="2100">
              <a:solidFill>
                <a:schemeClr val="dk1"/>
              </a:solidFill>
              <a:latin typeface="Calibri"/>
              <a:ea typeface="Calibri"/>
              <a:cs typeface="Calibri"/>
              <a:sym typeface="Calibri"/>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a:extLst>
            <a:ext uri="{FF2B5EF4-FFF2-40B4-BE49-F238E27FC236}">
              <a16:creationId xmlns:a16="http://schemas.microsoft.com/office/drawing/2014/main" id="{667E1AB5-76F3-E172-C2CD-1B3129F77530}"/>
            </a:ext>
          </a:extLst>
        </p:cNvPr>
        <p:cNvGrpSpPr/>
        <p:nvPr/>
      </p:nvGrpSpPr>
      <p:grpSpPr>
        <a:xfrm>
          <a:off x="0" y="0"/>
          <a:ext cx="0" cy="0"/>
          <a:chOff x="0" y="0"/>
          <a:chExt cx="0" cy="0"/>
        </a:xfrm>
      </p:grpSpPr>
      <p:sp>
        <p:nvSpPr>
          <p:cNvPr id="240" name="Google Shape;240;p14:notes">
            <a:extLst>
              <a:ext uri="{FF2B5EF4-FFF2-40B4-BE49-F238E27FC236}">
                <a16:creationId xmlns:a16="http://schemas.microsoft.com/office/drawing/2014/main" id="{023D0E46-A398-1289-0A8B-485CA9C1CD0C}"/>
              </a:ext>
            </a:extLst>
          </p:cNvPr>
          <p:cNvSpPr>
            <a:spLocks noGrp="1" noRot="1" noChangeAspect="1"/>
          </p:cNvSpPr>
          <p:nvPr>
            <p:ph type="sldImg" idx="2"/>
          </p:nvPr>
        </p:nvSpPr>
        <p:spPr>
          <a:xfrm>
            <a:off x="-666750" y="0"/>
            <a:ext cx="5600700" cy="3151188"/>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41" name="Google Shape;241;p14:notes">
            <a:extLst>
              <a:ext uri="{FF2B5EF4-FFF2-40B4-BE49-F238E27FC236}">
                <a16:creationId xmlns:a16="http://schemas.microsoft.com/office/drawing/2014/main" id="{E156BF0B-AF00-696D-B200-8ED041428D58}"/>
              </a:ext>
            </a:extLst>
          </p:cNvPr>
          <p:cNvSpPr txBox="1">
            <a:spLocks noGrp="1"/>
          </p:cNvSpPr>
          <p:nvPr>
            <p:ph type="body" idx="1"/>
          </p:nvPr>
        </p:nvSpPr>
        <p:spPr>
          <a:xfrm>
            <a:off x="0" y="0"/>
            <a:ext cx="4266667" cy="3150000"/>
          </a:xfrm>
          <a:prstGeom prst="rect">
            <a:avLst/>
          </a:prstGeom>
          <a:noFill/>
          <a:ln>
            <a:noFill/>
          </a:ln>
        </p:spPr>
        <p:txBody>
          <a:bodyPr spcFirstLastPara="1" wrap="square" lIns="108247" tIns="54109" rIns="108247" bIns="54109" anchor="t" anchorCtr="0">
            <a:noAutofit/>
          </a:bodyPr>
          <a:lstStyle/>
          <a:p>
            <a:pPr marL="0" indent="0">
              <a:buNone/>
            </a:pPr>
            <a:endParaRPr sz="1400" dirty="0">
              <a:solidFill>
                <a:schemeClr val="dk1"/>
              </a:solidFill>
              <a:latin typeface="Calibri"/>
              <a:ea typeface="Calibri"/>
              <a:cs typeface="Calibri"/>
              <a:sym typeface="Calibri"/>
            </a:endParaRPr>
          </a:p>
        </p:txBody>
      </p:sp>
      <p:sp>
        <p:nvSpPr>
          <p:cNvPr id="242" name="Google Shape;242;p14:notes">
            <a:extLst>
              <a:ext uri="{FF2B5EF4-FFF2-40B4-BE49-F238E27FC236}">
                <a16:creationId xmlns:a16="http://schemas.microsoft.com/office/drawing/2014/main" id="{2F38C242-FAFF-A847-1D69-46004D631D3E}"/>
              </a:ext>
            </a:extLst>
          </p:cNvPr>
          <p:cNvSpPr txBox="1">
            <a:spLocks noGrp="1"/>
          </p:cNvSpPr>
          <p:nvPr>
            <p:ph type="sldNum" idx="12"/>
          </p:nvPr>
        </p:nvSpPr>
        <p:spPr>
          <a:xfrm>
            <a:off x="0" y="0"/>
            <a:ext cx="4266667" cy="3150000"/>
          </a:xfrm>
          <a:prstGeom prst="rect">
            <a:avLst/>
          </a:prstGeom>
          <a:noFill/>
          <a:ln>
            <a:noFill/>
          </a:ln>
        </p:spPr>
        <p:txBody>
          <a:bodyPr spcFirstLastPara="1" wrap="square" lIns="108247" tIns="54109" rIns="108247" bIns="54109" anchor="t" anchorCtr="0">
            <a:noAutofit/>
          </a:bodyPr>
          <a:lstStyle/>
          <a:p>
            <a:pPr>
              <a:buSzPts val="1800"/>
            </a:pPr>
            <a:fld id="{00000000-1234-1234-1234-123412341234}" type="slidenum">
              <a:rPr lang="en-US" sz="2100">
                <a:solidFill>
                  <a:schemeClr val="dk1"/>
                </a:solidFill>
                <a:latin typeface="Calibri"/>
                <a:ea typeface="Calibri"/>
                <a:cs typeface="Calibri"/>
                <a:sym typeface="Calibri"/>
              </a:rPr>
              <a:pPr>
                <a:buSzPts val="1800"/>
              </a:pPr>
              <a:t>18</a:t>
            </a:fld>
            <a:endParaRPr sz="21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28803565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
        <p:cNvGrpSpPr/>
        <p:nvPr/>
      </p:nvGrpSpPr>
      <p:grpSpPr>
        <a:xfrm>
          <a:off x="0" y="0"/>
          <a:ext cx="0" cy="0"/>
          <a:chOff x="0" y="0"/>
          <a:chExt cx="0" cy="0"/>
        </a:xfrm>
      </p:grpSpPr>
      <p:sp>
        <p:nvSpPr>
          <p:cNvPr id="224" name="Google Shape;224;g3d86e330eee_36_74:notes"/>
          <p:cNvSpPr>
            <a:spLocks noGrp="1" noRot="1" noChangeAspect="1"/>
          </p:cNvSpPr>
          <p:nvPr>
            <p:ph type="sldImg" idx="2"/>
          </p:nvPr>
        </p:nvSpPr>
        <p:spPr>
          <a:xfrm>
            <a:off x="-666750" y="0"/>
            <a:ext cx="5600700" cy="3151188"/>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25" name="Google Shape;225;g3d86e330eee_36_74:notes"/>
          <p:cNvSpPr txBox="1">
            <a:spLocks noGrp="1"/>
          </p:cNvSpPr>
          <p:nvPr>
            <p:ph type="body" idx="1"/>
          </p:nvPr>
        </p:nvSpPr>
        <p:spPr>
          <a:xfrm>
            <a:off x="0" y="0"/>
            <a:ext cx="4266667" cy="3150000"/>
          </a:xfrm>
          <a:prstGeom prst="rect">
            <a:avLst/>
          </a:prstGeom>
          <a:noFill/>
          <a:ln>
            <a:noFill/>
          </a:ln>
        </p:spPr>
        <p:txBody>
          <a:bodyPr spcFirstLastPara="1" wrap="square" lIns="108247" tIns="54109" rIns="108247" bIns="54109" anchor="t" anchorCtr="0">
            <a:noAutofit/>
          </a:bodyPr>
          <a:lstStyle/>
          <a:p>
            <a:pPr marL="0" indent="0">
              <a:buNone/>
            </a:pPr>
            <a:endParaRPr sz="1400" dirty="0">
              <a:solidFill>
                <a:schemeClr val="dk1"/>
              </a:solidFill>
              <a:latin typeface="Calibri"/>
              <a:ea typeface="Calibri"/>
              <a:cs typeface="Calibri"/>
              <a:sym typeface="Calibri"/>
            </a:endParaRPr>
          </a:p>
        </p:txBody>
      </p:sp>
      <p:sp>
        <p:nvSpPr>
          <p:cNvPr id="226" name="Google Shape;226;g3d86e330eee_36_74:notes"/>
          <p:cNvSpPr txBox="1">
            <a:spLocks noGrp="1"/>
          </p:cNvSpPr>
          <p:nvPr>
            <p:ph type="sldNum" idx="12"/>
          </p:nvPr>
        </p:nvSpPr>
        <p:spPr>
          <a:xfrm>
            <a:off x="0" y="0"/>
            <a:ext cx="4266667" cy="3150000"/>
          </a:xfrm>
          <a:prstGeom prst="rect">
            <a:avLst/>
          </a:prstGeom>
          <a:noFill/>
          <a:ln>
            <a:noFill/>
          </a:ln>
        </p:spPr>
        <p:txBody>
          <a:bodyPr spcFirstLastPara="1" wrap="square" lIns="108247" tIns="54109" rIns="108247" bIns="54109" anchor="t" anchorCtr="0">
            <a:noAutofit/>
          </a:bodyPr>
          <a:lstStyle/>
          <a:p>
            <a:pPr>
              <a:buSzPts val="1800"/>
            </a:pPr>
            <a:fld id="{00000000-1234-1234-1234-123412341234}" type="slidenum">
              <a:rPr lang="en-US" sz="2100">
                <a:solidFill>
                  <a:schemeClr val="dk1"/>
                </a:solidFill>
                <a:latin typeface="Calibri"/>
                <a:ea typeface="Calibri"/>
                <a:cs typeface="Calibri"/>
                <a:sym typeface="Calibri"/>
              </a:rPr>
              <a:pPr>
                <a:buSzPts val="1800"/>
              </a:pPr>
              <a:t>19</a:t>
            </a:fld>
            <a:endParaRPr sz="2100">
              <a:solidFill>
                <a:schemeClr val="dk1"/>
              </a:solidFill>
              <a:latin typeface="Calibri"/>
              <a:ea typeface="Calibri"/>
              <a:cs typeface="Calibri"/>
              <a:sym typeface="Calibri"/>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7"/>
        <p:cNvGrpSpPr/>
        <p:nvPr/>
      </p:nvGrpSpPr>
      <p:grpSpPr>
        <a:xfrm>
          <a:off x="0" y="0"/>
          <a:ext cx="0" cy="0"/>
          <a:chOff x="0" y="0"/>
          <a:chExt cx="0" cy="0"/>
        </a:xfrm>
      </p:grpSpPr>
      <p:sp>
        <p:nvSpPr>
          <p:cNvPr id="568" name="Google Shape;568;p15:notes"/>
          <p:cNvSpPr>
            <a:spLocks noGrp="1" noRot="1" noChangeAspect="1"/>
          </p:cNvSpPr>
          <p:nvPr>
            <p:ph type="sldImg" idx="2"/>
          </p:nvPr>
        </p:nvSpPr>
        <p:spPr>
          <a:xfrm>
            <a:off x="-666750" y="0"/>
            <a:ext cx="5600700" cy="3151188"/>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69" name="Google Shape;569;p15:notes"/>
          <p:cNvSpPr txBox="1">
            <a:spLocks noGrp="1"/>
          </p:cNvSpPr>
          <p:nvPr>
            <p:ph type="body" idx="1"/>
          </p:nvPr>
        </p:nvSpPr>
        <p:spPr>
          <a:xfrm>
            <a:off x="0" y="0"/>
            <a:ext cx="4266667" cy="3150000"/>
          </a:xfrm>
          <a:prstGeom prst="rect">
            <a:avLst/>
          </a:prstGeom>
          <a:noFill/>
          <a:ln>
            <a:noFill/>
          </a:ln>
        </p:spPr>
        <p:txBody>
          <a:bodyPr spcFirstLastPara="1" wrap="square" lIns="108247" tIns="54109" rIns="108247" bIns="54109" anchor="t" anchorCtr="0">
            <a:noAutofit/>
          </a:bodyPr>
          <a:lstStyle/>
          <a:p>
            <a:pPr marL="0" indent="0">
              <a:buNone/>
            </a:pPr>
            <a:endParaRPr sz="1400" dirty="0">
              <a:solidFill>
                <a:schemeClr val="dk1"/>
              </a:solidFill>
              <a:latin typeface="Calibri"/>
              <a:ea typeface="Calibri"/>
              <a:cs typeface="Calibri"/>
              <a:sym typeface="Calibri"/>
            </a:endParaRPr>
          </a:p>
        </p:txBody>
      </p:sp>
      <p:sp>
        <p:nvSpPr>
          <p:cNvPr id="570" name="Google Shape;570;p15:notes"/>
          <p:cNvSpPr txBox="1">
            <a:spLocks noGrp="1"/>
          </p:cNvSpPr>
          <p:nvPr>
            <p:ph type="sldNum" idx="12"/>
          </p:nvPr>
        </p:nvSpPr>
        <p:spPr>
          <a:xfrm>
            <a:off x="0" y="0"/>
            <a:ext cx="4266667" cy="3150000"/>
          </a:xfrm>
          <a:prstGeom prst="rect">
            <a:avLst/>
          </a:prstGeom>
          <a:noFill/>
          <a:ln>
            <a:noFill/>
          </a:ln>
        </p:spPr>
        <p:txBody>
          <a:bodyPr spcFirstLastPara="1" wrap="square" lIns="108247" tIns="54109" rIns="108247" bIns="54109" anchor="t" anchorCtr="0">
            <a:noAutofit/>
          </a:bodyPr>
          <a:lstStyle/>
          <a:p>
            <a:pPr>
              <a:buSzPts val="1800"/>
            </a:pPr>
            <a:fld id="{00000000-1234-1234-1234-123412341234}" type="slidenum">
              <a:rPr lang="en-US" sz="2100">
                <a:solidFill>
                  <a:schemeClr val="dk1"/>
                </a:solidFill>
                <a:latin typeface="Calibri"/>
                <a:ea typeface="Calibri"/>
                <a:cs typeface="Calibri"/>
                <a:sym typeface="Calibri"/>
              </a:rPr>
              <a:pPr>
                <a:buSzPts val="1800"/>
              </a:pPr>
              <a:t>20</a:t>
            </a:fld>
            <a:endParaRPr sz="2100">
              <a:solidFill>
                <a:schemeClr val="dk1"/>
              </a:solidFill>
              <a:latin typeface="Calibri"/>
              <a:ea typeface="Calibri"/>
              <a:cs typeface="Calibri"/>
              <a:sym typeface="Calibri"/>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7"/>
        <p:cNvGrpSpPr/>
        <p:nvPr/>
      </p:nvGrpSpPr>
      <p:grpSpPr>
        <a:xfrm>
          <a:off x="0" y="0"/>
          <a:ext cx="0" cy="0"/>
          <a:chOff x="0" y="0"/>
          <a:chExt cx="0" cy="0"/>
        </a:xfrm>
      </p:grpSpPr>
      <p:sp>
        <p:nvSpPr>
          <p:cNvPr id="648" name="Google Shape;648;p16:notes"/>
          <p:cNvSpPr>
            <a:spLocks noGrp="1" noRot="1" noChangeAspect="1"/>
          </p:cNvSpPr>
          <p:nvPr>
            <p:ph type="sldImg" idx="2"/>
          </p:nvPr>
        </p:nvSpPr>
        <p:spPr>
          <a:xfrm>
            <a:off x="-666750" y="0"/>
            <a:ext cx="5600700" cy="3151188"/>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49" name="Google Shape;649;p16:notes"/>
          <p:cNvSpPr txBox="1">
            <a:spLocks noGrp="1"/>
          </p:cNvSpPr>
          <p:nvPr>
            <p:ph type="body" idx="1"/>
          </p:nvPr>
        </p:nvSpPr>
        <p:spPr>
          <a:xfrm>
            <a:off x="0" y="0"/>
            <a:ext cx="4266667" cy="3150000"/>
          </a:xfrm>
          <a:prstGeom prst="rect">
            <a:avLst/>
          </a:prstGeom>
          <a:noFill/>
          <a:ln>
            <a:noFill/>
          </a:ln>
        </p:spPr>
        <p:txBody>
          <a:bodyPr spcFirstLastPara="1" wrap="square" lIns="108247" tIns="54109" rIns="108247" bIns="54109" anchor="t" anchorCtr="0">
            <a:noAutofit/>
          </a:bodyPr>
          <a:lstStyle/>
          <a:p>
            <a:pPr marL="0" indent="0">
              <a:buNone/>
            </a:pPr>
            <a:endParaRPr dirty="0"/>
          </a:p>
        </p:txBody>
      </p:sp>
      <p:sp>
        <p:nvSpPr>
          <p:cNvPr id="650" name="Google Shape;650;p16:notes"/>
          <p:cNvSpPr txBox="1">
            <a:spLocks noGrp="1"/>
          </p:cNvSpPr>
          <p:nvPr>
            <p:ph type="sldNum" idx="12"/>
          </p:nvPr>
        </p:nvSpPr>
        <p:spPr>
          <a:xfrm>
            <a:off x="0" y="0"/>
            <a:ext cx="4266667" cy="3150000"/>
          </a:xfrm>
          <a:prstGeom prst="rect">
            <a:avLst/>
          </a:prstGeom>
          <a:noFill/>
          <a:ln>
            <a:noFill/>
          </a:ln>
        </p:spPr>
        <p:txBody>
          <a:bodyPr spcFirstLastPara="1" wrap="square" lIns="108247" tIns="54109" rIns="108247" bIns="54109" anchor="t" anchorCtr="0">
            <a:noAutofit/>
          </a:bodyPr>
          <a:lstStyle/>
          <a:p>
            <a:pPr>
              <a:buSzPts val="1800"/>
            </a:pPr>
            <a:fld id="{00000000-1234-1234-1234-123412341234}" type="slidenum">
              <a:rPr lang="en-US" sz="2100">
                <a:solidFill>
                  <a:schemeClr val="dk1"/>
                </a:solidFill>
                <a:latin typeface="Calibri"/>
                <a:ea typeface="Calibri"/>
                <a:cs typeface="Calibri"/>
                <a:sym typeface="Calibri"/>
              </a:rPr>
              <a:pPr>
                <a:buSzPts val="1800"/>
              </a:pPr>
              <a:t>21</a:t>
            </a:fld>
            <a:endParaRPr sz="2100">
              <a:solidFill>
                <a:schemeClr val="dk1"/>
              </a:solidFill>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6"/>
        <p:cNvGrpSpPr/>
        <p:nvPr/>
      </p:nvGrpSpPr>
      <p:grpSpPr>
        <a:xfrm>
          <a:off x="0" y="0"/>
          <a:ext cx="0" cy="0"/>
          <a:chOff x="0" y="0"/>
          <a:chExt cx="0" cy="0"/>
        </a:xfrm>
      </p:grpSpPr>
      <p:sp>
        <p:nvSpPr>
          <p:cNvPr id="687" name="Google Shape;687;p7:notes"/>
          <p:cNvSpPr>
            <a:spLocks noGrp="1" noRot="1" noChangeAspect="1"/>
          </p:cNvSpPr>
          <p:nvPr>
            <p:ph type="sldImg" idx="2"/>
          </p:nvPr>
        </p:nvSpPr>
        <p:spPr>
          <a:xfrm>
            <a:off x="-666750" y="0"/>
            <a:ext cx="5600700" cy="3151188"/>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mc:AlternateContent xmlns:mc="http://schemas.openxmlformats.org/markup-compatibility/2006">
        <mc:Choice xmlns:a14="http://schemas.microsoft.com/office/drawing/2010/main" Requires="a14">
          <p:sp>
            <p:nvSpPr>
              <p:cNvPr id="688" name="Google Shape;688;p7:notes"/>
              <p:cNvSpPr txBox="1">
                <a:spLocks noGrp="1"/>
              </p:cNvSpPr>
              <p:nvPr>
                <p:ph type="body" idx="1"/>
              </p:nvPr>
            </p:nvSpPr>
            <p:spPr>
              <a:xfrm>
                <a:off x="0" y="0"/>
                <a:ext cx="4266667" cy="3150000"/>
              </a:xfrm>
              <a:prstGeom prst="rect">
                <a:avLst/>
              </a:prstGeom>
              <a:noFill/>
              <a:ln>
                <a:noFill/>
              </a:ln>
            </p:spPr>
            <p:txBody>
              <a:bodyPr spcFirstLastPara="1" wrap="square" lIns="108247" tIns="54109" rIns="108247" bIns="54109" anchor="t" anchorCtr="0">
                <a:noAutofit/>
              </a:bodyPr>
              <a:lstStyle/>
              <a:p>
                <a:pPr marL="0" indent="0">
                  <a:buNone/>
                </a:pPr>
                <a:r>
                  <a:rPr lang="en-US" sz="1400" dirty="0">
                    <a:solidFill>
                      <a:schemeClr val="dk1"/>
                    </a:solidFill>
                    <a:latin typeface="Calibri"/>
                    <a:ea typeface="Calibri"/>
                    <a:cs typeface="Calibri"/>
                    <a:sym typeface="Calibri"/>
                  </a:rPr>
                  <a:t>Note: First-order autocorrelation means </a:t>
                </a:r>
                <a:r>
                  <a:rPr lang="en-US" sz="1400" dirty="0">
                    <a:ea typeface="Calibri"/>
                  </a:rPr>
                  <a:t>t</a:t>
                </a:r>
                <a:r>
                  <a:rPr lang="en-US" sz="1400" dirty="0"/>
                  <a:t>he regression error today, </a:t>
                </a:r>
                <a14:m>
                  <m:oMath xmlns:m="http://schemas.openxmlformats.org/officeDocument/2006/math">
                    <m:sSub>
                      <m:sSubPr>
                        <m:ctrlPr>
                          <a:rPr lang="en-US" sz="1300" i="1">
                            <a:latin typeface="Cambria Math" panose="02040503050406030204" pitchFamily="18" charset="0"/>
                          </a:rPr>
                        </m:ctrlPr>
                      </m:sSubPr>
                      <m:e>
                        <m:r>
                          <a:rPr lang="en-US" sz="1300" i="1">
                            <a:latin typeface="Cambria Math" panose="02040503050406030204" pitchFamily="18" charset="0"/>
                          </a:rPr>
                          <m:t>𝑒</m:t>
                        </m:r>
                      </m:e>
                      <m:sub>
                        <m:r>
                          <a:rPr lang="en-US" sz="1300" i="1">
                            <a:latin typeface="Cambria Math" panose="02040503050406030204" pitchFamily="18" charset="0"/>
                          </a:rPr>
                          <m:t>𝑡</m:t>
                        </m:r>
                      </m:sub>
                    </m:sSub>
                  </m:oMath>
                </a14:m>
                <a:r>
                  <a:rPr lang="en-US" sz="1400" dirty="0"/>
                  <a:t>, is correlated with the regression error </a:t>
                </a:r>
                <a:r>
                  <a:rPr lang="en-US" sz="1400" b="1" dirty="0"/>
                  <a:t>one period earlier</a:t>
                </a:r>
                <a:r>
                  <a:rPr lang="en-US" sz="1400" dirty="0"/>
                  <a:t>, </a:t>
                </a:r>
                <a14:m>
                  <m:oMath xmlns:m="http://schemas.openxmlformats.org/officeDocument/2006/math">
                    <m:sSub>
                      <m:sSubPr>
                        <m:ctrlPr>
                          <a:rPr lang="en-US" sz="1300" i="1">
                            <a:latin typeface="Cambria Math" panose="02040503050406030204" pitchFamily="18" charset="0"/>
                          </a:rPr>
                        </m:ctrlPr>
                      </m:sSubPr>
                      <m:e>
                        <m:r>
                          <a:rPr lang="en-US" sz="1300" i="1">
                            <a:latin typeface="Cambria Math" panose="02040503050406030204" pitchFamily="18" charset="0"/>
                          </a:rPr>
                          <m:t>𝑒</m:t>
                        </m:r>
                      </m:e>
                      <m:sub>
                        <m:r>
                          <a:rPr lang="en-US" sz="1300" i="1">
                            <a:latin typeface="Cambria Math" panose="02040503050406030204" pitchFamily="18" charset="0"/>
                          </a:rPr>
                          <m:t>𝑡</m:t>
                        </m:r>
                        <m:r>
                          <a:rPr lang="en-US" sz="1300">
                            <a:latin typeface="Cambria Math" panose="02040503050406030204" pitchFamily="18" charset="0"/>
                          </a:rPr>
                          <m:t>−1</m:t>
                        </m:r>
                      </m:sub>
                    </m:sSub>
                  </m:oMath>
                </a14:m>
                <a:r>
                  <a:rPr lang="en-US" sz="1400" dirty="0"/>
                  <a:t>. If the autocorrelation is </a:t>
                </a:r>
                <a:r>
                  <a:rPr lang="en-US" sz="1400" b="1" dirty="0"/>
                  <a:t>positive</a:t>
                </a:r>
                <a:r>
                  <a:rPr lang="en-US" sz="1400" dirty="0"/>
                  <a:t>, errors tend to have the same sign on consecutive days. For example, if your model underpredicts EMB's return today, it may also be somewhat more likely to underpredict tomorrow.</a:t>
                </a:r>
                <a:endParaRPr sz="1400" dirty="0">
                  <a:solidFill>
                    <a:schemeClr val="dk1"/>
                  </a:solidFill>
                  <a:latin typeface="Calibri"/>
                  <a:ea typeface="Calibri"/>
                  <a:cs typeface="Calibri"/>
                  <a:sym typeface="Calibri"/>
                </a:endParaRPr>
              </a:p>
            </p:txBody>
          </p:sp>
        </mc:Choice>
        <mc:Fallback>
          <p:sp>
            <p:nvSpPr>
              <p:cNvPr id="688" name="Google Shape;688;p7:notes"/>
              <p:cNvSpPr txBox="1">
                <a:spLocks noGrp="1"/>
              </p:cNvSpPr>
              <p:nvPr>
                <p:ph type="body" idx="1"/>
              </p:nvPr>
            </p:nvSpPr>
            <p:spPr>
              <a:xfrm>
                <a:off x="0" y="0"/>
                <a:ext cx="4266667" cy="3150000"/>
              </a:xfrm>
              <a:prstGeom prst="rect">
                <a:avLst/>
              </a:prstGeom>
              <a:noFill/>
              <a:ln>
                <a:noFill/>
              </a:ln>
            </p:spPr>
            <p:txBody>
              <a:bodyPr spcFirstLastPara="1" wrap="square" lIns="108247" tIns="54109" rIns="108247" bIns="54109" anchor="t" anchorCtr="0">
                <a:noAutofit/>
              </a:bodyPr>
              <a:lstStyle/>
              <a:p>
                <a:pPr marL="0" indent="0">
                  <a:buNone/>
                </a:pPr>
                <a:r>
                  <a:rPr lang="en-US" sz="1400" dirty="0">
                    <a:solidFill>
                      <a:schemeClr val="dk1"/>
                    </a:solidFill>
                    <a:latin typeface="Calibri"/>
                    <a:ea typeface="Calibri"/>
                    <a:cs typeface="Calibri"/>
                    <a:sym typeface="Calibri"/>
                  </a:rPr>
                  <a:t>Note: First-order autocorrelation means </a:t>
                </a:r>
                <a:r>
                  <a:rPr lang="en-US" sz="1400" dirty="0">
                    <a:ea typeface="Calibri"/>
                  </a:rPr>
                  <a:t>t</a:t>
                </a:r>
                <a:r>
                  <a:rPr lang="en-US" sz="1400" dirty="0"/>
                  <a:t>he regression error today, </a:t>
                </a:r>
                <a:r>
                  <a:rPr lang="en-US" sz="1300" i="0">
                    <a:latin typeface="Cambria Math" panose="02040503050406030204" pitchFamily="18" charset="0"/>
                  </a:rPr>
                  <a:t>𝑒_𝑡</a:t>
                </a:r>
                <a:r>
                  <a:rPr lang="en-US" sz="1400" dirty="0"/>
                  <a:t>, is correlated with the regression error </a:t>
                </a:r>
                <a:r>
                  <a:rPr lang="en-US" sz="1400" b="1" dirty="0"/>
                  <a:t>one period earlier</a:t>
                </a:r>
                <a:r>
                  <a:rPr lang="en-US" sz="1400" dirty="0"/>
                  <a:t>, </a:t>
                </a:r>
                <a:r>
                  <a:rPr lang="en-US" sz="1300" i="0">
                    <a:latin typeface="Cambria Math" panose="02040503050406030204" pitchFamily="18" charset="0"/>
                  </a:rPr>
                  <a:t>𝑒_(𝑡−1)</a:t>
                </a:r>
                <a:r>
                  <a:rPr lang="en-US" sz="1400" dirty="0"/>
                  <a:t>. If the autocorrelation is </a:t>
                </a:r>
                <a:r>
                  <a:rPr lang="en-US" sz="1400" b="1" dirty="0"/>
                  <a:t>positive</a:t>
                </a:r>
                <a:r>
                  <a:rPr lang="en-US" sz="1400" dirty="0"/>
                  <a:t>, errors tend to have the same sign on consecutive days. For example, if your model underpredicts EMB's return today, it may also be somewhat more likely to underpredict tomorrow.</a:t>
                </a:r>
                <a:endParaRPr sz="1400" dirty="0">
                  <a:solidFill>
                    <a:schemeClr val="dk1"/>
                  </a:solidFill>
                  <a:latin typeface="Calibri"/>
                  <a:ea typeface="Calibri"/>
                  <a:cs typeface="Calibri"/>
                  <a:sym typeface="Calibri"/>
                </a:endParaRPr>
              </a:p>
            </p:txBody>
          </p:sp>
        </mc:Fallback>
      </mc:AlternateContent>
      <p:sp>
        <p:nvSpPr>
          <p:cNvPr id="689" name="Google Shape;689;p7:notes"/>
          <p:cNvSpPr txBox="1">
            <a:spLocks noGrp="1"/>
          </p:cNvSpPr>
          <p:nvPr>
            <p:ph type="sldNum" idx="12"/>
          </p:nvPr>
        </p:nvSpPr>
        <p:spPr>
          <a:xfrm>
            <a:off x="0" y="0"/>
            <a:ext cx="4266667" cy="3150000"/>
          </a:xfrm>
          <a:prstGeom prst="rect">
            <a:avLst/>
          </a:prstGeom>
          <a:noFill/>
          <a:ln>
            <a:noFill/>
          </a:ln>
        </p:spPr>
        <p:txBody>
          <a:bodyPr spcFirstLastPara="1" wrap="square" lIns="108247" tIns="54109" rIns="108247" bIns="54109" anchor="t" anchorCtr="0">
            <a:noAutofit/>
          </a:bodyPr>
          <a:lstStyle/>
          <a:p>
            <a:pPr>
              <a:buSzPts val="1800"/>
            </a:pPr>
            <a:fld id="{00000000-1234-1234-1234-123412341234}" type="slidenum">
              <a:rPr lang="en-US" sz="2100">
                <a:solidFill>
                  <a:schemeClr val="dk1"/>
                </a:solidFill>
                <a:latin typeface="Calibri"/>
                <a:ea typeface="Calibri"/>
                <a:cs typeface="Calibri"/>
                <a:sym typeface="Calibri"/>
              </a:rPr>
              <a:pPr>
                <a:buSzPts val="1800"/>
              </a:pPr>
              <a:t>22</a:t>
            </a:fld>
            <a:endParaRPr sz="2100">
              <a:solidFill>
                <a:schemeClr val="dk1"/>
              </a:solidFill>
              <a:latin typeface="Calibri"/>
              <a:ea typeface="Calibri"/>
              <a:cs typeface="Calibri"/>
              <a:sym typeface="Calibri"/>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3"/>
        <p:cNvGrpSpPr/>
        <p:nvPr/>
      </p:nvGrpSpPr>
      <p:grpSpPr>
        <a:xfrm>
          <a:off x="0" y="0"/>
          <a:ext cx="0" cy="0"/>
          <a:chOff x="0" y="0"/>
          <a:chExt cx="0" cy="0"/>
        </a:xfrm>
      </p:grpSpPr>
      <p:sp>
        <p:nvSpPr>
          <p:cNvPr id="714" name="Google Shape;714;p17:notes"/>
          <p:cNvSpPr>
            <a:spLocks noGrp="1" noRot="1" noChangeAspect="1"/>
          </p:cNvSpPr>
          <p:nvPr>
            <p:ph type="sldImg" idx="2"/>
          </p:nvPr>
        </p:nvSpPr>
        <p:spPr>
          <a:xfrm>
            <a:off x="-666750" y="0"/>
            <a:ext cx="5600700" cy="3151188"/>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15" name="Google Shape;715;p17:notes"/>
          <p:cNvSpPr txBox="1">
            <a:spLocks noGrp="1"/>
          </p:cNvSpPr>
          <p:nvPr>
            <p:ph type="body" idx="1"/>
          </p:nvPr>
        </p:nvSpPr>
        <p:spPr>
          <a:xfrm>
            <a:off x="0" y="0"/>
            <a:ext cx="4266667" cy="3150000"/>
          </a:xfrm>
          <a:prstGeom prst="rect">
            <a:avLst/>
          </a:prstGeom>
          <a:noFill/>
          <a:ln>
            <a:noFill/>
          </a:ln>
        </p:spPr>
        <p:txBody>
          <a:bodyPr spcFirstLastPara="1" wrap="square" lIns="108247" tIns="54109" rIns="108247" bIns="54109" anchor="t" anchorCtr="0">
            <a:noAutofit/>
          </a:bodyPr>
          <a:lstStyle/>
          <a:p>
            <a:pPr marL="0" indent="0" defTabSz="1082650">
              <a:buNone/>
              <a:defRPr/>
            </a:pPr>
            <a:r>
              <a:rPr lang="en-US" sz="1400" dirty="0">
                <a:solidFill>
                  <a:srgbClr val="1E293B"/>
                </a:solidFill>
                <a:latin typeface="Calibri"/>
                <a:ea typeface="Calibri"/>
                <a:cs typeface="Calibri"/>
                <a:sym typeface="Calibri"/>
              </a:rPr>
              <a:t>A broad USD index (ex. DXY) tells us whether USD strengthens/weakens against other major currencies. EM Currency returns tell us if EM currencies appreciate/depreciate against USD.  Stronger USD = EM country needs more local currency to pay off USD-denominated debt</a:t>
            </a:r>
          </a:p>
          <a:p>
            <a:pPr marL="0" indent="0">
              <a:buNone/>
            </a:pPr>
            <a:endParaRPr sz="1400" dirty="0">
              <a:solidFill>
                <a:schemeClr val="dk1"/>
              </a:solidFill>
              <a:latin typeface="Calibri"/>
              <a:ea typeface="Calibri"/>
              <a:cs typeface="Calibri"/>
              <a:sym typeface="Calibri"/>
            </a:endParaRPr>
          </a:p>
        </p:txBody>
      </p:sp>
      <p:sp>
        <p:nvSpPr>
          <p:cNvPr id="716" name="Google Shape;716;p17:notes"/>
          <p:cNvSpPr txBox="1">
            <a:spLocks noGrp="1"/>
          </p:cNvSpPr>
          <p:nvPr>
            <p:ph type="sldNum" idx="12"/>
          </p:nvPr>
        </p:nvSpPr>
        <p:spPr>
          <a:xfrm>
            <a:off x="0" y="0"/>
            <a:ext cx="4266667" cy="3150000"/>
          </a:xfrm>
          <a:prstGeom prst="rect">
            <a:avLst/>
          </a:prstGeom>
          <a:noFill/>
          <a:ln>
            <a:noFill/>
          </a:ln>
        </p:spPr>
        <p:txBody>
          <a:bodyPr spcFirstLastPara="1" wrap="square" lIns="108247" tIns="54109" rIns="108247" bIns="54109" anchor="t" anchorCtr="0">
            <a:noAutofit/>
          </a:bodyPr>
          <a:lstStyle/>
          <a:p>
            <a:pPr>
              <a:buSzPts val="1800"/>
            </a:pPr>
            <a:fld id="{00000000-1234-1234-1234-123412341234}" type="slidenum">
              <a:rPr lang="en-US" sz="2100">
                <a:solidFill>
                  <a:schemeClr val="dk1"/>
                </a:solidFill>
                <a:latin typeface="Calibri"/>
                <a:ea typeface="Calibri"/>
                <a:cs typeface="Calibri"/>
                <a:sym typeface="Calibri"/>
              </a:rPr>
              <a:pPr>
                <a:buSzPts val="1800"/>
              </a:pPr>
              <a:t>23</a:t>
            </a:fld>
            <a:endParaRPr sz="2100">
              <a:solidFill>
                <a:schemeClr val="dk1"/>
              </a:solidFill>
              <a:latin typeface="Calibri"/>
              <a:ea typeface="Calibri"/>
              <a:cs typeface="Calibri"/>
              <a:sym typeface="Calibri"/>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3">
          <a:extLst>
            <a:ext uri="{FF2B5EF4-FFF2-40B4-BE49-F238E27FC236}">
              <a16:creationId xmlns:a16="http://schemas.microsoft.com/office/drawing/2014/main" id="{173188F4-4569-62DF-170D-930E5E16459A}"/>
            </a:ext>
          </a:extLst>
        </p:cNvPr>
        <p:cNvGrpSpPr/>
        <p:nvPr/>
      </p:nvGrpSpPr>
      <p:grpSpPr>
        <a:xfrm>
          <a:off x="0" y="0"/>
          <a:ext cx="0" cy="0"/>
          <a:chOff x="0" y="0"/>
          <a:chExt cx="0" cy="0"/>
        </a:xfrm>
      </p:grpSpPr>
      <p:sp>
        <p:nvSpPr>
          <p:cNvPr id="714" name="Google Shape;714;p17:notes">
            <a:extLst>
              <a:ext uri="{FF2B5EF4-FFF2-40B4-BE49-F238E27FC236}">
                <a16:creationId xmlns:a16="http://schemas.microsoft.com/office/drawing/2014/main" id="{9EAB2976-7EB1-5C94-D878-F7F3CF007131}"/>
              </a:ext>
            </a:extLst>
          </p:cNvPr>
          <p:cNvSpPr>
            <a:spLocks noGrp="1" noRot="1" noChangeAspect="1"/>
          </p:cNvSpPr>
          <p:nvPr>
            <p:ph type="sldImg" idx="2"/>
          </p:nvPr>
        </p:nvSpPr>
        <p:spPr>
          <a:xfrm>
            <a:off x="-666750" y="0"/>
            <a:ext cx="5600700" cy="3151188"/>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15" name="Google Shape;715;p17:notes">
            <a:extLst>
              <a:ext uri="{FF2B5EF4-FFF2-40B4-BE49-F238E27FC236}">
                <a16:creationId xmlns:a16="http://schemas.microsoft.com/office/drawing/2014/main" id="{D3C1A0BE-2D3C-8649-C0FD-F97FD33EBB5A}"/>
              </a:ext>
            </a:extLst>
          </p:cNvPr>
          <p:cNvSpPr txBox="1">
            <a:spLocks noGrp="1"/>
          </p:cNvSpPr>
          <p:nvPr>
            <p:ph type="body" idx="1"/>
          </p:nvPr>
        </p:nvSpPr>
        <p:spPr>
          <a:xfrm>
            <a:off x="0" y="0"/>
            <a:ext cx="4266667" cy="3150000"/>
          </a:xfrm>
          <a:prstGeom prst="rect">
            <a:avLst/>
          </a:prstGeom>
          <a:noFill/>
          <a:ln>
            <a:noFill/>
          </a:ln>
        </p:spPr>
        <p:txBody>
          <a:bodyPr spcFirstLastPara="1" wrap="square" lIns="108247" tIns="54109" rIns="108247" bIns="54109" anchor="t" anchorCtr="0">
            <a:noAutofit/>
          </a:bodyPr>
          <a:lstStyle/>
          <a:p>
            <a:pPr marL="0" indent="0">
              <a:buNone/>
            </a:pPr>
            <a:endParaRPr sz="1400" dirty="0">
              <a:solidFill>
                <a:schemeClr val="dk1"/>
              </a:solidFill>
              <a:latin typeface="Calibri"/>
              <a:ea typeface="Calibri"/>
              <a:cs typeface="Calibri"/>
              <a:sym typeface="Calibri"/>
            </a:endParaRPr>
          </a:p>
        </p:txBody>
      </p:sp>
      <p:sp>
        <p:nvSpPr>
          <p:cNvPr id="716" name="Google Shape;716;p17:notes">
            <a:extLst>
              <a:ext uri="{FF2B5EF4-FFF2-40B4-BE49-F238E27FC236}">
                <a16:creationId xmlns:a16="http://schemas.microsoft.com/office/drawing/2014/main" id="{0289DB57-3B14-0A72-4E55-4BC5F26D2223}"/>
              </a:ext>
            </a:extLst>
          </p:cNvPr>
          <p:cNvSpPr txBox="1">
            <a:spLocks noGrp="1"/>
          </p:cNvSpPr>
          <p:nvPr>
            <p:ph type="sldNum" idx="12"/>
          </p:nvPr>
        </p:nvSpPr>
        <p:spPr>
          <a:xfrm>
            <a:off x="0" y="0"/>
            <a:ext cx="4266667" cy="3150000"/>
          </a:xfrm>
          <a:prstGeom prst="rect">
            <a:avLst/>
          </a:prstGeom>
          <a:noFill/>
          <a:ln>
            <a:noFill/>
          </a:ln>
        </p:spPr>
        <p:txBody>
          <a:bodyPr spcFirstLastPara="1" wrap="square" lIns="108247" tIns="54109" rIns="108247" bIns="54109" anchor="t" anchorCtr="0">
            <a:noAutofit/>
          </a:bodyPr>
          <a:lstStyle/>
          <a:p>
            <a:pPr>
              <a:buSzPts val="1800"/>
            </a:pPr>
            <a:fld id="{00000000-1234-1234-1234-123412341234}" type="slidenum">
              <a:rPr lang="en-US" sz="2100">
                <a:solidFill>
                  <a:schemeClr val="dk1"/>
                </a:solidFill>
                <a:latin typeface="Calibri"/>
                <a:ea typeface="Calibri"/>
                <a:cs typeface="Calibri"/>
                <a:sym typeface="Calibri"/>
              </a:rPr>
              <a:pPr>
                <a:buSzPts val="1800"/>
              </a:pPr>
              <a:t>24</a:t>
            </a:fld>
            <a:endParaRPr sz="21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11840212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0"/>
        <p:cNvGrpSpPr/>
        <p:nvPr/>
      </p:nvGrpSpPr>
      <p:grpSpPr>
        <a:xfrm>
          <a:off x="0" y="0"/>
          <a:ext cx="0" cy="0"/>
          <a:chOff x="0" y="0"/>
          <a:chExt cx="0" cy="0"/>
        </a:xfrm>
      </p:grpSpPr>
      <p:sp>
        <p:nvSpPr>
          <p:cNvPr id="741" name="Google Shape;741;p18:notes"/>
          <p:cNvSpPr>
            <a:spLocks noGrp="1" noRot="1" noChangeAspect="1"/>
          </p:cNvSpPr>
          <p:nvPr>
            <p:ph type="sldImg" idx="2"/>
          </p:nvPr>
        </p:nvSpPr>
        <p:spPr>
          <a:xfrm>
            <a:off x="-666750" y="0"/>
            <a:ext cx="5600700" cy="3151188"/>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42" name="Google Shape;742;p18:notes"/>
          <p:cNvSpPr txBox="1">
            <a:spLocks noGrp="1"/>
          </p:cNvSpPr>
          <p:nvPr>
            <p:ph type="body" idx="1"/>
          </p:nvPr>
        </p:nvSpPr>
        <p:spPr>
          <a:xfrm>
            <a:off x="0" y="0"/>
            <a:ext cx="4266667" cy="3150000"/>
          </a:xfrm>
          <a:prstGeom prst="rect">
            <a:avLst/>
          </a:prstGeom>
          <a:noFill/>
          <a:ln>
            <a:noFill/>
          </a:ln>
        </p:spPr>
        <p:txBody>
          <a:bodyPr spcFirstLastPara="1" wrap="square" lIns="108247" tIns="54109" rIns="108247" bIns="54109" anchor="t" anchorCtr="0">
            <a:noAutofit/>
          </a:bodyPr>
          <a:lstStyle/>
          <a:p>
            <a:pPr marL="0" indent="0">
              <a:buNone/>
            </a:pPr>
            <a:endParaRPr sz="1400" dirty="0">
              <a:solidFill>
                <a:schemeClr val="dk1"/>
              </a:solidFill>
              <a:latin typeface="Calibri"/>
              <a:ea typeface="Calibri"/>
              <a:cs typeface="Calibri"/>
              <a:sym typeface="Calibri"/>
            </a:endParaRPr>
          </a:p>
        </p:txBody>
      </p:sp>
      <p:sp>
        <p:nvSpPr>
          <p:cNvPr id="743" name="Google Shape;743;p18:notes"/>
          <p:cNvSpPr txBox="1">
            <a:spLocks noGrp="1"/>
          </p:cNvSpPr>
          <p:nvPr>
            <p:ph type="sldNum" idx="12"/>
          </p:nvPr>
        </p:nvSpPr>
        <p:spPr>
          <a:xfrm>
            <a:off x="0" y="0"/>
            <a:ext cx="4266667" cy="3150000"/>
          </a:xfrm>
          <a:prstGeom prst="rect">
            <a:avLst/>
          </a:prstGeom>
          <a:noFill/>
          <a:ln>
            <a:noFill/>
          </a:ln>
        </p:spPr>
        <p:txBody>
          <a:bodyPr spcFirstLastPara="1" wrap="square" lIns="108247" tIns="54109" rIns="108247" bIns="54109" anchor="t" anchorCtr="0">
            <a:noAutofit/>
          </a:bodyPr>
          <a:lstStyle/>
          <a:p>
            <a:pPr>
              <a:buSzPts val="1800"/>
            </a:pPr>
            <a:fld id="{00000000-1234-1234-1234-123412341234}" type="slidenum">
              <a:rPr lang="en-US" sz="2100">
                <a:solidFill>
                  <a:schemeClr val="dk1"/>
                </a:solidFill>
                <a:latin typeface="Calibri"/>
                <a:ea typeface="Calibri"/>
                <a:cs typeface="Calibri"/>
                <a:sym typeface="Calibri"/>
              </a:rPr>
              <a:pPr>
                <a:buSzPts val="1800"/>
              </a:pPr>
              <a:t>25</a:t>
            </a:fld>
            <a:endParaRPr sz="2100">
              <a:solidFill>
                <a:schemeClr val="dk1"/>
              </a:solidFill>
              <a:latin typeface="Calibri"/>
              <a:ea typeface="Calibri"/>
              <a:cs typeface="Calibri"/>
              <a:sym typeface="Calibri"/>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6"/>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3.xml"/><Relationship Id="rId1" Type="http://schemas.openxmlformats.org/officeDocument/2006/relationships/slideLayout" Target="../slideLayouts/slideLayout1.xml"/><Relationship Id="rId5" Type="http://schemas.openxmlformats.org/officeDocument/2006/relationships/image" Target="../media/image16.png"/><Relationship Id="rId4" Type="http://schemas.openxmlformats.org/officeDocument/2006/relationships/image" Target="../media/image15.png"/></Relationships>
</file>

<file path=ppt/slides/_rels/slide2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1"/>
        <p:cNvGrpSpPr/>
        <p:nvPr/>
      </p:nvGrpSpPr>
      <p:grpSpPr>
        <a:xfrm>
          <a:off x="0" y="0"/>
          <a:ext cx="0" cy="0"/>
          <a:chOff x="0" y="0"/>
          <a:chExt cx="0" cy="0"/>
        </a:xfrm>
      </p:grpSpPr>
      <p:sp>
        <p:nvSpPr>
          <p:cNvPr id="12" name="Google Shape;12;p1"/>
          <p:cNvSpPr/>
          <p:nvPr/>
        </p:nvSpPr>
        <p:spPr>
          <a:xfrm>
            <a:off x="0" y="762000"/>
            <a:ext cx="9144000" cy="38100"/>
          </a:xfrm>
          <a:prstGeom prst="rect">
            <a:avLst/>
          </a:prstGeom>
          <a:solidFill>
            <a:srgbClr val="E8A020"/>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 name="Google Shape;13;p1"/>
          <p:cNvSpPr/>
          <p:nvPr/>
        </p:nvSpPr>
        <p:spPr>
          <a:xfrm>
            <a:off x="0" y="4572000"/>
            <a:ext cx="9144000" cy="571500"/>
          </a:xfrm>
          <a:prstGeom prst="rect">
            <a:avLst/>
          </a:prstGeom>
          <a:solidFill>
            <a:srgbClr val="1A3F7A"/>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 name="Google Shape;14;p1"/>
          <p:cNvSpPr/>
          <p:nvPr/>
        </p:nvSpPr>
        <p:spPr>
          <a:xfrm>
            <a:off x="457200" y="1047750"/>
            <a:ext cx="8229600" cy="952500"/>
          </a:xfrm>
          <a:prstGeom prst="rect">
            <a:avLst/>
          </a:prstGeom>
          <a:solidFill>
            <a:srgbClr val="000000">
              <a:alpha val="0"/>
            </a:srgbClr>
          </a:solidFill>
          <a:ln>
            <a:noFill/>
          </a:ln>
        </p:spPr>
        <p:txBody>
          <a:bodyPr spcFirstLastPara="1" wrap="square" lIns="0" tIns="0" rIns="0" bIns="0" anchor="b" anchorCtr="0">
            <a:noAutofit/>
          </a:bodyPr>
          <a:lstStyle/>
          <a:p>
            <a:pPr marL="0" marR="0" lvl="0" indent="0" algn="l" rtl="0">
              <a:lnSpc>
                <a:spcPct val="100000"/>
              </a:lnSpc>
              <a:spcBef>
                <a:spcPts val="0"/>
              </a:spcBef>
              <a:spcAft>
                <a:spcPts val="0"/>
              </a:spcAft>
              <a:buClr>
                <a:srgbClr val="000000"/>
              </a:buClr>
              <a:buSzPts val="5200"/>
              <a:buFont typeface="Arial"/>
              <a:buNone/>
            </a:pPr>
            <a:r>
              <a:rPr lang="en-US" sz="5200" b="1" i="0" u="none" strike="noStrike" cap="none">
                <a:solidFill>
                  <a:srgbClr val="FFFFFF"/>
                </a:solidFill>
                <a:latin typeface="Georgia"/>
                <a:ea typeface="Georgia"/>
                <a:cs typeface="Georgia"/>
                <a:sym typeface="Georgia"/>
              </a:rPr>
              <a:t>Emerging Market Bond</a:t>
            </a:r>
            <a:endParaRPr sz="5200" b="1" i="0" u="none" strike="noStrike" cap="none">
              <a:solidFill>
                <a:srgbClr val="FFFFFF"/>
              </a:solidFill>
              <a:latin typeface="Georgia"/>
              <a:ea typeface="Georgia"/>
              <a:cs typeface="Georgia"/>
              <a:sym typeface="Georgia"/>
            </a:endParaRPr>
          </a:p>
        </p:txBody>
      </p:sp>
      <p:sp>
        <p:nvSpPr>
          <p:cNvPr id="15" name="Google Shape;15;p1"/>
          <p:cNvSpPr/>
          <p:nvPr/>
        </p:nvSpPr>
        <p:spPr>
          <a:xfrm>
            <a:off x="457200" y="2000250"/>
            <a:ext cx="8229600" cy="762000"/>
          </a:xfrm>
          <a:prstGeom prst="rect">
            <a:avLst/>
          </a:prstGeom>
          <a:solidFill>
            <a:srgbClr val="000000">
              <a:alpha val="0"/>
            </a:srgbClr>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4400"/>
              <a:buFont typeface="Arial"/>
              <a:buNone/>
            </a:pPr>
            <a:r>
              <a:rPr lang="en-US" sz="2800" b="0" i="1" u="none" strike="noStrike" cap="none" dirty="0">
                <a:solidFill>
                  <a:srgbClr val="E8A020"/>
                </a:solidFill>
                <a:latin typeface="Georgia"/>
                <a:ea typeface="Georgia"/>
                <a:cs typeface="Georgia"/>
                <a:sym typeface="Georgia"/>
              </a:rPr>
              <a:t>Delta VIX, Oil Returns, and Delta Credit Spreads-Driven Trading Strategy</a:t>
            </a:r>
            <a:endParaRPr sz="2800" b="0" i="1" u="none" strike="noStrike" cap="none" dirty="0">
              <a:solidFill>
                <a:srgbClr val="E8A020"/>
              </a:solidFill>
              <a:latin typeface="Georgia"/>
              <a:ea typeface="Georgia"/>
              <a:cs typeface="Georgia"/>
              <a:sym typeface="Georgia"/>
            </a:endParaRPr>
          </a:p>
        </p:txBody>
      </p:sp>
      <p:sp>
        <p:nvSpPr>
          <p:cNvPr id="16" name="Google Shape;16;p1"/>
          <p:cNvSpPr/>
          <p:nvPr/>
        </p:nvSpPr>
        <p:spPr>
          <a:xfrm>
            <a:off x="319495" y="2714624"/>
            <a:ext cx="6273810" cy="1381125"/>
          </a:xfrm>
          <a:prstGeom prst="rect">
            <a:avLst/>
          </a:prstGeom>
          <a:solidFill>
            <a:srgbClr val="000000">
              <a:alpha val="0"/>
            </a:srgbClr>
          </a:solidFill>
          <a:ln>
            <a:noFill/>
          </a:ln>
        </p:spPr>
        <p:txBody>
          <a:bodyPr spcFirstLastPara="1" wrap="square" lIns="190500" tIns="0" rIns="0" bIns="0" anchor="ctr" anchorCtr="0">
            <a:noAutofit/>
          </a:bodyPr>
          <a:lstStyle/>
          <a:p>
            <a:pPr marL="0" marR="0" lvl="0" indent="0" algn="l" rtl="0">
              <a:lnSpc>
                <a:spcPct val="100000"/>
              </a:lnSpc>
              <a:spcBef>
                <a:spcPts val="0"/>
              </a:spcBef>
              <a:spcAft>
                <a:spcPts val="0"/>
              </a:spcAft>
              <a:buClr>
                <a:srgbClr val="000000"/>
              </a:buClr>
              <a:buSzPts val="2000"/>
              <a:buFont typeface="Arial"/>
              <a:buNone/>
            </a:pPr>
            <a:r>
              <a:rPr lang="en-US" sz="2000" b="0" i="0" u="none" strike="noStrike" cap="none" dirty="0">
                <a:solidFill>
                  <a:srgbClr val="BFD7ED"/>
                </a:solidFill>
                <a:latin typeface="Georgia"/>
                <a:ea typeface="Georgia"/>
                <a:cs typeface="Georgia"/>
                <a:sym typeface="Georgia"/>
              </a:rPr>
              <a:t>Can changes in VIX, credit spreads, and oil predict next-day EM bond returns, and can those predictions generate a profitable trading strategy?</a:t>
            </a:r>
            <a:endParaRPr sz="2000" b="0" i="0" u="none" strike="noStrike" cap="none" dirty="0">
              <a:solidFill>
                <a:srgbClr val="BFD7ED"/>
              </a:solidFill>
              <a:latin typeface="Georgia"/>
              <a:ea typeface="Georgia"/>
              <a:cs typeface="Georgia"/>
              <a:sym typeface="Georgia"/>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1"/>
        <p:cNvGrpSpPr/>
        <p:nvPr/>
      </p:nvGrpSpPr>
      <p:grpSpPr>
        <a:xfrm>
          <a:off x="0" y="0"/>
          <a:ext cx="0" cy="0"/>
          <a:chOff x="0" y="0"/>
          <a:chExt cx="0" cy="0"/>
        </a:xfrm>
      </p:grpSpPr>
      <p:sp>
        <p:nvSpPr>
          <p:cNvPr id="22" name="Google Shape;22;p2"/>
          <p:cNvSpPr/>
          <p:nvPr/>
        </p:nvSpPr>
        <p:spPr>
          <a:xfrm>
            <a:off x="457200" y="146304"/>
            <a:ext cx="2194500" cy="274200"/>
          </a:xfrm>
          <a:prstGeom prst="rect">
            <a:avLst/>
          </a:prstGeom>
          <a:solidFill>
            <a:srgbClr val="2B6CB0"/>
          </a:solidFill>
          <a:ln w="9525" cap="flat" cmpd="sng">
            <a:solidFill>
              <a:srgbClr val="2B6CB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3" name="Google Shape;23;p2"/>
          <p:cNvSpPr/>
          <p:nvPr/>
        </p:nvSpPr>
        <p:spPr>
          <a:xfrm>
            <a:off x="457200" y="146304"/>
            <a:ext cx="2194500" cy="2742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FFFFFF"/>
              </a:buClr>
              <a:buSzPts val="850"/>
              <a:buFont typeface="Calibri"/>
              <a:buNone/>
            </a:pPr>
            <a:r>
              <a:rPr lang="en-US" sz="1050" b="1" i="0" u="none" strike="noStrike" cap="none">
                <a:solidFill>
                  <a:srgbClr val="FFFFFF"/>
                </a:solidFill>
                <a:latin typeface="Calibri"/>
                <a:ea typeface="Calibri"/>
                <a:cs typeface="Calibri"/>
                <a:sym typeface="Calibri"/>
              </a:rPr>
              <a:t>OVERVIEW</a:t>
            </a:r>
            <a:endParaRPr sz="1050" b="0" i="0" u="none" strike="noStrike" cap="none">
              <a:solidFill>
                <a:schemeClr val="dk1"/>
              </a:solidFill>
              <a:latin typeface="Calibri"/>
              <a:ea typeface="Calibri"/>
              <a:cs typeface="Calibri"/>
              <a:sym typeface="Calibri"/>
            </a:endParaRPr>
          </a:p>
        </p:txBody>
      </p:sp>
      <p:sp>
        <p:nvSpPr>
          <p:cNvPr id="24" name="Google Shape;24;p2"/>
          <p:cNvSpPr/>
          <p:nvPr/>
        </p:nvSpPr>
        <p:spPr>
          <a:xfrm>
            <a:off x="457200" y="502920"/>
            <a:ext cx="8229600" cy="6585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C1A35"/>
              </a:buClr>
              <a:buSzPts val="3400"/>
              <a:buFont typeface="Georgia"/>
              <a:buNone/>
            </a:pPr>
            <a:r>
              <a:rPr lang="en-US" sz="3400" b="1" i="0" u="none" strike="noStrike" cap="none">
                <a:solidFill>
                  <a:srgbClr val="0C1A35"/>
                </a:solidFill>
                <a:latin typeface="Georgia"/>
                <a:ea typeface="Georgia"/>
                <a:cs typeface="Georgia"/>
                <a:sym typeface="Georgia"/>
              </a:rPr>
              <a:t>What Are Emerging Market Bonds </a:t>
            </a:r>
            <a:endParaRPr sz="3400" b="0" i="0" u="none" strike="noStrike" cap="none">
              <a:solidFill>
                <a:schemeClr val="dk1"/>
              </a:solidFill>
              <a:latin typeface="Calibri"/>
              <a:ea typeface="Calibri"/>
              <a:cs typeface="Calibri"/>
              <a:sym typeface="Calibri"/>
            </a:endParaRPr>
          </a:p>
        </p:txBody>
      </p:sp>
      <p:sp>
        <p:nvSpPr>
          <p:cNvPr id="25" name="Google Shape;25;p2"/>
          <p:cNvSpPr/>
          <p:nvPr/>
        </p:nvSpPr>
        <p:spPr>
          <a:xfrm>
            <a:off x="457200" y="1133934"/>
            <a:ext cx="8229600" cy="27300"/>
          </a:xfrm>
          <a:prstGeom prst="rect">
            <a:avLst/>
          </a:prstGeom>
          <a:solidFill>
            <a:srgbClr val="2B6CB0"/>
          </a:solidFill>
          <a:ln w="9525" cap="flat" cmpd="sng">
            <a:solidFill>
              <a:srgbClr val="2B6CB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6" name="Google Shape;26;p2"/>
          <p:cNvSpPr/>
          <p:nvPr/>
        </p:nvSpPr>
        <p:spPr>
          <a:xfrm>
            <a:off x="457200" y="1371600"/>
            <a:ext cx="4052100" cy="1051500"/>
          </a:xfrm>
          <a:prstGeom prst="rect">
            <a:avLst/>
          </a:prstGeom>
          <a:solidFill>
            <a:srgbClr val="F7F9FC"/>
          </a:solidFill>
          <a:ln w="9525" cap="flat" cmpd="sng">
            <a:solidFill>
              <a:srgbClr val="CBD5E1"/>
            </a:solidFill>
            <a:prstDash val="solid"/>
            <a:round/>
            <a:headEnd type="none" w="sm" len="sm"/>
            <a:tailEnd type="none" w="sm" len="sm"/>
          </a:ln>
          <a:effectLst>
            <a:outerShdw blurRad="127000" dist="25400" dir="8100000" algn="bl" rotWithShape="0">
              <a:srgbClr val="000000">
                <a:alpha val="10196"/>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7" name="Google Shape;27;p2"/>
          <p:cNvSpPr/>
          <p:nvPr/>
        </p:nvSpPr>
        <p:spPr>
          <a:xfrm>
            <a:off x="457200" y="1371600"/>
            <a:ext cx="91500" cy="1051500"/>
          </a:xfrm>
          <a:prstGeom prst="rect">
            <a:avLst/>
          </a:prstGeom>
          <a:solidFill>
            <a:srgbClr val="1A3F7A"/>
          </a:solidFill>
          <a:ln w="9525" cap="flat" cmpd="sng">
            <a:solidFill>
              <a:srgbClr val="1A3F7A"/>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8" name="Google Shape;28;p2"/>
          <p:cNvSpPr/>
          <p:nvPr/>
        </p:nvSpPr>
        <p:spPr>
          <a:xfrm>
            <a:off x="631701" y="1433997"/>
            <a:ext cx="594300" cy="8961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A3F7A"/>
              </a:buClr>
              <a:buSzPts val="2400"/>
              <a:buFont typeface="Georgia"/>
              <a:buNone/>
            </a:pPr>
            <a:r>
              <a:rPr lang="en-US" sz="2400" b="1" i="0" u="none" strike="noStrike" cap="none">
                <a:solidFill>
                  <a:srgbClr val="1A3F7A"/>
                </a:solidFill>
                <a:latin typeface="Josefin Sans"/>
                <a:ea typeface="Josefin Sans"/>
                <a:cs typeface="Josefin Sans"/>
                <a:sym typeface="Josefin Sans"/>
              </a:rPr>
              <a:t>01</a:t>
            </a:r>
            <a:endParaRPr sz="2400" b="0" i="0" u="none" strike="noStrike" cap="none">
              <a:solidFill>
                <a:schemeClr val="dk1"/>
              </a:solidFill>
              <a:latin typeface="Josefin Sans"/>
              <a:ea typeface="Josefin Sans"/>
              <a:cs typeface="Josefin Sans"/>
              <a:sym typeface="Josefin Sans"/>
            </a:endParaRPr>
          </a:p>
        </p:txBody>
      </p:sp>
      <p:sp>
        <p:nvSpPr>
          <p:cNvPr id="29" name="Google Shape;29;p2"/>
          <p:cNvSpPr/>
          <p:nvPr/>
        </p:nvSpPr>
        <p:spPr>
          <a:xfrm>
            <a:off x="1309050" y="1674975"/>
            <a:ext cx="3129300" cy="4389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E293B"/>
              </a:buClr>
              <a:buSzPts val="1250"/>
              <a:buFont typeface="Calibri"/>
              <a:buNone/>
            </a:pPr>
            <a:r>
              <a:rPr lang="en-US" sz="1250" b="1" i="0" u="none" strike="noStrike" cap="none">
                <a:solidFill>
                  <a:srgbClr val="1E293B"/>
                </a:solidFill>
                <a:latin typeface="Calibri"/>
                <a:ea typeface="Calibri"/>
                <a:cs typeface="Calibri"/>
                <a:sym typeface="Calibri"/>
              </a:rPr>
              <a:t>Bonds issued by less stable but developing countries like Turkey, Brazil, and Indonesia</a:t>
            </a:r>
            <a:endParaRPr sz="1250" b="1" i="0" u="none" strike="noStrike" cap="none">
              <a:solidFill>
                <a:srgbClr val="1E293B"/>
              </a:solidFill>
              <a:latin typeface="Calibri"/>
              <a:ea typeface="Calibri"/>
              <a:cs typeface="Calibri"/>
              <a:sym typeface="Calibri"/>
            </a:endParaRPr>
          </a:p>
        </p:txBody>
      </p:sp>
      <p:sp>
        <p:nvSpPr>
          <p:cNvPr id="30" name="Google Shape;30;p2"/>
          <p:cNvSpPr/>
          <p:nvPr/>
        </p:nvSpPr>
        <p:spPr>
          <a:xfrm>
            <a:off x="457200" y="2560323"/>
            <a:ext cx="4052100" cy="1051500"/>
          </a:xfrm>
          <a:prstGeom prst="rect">
            <a:avLst/>
          </a:prstGeom>
          <a:solidFill>
            <a:srgbClr val="F7F9FC"/>
          </a:solidFill>
          <a:ln w="9525" cap="flat" cmpd="sng">
            <a:solidFill>
              <a:srgbClr val="CBD5E1"/>
            </a:solidFill>
            <a:prstDash val="solid"/>
            <a:round/>
            <a:headEnd type="none" w="sm" len="sm"/>
            <a:tailEnd type="none" w="sm" len="sm"/>
          </a:ln>
          <a:effectLst>
            <a:outerShdw blurRad="127000" dist="25400" dir="8100000" algn="bl" rotWithShape="0">
              <a:srgbClr val="000000">
                <a:alpha val="10196"/>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1" name="Google Shape;31;p2"/>
          <p:cNvSpPr/>
          <p:nvPr/>
        </p:nvSpPr>
        <p:spPr>
          <a:xfrm>
            <a:off x="457200" y="2560320"/>
            <a:ext cx="91500" cy="1051500"/>
          </a:xfrm>
          <a:prstGeom prst="rect">
            <a:avLst/>
          </a:prstGeom>
          <a:solidFill>
            <a:srgbClr val="0F766E"/>
          </a:solidFill>
          <a:ln w="9525" cap="flat" cmpd="sng">
            <a:solidFill>
              <a:srgbClr val="0F766E"/>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2" name="Google Shape;32;p2"/>
          <p:cNvSpPr/>
          <p:nvPr/>
        </p:nvSpPr>
        <p:spPr>
          <a:xfrm>
            <a:off x="640080" y="2633472"/>
            <a:ext cx="594300" cy="8961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F766E"/>
              </a:buClr>
              <a:buSzPts val="2400"/>
              <a:buFont typeface="Georgia"/>
              <a:buNone/>
            </a:pPr>
            <a:r>
              <a:rPr lang="en-US" sz="2400" b="1" i="0" u="none" strike="noStrike" cap="none">
                <a:solidFill>
                  <a:srgbClr val="0F766E"/>
                </a:solidFill>
                <a:latin typeface="Josefin Sans"/>
                <a:ea typeface="Josefin Sans"/>
                <a:cs typeface="Josefin Sans"/>
                <a:sym typeface="Josefin Sans"/>
              </a:rPr>
              <a:t>02</a:t>
            </a:r>
            <a:endParaRPr sz="2400" b="0" i="0" u="none" strike="noStrike" cap="none">
              <a:solidFill>
                <a:schemeClr val="dk1"/>
              </a:solidFill>
              <a:latin typeface="Josefin Sans"/>
              <a:ea typeface="Josefin Sans"/>
              <a:cs typeface="Josefin Sans"/>
              <a:sym typeface="Josefin Sans"/>
            </a:endParaRPr>
          </a:p>
        </p:txBody>
      </p:sp>
      <p:sp>
        <p:nvSpPr>
          <p:cNvPr id="33" name="Google Shape;33;p2"/>
          <p:cNvSpPr/>
          <p:nvPr/>
        </p:nvSpPr>
        <p:spPr>
          <a:xfrm>
            <a:off x="457200" y="3749050"/>
            <a:ext cx="4052100" cy="1051500"/>
          </a:xfrm>
          <a:prstGeom prst="rect">
            <a:avLst/>
          </a:prstGeom>
          <a:solidFill>
            <a:srgbClr val="F7F9FC"/>
          </a:solidFill>
          <a:ln w="9525" cap="flat" cmpd="sng">
            <a:solidFill>
              <a:srgbClr val="CBD5E1"/>
            </a:solidFill>
            <a:prstDash val="solid"/>
            <a:round/>
            <a:headEnd type="none" w="sm" len="sm"/>
            <a:tailEnd type="none" w="sm" len="sm"/>
          </a:ln>
          <a:effectLst>
            <a:outerShdw blurRad="127000" dist="25400" dir="8100000" algn="bl" rotWithShape="0">
              <a:srgbClr val="000000">
                <a:alpha val="10196"/>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4" name="Google Shape;34;p2"/>
          <p:cNvSpPr/>
          <p:nvPr/>
        </p:nvSpPr>
        <p:spPr>
          <a:xfrm>
            <a:off x="457200" y="3749040"/>
            <a:ext cx="91500" cy="1051500"/>
          </a:xfrm>
          <a:prstGeom prst="rect">
            <a:avLst/>
          </a:prstGeom>
          <a:solidFill>
            <a:srgbClr val="2B6CB0"/>
          </a:solidFill>
          <a:ln w="9525" cap="flat" cmpd="sng">
            <a:solidFill>
              <a:srgbClr val="2B6CB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5" name="Google Shape;35;p2"/>
          <p:cNvSpPr/>
          <p:nvPr/>
        </p:nvSpPr>
        <p:spPr>
          <a:xfrm>
            <a:off x="640080" y="3822192"/>
            <a:ext cx="594300" cy="8961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F766E"/>
              </a:buClr>
              <a:buSzPts val="2400"/>
              <a:buFont typeface="Georgia"/>
              <a:buNone/>
            </a:pPr>
            <a:r>
              <a:rPr lang="en-US" sz="2400" b="1" i="0" u="none" strike="noStrike" cap="none">
                <a:solidFill>
                  <a:srgbClr val="2B6CB0"/>
                </a:solidFill>
                <a:latin typeface="Josefin Sans"/>
                <a:ea typeface="Josefin Sans"/>
                <a:cs typeface="Josefin Sans"/>
                <a:sym typeface="Josefin Sans"/>
              </a:rPr>
              <a:t>03</a:t>
            </a:r>
            <a:endParaRPr sz="2400" b="0" i="0" u="none" strike="noStrike" cap="none">
              <a:solidFill>
                <a:srgbClr val="2B6CB0"/>
              </a:solidFill>
              <a:latin typeface="Josefin Sans"/>
              <a:ea typeface="Josefin Sans"/>
              <a:cs typeface="Josefin Sans"/>
              <a:sym typeface="Josefin Sans"/>
            </a:endParaRPr>
          </a:p>
        </p:txBody>
      </p:sp>
      <p:sp>
        <p:nvSpPr>
          <p:cNvPr id="36" name="Google Shape;36;p2"/>
          <p:cNvSpPr/>
          <p:nvPr/>
        </p:nvSpPr>
        <p:spPr>
          <a:xfrm>
            <a:off x="1309051" y="2866650"/>
            <a:ext cx="2994900" cy="4389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E293B"/>
              </a:buClr>
              <a:buSzPts val="1250"/>
              <a:buFont typeface="Calibri"/>
              <a:buNone/>
            </a:pPr>
            <a:r>
              <a:rPr lang="en-US" sz="1250" b="1" i="0" u="none" strike="noStrike" cap="none">
                <a:solidFill>
                  <a:srgbClr val="1E293B"/>
                </a:solidFill>
                <a:latin typeface="Calibri"/>
                <a:ea typeface="Calibri"/>
                <a:cs typeface="Calibri"/>
                <a:sym typeface="Calibri"/>
              </a:rPr>
              <a:t>Riskier than US Treasury bonds due to a variety of factors (political/economic/social)</a:t>
            </a:r>
            <a:endParaRPr sz="1250" b="1" i="0" u="none" strike="noStrike" cap="none">
              <a:solidFill>
                <a:srgbClr val="1E293B"/>
              </a:solidFill>
              <a:latin typeface="Calibri"/>
              <a:ea typeface="Calibri"/>
              <a:cs typeface="Calibri"/>
              <a:sym typeface="Calibri"/>
            </a:endParaRPr>
          </a:p>
        </p:txBody>
      </p:sp>
      <p:pic>
        <p:nvPicPr>
          <p:cNvPr id="37" name="Google Shape;37;p2"/>
          <p:cNvPicPr preferRelativeResize="0"/>
          <p:nvPr/>
        </p:nvPicPr>
        <p:blipFill rotWithShape="1">
          <a:blip r:embed="rId3">
            <a:alphaModFix/>
          </a:blip>
          <a:srcRect/>
          <a:stretch/>
        </p:blipFill>
        <p:spPr>
          <a:xfrm>
            <a:off x="4711075" y="1961388"/>
            <a:ext cx="3975726" cy="2240275"/>
          </a:xfrm>
          <a:prstGeom prst="rect">
            <a:avLst/>
          </a:prstGeom>
          <a:noFill/>
          <a:ln w="19050" cap="flat" cmpd="sng">
            <a:solidFill>
              <a:srgbClr val="E0E5EB"/>
            </a:solidFill>
            <a:prstDash val="solid"/>
            <a:round/>
            <a:headEnd type="none" w="sm" len="sm"/>
            <a:tailEnd type="none" w="sm" len="sm"/>
          </a:ln>
        </p:spPr>
      </p:pic>
      <p:sp>
        <p:nvSpPr>
          <p:cNvPr id="38" name="Google Shape;38;p2"/>
          <p:cNvSpPr/>
          <p:nvPr/>
        </p:nvSpPr>
        <p:spPr>
          <a:xfrm>
            <a:off x="1309048" y="3945575"/>
            <a:ext cx="3129300" cy="6585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E293B"/>
              </a:buClr>
              <a:buSzPts val="1250"/>
              <a:buFont typeface="Calibri"/>
              <a:buNone/>
            </a:pPr>
            <a:r>
              <a:rPr lang="en-US" sz="1250" b="1" i="0" u="none" strike="noStrike" cap="none" dirty="0">
                <a:solidFill>
                  <a:srgbClr val="1E293B"/>
                </a:solidFill>
                <a:latin typeface="Calibri"/>
                <a:ea typeface="Calibri"/>
                <a:cs typeface="Calibri"/>
                <a:sym typeface="Calibri"/>
              </a:rPr>
              <a:t>We study the iShares J.P. Morgan USD Emerging Markets Bond ETF (EMB)</a:t>
            </a:r>
            <a:r>
              <a:rPr lang="en-US" sz="1250" b="1" dirty="0">
                <a:solidFill>
                  <a:srgbClr val="1E293B"/>
                </a:solidFill>
                <a:latin typeface="Calibri"/>
                <a:ea typeface="Calibri"/>
                <a:cs typeface="Calibri"/>
                <a:sym typeface="Calibri"/>
              </a:rPr>
              <a:t>. </a:t>
            </a:r>
            <a:r>
              <a:rPr lang="en-US" sz="1250" b="1" i="0" u="none" strike="noStrike" cap="none" dirty="0">
                <a:solidFill>
                  <a:srgbClr val="1E293B"/>
                </a:solidFill>
                <a:latin typeface="Calibri"/>
                <a:ea typeface="Calibri"/>
                <a:cs typeface="Calibri"/>
                <a:sym typeface="Calibri"/>
              </a:rPr>
              <a:t>EMB is the ETF; it tracks an index of USD-denominated EM bonds.</a:t>
            </a:r>
            <a:endParaRPr sz="1250" b="1" i="0" u="none" strike="noStrike" cap="none" dirty="0">
              <a:solidFill>
                <a:srgbClr val="1E293B"/>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3"/>
        <p:cNvGrpSpPr/>
        <p:nvPr/>
      </p:nvGrpSpPr>
      <p:grpSpPr>
        <a:xfrm>
          <a:off x="0" y="0"/>
          <a:ext cx="0" cy="0"/>
          <a:chOff x="0" y="0"/>
          <a:chExt cx="0" cy="0"/>
        </a:xfrm>
      </p:grpSpPr>
      <p:sp>
        <p:nvSpPr>
          <p:cNvPr id="44" name="Google Shape;44;g39789fe7b62_1_186"/>
          <p:cNvSpPr/>
          <p:nvPr/>
        </p:nvSpPr>
        <p:spPr>
          <a:xfrm>
            <a:off x="457200" y="146304"/>
            <a:ext cx="2194500" cy="274200"/>
          </a:xfrm>
          <a:prstGeom prst="rect">
            <a:avLst/>
          </a:prstGeom>
          <a:solidFill>
            <a:srgbClr val="2B6CB0"/>
          </a:solidFill>
          <a:ln w="9525" cap="flat" cmpd="sng">
            <a:solidFill>
              <a:srgbClr val="2B6CB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5" name="Google Shape;45;g39789fe7b62_1_186"/>
          <p:cNvSpPr/>
          <p:nvPr/>
        </p:nvSpPr>
        <p:spPr>
          <a:xfrm>
            <a:off x="457200" y="146304"/>
            <a:ext cx="2194500" cy="2742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FFFFFF"/>
              </a:buClr>
              <a:buSzPts val="850"/>
              <a:buFont typeface="Calibri"/>
              <a:buNone/>
            </a:pPr>
            <a:r>
              <a:rPr lang="en-US" sz="1050" b="1" i="0" u="none" strike="noStrike" cap="none">
                <a:solidFill>
                  <a:srgbClr val="FFFFFF"/>
                </a:solidFill>
                <a:latin typeface="Calibri"/>
                <a:ea typeface="Calibri"/>
                <a:cs typeface="Calibri"/>
                <a:sym typeface="Calibri"/>
              </a:rPr>
              <a:t>OVERVIEW</a:t>
            </a:r>
            <a:endParaRPr sz="1050" b="0" i="0" u="none" strike="noStrike" cap="none">
              <a:solidFill>
                <a:schemeClr val="dk1"/>
              </a:solidFill>
              <a:latin typeface="Calibri"/>
              <a:ea typeface="Calibri"/>
              <a:cs typeface="Calibri"/>
              <a:sym typeface="Calibri"/>
            </a:endParaRPr>
          </a:p>
        </p:txBody>
      </p:sp>
      <p:pic>
        <p:nvPicPr>
          <p:cNvPr id="46" name="Google Shape;46;g39789fe7b62_1_186"/>
          <p:cNvPicPr preferRelativeResize="0"/>
          <p:nvPr/>
        </p:nvPicPr>
        <p:blipFill rotWithShape="1">
          <a:blip r:embed="rId3">
            <a:alphaModFix/>
          </a:blip>
          <a:srcRect t="7227"/>
          <a:stretch/>
        </p:blipFill>
        <p:spPr>
          <a:xfrm>
            <a:off x="3741151" y="1393075"/>
            <a:ext cx="4945650" cy="3131326"/>
          </a:xfrm>
          <a:prstGeom prst="rect">
            <a:avLst/>
          </a:prstGeom>
          <a:solidFill>
            <a:srgbClr val="FFFFFF"/>
          </a:solidFill>
          <a:ln w="9525" cap="flat" cmpd="sng">
            <a:solidFill>
              <a:srgbClr val="E2E8F0"/>
            </a:solidFill>
            <a:prstDash val="solid"/>
            <a:round/>
            <a:headEnd type="none" w="sm" len="sm"/>
            <a:tailEnd type="none" w="sm" len="sm"/>
          </a:ln>
        </p:spPr>
      </p:pic>
      <p:sp>
        <p:nvSpPr>
          <p:cNvPr id="47" name="Google Shape;47;g39789fe7b62_1_186"/>
          <p:cNvSpPr/>
          <p:nvPr/>
        </p:nvSpPr>
        <p:spPr>
          <a:xfrm>
            <a:off x="545100" y="1851575"/>
            <a:ext cx="3095700" cy="1051500"/>
          </a:xfrm>
          <a:prstGeom prst="rect">
            <a:avLst/>
          </a:prstGeom>
          <a:solidFill>
            <a:srgbClr val="F7F9FC"/>
          </a:solidFill>
          <a:ln w="9525" cap="flat" cmpd="sng">
            <a:solidFill>
              <a:srgbClr val="CBD5E1"/>
            </a:solidFill>
            <a:prstDash val="solid"/>
            <a:round/>
            <a:headEnd type="none" w="sm" len="sm"/>
            <a:tailEnd type="none" w="sm" len="sm"/>
          </a:ln>
          <a:effectLst>
            <a:outerShdw blurRad="127000" dist="25400" dir="8100000" algn="bl" rotWithShape="0">
              <a:srgbClr val="000000">
                <a:alpha val="10196"/>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8" name="Google Shape;48;g39789fe7b62_1_186"/>
          <p:cNvSpPr/>
          <p:nvPr/>
        </p:nvSpPr>
        <p:spPr>
          <a:xfrm>
            <a:off x="629400" y="1911754"/>
            <a:ext cx="2927100" cy="9384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E293B"/>
              </a:buClr>
              <a:buSzPts val="1250"/>
              <a:buFont typeface="Calibri"/>
              <a:buNone/>
            </a:pPr>
            <a:r>
              <a:rPr lang="en-US" sz="1250" b="1" i="0" u="none" strike="noStrike" cap="none">
                <a:solidFill>
                  <a:srgbClr val="1E293B"/>
                </a:solidFill>
                <a:latin typeface="Calibri"/>
                <a:ea typeface="Calibri"/>
                <a:cs typeface="Calibri"/>
                <a:sym typeface="Calibri"/>
              </a:rPr>
              <a:t>The index provides exposure to liquid, US dollar-denominated emerging market sovereign debt.</a:t>
            </a:r>
            <a:endParaRPr sz="1250" b="1" i="0" u="none" strike="noStrike" cap="none">
              <a:solidFill>
                <a:srgbClr val="1E293B"/>
              </a:solidFill>
              <a:latin typeface="Calibri"/>
              <a:ea typeface="Calibri"/>
              <a:cs typeface="Calibri"/>
              <a:sym typeface="Calibri"/>
            </a:endParaRPr>
          </a:p>
        </p:txBody>
      </p:sp>
      <p:sp>
        <p:nvSpPr>
          <p:cNvPr id="49" name="Google Shape;49;g39789fe7b62_1_186"/>
          <p:cNvSpPr/>
          <p:nvPr/>
        </p:nvSpPr>
        <p:spPr>
          <a:xfrm>
            <a:off x="457200" y="1855200"/>
            <a:ext cx="87900" cy="1051500"/>
          </a:xfrm>
          <a:prstGeom prst="rect">
            <a:avLst/>
          </a:prstGeom>
          <a:solidFill>
            <a:srgbClr val="1A3F7A"/>
          </a:solidFill>
          <a:ln w="9525" cap="flat" cmpd="sng">
            <a:solidFill>
              <a:srgbClr val="1A3F7A"/>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0" name="Google Shape;50;g39789fe7b62_1_186"/>
          <p:cNvSpPr/>
          <p:nvPr/>
        </p:nvSpPr>
        <p:spPr>
          <a:xfrm>
            <a:off x="545100" y="3010775"/>
            <a:ext cx="3095700" cy="1051500"/>
          </a:xfrm>
          <a:prstGeom prst="rect">
            <a:avLst/>
          </a:prstGeom>
          <a:solidFill>
            <a:srgbClr val="F7F9FC"/>
          </a:solidFill>
          <a:ln w="9525" cap="flat" cmpd="sng">
            <a:solidFill>
              <a:srgbClr val="CBD5E1"/>
            </a:solidFill>
            <a:prstDash val="solid"/>
            <a:round/>
            <a:headEnd type="none" w="sm" len="sm"/>
            <a:tailEnd type="none" w="sm" len="sm"/>
          </a:ln>
          <a:effectLst>
            <a:outerShdw blurRad="127000" dist="25400" dir="8100000" algn="bl" rotWithShape="0">
              <a:srgbClr val="000000">
                <a:alpha val="10196"/>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1" name="Google Shape;51;g39789fe7b62_1_186"/>
          <p:cNvSpPr/>
          <p:nvPr/>
        </p:nvSpPr>
        <p:spPr>
          <a:xfrm>
            <a:off x="629400" y="3070954"/>
            <a:ext cx="2927100" cy="9384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E293B"/>
              </a:buClr>
              <a:buSzPts val="1250"/>
              <a:buFont typeface="Calibri"/>
              <a:buNone/>
            </a:pPr>
            <a:r>
              <a:rPr lang="en-US" sz="1250" b="1" i="0" u="none" strike="noStrike" cap="none">
                <a:solidFill>
                  <a:srgbClr val="1E293B"/>
                </a:solidFill>
                <a:latin typeface="Calibri"/>
                <a:ea typeface="Calibri"/>
                <a:cs typeface="Calibri"/>
                <a:sym typeface="Calibri"/>
              </a:rPr>
              <a:t>The following graph shows some, but not all of the countries’ bonds that make up its portfolio.</a:t>
            </a:r>
            <a:endParaRPr sz="1250" b="1" i="0" u="none" strike="noStrike" cap="none">
              <a:solidFill>
                <a:srgbClr val="1E293B"/>
              </a:solidFill>
              <a:latin typeface="Calibri"/>
              <a:ea typeface="Calibri"/>
              <a:cs typeface="Calibri"/>
              <a:sym typeface="Calibri"/>
            </a:endParaRPr>
          </a:p>
        </p:txBody>
      </p:sp>
      <p:sp>
        <p:nvSpPr>
          <p:cNvPr id="52" name="Google Shape;52;g39789fe7b62_1_186"/>
          <p:cNvSpPr/>
          <p:nvPr/>
        </p:nvSpPr>
        <p:spPr>
          <a:xfrm>
            <a:off x="457200" y="3014400"/>
            <a:ext cx="87900" cy="1051500"/>
          </a:xfrm>
          <a:prstGeom prst="rect">
            <a:avLst/>
          </a:prstGeom>
          <a:solidFill>
            <a:schemeClr val="accent1"/>
          </a:solidFill>
          <a:ln w="9525" cap="flat" cmpd="sng">
            <a:solidFill>
              <a:srgbClr val="1A3F7A"/>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3" name="Google Shape;53;g39789fe7b62_1_186"/>
          <p:cNvSpPr/>
          <p:nvPr/>
        </p:nvSpPr>
        <p:spPr>
          <a:xfrm>
            <a:off x="457200" y="502920"/>
            <a:ext cx="8229600" cy="6585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chemeClr val="dk1"/>
              </a:buClr>
              <a:buSzPts val="1100"/>
              <a:buFont typeface="Arial"/>
              <a:buNone/>
            </a:pPr>
            <a:r>
              <a:rPr lang="en-US" sz="3100" b="1" i="0" u="none" strike="noStrike" cap="none">
                <a:solidFill>
                  <a:schemeClr val="dk1"/>
                </a:solidFill>
                <a:latin typeface="Georgia"/>
                <a:ea typeface="Georgia"/>
                <a:cs typeface="Georgia"/>
                <a:sym typeface="Georgia"/>
              </a:rPr>
              <a:t>Composition: JPMorgan EMBI GD Index</a:t>
            </a:r>
            <a:endParaRPr sz="3400" b="0" i="0" u="none" strike="noStrike" cap="none">
              <a:solidFill>
                <a:schemeClr val="dk1"/>
              </a:solidFill>
              <a:latin typeface="Calibri"/>
              <a:ea typeface="Calibri"/>
              <a:cs typeface="Calibri"/>
              <a:sym typeface="Calibri"/>
            </a:endParaRPr>
          </a:p>
        </p:txBody>
      </p:sp>
      <p:sp>
        <p:nvSpPr>
          <p:cNvPr id="54" name="Google Shape;54;g39789fe7b62_1_186"/>
          <p:cNvSpPr/>
          <p:nvPr/>
        </p:nvSpPr>
        <p:spPr>
          <a:xfrm>
            <a:off x="457200" y="1133934"/>
            <a:ext cx="8229600" cy="27300"/>
          </a:xfrm>
          <a:prstGeom prst="rect">
            <a:avLst/>
          </a:prstGeom>
          <a:solidFill>
            <a:srgbClr val="2B6CB0"/>
          </a:solidFill>
          <a:ln w="9525" cap="flat" cmpd="sng">
            <a:solidFill>
              <a:srgbClr val="2B6CB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9"/>
        <p:cNvGrpSpPr/>
        <p:nvPr/>
      </p:nvGrpSpPr>
      <p:grpSpPr>
        <a:xfrm>
          <a:off x="0" y="0"/>
          <a:ext cx="0" cy="0"/>
          <a:chOff x="0" y="0"/>
          <a:chExt cx="0" cy="0"/>
        </a:xfrm>
      </p:grpSpPr>
      <p:sp>
        <p:nvSpPr>
          <p:cNvPr id="60" name="Google Shape;60;g39789fe7b62_1_137"/>
          <p:cNvSpPr/>
          <p:nvPr/>
        </p:nvSpPr>
        <p:spPr>
          <a:xfrm>
            <a:off x="457200" y="146304"/>
            <a:ext cx="2194500" cy="274200"/>
          </a:xfrm>
          <a:prstGeom prst="rect">
            <a:avLst/>
          </a:prstGeom>
          <a:solidFill>
            <a:srgbClr val="2B6CB0"/>
          </a:solidFill>
          <a:ln w="9525" cap="flat" cmpd="sng">
            <a:solidFill>
              <a:srgbClr val="2B6CB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1" name="Google Shape;61;g39789fe7b62_1_137"/>
          <p:cNvSpPr/>
          <p:nvPr/>
        </p:nvSpPr>
        <p:spPr>
          <a:xfrm>
            <a:off x="457200" y="146304"/>
            <a:ext cx="2194500" cy="2742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FFFFFF"/>
              </a:buClr>
              <a:buSzPts val="850"/>
              <a:buFont typeface="Calibri"/>
              <a:buNone/>
            </a:pPr>
            <a:r>
              <a:rPr lang="en-US" sz="1050" b="1" i="0" u="none" strike="noStrike" cap="none">
                <a:solidFill>
                  <a:srgbClr val="FFFFFF"/>
                </a:solidFill>
                <a:latin typeface="Calibri"/>
                <a:ea typeface="Calibri"/>
                <a:cs typeface="Calibri"/>
                <a:sym typeface="Calibri"/>
              </a:rPr>
              <a:t>OUR PITCH</a:t>
            </a:r>
            <a:endParaRPr sz="1050" b="0" i="0" u="none" strike="noStrike" cap="none">
              <a:solidFill>
                <a:schemeClr val="dk1"/>
              </a:solidFill>
              <a:latin typeface="Calibri"/>
              <a:ea typeface="Calibri"/>
              <a:cs typeface="Calibri"/>
              <a:sym typeface="Calibri"/>
            </a:endParaRPr>
          </a:p>
        </p:txBody>
      </p:sp>
      <p:sp>
        <p:nvSpPr>
          <p:cNvPr id="62" name="Google Shape;62;g39789fe7b62_1_137"/>
          <p:cNvSpPr/>
          <p:nvPr/>
        </p:nvSpPr>
        <p:spPr>
          <a:xfrm>
            <a:off x="457200" y="1116017"/>
            <a:ext cx="8229600" cy="27300"/>
          </a:xfrm>
          <a:prstGeom prst="rect">
            <a:avLst/>
          </a:prstGeom>
          <a:solidFill>
            <a:srgbClr val="2B6CB0"/>
          </a:solidFill>
          <a:ln w="9525" cap="flat" cmpd="sng">
            <a:solidFill>
              <a:srgbClr val="2B6CB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3" name="Google Shape;63;g39789fe7b62_1_137"/>
          <p:cNvSpPr/>
          <p:nvPr/>
        </p:nvSpPr>
        <p:spPr>
          <a:xfrm>
            <a:off x="457200" y="1218520"/>
            <a:ext cx="8229600" cy="369900"/>
          </a:xfrm>
          <a:prstGeom prst="rect">
            <a:avLst/>
          </a:prstGeom>
          <a:solidFill>
            <a:srgbClr val="F7F9FC"/>
          </a:solidFill>
          <a:ln w="9525" cap="flat" cmpd="sng">
            <a:solidFill>
              <a:srgbClr val="CBD5E1"/>
            </a:solidFill>
            <a:prstDash val="solid"/>
            <a:round/>
            <a:headEnd type="none" w="sm" len="sm"/>
            <a:tailEnd type="none" w="sm" len="sm"/>
          </a:ln>
          <a:effectLst>
            <a:outerShdw blurRad="127000" dist="25400" dir="8100000" algn="bl" rotWithShape="0">
              <a:srgbClr val="000000">
                <a:alpha val="10196"/>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4" name="Google Shape;64;g39789fe7b62_1_137"/>
          <p:cNvSpPr txBox="1"/>
          <p:nvPr/>
        </p:nvSpPr>
        <p:spPr>
          <a:xfrm>
            <a:off x="399900" y="1197370"/>
            <a:ext cx="8344200" cy="4122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1E293B"/>
              </a:buClr>
              <a:buSzPts val="1250"/>
              <a:buFont typeface="Calibri"/>
              <a:buNone/>
            </a:pPr>
            <a:r>
              <a:rPr lang="en-US" sz="1500" b="0" i="0" u="none" strike="noStrike" cap="none">
                <a:solidFill>
                  <a:schemeClr val="dk1"/>
                </a:solidFill>
                <a:latin typeface="Calibri"/>
                <a:ea typeface="Calibri"/>
                <a:cs typeface="Calibri"/>
                <a:sym typeface="Calibri"/>
              </a:rPr>
              <a:t>Can we </a:t>
            </a:r>
            <a:r>
              <a:rPr lang="en-US" sz="1500" b="0" i="0" u="none" strike="noStrike" cap="none">
                <a:solidFill>
                  <a:srgbClr val="1E293B"/>
                </a:solidFill>
                <a:latin typeface="Calibri"/>
                <a:ea typeface="Calibri"/>
                <a:cs typeface="Calibri"/>
                <a:sym typeface="Calibri"/>
              </a:rPr>
              <a:t>predict</a:t>
            </a:r>
            <a:r>
              <a:rPr lang="en-US" sz="1500" b="0" i="0" u="none" strike="noStrike" cap="none">
                <a:solidFill>
                  <a:schemeClr val="dk1"/>
                </a:solidFill>
                <a:latin typeface="Calibri"/>
                <a:ea typeface="Calibri"/>
                <a:cs typeface="Calibri"/>
                <a:sym typeface="Calibri"/>
              </a:rPr>
              <a:t> when EM bonds recover after a flight-to-safety panic, and how can we profit from it?</a:t>
            </a:r>
            <a:endParaRPr sz="1800" b="0" i="0" u="none" strike="noStrike" cap="none">
              <a:solidFill>
                <a:srgbClr val="000000"/>
              </a:solidFill>
              <a:latin typeface="Calibri"/>
              <a:ea typeface="Calibri"/>
              <a:cs typeface="Calibri"/>
              <a:sym typeface="Calibri"/>
            </a:endParaRPr>
          </a:p>
        </p:txBody>
      </p:sp>
      <p:sp>
        <p:nvSpPr>
          <p:cNvPr id="65" name="Google Shape;65;g39789fe7b62_1_137"/>
          <p:cNvSpPr/>
          <p:nvPr/>
        </p:nvSpPr>
        <p:spPr>
          <a:xfrm rot="5400000">
            <a:off x="124050" y="2370978"/>
            <a:ext cx="1069800" cy="403500"/>
          </a:xfrm>
          <a:prstGeom prst="chevron">
            <a:avLst>
              <a:gd name="adj" fmla="val 50000"/>
            </a:avLst>
          </a:prstGeom>
          <a:solidFill>
            <a:schemeClr val="accen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6" name="Google Shape;66;g39789fe7b62_1_137"/>
          <p:cNvSpPr/>
          <p:nvPr/>
        </p:nvSpPr>
        <p:spPr>
          <a:xfrm rot="5400000">
            <a:off x="124050" y="3353531"/>
            <a:ext cx="1069800" cy="403500"/>
          </a:xfrm>
          <a:prstGeom prst="chevron">
            <a:avLst>
              <a:gd name="adj" fmla="val 50000"/>
            </a:avLst>
          </a:prstGeom>
          <a:solidFill>
            <a:schemeClr val="accent5"/>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7" name="Google Shape;67;g39789fe7b62_1_137"/>
          <p:cNvSpPr/>
          <p:nvPr/>
        </p:nvSpPr>
        <p:spPr>
          <a:xfrm rot="5400000">
            <a:off x="124050" y="4343576"/>
            <a:ext cx="1069800" cy="403500"/>
          </a:xfrm>
          <a:prstGeom prst="chevron">
            <a:avLst>
              <a:gd name="adj" fmla="val 50000"/>
            </a:avLst>
          </a:prstGeom>
          <a:solidFill>
            <a:srgbClr val="0F766E"/>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8" name="Google Shape;68;g39789fe7b62_1_137"/>
          <p:cNvSpPr/>
          <p:nvPr/>
        </p:nvSpPr>
        <p:spPr>
          <a:xfrm>
            <a:off x="975975" y="2046978"/>
            <a:ext cx="3591900" cy="846300"/>
          </a:xfrm>
          <a:prstGeom prst="rect">
            <a:avLst/>
          </a:prstGeom>
          <a:solidFill>
            <a:srgbClr val="F7F9FC"/>
          </a:solidFill>
          <a:ln w="9525" cap="flat" cmpd="sng">
            <a:solidFill>
              <a:srgbClr val="CBD5E1"/>
            </a:solidFill>
            <a:prstDash val="solid"/>
            <a:round/>
            <a:headEnd type="none" w="sm" len="sm"/>
            <a:tailEnd type="none" w="sm" len="sm"/>
          </a:ln>
          <a:effectLst>
            <a:outerShdw blurRad="127000" dist="25400" dir="8100000" algn="bl" rotWithShape="0">
              <a:srgbClr val="000000">
                <a:alpha val="10196"/>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9" name="Google Shape;69;g39789fe7b62_1_137"/>
          <p:cNvSpPr/>
          <p:nvPr/>
        </p:nvSpPr>
        <p:spPr>
          <a:xfrm>
            <a:off x="1010944" y="2093638"/>
            <a:ext cx="3522000" cy="753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E293B"/>
              </a:buClr>
              <a:buSzPts val="1250"/>
              <a:buFont typeface="Calibri"/>
              <a:buNone/>
            </a:pPr>
            <a:r>
              <a:rPr lang="en-US" sz="1500" b="1" i="0" u="sng" strike="noStrike" cap="none">
                <a:solidFill>
                  <a:srgbClr val="1E293B"/>
                </a:solidFill>
                <a:latin typeface="Calibri"/>
                <a:ea typeface="Calibri"/>
                <a:cs typeface="Calibri"/>
                <a:sym typeface="Calibri"/>
              </a:rPr>
              <a:t>Delta (Change in) VIX </a:t>
            </a:r>
            <a:endParaRPr sz="1500" b="1" i="0" u="sng" strike="noStrike" cap="none">
              <a:solidFill>
                <a:srgbClr val="1E293B"/>
              </a:solidFill>
              <a:latin typeface="Calibri"/>
              <a:ea typeface="Calibri"/>
              <a:cs typeface="Calibri"/>
              <a:sym typeface="Calibri"/>
            </a:endParaRPr>
          </a:p>
          <a:p>
            <a:pPr marL="0" marR="0" lvl="0" indent="0" algn="ctr" rtl="0">
              <a:lnSpc>
                <a:spcPct val="100000"/>
              </a:lnSpc>
              <a:spcBef>
                <a:spcPts val="0"/>
              </a:spcBef>
              <a:spcAft>
                <a:spcPts val="0"/>
              </a:spcAft>
              <a:buClr>
                <a:srgbClr val="1E293B"/>
              </a:buClr>
              <a:buSzPts val="1250"/>
              <a:buFont typeface="Calibri"/>
              <a:buNone/>
            </a:pPr>
            <a:r>
              <a:rPr lang="en-US" sz="1100" b="1" i="0" u="none" strike="noStrike" cap="none">
                <a:solidFill>
                  <a:srgbClr val="1E293B"/>
                </a:solidFill>
                <a:latin typeface="Calibri"/>
                <a:ea typeface="Calibri"/>
                <a:cs typeface="Calibri"/>
                <a:sym typeface="Calibri"/>
              </a:rPr>
              <a:t>Cboe Volatility Index tracks forward expectations of volatility in the US market</a:t>
            </a:r>
            <a:endParaRPr sz="1100" b="1" i="0" u="none" strike="noStrike" cap="none">
              <a:solidFill>
                <a:srgbClr val="1E293B"/>
              </a:solidFill>
              <a:latin typeface="Calibri"/>
              <a:ea typeface="Calibri"/>
              <a:cs typeface="Calibri"/>
              <a:sym typeface="Calibri"/>
            </a:endParaRPr>
          </a:p>
        </p:txBody>
      </p:sp>
      <p:sp>
        <p:nvSpPr>
          <p:cNvPr id="70" name="Google Shape;70;g39789fe7b62_1_137"/>
          <p:cNvSpPr/>
          <p:nvPr/>
        </p:nvSpPr>
        <p:spPr>
          <a:xfrm>
            <a:off x="975975" y="3020378"/>
            <a:ext cx="3591900" cy="846300"/>
          </a:xfrm>
          <a:prstGeom prst="rect">
            <a:avLst/>
          </a:prstGeom>
          <a:solidFill>
            <a:srgbClr val="F7F9FC"/>
          </a:solidFill>
          <a:ln w="9525" cap="flat" cmpd="sng">
            <a:solidFill>
              <a:srgbClr val="CBD5E1"/>
            </a:solidFill>
            <a:prstDash val="solid"/>
            <a:round/>
            <a:headEnd type="none" w="sm" len="sm"/>
            <a:tailEnd type="none" w="sm" len="sm"/>
          </a:ln>
          <a:effectLst>
            <a:outerShdw blurRad="127000" dist="25400" dir="8100000" algn="bl" rotWithShape="0">
              <a:srgbClr val="000000">
                <a:alpha val="10196"/>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1" name="Google Shape;71;g39789fe7b62_1_137"/>
          <p:cNvSpPr/>
          <p:nvPr/>
        </p:nvSpPr>
        <p:spPr>
          <a:xfrm>
            <a:off x="1010944" y="3067038"/>
            <a:ext cx="3522000" cy="753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E293B"/>
              </a:buClr>
              <a:buSzPts val="1250"/>
              <a:buFont typeface="Calibri"/>
              <a:buNone/>
            </a:pPr>
            <a:r>
              <a:rPr lang="en-US" sz="1500" b="1" i="0" u="sng" strike="noStrike" cap="none" dirty="0">
                <a:solidFill>
                  <a:srgbClr val="1E293B"/>
                </a:solidFill>
                <a:latin typeface="Calibri"/>
                <a:ea typeface="Calibri"/>
                <a:cs typeface="Calibri"/>
                <a:sym typeface="Calibri"/>
              </a:rPr>
              <a:t>Delta Credit Spreads</a:t>
            </a:r>
            <a:endParaRPr sz="1500" b="1" i="0" u="sng" strike="noStrike" cap="none" dirty="0">
              <a:solidFill>
                <a:srgbClr val="1E293B"/>
              </a:solidFill>
              <a:latin typeface="Calibri"/>
              <a:ea typeface="Calibri"/>
              <a:cs typeface="Calibri"/>
              <a:sym typeface="Calibri"/>
            </a:endParaRPr>
          </a:p>
          <a:p>
            <a:pPr marL="0" marR="0" lvl="0" indent="0" algn="ctr" rtl="0">
              <a:lnSpc>
                <a:spcPct val="100000"/>
              </a:lnSpc>
              <a:spcBef>
                <a:spcPts val="0"/>
              </a:spcBef>
              <a:spcAft>
                <a:spcPts val="0"/>
              </a:spcAft>
              <a:buClr>
                <a:srgbClr val="1E293B"/>
              </a:buClr>
              <a:buSzPts val="1250"/>
              <a:buFont typeface="Calibri"/>
              <a:buNone/>
            </a:pPr>
            <a:r>
              <a:rPr lang="en-US" sz="1100" b="1" i="0" u="none" strike="noStrike" cap="none" dirty="0">
                <a:solidFill>
                  <a:srgbClr val="1E293B"/>
                </a:solidFill>
                <a:latin typeface="Calibri"/>
                <a:ea typeface="Calibri"/>
                <a:cs typeface="Calibri"/>
                <a:sym typeface="Calibri"/>
              </a:rPr>
              <a:t>The credit spread index we used tracks the difference between BB U.S. high-yield credit spread over Treasuries.</a:t>
            </a:r>
            <a:endParaRPr sz="1100" b="1" i="0" u="none" strike="noStrike" cap="none" dirty="0">
              <a:solidFill>
                <a:srgbClr val="1E293B"/>
              </a:solidFill>
              <a:latin typeface="Calibri"/>
              <a:ea typeface="Calibri"/>
              <a:cs typeface="Calibri"/>
              <a:sym typeface="Calibri"/>
            </a:endParaRPr>
          </a:p>
        </p:txBody>
      </p:sp>
      <p:grpSp>
        <p:nvGrpSpPr>
          <p:cNvPr id="72" name="Google Shape;72;g39789fe7b62_1_137"/>
          <p:cNvGrpSpPr/>
          <p:nvPr/>
        </p:nvGrpSpPr>
        <p:grpSpPr>
          <a:xfrm>
            <a:off x="976000" y="4023419"/>
            <a:ext cx="3591900" cy="846300"/>
            <a:chOff x="976000" y="3827816"/>
            <a:chExt cx="3591900" cy="846300"/>
          </a:xfrm>
        </p:grpSpPr>
        <p:sp>
          <p:nvSpPr>
            <p:cNvPr id="73" name="Google Shape;73;g39789fe7b62_1_137"/>
            <p:cNvSpPr/>
            <p:nvPr/>
          </p:nvSpPr>
          <p:spPr>
            <a:xfrm>
              <a:off x="976000" y="3827816"/>
              <a:ext cx="3591900" cy="846300"/>
            </a:xfrm>
            <a:prstGeom prst="rect">
              <a:avLst/>
            </a:prstGeom>
            <a:solidFill>
              <a:srgbClr val="F7F9FC"/>
            </a:solidFill>
            <a:ln w="9525" cap="flat" cmpd="sng">
              <a:solidFill>
                <a:srgbClr val="CBD5E1"/>
              </a:solidFill>
              <a:prstDash val="solid"/>
              <a:round/>
              <a:headEnd type="none" w="sm" len="sm"/>
              <a:tailEnd type="none" w="sm" len="sm"/>
            </a:ln>
            <a:effectLst>
              <a:outerShdw blurRad="127000" dist="25400" dir="8100000" algn="bl" rotWithShape="0">
                <a:srgbClr val="000000">
                  <a:alpha val="10196"/>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4" name="Google Shape;74;g39789fe7b62_1_137"/>
            <p:cNvSpPr/>
            <p:nvPr/>
          </p:nvSpPr>
          <p:spPr>
            <a:xfrm>
              <a:off x="1010969" y="3847000"/>
              <a:ext cx="3522000" cy="753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E293B"/>
                </a:buClr>
                <a:buSzPts val="1250"/>
                <a:buFont typeface="Calibri"/>
                <a:buNone/>
              </a:pPr>
              <a:r>
                <a:rPr lang="en-US" sz="1500" b="1" i="0" u="sng" strike="noStrike" cap="none" dirty="0">
                  <a:solidFill>
                    <a:srgbClr val="1E293B"/>
                  </a:solidFill>
                  <a:latin typeface="Calibri"/>
                  <a:ea typeface="Calibri"/>
                  <a:cs typeface="Calibri"/>
                  <a:sym typeface="Calibri"/>
                </a:rPr>
                <a:t>Oil </a:t>
              </a:r>
              <a:r>
                <a:rPr lang="en-US" sz="1500" b="1" u="sng" dirty="0">
                  <a:solidFill>
                    <a:srgbClr val="1E293B"/>
                  </a:solidFill>
                  <a:latin typeface="Calibri"/>
                  <a:ea typeface="Calibri"/>
                  <a:cs typeface="Calibri"/>
                  <a:sym typeface="Calibri"/>
                </a:rPr>
                <a:t>Returns</a:t>
              </a:r>
              <a:endParaRPr sz="1500" b="1" i="0" u="sng" strike="noStrike" cap="none" dirty="0">
                <a:solidFill>
                  <a:srgbClr val="1E293B"/>
                </a:solidFill>
                <a:latin typeface="Calibri"/>
                <a:ea typeface="Calibri"/>
                <a:cs typeface="Calibri"/>
                <a:sym typeface="Calibri"/>
              </a:endParaRPr>
            </a:p>
            <a:p>
              <a:pPr marL="0" marR="0" lvl="0" indent="0" algn="ctr" rtl="0">
                <a:lnSpc>
                  <a:spcPct val="100000"/>
                </a:lnSpc>
                <a:spcBef>
                  <a:spcPts val="0"/>
                </a:spcBef>
                <a:spcAft>
                  <a:spcPts val="0"/>
                </a:spcAft>
                <a:buClr>
                  <a:srgbClr val="1E293B"/>
                </a:buClr>
                <a:buSzPts val="1250"/>
                <a:buFont typeface="Calibri"/>
                <a:buNone/>
              </a:pPr>
              <a:r>
                <a:rPr lang="en-US" sz="1100" b="1" i="0" u="none" strike="noStrike" cap="none" dirty="0">
                  <a:solidFill>
                    <a:srgbClr val="1E293B"/>
                  </a:solidFill>
                  <a:latin typeface="Calibri"/>
                  <a:ea typeface="Calibri"/>
                  <a:cs typeface="Calibri"/>
                  <a:sym typeface="Calibri"/>
                </a:rPr>
                <a:t>Crude oil futures track </a:t>
              </a:r>
              <a:r>
                <a:rPr lang="en-US" sz="1100" b="1" dirty="0">
                  <a:solidFill>
                    <a:srgbClr val="1E293B"/>
                  </a:solidFill>
                  <a:latin typeface="Calibri"/>
                  <a:ea typeface="Calibri"/>
                  <a:cs typeface="Calibri"/>
                  <a:sym typeface="Calibri"/>
                </a:rPr>
                <a:t>changes in the</a:t>
              </a:r>
              <a:r>
                <a:rPr lang="en-US" sz="1100" b="1" i="0" u="none" strike="noStrike" cap="none" dirty="0">
                  <a:solidFill>
                    <a:srgbClr val="1E293B"/>
                  </a:solidFill>
                  <a:latin typeface="Calibri"/>
                  <a:ea typeface="Calibri"/>
                  <a:cs typeface="Calibri"/>
                  <a:sym typeface="Calibri"/>
                </a:rPr>
                <a:t> price of oil</a:t>
              </a:r>
              <a:endParaRPr sz="1100" b="1" i="0" u="none" strike="noStrike" cap="none" dirty="0">
                <a:solidFill>
                  <a:srgbClr val="1E293B"/>
                </a:solidFill>
                <a:latin typeface="Calibri"/>
                <a:ea typeface="Calibri"/>
                <a:cs typeface="Calibri"/>
                <a:sym typeface="Calibri"/>
              </a:endParaRPr>
            </a:p>
          </p:txBody>
        </p:sp>
      </p:grpSp>
      <p:cxnSp>
        <p:nvCxnSpPr>
          <p:cNvPr id="75" name="Google Shape;75;g39789fe7b62_1_137"/>
          <p:cNvCxnSpPr/>
          <p:nvPr/>
        </p:nvCxnSpPr>
        <p:spPr>
          <a:xfrm>
            <a:off x="4828749" y="2046110"/>
            <a:ext cx="0" cy="2837400"/>
          </a:xfrm>
          <a:prstGeom prst="straightConnector1">
            <a:avLst/>
          </a:prstGeom>
          <a:noFill/>
          <a:ln w="19050" cap="flat" cmpd="sng">
            <a:solidFill>
              <a:srgbClr val="94A3B8"/>
            </a:solidFill>
            <a:prstDash val="solid"/>
            <a:round/>
            <a:headEnd type="none" w="sm" len="sm"/>
            <a:tailEnd type="none" w="sm" len="sm"/>
          </a:ln>
        </p:spPr>
      </p:cxnSp>
      <p:sp>
        <p:nvSpPr>
          <p:cNvPr id="76" name="Google Shape;76;g39789fe7b62_1_137"/>
          <p:cNvSpPr/>
          <p:nvPr/>
        </p:nvSpPr>
        <p:spPr>
          <a:xfrm>
            <a:off x="5089625" y="2051116"/>
            <a:ext cx="3591900" cy="846300"/>
          </a:xfrm>
          <a:prstGeom prst="rect">
            <a:avLst/>
          </a:prstGeom>
          <a:solidFill>
            <a:srgbClr val="F7F9FC"/>
          </a:solidFill>
          <a:ln w="9525" cap="flat" cmpd="sng">
            <a:solidFill>
              <a:srgbClr val="CBD5E1"/>
            </a:solidFill>
            <a:prstDash val="solid"/>
            <a:round/>
            <a:headEnd type="none" w="sm" len="sm"/>
            <a:tailEnd type="none" w="sm" len="sm"/>
          </a:ln>
          <a:effectLst>
            <a:outerShdw blurRad="127000" dist="25400" dir="8100000" algn="bl" rotWithShape="0">
              <a:srgbClr val="000000">
                <a:alpha val="10196"/>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7" name="Google Shape;77;g39789fe7b62_1_137"/>
          <p:cNvSpPr/>
          <p:nvPr/>
        </p:nvSpPr>
        <p:spPr>
          <a:xfrm>
            <a:off x="5124569" y="2093638"/>
            <a:ext cx="3522000" cy="753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E293B"/>
              </a:buClr>
              <a:buSzPts val="1250"/>
              <a:buFont typeface="Calibri"/>
              <a:buNone/>
            </a:pPr>
            <a:r>
              <a:rPr lang="en-US" sz="1500" b="1" i="0" u="sng" strike="noStrike" cap="none">
                <a:solidFill>
                  <a:srgbClr val="1E293B"/>
                </a:solidFill>
                <a:latin typeface="Calibri"/>
                <a:ea typeface="Calibri"/>
                <a:cs typeface="Calibri"/>
                <a:sym typeface="Calibri"/>
              </a:rPr>
              <a:t>First Model - Delta VIX Only</a:t>
            </a:r>
            <a:endParaRPr sz="1500" b="1" i="0" u="sng" strike="noStrike" cap="none">
              <a:solidFill>
                <a:srgbClr val="1E293B"/>
              </a:solidFill>
              <a:latin typeface="Calibri"/>
              <a:ea typeface="Calibri"/>
              <a:cs typeface="Calibri"/>
              <a:sym typeface="Calibri"/>
            </a:endParaRPr>
          </a:p>
          <a:p>
            <a:pPr marL="0" marR="0" lvl="0" indent="0" algn="ctr" rtl="0">
              <a:lnSpc>
                <a:spcPct val="100000"/>
              </a:lnSpc>
              <a:spcBef>
                <a:spcPts val="0"/>
              </a:spcBef>
              <a:spcAft>
                <a:spcPts val="0"/>
              </a:spcAft>
              <a:buClr>
                <a:srgbClr val="1E293B"/>
              </a:buClr>
              <a:buSzPts val="1250"/>
              <a:buFont typeface="Calibri"/>
              <a:buNone/>
            </a:pPr>
            <a:r>
              <a:rPr lang="en-US" sz="1100" b="1" i="0" u="none" strike="noStrike" cap="none">
                <a:solidFill>
                  <a:srgbClr val="1E293B"/>
                </a:solidFill>
                <a:latin typeface="Calibri"/>
                <a:ea typeface="Calibri"/>
                <a:cs typeface="Calibri"/>
                <a:sym typeface="Calibri"/>
              </a:rPr>
              <a:t>We used a one-factor model with only continuous changes in VIX to predict EMB returns</a:t>
            </a:r>
            <a:endParaRPr sz="1100" b="1" i="0" u="none" strike="noStrike" cap="none">
              <a:solidFill>
                <a:srgbClr val="1E293B"/>
              </a:solidFill>
              <a:latin typeface="Calibri"/>
              <a:ea typeface="Calibri"/>
              <a:cs typeface="Calibri"/>
              <a:sym typeface="Calibri"/>
            </a:endParaRPr>
          </a:p>
        </p:txBody>
      </p:sp>
      <p:grpSp>
        <p:nvGrpSpPr>
          <p:cNvPr id="78" name="Google Shape;78;g39789fe7b62_1_137"/>
          <p:cNvGrpSpPr/>
          <p:nvPr/>
        </p:nvGrpSpPr>
        <p:grpSpPr>
          <a:xfrm>
            <a:off x="5089625" y="3037267"/>
            <a:ext cx="3591900" cy="846300"/>
            <a:chOff x="4819300" y="3453450"/>
            <a:chExt cx="3591900" cy="846300"/>
          </a:xfrm>
        </p:grpSpPr>
        <p:sp>
          <p:nvSpPr>
            <p:cNvPr id="79" name="Google Shape;79;g39789fe7b62_1_137"/>
            <p:cNvSpPr/>
            <p:nvPr/>
          </p:nvSpPr>
          <p:spPr>
            <a:xfrm>
              <a:off x="4819300" y="3453450"/>
              <a:ext cx="3591900" cy="846300"/>
            </a:xfrm>
            <a:prstGeom prst="rect">
              <a:avLst/>
            </a:prstGeom>
            <a:solidFill>
              <a:srgbClr val="F7F9FC"/>
            </a:solidFill>
            <a:ln w="9525" cap="flat" cmpd="sng">
              <a:solidFill>
                <a:srgbClr val="CBD5E1"/>
              </a:solidFill>
              <a:prstDash val="solid"/>
              <a:round/>
              <a:headEnd type="none" w="sm" len="sm"/>
              <a:tailEnd type="none" w="sm" len="sm"/>
            </a:ln>
            <a:effectLst>
              <a:outerShdw blurRad="127000" dist="25400" dir="8100000" algn="bl" rotWithShape="0">
                <a:srgbClr val="000000">
                  <a:alpha val="10196"/>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0" name="Google Shape;80;g39789fe7b62_1_137"/>
            <p:cNvSpPr/>
            <p:nvPr/>
          </p:nvSpPr>
          <p:spPr>
            <a:xfrm>
              <a:off x="4854269" y="3500110"/>
              <a:ext cx="3522000" cy="753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E293B"/>
                </a:buClr>
                <a:buSzPts val="1250"/>
                <a:buFont typeface="Calibri"/>
                <a:buNone/>
              </a:pPr>
              <a:r>
                <a:rPr lang="en-US" sz="1500" b="1" i="0" u="sng" strike="noStrike" cap="none" dirty="0">
                  <a:solidFill>
                    <a:srgbClr val="1E293B"/>
                  </a:solidFill>
                  <a:latin typeface="Calibri"/>
                  <a:ea typeface="Calibri"/>
                  <a:cs typeface="Calibri"/>
                  <a:sym typeface="Calibri"/>
                </a:rPr>
                <a:t>Second Model - All 3 Signals (No Ridge)</a:t>
              </a:r>
              <a:endParaRPr sz="1500" b="1" i="0" u="sng" strike="noStrike" cap="none" dirty="0">
                <a:solidFill>
                  <a:srgbClr val="1E293B"/>
                </a:solidFill>
                <a:latin typeface="Calibri"/>
                <a:ea typeface="Calibri"/>
                <a:cs typeface="Calibri"/>
                <a:sym typeface="Calibri"/>
              </a:endParaRPr>
            </a:p>
            <a:p>
              <a:pPr marL="0" marR="0" lvl="0" indent="0" algn="ctr" rtl="0">
                <a:lnSpc>
                  <a:spcPct val="100000"/>
                </a:lnSpc>
                <a:spcBef>
                  <a:spcPts val="0"/>
                </a:spcBef>
                <a:spcAft>
                  <a:spcPts val="0"/>
                </a:spcAft>
                <a:buClr>
                  <a:srgbClr val="1E293B"/>
                </a:buClr>
                <a:buSzPts val="1250"/>
                <a:buFont typeface="Calibri"/>
                <a:buNone/>
              </a:pPr>
              <a:r>
                <a:rPr lang="en-US" sz="1100" b="1" i="0" u="none" strike="noStrike" cap="none" dirty="0">
                  <a:solidFill>
                    <a:srgbClr val="1E293B"/>
                  </a:solidFill>
                  <a:latin typeface="Calibri"/>
                  <a:ea typeface="Calibri"/>
                  <a:cs typeface="Calibri"/>
                  <a:sym typeface="Calibri"/>
                </a:rPr>
                <a:t>We used a three-factor model continuously trading on changes in oil prices, VIX, and credit spreads</a:t>
              </a:r>
              <a:endParaRPr sz="1100" b="1" i="0" u="none" strike="noStrike" cap="none" dirty="0">
                <a:solidFill>
                  <a:srgbClr val="1E293B"/>
                </a:solidFill>
                <a:latin typeface="Calibri"/>
                <a:ea typeface="Calibri"/>
                <a:cs typeface="Calibri"/>
                <a:sym typeface="Calibri"/>
              </a:endParaRPr>
            </a:p>
          </p:txBody>
        </p:sp>
      </p:grpSp>
      <p:sp>
        <p:nvSpPr>
          <p:cNvPr id="84" name="Google Shape;84;g39789fe7b62_1_137"/>
          <p:cNvSpPr txBox="1"/>
          <p:nvPr/>
        </p:nvSpPr>
        <p:spPr>
          <a:xfrm>
            <a:off x="5089625" y="1604413"/>
            <a:ext cx="3591900" cy="431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1600"/>
              <a:buFont typeface="Arial"/>
              <a:buNone/>
            </a:pPr>
            <a:r>
              <a:rPr lang="en-US" sz="1600" b="1" i="0" u="sng" strike="noStrike" cap="none" dirty="0">
                <a:solidFill>
                  <a:srgbClr val="000000"/>
                </a:solidFill>
                <a:latin typeface="Calibri"/>
                <a:ea typeface="Calibri"/>
                <a:cs typeface="Calibri"/>
                <a:sym typeface="Calibri"/>
              </a:rPr>
              <a:t>We Tested </a:t>
            </a:r>
            <a:r>
              <a:rPr lang="en-US" sz="1600" b="1" u="sng" dirty="0">
                <a:latin typeface="Calibri"/>
                <a:ea typeface="Calibri"/>
                <a:cs typeface="Calibri"/>
                <a:sym typeface="Calibri"/>
              </a:rPr>
              <a:t>3</a:t>
            </a:r>
            <a:r>
              <a:rPr lang="en-US" sz="1600" b="1" i="0" u="sng" strike="noStrike" cap="none" dirty="0">
                <a:solidFill>
                  <a:srgbClr val="000000"/>
                </a:solidFill>
                <a:latin typeface="Calibri"/>
                <a:ea typeface="Calibri"/>
                <a:cs typeface="Calibri"/>
                <a:sym typeface="Calibri"/>
              </a:rPr>
              <a:t> Model</a:t>
            </a:r>
            <a:r>
              <a:rPr lang="en-US" sz="1600" b="1" i="0" u="sng" strike="noStrike" cap="none" dirty="0">
                <a:solidFill>
                  <a:schemeClr val="dk1"/>
                </a:solidFill>
                <a:latin typeface="Calibri"/>
                <a:ea typeface="Calibri"/>
                <a:cs typeface="Calibri"/>
                <a:sym typeface="Calibri"/>
              </a:rPr>
              <a:t>s</a:t>
            </a:r>
            <a:endParaRPr sz="1600" b="1" i="0" u="sng" strike="noStrike" cap="none" dirty="0">
              <a:solidFill>
                <a:srgbClr val="000000"/>
              </a:solidFill>
              <a:latin typeface="Calibri"/>
              <a:ea typeface="Calibri"/>
              <a:cs typeface="Calibri"/>
              <a:sym typeface="Calibri"/>
            </a:endParaRPr>
          </a:p>
        </p:txBody>
      </p:sp>
      <p:sp>
        <p:nvSpPr>
          <p:cNvPr id="85" name="Google Shape;85;g39789fe7b62_1_137"/>
          <p:cNvSpPr txBox="1"/>
          <p:nvPr/>
        </p:nvSpPr>
        <p:spPr>
          <a:xfrm>
            <a:off x="975975" y="1589401"/>
            <a:ext cx="3591900" cy="431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1600"/>
              <a:buFont typeface="Arial"/>
              <a:buNone/>
            </a:pPr>
            <a:r>
              <a:rPr lang="en-US" sz="1600" b="1" i="0" u="sng" strike="noStrike" cap="none">
                <a:solidFill>
                  <a:srgbClr val="000000"/>
                </a:solidFill>
                <a:latin typeface="Calibri"/>
                <a:ea typeface="Calibri"/>
                <a:cs typeface="Calibri"/>
                <a:sym typeface="Calibri"/>
              </a:rPr>
              <a:t>We Tested 3 Fear Signals</a:t>
            </a:r>
            <a:endParaRPr sz="1600" b="1" i="0" u="sng" strike="noStrike" cap="none">
              <a:solidFill>
                <a:srgbClr val="000000"/>
              </a:solidFill>
              <a:latin typeface="Calibri"/>
              <a:ea typeface="Calibri"/>
              <a:cs typeface="Calibri"/>
              <a:sym typeface="Calibri"/>
            </a:endParaRPr>
          </a:p>
        </p:txBody>
      </p:sp>
      <p:sp>
        <p:nvSpPr>
          <p:cNvPr id="86" name="Google Shape;86;g39789fe7b62_1_137"/>
          <p:cNvSpPr/>
          <p:nvPr/>
        </p:nvSpPr>
        <p:spPr>
          <a:xfrm>
            <a:off x="457200" y="502920"/>
            <a:ext cx="8229600" cy="6585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C1A35"/>
              </a:buClr>
              <a:buSzPts val="3400"/>
              <a:buFont typeface="Georgia"/>
              <a:buNone/>
            </a:pPr>
            <a:r>
              <a:rPr lang="en-US" sz="3400" b="1" i="0" u="none" strike="noStrike" cap="none">
                <a:solidFill>
                  <a:srgbClr val="0C1A35"/>
                </a:solidFill>
                <a:latin typeface="Georgia"/>
                <a:ea typeface="Georgia"/>
                <a:cs typeface="Georgia"/>
                <a:sym typeface="Georgia"/>
              </a:rPr>
              <a:t>Our Research Question</a:t>
            </a:r>
            <a:endParaRPr sz="3400" b="0" i="0" u="none" strike="noStrike" cap="none">
              <a:solidFill>
                <a:schemeClr val="dk1"/>
              </a:solidFill>
              <a:latin typeface="Calibri"/>
              <a:ea typeface="Calibri"/>
              <a:cs typeface="Calibri"/>
              <a:sym typeface="Calibri"/>
            </a:endParaRPr>
          </a:p>
        </p:txBody>
      </p:sp>
      <p:grpSp>
        <p:nvGrpSpPr>
          <p:cNvPr id="2" name="Google Shape;78;g39789fe7b62_1_137">
            <a:extLst>
              <a:ext uri="{FF2B5EF4-FFF2-40B4-BE49-F238E27FC236}">
                <a16:creationId xmlns:a16="http://schemas.microsoft.com/office/drawing/2014/main" id="{A6F04EEF-99F1-4DC9-F954-8174B7A4EA9A}"/>
              </a:ext>
            </a:extLst>
          </p:cNvPr>
          <p:cNvGrpSpPr/>
          <p:nvPr/>
        </p:nvGrpSpPr>
        <p:grpSpPr>
          <a:xfrm>
            <a:off x="5089625" y="4042603"/>
            <a:ext cx="3591900" cy="846300"/>
            <a:chOff x="4819300" y="3453450"/>
            <a:chExt cx="3591900" cy="846300"/>
          </a:xfrm>
        </p:grpSpPr>
        <p:sp>
          <p:nvSpPr>
            <p:cNvPr id="3" name="Google Shape;79;g39789fe7b62_1_137">
              <a:extLst>
                <a:ext uri="{FF2B5EF4-FFF2-40B4-BE49-F238E27FC236}">
                  <a16:creationId xmlns:a16="http://schemas.microsoft.com/office/drawing/2014/main" id="{D63033A2-9B7E-92B2-6E48-1527C0A74187}"/>
                </a:ext>
              </a:extLst>
            </p:cNvPr>
            <p:cNvSpPr/>
            <p:nvPr/>
          </p:nvSpPr>
          <p:spPr>
            <a:xfrm>
              <a:off x="4819300" y="3453450"/>
              <a:ext cx="3591900" cy="846300"/>
            </a:xfrm>
            <a:prstGeom prst="rect">
              <a:avLst/>
            </a:prstGeom>
            <a:solidFill>
              <a:srgbClr val="F7F9FC"/>
            </a:solidFill>
            <a:ln w="9525" cap="flat" cmpd="sng">
              <a:solidFill>
                <a:srgbClr val="CBD5E1"/>
              </a:solidFill>
              <a:prstDash val="solid"/>
              <a:round/>
              <a:headEnd type="none" w="sm" len="sm"/>
              <a:tailEnd type="none" w="sm" len="sm"/>
            </a:ln>
            <a:effectLst>
              <a:outerShdw blurRad="127000" dist="25400" dir="8100000" algn="bl" rotWithShape="0">
                <a:srgbClr val="000000">
                  <a:alpha val="10196"/>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 name="Google Shape;80;g39789fe7b62_1_137">
              <a:extLst>
                <a:ext uri="{FF2B5EF4-FFF2-40B4-BE49-F238E27FC236}">
                  <a16:creationId xmlns:a16="http://schemas.microsoft.com/office/drawing/2014/main" id="{F2BD6129-8689-1D8C-EBE0-0136A58AF4E7}"/>
                </a:ext>
              </a:extLst>
            </p:cNvPr>
            <p:cNvSpPr/>
            <p:nvPr/>
          </p:nvSpPr>
          <p:spPr>
            <a:xfrm>
              <a:off x="4854269" y="3500110"/>
              <a:ext cx="3522000" cy="753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E293B"/>
                </a:buClr>
                <a:buSzPts val="1250"/>
                <a:buFont typeface="Calibri"/>
                <a:buNone/>
              </a:pPr>
              <a:r>
                <a:rPr lang="en-US" sz="1500" b="1" u="sng" dirty="0">
                  <a:solidFill>
                    <a:srgbClr val="1E293B"/>
                  </a:solidFill>
                  <a:latin typeface="Calibri"/>
                  <a:ea typeface="Calibri"/>
                  <a:cs typeface="Calibri"/>
                  <a:sym typeface="Calibri"/>
                </a:rPr>
                <a:t>Third</a:t>
              </a:r>
              <a:r>
                <a:rPr lang="en-US" sz="1500" b="1" i="0" u="sng" strike="noStrike" cap="none" dirty="0">
                  <a:solidFill>
                    <a:srgbClr val="1E293B"/>
                  </a:solidFill>
                  <a:latin typeface="Calibri"/>
                  <a:ea typeface="Calibri"/>
                  <a:cs typeface="Calibri"/>
                  <a:sym typeface="Calibri"/>
                </a:rPr>
                <a:t> Model - All 3 Signals (Ridge)</a:t>
              </a:r>
              <a:endParaRPr sz="1500" b="1" i="0" u="sng" strike="noStrike" cap="none" dirty="0">
                <a:solidFill>
                  <a:srgbClr val="1E293B"/>
                </a:solidFill>
                <a:latin typeface="Calibri"/>
                <a:ea typeface="Calibri"/>
                <a:cs typeface="Calibri"/>
                <a:sym typeface="Calibri"/>
              </a:endParaRPr>
            </a:p>
            <a:p>
              <a:pPr marL="0" marR="0" lvl="0" indent="0" algn="ctr" rtl="0">
                <a:lnSpc>
                  <a:spcPct val="100000"/>
                </a:lnSpc>
                <a:spcBef>
                  <a:spcPts val="0"/>
                </a:spcBef>
                <a:spcAft>
                  <a:spcPts val="0"/>
                </a:spcAft>
                <a:buClr>
                  <a:srgbClr val="1E293B"/>
                </a:buClr>
                <a:buSzPts val="1250"/>
                <a:buFont typeface="Calibri"/>
                <a:buNone/>
              </a:pPr>
              <a:r>
                <a:rPr lang="en-US" sz="1100" b="1" i="0" u="none" strike="noStrike" cap="none" dirty="0">
                  <a:solidFill>
                    <a:srgbClr val="1E293B"/>
                  </a:solidFill>
                  <a:latin typeface="Calibri"/>
                  <a:ea typeface="Calibri"/>
                  <a:cs typeface="Calibri"/>
                  <a:sym typeface="Calibri"/>
                </a:rPr>
                <a:t>We used a three-factor model continuously trading on changes in oil prices, VIX, and credit spreads with ridge regression to reduce the impact of multicollinearity</a:t>
              </a:r>
              <a:endParaRPr sz="1100" b="1" i="0" u="none" strike="noStrike" cap="none" dirty="0">
                <a:solidFill>
                  <a:srgbClr val="1E293B"/>
                </a:solidFill>
                <a:latin typeface="Calibri"/>
                <a:ea typeface="Calibri"/>
                <a:cs typeface="Calibri"/>
                <a:sym typeface="Calibri"/>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91"/>
        <p:cNvGrpSpPr/>
        <p:nvPr/>
      </p:nvGrpSpPr>
      <p:grpSpPr>
        <a:xfrm>
          <a:off x="0" y="0"/>
          <a:ext cx="0" cy="0"/>
          <a:chOff x="0" y="0"/>
          <a:chExt cx="0" cy="0"/>
        </a:xfrm>
      </p:grpSpPr>
      <p:sp>
        <p:nvSpPr>
          <p:cNvPr id="92" name="Google Shape;92;g39789fe7b62_1_239"/>
          <p:cNvSpPr/>
          <p:nvPr/>
        </p:nvSpPr>
        <p:spPr>
          <a:xfrm>
            <a:off x="0" y="762000"/>
            <a:ext cx="9144000" cy="38100"/>
          </a:xfrm>
          <a:prstGeom prst="rect">
            <a:avLst/>
          </a:prstGeom>
          <a:solidFill>
            <a:srgbClr val="E8A020"/>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3" name="Google Shape;93;g39789fe7b62_1_239"/>
          <p:cNvSpPr/>
          <p:nvPr/>
        </p:nvSpPr>
        <p:spPr>
          <a:xfrm>
            <a:off x="973050" y="1750350"/>
            <a:ext cx="7197900" cy="1642800"/>
          </a:xfrm>
          <a:prstGeom prst="rect">
            <a:avLst/>
          </a:prstGeom>
          <a:solidFill>
            <a:srgbClr val="000000">
              <a:alpha val="0"/>
            </a:srgbClr>
          </a:solidFill>
          <a:ln>
            <a:noFill/>
          </a:ln>
        </p:spPr>
        <p:txBody>
          <a:bodyPr spcFirstLastPara="1" wrap="square" lIns="0" tIns="0" rIns="0" bIns="0" anchor="b" anchorCtr="0">
            <a:noAutofit/>
          </a:bodyPr>
          <a:lstStyle/>
          <a:p>
            <a:pPr marL="0" marR="0" lvl="0" indent="0" algn="ctr" rtl="0">
              <a:lnSpc>
                <a:spcPct val="100000"/>
              </a:lnSpc>
              <a:spcBef>
                <a:spcPts val="0"/>
              </a:spcBef>
              <a:spcAft>
                <a:spcPts val="0"/>
              </a:spcAft>
              <a:buClr>
                <a:srgbClr val="000000"/>
              </a:buClr>
              <a:buSzPts val="5200"/>
              <a:buFont typeface="Arial"/>
              <a:buNone/>
            </a:pPr>
            <a:r>
              <a:rPr lang="en-US" sz="5200" b="1" i="0" u="none" strike="noStrike" cap="none">
                <a:solidFill>
                  <a:srgbClr val="FFFFFF"/>
                </a:solidFill>
                <a:latin typeface="Georgia"/>
                <a:ea typeface="Georgia"/>
                <a:cs typeface="Georgia"/>
                <a:sym typeface="Georgia"/>
              </a:rPr>
              <a:t>Model 1 </a:t>
            </a:r>
            <a:endParaRPr sz="5200" b="1" i="0" u="none" strike="noStrike" cap="none">
              <a:solidFill>
                <a:srgbClr val="FFFFFF"/>
              </a:solidFill>
              <a:latin typeface="Georgia"/>
              <a:ea typeface="Georgia"/>
              <a:cs typeface="Georgia"/>
              <a:sym typeface="Georgia"/>
            </a:endParaRPr>
          </a:p>
          <a:p>
            <a:pPr marL="0" marR="0" lvl="0" indent="0" algn="ctr" rtl="0">
              <a:lnSpc>
                <a:spcPct val="100000"/>
              </a:lnSpc>
              <a:spcBef>
                <a:spcPts val="0"/>
              </a:spcBef>
              <a:spcAft>
                <a:spcPts val="0"/>
              </a:spcAft>
              <a:buClr>
                <a:srgbClr val="000000"/>
              </a:buClr>
              <a:buSzPts val="5200"/>
              <a:buFont typeface="Arial"/>
              <a:buNone/>
            </a:pPr>
            <a:r>
              <a:rPr lang="en-US" sz="5200" b="1" i="0" u="none" strike="noStrike" cap="none">
                <a:solidFill>
                  <a:srgbClr val="FFFFFF"/>
                </a:solidFill>
                <a:latin typeface="Georgia"/>
                <a:ea typeface="Georgia"/>
                <a:cs typeface="Georgia"/>
                <a:sym typeface="Georgia"/>
              </a:rPr>
              <a:t>Single Factor OLS</a:t>
            </a:r>
            <a:endParaRPr sz="5200" b="1" i="0" u="none" strike="noStrike" cap="none">
              <a:solidFill>
                <a:srgbClr val="FFFFFF"/>
              </a:solidFill>
              <a:latin typeface="Georgia"/>
              <a:ea typeface="Georgia"/>
              <a:cs typeface="Georgia"/>
              <a:sym typeface="Georgia"/>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98"/>
        <p:cNvGrpSpPr/>
        <p:nvPr/>
      </p:nvGrpSpPr>
      <p:grpSpPr>
        <a:xfrm>
          <a:off x="0" y="0"/>
          <a:ext cx="0" cy="0"/>
          <a:chOff x="0" y="0"/>
          <a:chExt cx="0" cy="0"/>
        </a:xfrm>
      </p:grpSpPr>
      <p:sp>
        <p:nvSpPr>
          <p:cNvPr id="99" name="Google Shape;99;g39789fe7b62_1_388"/>
          <p:cNvSpPr/>
          <p:nvPr/>
        </p:nvSpPr>
        <p:spPr>
          <a:xfrm>
            <a:off x="457200" y="146304"/>
            <a:ext cx="2194500" cy="274200"/>
          </a:xfrm>
          <a:prstGeom prst="rect">
            <a:avLst/>
          </a:prstGeom>
          <a:solidFill>
            <a:srgbClr val="2B6CB0"/>
          </a:solidFill>
          <a:ln w="9525" cap="flat" cmpd="sng">
            <a:solidFill>
              <a:srgbClr val="2B6CB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0" name="Google Shape;100;g39789fe7b62_1_388"/>
          <p:cNvSpPr/>
          <p:nvPr/>
        </p:nvSpPr>
        <p:spPr>
          <a:xfrm>
            <a:off x="457200" y="146304"/>
            <a:ext cx="2194500" cy="2742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FFFFFF"/>
              </a:buClr>
              <a:buSzPts val="850"/>
              <a:buFont typeface="Calibri"/>
              <a:buNone/>
            </a:pPr>
            <a:r>
              <a:rPr lang="en-US" sz="1050" b="1" i="0" u="none" strike="noStrike" cap="none">
                <a:solidFill>
                  <a:srgbClr val="FFFFFF"/>
                </a:solidFill>
                <a:latin typeface="Calibri"/>
                <a:ea typeface="Calibri"/>
                <a:cs typeface="Calibri"/>
                <a:sym typeface="Calibri"/>
              </a:rPr>
              <a:t>Model 1 - INTRO</a:t>
            </a:r>
            <a:endParaRPr sz="1050" b="0" i="0" u="none" strike="noStrike" cap="none">
              <a:solidFill>
                <a:schemeClr val="dk1"/>
              </a:solidFill>
              <a:latin typeface="Calibri"/>
              <a:ea typeface="Calibri"/>
              <a:cs typeface="Calibri"/>
              <a:sym typeface="Calibri"/>
            </a:endParaRPr>
          </a:p>
        </p:txBody>
      </p:sp>
      <p:sp>
        <p:nvSpPr>
          <p:cNvPr id="101" name="Google Shape;101;g39789fe7b62_1_388"/>
          <p:cNvSpPr/>
          <p:nvPr/>
        </p:nvSpPr>
        <p:spPr>
          <a:xfrm>
            <a:off x="457200" y="481525"/>
            <a:ext cx="8229600" cy="6618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C1A35"/>
              </a:buClr>
              <a:buSzPts val="3400"/>
              <a:buFont typeface="Georgia"/>
              <a:buNone/>
            </a:pPr>
            <a:r>
              <a:rPr lang="en-US" sz="2900" b="1" i="0" u="none" strike="noStrike" cap="none">
                <a:solidFill>
                  <a:srgbClr val="0C1A35"/>
                </a:solidFill>
                <a:latin typeface="Georgia"/>
                <a:ea typeface="Georgia"/>
                <a:cs typeface="Georgia"/>
                <a:sym typeface="Georgia"/>
              </a:rPr>
              <a:t>Why Use VIX As Our Independent Variable</a:t>
            </a:r>
            <a:endParaRPr sz="2900" b="0" i="0" u="none" strike="noStrike" cap="none">
              <a:solidFill>
                <a:schemeClr val="dk1"/>
              </a:solidFill>
              <a:latin typeface="Calibri"/>
              <a:ea typeface="Calibri"/>
              <a:cs typeface="Calibri"/>
              <a:sym typeface="Calibri"/>
            </a:endParaRPr>
          </a:p>
        </p:txBody>
      </p:sp>
      <p:pic>
        <p:nvPicPr>
          <p:cNvPr id="102" name="Google Shape;102;g39789fe7b62_1_388"/>
          <p:cNvPicPr preferRelativeResize="0"/>
          <p:nvPr/>
        </p:nvPicPr>
        <p:blipFill rotWithShape="1">
          <a:blip r:embed="rId3">
            <a:alphaModFix/>
          </a:blip>
          <a:srcRect/>
          <a:stretch/>
        </p:blipFill>
        <p:spPr>
          <a:xfrm>
            <a:off x="4898525" y="1531650"/>
            <a:ext cx="3545525" cy="2598000"/>
          </a:xfrm>
          <a:prstGeom prst="rect">
            <a:avLst/>
          </a:prstGeom>
          <a:noFill/>
          <a:ln>
            <a:noFill/>
          </a:ln>
        </p:spPr>
      </p:pic>
      <p:pic>
        <p:nvPicPr>
          <p:cNvPr id="103" name="Google Shape;103;g39789fe7b62_1_388"/>
          <p:cNvPicPr preferRelativeResize="0"/>
          <p:nvPr/>
        </p:nvPicPr>
        <p:blipFill rotWithShape="1">
          <a:blip r:embed="rId4">
            <a:alphaModFix/>
          </a:blip>
          <a:srcRect/>
          <a:stretch/>
        </p:blipFill>
        <p:spPr>
          <a:xfrm>
            <a:off x="504679" y="1514602"/>
            <a:ext cx="4018650" cy="2632098"/>
          </a:xfrm>
          <a:prstGeom prst="rect">
            <a:avLst/>
          </a:prstGeom>
          <a:noFill/>
          <a:ln>
            <a:noFill/>
          </a:ln>
        </p:spPr>
      </p:pic>
      <p:sp>
        <p:nvSpPr>
          <p:cNvPr id="104" name="Google Shape;104;g39789fe7b62_1_388"/>
          <p:cNvSpPr/>
          <p:nvPr/>
        </p:nvSpPr>
        <p:spPr>
          <a:xfrm>
            <a:off x="457200" y="1133934"/>
            <a:ext cx="8229600" cy="27300"/>
          </a:xfrm>
          <a:prstGeom prst="rect">
            <a:avLst/>
          </a:prstGeom>
          <a:solidFill>
            <a:srgbClr val="2B6CB0"/>
          </a:solidFill>
          <a:ln w="9525" cap="flat" cmpd="sng">
            <a:solidFill>
              <a:srgbClr val="2B6CB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09"/>
        <p:cNvGrpSpPr/>
        <p:nvPr/>
      </p:nvGrpSpPr>
      <p:grpSpPr>
        <a:xfrm>
          <a:off x="0" y="0"/>
          <a:ext cx="0" cy="0"/>
          <a:chOff x="0" y="0"/>
          <a:chExt cx="0" cy="0"/>
        </a:xfrm>
      </p:grpSpPr>
      <p:sp>
        <p:nvSpPr>
          <p:cNvPr id="110" name="Google Shape;110;p6"/>
          <p:cNvSpPr/>
          <p:nvPr/>
        </p:nvSpPr>
        <p:spPr>
          <a:xfrm>
            <a:off x="457200" y="146304"/>
            <a:ext cx="2194560" cy="274320"/>
          </a:xfrm>
          <a:prstGeom prst="rect">
            <a:avLst/>
          </a:prstGeom>
          <a:solidFill>
            <a:srgbClr val="2B6CB0"/>
          </a:solidFill>
          <a:ln w="9525" cap="flat" cmpd="sng">
            <a:solidFill>
              <a:srgbClr val="2B6CB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1" name="Google Shape;111;p6"/>
          <p:cNvSpPr/>
          <p:nvPr/>
        </p:nvSpPr>
        <p:spPr>
          <a:xfrm>
            <a:off x="457200" y="146304"/>
            <a:ext cx="2194560" cy="27432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FFFFFF"/>
              </a:buClr>
              <a:buSzPts val="850"/>
              <a:buFont typeface="Calibri"/>
              <a:buNone/>
            </a:pPr>
            <a:r>
              <a:rPr lang="en-US" sz="1050" b="1" i="0" u="none" strike="noStrike" cap="none">
                <a:solidFill>
                  <a:srgbClr val="FFFFFF"/>
                </a:solidFill>
                <a:latin typeface="Calibri"/>
                <a:ea typeface="Calibri"/>
                <a:cs typeface="Calibri"/>
                <a:sym typeface="Calibri"/>
              </a:rPr>
              <a:t>MODEL 1 - INTRO</a:t>
            </a:r>
            <a:endParaRPr sz="1050" b="0" i="0" u="none" strike="noStrike" cap="none">
              <a:solidFill>
                <a:schemeClr val="dk1"/>
              </a:solidFill>
              <a:latin typeface="Calibri"/>
              <a:ea typeface="Calibri"/>
              <a:cs typeface="Calibri"/>
              <a:sym typeface="Calibri"/>
            </a:endParaRPr>
          </a:p>
        </p:txBody>
      </p:sp>
      <p:sp>
        <p:nvSpPr>
          <p:cNvPr id="112" name="Google Shape;112;p6"/>
          <p:cNvSpPr/>
          <p:nvPr/>
        </p:nvSpPr>
        <p:spPr>
          <a:xfrm>
            <a:off x="457200" y="502925"/>
            <a:ext cx="7529400" cy="6585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C1A35"/>
              </a:buClr>
              <a:buSzPts val="3000"/>
              <a:buFont typeface="Georgia"/>
              <a:buNone/>
            </a:pPr>
            <a:r>
              <a:rPr lang="en-US" sz="3000" b="1" i="0" u="none" strike="noStrike" cap="none">
                <a:solidFill>
                  <a:srgbClr val="0C1A35"/>
                </a:solidFill>
                <a:latin typeface="Georgia"/>
                <a:ea typeface="Georgia"/>
                <a:cs typeface="Georgia"/>
                <a:sym typeface="Georgia"/>
              </a:rPr>
              <a:t>Model 1: Setup &amp; Results</a:t>
            </a:r>
            <a:endParaRPr sz="3000" b="0" i="0" u="none" strike="noStrike" cap="none">
              <a:solidFill>
                <a:schemeClr val="dk1"/>
              </a:solidFill>
              <a:latin typeface="Calibri"/>
              <a:ea typeface="Calibri"/>
              <a:cs typeface="Calibri"/>
              <a:sym typeface="Calibri"/>
            </a:endParaRPr>
          </a:p>
        </p:txBody>
      </p:sp>
      <p:sp>
        <p:nvSpPr>
          <p:cNvPr id="113" name="Google Shape;113;p6"/>
          <p:cNvSpPr/>
          <p:nvPr/>
        </p:nvSpPr>
        <p:spPr>
          <a:xfrm>
            <a:off x="365760" y="1353312"/>
            <a:ext cx="8412480" cy="658368"/>
          </a:xfrm>
          <a:prstGeom prst="rect">
            <a:avLst/>
          </a:prstGeom>
          <a:solidFill>
            <a:srgbClr val="F7F9FC"/>
          </a:solidFill>
          <a:ln w="9525" cap="flat" cmpd="sng">
            <a:solidFill>
              <a:srgbClr val="CBD5E1"/>
            </a:solidFill>
            <a:prstDash val="solid"/>
            <a:round/>
            <a:headEnd type="none" w="sm" len="sm"/>
            <a:tailEnd type="none" w="sm" len="sm"/>
          </a:ln>
          <a:effectLst>
            <a:outerShdw blurRad="127000" dist="25400" dir="8100000" algn="bl" rotWithShape="0">
              <a:srgbClr val="000000">
                <a:alpha val="10196"/>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4" name="Google Shape;114;p6"/>
          <p:cNvSpPr/>
          <p:nvPr/>
        </p:nvSpPr>
        <p:spPr>
          <a:xfrm>
            <a:off x="502920" y="1389888"/>
            <a:ext cx="8138160" cy="585216"/>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E8A020"/>
              </a:buClr>
              <a:buSzPts val="1600"/>
              <a:buFont typeface="Courier New"/>
              <a:buNone/>
            </a:pPr>
            <a:r>
              <a:rPr lang="en-US" sz="1600" b="0" i="0" u="none" strike="noStrike" cap="none">
                <a:solidFill>
                  <a:schemeClr val="accent2"/>
                </a:solidFill>
                <a:latin typeface="Courier New"/>
                <a:ea typeface="Courier New"/>
                <a:cs typeface="Courier New"/>
                <a:sym typeface="Courier New"/>
              </a:rPr>
              <a:t>ŷ </a:t>
            </a:r>
            <a:r>
              <a:rPr lang="en-US" sz="1600" b="1" i="0" u="none" strike="noStrike" cap="none">
                <a:solidFill>
                  <a:schemeClr val="accent2"/>
                </a:solidFill>
                <a:latin typeface="Courier New"/>
                <a:ea typeface="Courier New"/>
                <a:cs typeface="Courier New"/>
                <a:sym typeface="Courier New"/>
              </a:rPr>
              <a:t>= -0.0001 + 0.0003 · ΔVIX(t) + ε(t)</a:t>
            </a:r>
            <a:endParaRPr sz="1600" b="1" i="0" u="none" strike="noStrike" cap="none">
              <a:solidFill>
                <a:schemeClr val="accent2"/>
              </a:solidFill>
              <a:latin typeface="Calibri"/>
              <a:ea typeface="Calibri"/>
              <a:cs typeface="Calibri"/>
              <a:sym typeface="Calibri"/>
            </a:endParaRPr>
          </a:p>
        </p:txBody>
      </p:sp>
      <p:sp>
        <p:nvSpPr>
          <p:cNvPr id="115" name="Google Shape;115;p6"/>
          <p:cNvSpPr/>
          <p:nvPr/>
        </p:nvSpPr>
        <p:spPr>
          <a:xfrm>
            <a:off x="365700" y="2163044"/>
            <a:ext cx="3977700" cy="2546400"/>
          </a:xfrm>
          <a:prstGeom prst="rect">
            <a:avLst/>
          </a:prstGeom>
          <a:solidFill>
            <a:srgbClr val="F7F9FC"/>
          </a:solidFill>
          <a:ln w="9525" cap="flat" cmpd="sng">
            <a:solidFill>
              <a:srgbClr val="CBD5E1"/>
            </a:solidFill>
            <a:prstDash val="solid"/>
            <a:round/>
            <a:headEnd type="none" w="sm" len="sm"/>
            <a:tailEnd type="none" w="sm" len="sm"/>
          </a:ln>
          <a:effectLst>
            <a:outerShdw blurRad="127000" dist="25400" dir="8100000" algn="bl" rotWithShape="0">
              <a:srgbClr val="000000">
                <a:alpha val="10196"/>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6" name="Google Shape;116;p6"/>
          <p:cNvSpPr/>
          <p:nvPr/>
        </p:nvSpPr>
        <p:spPr>
          <a:xfrm>
            <a:off x="365698" y="2163044"/>
            <a:ext cx="91500" cy="2546400"/>
          </a:xfrm>
          <a:prstGeom prst="rect">
            <a:avLst/>
          </a:prstGeom>
          <a:solidFill>
            <a:srgbClr val="1A3F7A"/>
          </a:solidFill>
          <a:ln w="9525" cap="flat" cmpd="sng">
            <a:solidFill>
              <a:srgbClr val="1A3F7A"/>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nvGrpSpPr>
          <p:cNvPr id="117" name="Google Shape;117;p6"/>
          <p:cNvGrpSpPr/>
          <p:nvPr/>
        </p:nvGrpSpPr>
        <p:grpSpPr>
          <a:xfrm>
            <a:off x="548590" y="2236186"/>
            <a:ext cx="3749100" cy="2372185"/>
            <a:chOff x="548640" y="2163161"/>
            <a:chExt cx="3749100" cy="2372185"/>
          </a:xfrm>
        </p:grpSpPr>
        <p:sp>
          <p:nvSpPr>
            <p:cNvPr id="118" name="Google Shape;118;p6"/>
            <p:cNvSpPr/>
            <p:nvPr/>
          </p:nvSpPr>
          <p:spPr>
            <a:xfrm>
              <a:off x="548640" y="2163161"/>
              <a:ext cx="3657600" cy="320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3F7A"/>
                </a:buClr>
                <a:buSzPts val="1250"/>
                <a:buFont typeface="Calibri"/>
                <a:buNone/>
              </a:pPr>
              <a:r>
                <a:rPr lang="en-US" sz="1250" b="1" i="0" u="none" strike="noStrike" cap="none">
                  <a:solidFill>
                    <a:srgbClr val="1A3F7A"/>
                  </a:solidFill>
                  <a:latin typeface="Calibri"/>
                  <a:ea typeface="Calibri"/>
                  <a:cs typeface="Calibri"/>
                  <a:sym typeface="Calibri"/>
                </a:rPr>
                <a:t>Methodology</a:t>
              </a:r>
              <a:endParaRPr sz="1250" b="0" i="0" u="none" strike="noStrike" cap="none">
                <a:solidFill>
                  <a:schemeClr val="dk1"/>
                </a:solidFill>
                <a:latin typeface="Calibri"/>
                <a:ea typeface="Calibri"/>
                <a:cs typeface="Calibri"/>
                <a:sym typeface="Calibri"/>
              </a:endParaRPr>
            </a:p>
          </p:txBody>
        </p:sp>
        <p:sp>
          <p:nvSpPr>
            <p:cNvPr id="119" name="Google Shape;119;p6"/>
            <p:cNvSpPr/>
            <p:nvPr/>
          </p:nvSpPr>
          <p:spPr>
            <a:xfrm>
              <a:off x="548640" y="2434620"/>
              <a:ext cx="3749100" cy="1234500"/>
            </a:xfrm>
            <a:prstGeom prst="rect">
              <a:avLst/>
            </a:prstGeom>
            <a:noFill/>
            <a:ln>
              <a:noFill/>
            </a:ln>
          </p:spPr>
          <p:txBody>
            <a:bodyPr spcFirstLastPara="1" wrap="square" lIns="25400" tIns="50800" rIns="0" bIns="0" anchor="t" anchorCtr="0">
              <a:noAutofit/>
            </a:bodyPr>
            <a:lstStyle/>
            <a:p>
              <a:pPr marL="342900" marR="0" lvl="0" indent="-342900" algn="l" rtl="0">
                <a:lnSpc>
                  <a:spcPct val="100000"/>
                </a:lnSpc>
                <a:spcBef>
                  <a:spcPts val="0"/>
                </a:spcBef>
                <a:spcAft>
                  <a:spcPts val="0"/>
                </a:spcAft>
                <a:buClr>
                  <a:srgbClr val="1E293B"/>
                </a:buClr>
                <a:buSzPts val="1100"/>
                <a:buFont typeface="Calibri"/>
                <a:buChar char="•"/>
              </a:pPr>
              <a:r>
                <a:rPr lang="en-US" sz="1100" b="0" i="0" u="none" strike="noStrike" cap="none" dirty="0">
                  <a:solidFill>
                    <a:srgbClr val="1E293B"/>
                  </a:solidFill>
                  <a:latin typeface="Calibri"/>
                  <a:ea typeface="Calibri"/>
                  <a:cs typeface="Calibri"/>
                  <a:sym typeface="Calibri"/>
                </a:rPr>
                <a:t>Bivariate OLS regression: Δ VIX (today) → EMB return (tomorrow)</a:t>
              </a:r>
              <a:endParaRPr sz="1100" b="0" i="0" u="none" strike="noStrike" cap="none" dirty="0">
                <a:solidFill>
                  <a:schemeClr val="dk1"/>
                </a:solidFill>
                <a:latin typeface="Calibri"/>
                <a:ea typeface="Calibri"/>
                <a:cs typeface="Calibri"/>
                <a:sym typeface="Calibri"/>
              </a:endParaRPr>
            </a:p>
            <a:p>
              <a:pPr marL="342900" marR="0" lvl="0" indent="-342900" algn="l" rtl="0">
                <a:lnSpc>
                  <a:spcPct val="100000"/>
                </a:lnSpc>
                <a:spcBef>
                  <a:spcPts val="0"/>
                </a:spcBef>
                <a:spcAft>
                  <a:spcPts val="0"/>
                </a:spcAft>
                <a:buClr>
                  <a:srgbClr val="1E293B"/>
                </a:buClr>
                <a:buSzPts val="1100"/>
                <a:buFont typeface="Calibri"/>
                <a:buChar char="•"/>
              </a:pPr>
              <a:r>
                <a:rPr lang="en-US" sz="1100" b="0" i="0" u="none" strike="noStrike" cap="none" dirty="0">
                  <a:solidFill>
                    <a:srgbClr val="1E293B"/>
                  </a:solidFill>
                  <a:latin typeface="Calibri"/>
                  <a:ea typeface="Calibri"/>
                  <a:cs typeface="Calibri"/>
                  <a:sym typeface="Calibri"/>
                </a:rPr>
                <a:t>70% train / 30% test on daily data 2016–2026</a:t>
              </a:r>
              <a:endParaRPr sz="1100" b="0" i="0" u="none" strike="noStrike" cap="none" dirty="0">
                <a:solidFill>
                  <a:schemeClr val="dk1"/>
                </a:solidFill>
                <a:latin typeface="Calibri"/>
                <a:ea typeface="Calibri"/>
                <a:cs typeface="Calibri"/>
                <a:sym typeface="Calibri"/>
              </a:endParaRPr>
            </a:p>
            <a:p>
              <a:pPr marL="342900" marR="0" lvl="0" indent="-342900" algn="l" rtl="0">
                <a:lnSpc>
                  <a:spcPct val="100000"/>
                </a:lnSpc>
                <a:spcBef>
                  <a:spcPts val="0"/>
                </a:spcBef>
                <a:spcAft>
                  <a:spcPts val="0"/>
                </a:spcAft>
                <a:buClr>
                  <a:srgbClr val="1E293B"/>
                </a:buClr>
                <a:buSzPts val="1100"/>
                <a:buFont typeface="Calibri"/>
                <a:buChar char="•"/>
              </a:pPr>
              <a:r>
                <a:rPr lang="en-US" sz="1100" b="0" i="0" u="none" strike="noStrike" cap="none" dirty="0">
                  <a:solidFill>
                    <a:srgbClr val="1E293B"/>
                  </a:solidFill>
                  <a:latin typeface="Calibri"/>
                  <a:ea typeface="Calibri"/>
                  <a:cs typeface="Calibri"/>
                  <a:sym typeface="Calibri"/>
                </a:rPr>
                <a:t>Predicts t+1 returns — eliminates look-ahead bias</a:t>
              </a:r>
              <a:endParaRPr sz="1100" b="0" i="0" u="none" strike="noStrike" cap="none" dirty="0">
                <a:solidFill>
                  <a:schemeClr val="dk1"/>
                </a:solidFill>
                <a:latin typeface="Calibri"/>
                <a:ea typeface="Calibri"/>
                <a:cs typeface="Calibri"/>
                <a:sym typeface="Calibri"/>
              </a:endParaRPr>
            </a:p>
            <a:p>
              <a:pPr marL="342900" marR="0" lvl="0" indent="-342900" algn="l" rtl="0">
                <a:lnSpc>
                  <a:spcPct val="100000"/>
                </a:lnSpc>
                <a:spcBef>
                  <a:spcPts val="0"/>
                </a:spcBef>
                <a:spcAft>
                  <a:spcPts val="0"/>
                </a:spcAft>
                <a:buClr>
                  <a:srgbClr val="1E293B"/>
                </a:buClr>
                <a:buSzPts val="1100"/>
                <a:buFont typeface="Calibri"/>
                <a:buChar char="•"/>
              </a:pPr>
              <a:r>
                <a:rPr lang="en-US" sz="1100" b="0" i="0" u="none" strike="noStrike" cap="none" dirty="0">
                  <a:solidFill>
                    <a:srgbClr val="1E293B"/>
                  </a:solidFill>
                  <a:latin typeface="Calibri"/>
                  <a:ea typeface="Calibri"/>
                  <a:cs typeface="Calibri"/>
                  <a:sym typeface="Calibri"/>
                </a:rPr>
                <a:t>Strongest single predictor: ΔVIX (</a:t>
              </a:r>
              <a:r>
                <a:rPr lang="en-US" sz="1100" b="0" i="0" u="none" strike="noStrike" cap="none" dirty="0" err="1">
                  <a:solidFill>
                    <a:srgbClr val="1E293B"/>
                  </a:solidFill>
                  <a:latin typeface="Calibri"/>
                  <a:ea typeface="Calibri"/>
                  <a:cs typeface="Calibri"/>
                  <a:sym typeface="Calibri"/>
                </a:rPr>
                <a:t>corr</a:t>
              </a:r>
              <a:r>
                <a:rPr lang="en-US" sz="1100" b="0" i="0" u="none" strike="noStrike" cap="none" dirty="0">
                  <a:solidFill>
                    <a:srgbClr val="1E293B"/>
                  </a:solidFill>
                  <a:latin typeface="Calibri"/>
                  <a:ea typeface="Calibri"/>
                  <a:cs typeface="Calibri"/>
                  <a:sym typeface="Calibri"/>
                </a:rPr>
                <a:t> = −0.47 same day)</a:t>
              </a:r>
              <a:endParaRPr sz="1100" b="0" i="0" u="none" strike="noStrike" cap="none" dirty="0">
                <a:solidFill>
                  <a:srgbClr val="1E293B"/>
                </a:solidFill>
                <a:latin typeface="Calibri"/>
                <a:ea typeface="Calibri"/>
                <a:cs typeface="Calibri"/>
                <a:sym typeface="Calibri"/>
              </a:endParaRPr>
            </a:p>
            <a:p>
              <a:pPr marL="342900" marR="0" lvl="0" indent="-342900" algn="l" rtl="0">
                <a:lnSpc>
                  <a:spcPct val="100000"/>
                </a:lnSpc>
                <a:spcBef>
                  <a:spcPts val="0"/>
                </a:spcBef>
                <a:spcAft>
                  <a:spcPts val="0"/>
                </a:spcAft>
                <a:buClr>
                  <a:srgbClr val="1E293B"/>
                </a:buClr>
                <a:buSzPts val="1100"/>
                <a:buFont typeface="Calibri"/>
                <a:buChar char="•"/>
              </a:pPr>
              <a:r>
                <a:rPr lang="en-US" sz="1100" b="0" i="0" u="none" strike="noStrike" cap="none" dirty="0">
                  <a:solidFill>
                    <a:srgbClr val="1E293B"/>
                  </a:solidFill>
                  <a:latin typeface="Calibri"/>
                  <a:ea typeface="Calibri"/>
                  <a:cs typeface="Calibri"/>
                  <a:sym typeface="Calibri"/>
                </a:rPr>
                <a:t>On the right, we tested this strategy versus a traditional buy-and-hold</a:t>
              </a:r>
              <a:endParaRPr sz="1100" b="0" i="0" u="none" strike="noStrike" cap="none" dirty="0">
                <a:solidFill>
                  <a:srgbClr val="1E293B"/>
                </a:solidFill>
                <a:latin typeface="Calibri"/>
                <a:ea typeface="Calibri"/>
                <a:cs typeface="Calibri"/>
                <a:sym typeface="Calibri"/>
              </a:endParaRPr>
            </a:p>
          </p:txBody>
        </p:sp>
        <p:sp>
          <p:nvSpPr>
            <p:cNvPr id="120" name="Google Shape;120;p6"/>
            <p:cNvSpPr/>
            <p:nvPr/>
          </p:nvSpPr>
          <p:spPr>
            <a:xfrm>
              <a:off x="548640" y="3664101"/>
              <a:ext cx="3657600" cy="320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B91C1C"/>
                </a:buClr>
                <a:buSzPts val="1200"/>
                <a:buFont typeface="Calibri"/>
                <a:buNone/>
              </a:pPr>
              <a:r>
                <a:rPr lang="en-US" sz="1200" b="1" i="0" u="none" strike="noStrike" cap="none">
                  <a:solidFill>
                    <a:srgbClr val="B91C1C"/>
                  </a:solidFill>
                  <a:latin typeface="Calibri"/>
                  <a:ea typeface="Calibri"/>
                  <a:cs typeface="Calibri"/>
                  <a:sym typeface="Calibri"/>
                </a:rPr>
                <a:t>Key Insight — Sign Reversal</a:t>
              </a:r>
              <a:endParaRPr sz="1200" b="0" i="0" u="none" strike="noStrike" cap="none">
                <a:solidFill>
                  <a:schemeClr val="dk1"/>
                </a:solidFill>
                <a:latin typeface="Calibri"/>
                <a:ea typeface="Calibri"/>
                <a:cs typeface="Calibri"/>
                <a:sym typeface="Calibri"/>
              </a:endParaRPr>
            </a:p>
          </p:txBody>
        </p:sp>
        <p:sp>
          <p:nvSpPr>
            <p:cNvPr id="121" name="Google Shape;121;p6"/>
            <p:cNvSpPr/>
            <p:nvPr/>
          </p:nvSpPr>
          <p:spPr>
            <a:xfrm>
              <a:off x="548640" y="3986646"/>
              <a:ext cx="3749100" cy="548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E293B"/>
                </a:buClr>
                <a:buSzPts val="1050"/>
                <a:buFont typeface="Calibri"/>
                <a:buNone/>
              </a:pPr>
              <a:r>
                <a:rPr lang="en-US" sz="1050" b="0" i="0" u="none" strike="noStrike" cap="none">
                  <a:solidFill>
                    <a:srgbClr val="1E293B"/>
                  </a:solidFill>
                  <a:latin typeface="Calibri"/>
                  <a:ea typeface="Calibri"/>
                  <a:cs typeface="Calibri"/>
                  <a:sym typeface="Calibri"/>
                </a:rPr>
                <a:t>Correlation is negative (−0.47) but regression coefficient is positive (+0.0003). Why? Correlation is same-day panic. Regression predicts next day — when fear subsides, prices bounce back.</a:t>
              </a:r>
              <a:endParaRPr sz="1050" b="0" i="0" u="none" strike="noStrike" cap="none">
                <a:solidFill>
                  <a:schemeClr val="dk1"/>
                </a:solidFill>
                <a:latin typeface="Calibri"/>
                <a:ea typeface="Calibri"/>
                <a:cs typeface="Calibri"/>
                <a:sym typeface="Calibri"/>
              </a:endParaRPr>
            </a:p>
          </p:txBody>
        </p:sp>
      </p:grpSp>
      <p:cxnSp>
        <p:nvCxnSpPr>
          <p:cNvPr id="122" name="Google Shape;122;p6"/>
          <p:cNvCxnSpPr/>
          <p:nvPr/>
        </p:nvCxnSpPr>
        <p:spPr>
          <a:xfrm>
            <a:off x="4590675" y="2166270"/>
            <a:ext cx="8400" cy="2560200"/>
          </a:xfrm>
          <a:prstGeom prst="straightConnector1">
            <a:avLst/>
          </a:prstGeom>
          <a:noFill/>
          <a:ln w="19050" cap="flat" cmpd="sng">
            <a:solidFill>
              <a:schemeClr val="accent3"/>
            </a:solidFill>
            <a:prstDash val="solid"/>
            <a:round/>
            <a:headEnd type="none" w="sm" len="sm"/>
            <a:tailEnd type="none" w="sm" len="sm"/>
          </a:ln>
        </p:spPr>
      </p:cxnSp>
      <p:sp>
        <p:nvSpPr>
          <p:cNvPr id="124" name="Google Shape;124;p6"/>
          <p:cNvSpPr/>
          <p:nvPr/>
        </p:nvSpPr>
        <p:spPr>
          <a:xfrm>
            <a:off x="457200" y="1133934"/>
            <a:ext cx="8229600" cy="27300"/>
          </a:xfrm>
          <a:prstGeom prst="rect">
            <a:avLst/>
          </a:prstGeom>
          <a:solidFill>
            <a:srgbClr val="2B6CB0"/>
          </a:solidFill>
          <a:ln w="9525" cap="flat" cmpd="sng">
            <a:solidFill>
              <a:srgbClr val="2B6CB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3" name="Picture 2">
            <a:extLst>
              <a:ext uri="{FF2B5EF4-FFF2-40B4-BE49-F238E27FC236}">
                <a16:creationId xmlns:a16="http://schemas.microsoft.com/office/drawing/2014/main" id="{DEE8E7B0-F64D-0475-69E0-A574989282B9}"/>
              </a:ext>
            </a:extLst>
          </p:cNvPr>
          <p:cNvPicPr>
            <a:picLocks noChangeAspect="1"/>
          </p:cNvPicPr>
          <p:nvPr/>
        </p:nvPicPr>
        <p:blipFill>
          <a:blip r:embed="rId3"/>
          <a:stretch>
            <a:fillRect/>
          </a:stretch>
        </p:blipFill>
        <p:spPr>
          <a:xfrm>
            <a:off x="4752914" y="2163044"/>
            <a:ext cx="4025326" cy="25056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29"/>
        <p:cNvGrpSpPr/>
        <p:nvPr/>
      </p:nvGrpSpPr>
      <p:grpSpPr>
        <a:xfrm>
          <a:off x="0" y="0"/>
          <a:ext cx="0" cy="0"/>
          <a:chOff x="0" y="0"/>
          <a:chExt cx="0" cy="0"/>
        </a:xfrm>
      </p:grpSpPr>
      <p:sp>
        <p:nvSpPr>
          <p:cNvPr id="130" name="Google Shape;130;g3d86e330eee_36_0"/>
          <p:cNvSpPr/>
          <p:nvPr/>
        </p:nvSpPr>
        <p:spPr>
          <a:xfrm>
            <a:off x="457200" y="146304"/>
            <a:ext cx="2194500" cy="274200"/>
          </a:xfrm>
          <a:prstGeom prst="rect">
            <a:avLst/>
          </a:prstGeom>
          <a:solidFill>
            <a:srgbClr val="2B6CB0"/>
          </a:solidFill>
          <a:ln w="9525" cap="flat" cmpd="sng">
            <a:solidFill>
              <a:srgbClr val="2B6CB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1" name="Google Shape;131;g3d86e330eee_36_0"/>
          <p:cNvSpPr/>
          <p:nvPr/>
        </p:nvSpPr>
        <p:spPr>
          <a:xfrm>
            <a:off x="457200" y="146304"/>
            <a:ext cx="2194500" cy="2742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chemeClr val="lt1"/>
              </a:buClr>
              <a:buSzPts val="850"/>
              <a:buFont typeface="Calibri"/>
              <a:buNone/>
            </a:pPr>
            <a:r>
              <a:rPr lang="en-US" sz="1050" b="1" i="0" u="none" strike="noStrike" cap="none">
                <a:solidFill>
                  <a:schemeClr val="lt1"/>
                </a:solidFill>
                <a:latin typeface="Calibri"/>
                <a:ea typeface="Calibri"/>
                <a:cs typeface="Calibri"/>
                <a:sym typeface="Calibri"/>
              </a:rPr>
              <a:t>MODEL 1 - RESULTS</a:t>
            </a:r>
            <a:endParaRPr sz="1050" b="0" i="0" u="none" strike="noStrike" cap="none">
              <a:solidFill>
                <a:schemeClr val="dk1"/>
              </a:solidFill>
              <a:latin typeface="Calibri"/>
              <a:ea typeface="Calibri"/>
              <a:cs typeface="Calibri"/>
              <a:sym typeface="Calibri"/>
            </a:endParaRPr>
          </a:p>
        </p:txBody>
      </p:sp>
      <p:sp>
        <p:nvSpPr>
          <p:cNvPr id="132" name="Google Shape;132;g3d86e330eee_36_0"/>
          <p:cNvSpPr/>
          <p:nvPr/>
        </p:nvSpPr>
        <p:spPr>
          <a:xfrm>
            <a:off x="457200" y="502925"/>
            <a:ext cx="7368000" cy="6585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C1A35"/>
              </a:buClr>
              <a:buSzPts val="3000"/>
              <a:buFont typeface="Georgia"/>
              <a:buNone/>
            </a:pPr>
            <a:r>
              <a:rPr lang="en-US" sz="3000" b="1" i="0" u="none" strike="noStrike" cap="none">
                <a:solidFill>
                  <a:srgbClr val="0C1A35"/>
                </a:solidFill>
                <a:latin typeface="Georgia"/>
                <a:ea typeface="Georgia"/>
                <a:cs typeface="Georgia"/>
                <a:sym typeface="Georgia"/>
              </a:rPr>
              <a:t>Model 1 (continued)</a:t>
            </a:r>
            <a:endParaRPr sz="3000" b="0" i="0" u="none" strike="noStrike" cap="none">
              <a:solidFill>
                <a:schemeClr val="dk1"/>
              </a:solidFill>
              <a:latin typeface="Calibri"/>
              <a:ea typeface="Calibri"/>
              <a:cs typeface="Calibri"/>
              <a:sym typeface="Calibri"/>
            </a:endParaRPr>
          </a:p>
        </p:txBody>
      </p:sp>
      <p:pic>
        <p:nvPicPr>
          <p:cNvPr id="133" name="Google Shape;133;g3d86e330eee_36_0"/>
          <p:cNvPicPr preferRelativeResize="0"/>
          <p:nvPr/>
        </p:nvPicPr>
        <p:blipFill rotWithShape="1">
          <a:blip r:embed="rId3">
            <a:alphaModFix/>
          </a:blip>
          <a:srcRect t="1205" r="3082"/>
          <a:stretch/>
        </p:blipFill>
        <p:spPr>
          <a:xfrm>
            <a:off x="4690750" y="1231550"/>
            <a:ext cx="4161425" cy="3128550"/>
          </a:xfrm>
          <a:prstGeom prst="rect">
            <a:avLst/>
          </a:prstGeom>
          <a:noFill/>
          <a:ln>
            <a:noFill/>
          </a:ln>
        </p:spPr>
      </p:pic>
      <p:sp>
        <p:nvSpPr>
          <p:cNvPr id="134" name="Google Shape;134;g3d86e330eee_36_0"/>
          <p:cNvSpPr/>
          <p:nvPr/>
        </p:nvSpPr>
        <p:spPr>
          <a:xfrm>
            <a:off x="457200" y="1133934"/>
            <a:ext cx="8229600" cy="27300"/>
          </a:xfrm>
          <a:prstGeom prst="rect">
            <a:avLst/>
          </a:prstGeom>
          <a:solidFill>
            <a:srgbClr val="2B6CB0"/>
          </a:solidFill>
          <a:ln w="9525" cap="flat" cmpd="sng">
            <a:solidFill>
              <a:srgbClr val="2B6CB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nvGrpSpPr>
          <p:cNvPr id="135" name="Google Shape;135;g3d86e330eee_36_0"/>
          <p:cNvGrpSpPr/>
          <p:nvPr/>
        </p:nvGrpSpPr>
        <p:grpSpPr>
          <a:xfrm>
            <a:off x="457188" y="1585091"/>
            <a:ext cx="3931869" cy="2546402"/>
            <a:chOff x="457138" y="1710947"/>
            <a:chExt cx="3931869" cy="2546402"/>
          </a:xfrm>
        </p:grpSpPr>
        <p:sp>
          <p:nvSpPr>
            <p:cNvPr id="136" name="Google Shape;136;g3d86e330eee_36_0"/>
            <p:cNvSpPr/>
            <p:nvPr/>
          </p:nvSpPr>
          <p:spPr>
            <a:xfrm>
              <a:off x="457145" y="1710947"/>
              <a:ext cx="1874400" cy="1162200"/>
            </a:xfrm>
            <a:prstGeom prst="rect">
              <a:avLst/>
            </a:prstGeom>
            <a:solidFill>
              <a:srgbClr val="FFFFFF"/>
            </a:solidFill>
            <a:ln w="9525" cap="flat" cmpd="sng">
              <a:solidFill>
                <a:srgbClr val="CBD5E1"/>
              </a:solidFill>
              <a:prstDash val="solid"/>
              <a:round/>
              <a:headEnd type="none" w="sm" len="sm"/>
              <a:tailEnd type="none" w="sm" len="sm"/>
            </a:ln>
            <a:effectLst>
              <a:outerShdw blurRad="127000" dist="25400" dir="8100000" algn="bl" rotWithShape="0">
                <a:srgbClr val="000000">
                  <a:alpha val="10196"/>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nvGrpSpPr>
            <p:cNvPr id="137" name="Google Shape;137;g3d86e330eee_36_0"/>
            <p:cNvGrpSpPr/>
            <p:nvPr/>
          </p:nvGrpSpPr>
          <p:grpSpPr>
            <a:xfrm>
              <a:off x="457138" y="1934169"/>
              <a:ext cx="1874400" cy="680829"/>
              <a:chOff x="4617725" y="2329900"/>
              <a:chExt cx="1874400" cy="680829"/>
            </a:xfrm>
          </p:grpSpPr>
          <p:sp>
            <p:nvSpPr>
              <p:cNvPr id="138" name="Google Shape;138;g3d86e330eee_36_0"/>
              <p:cNvSpPr/>
              <p:nvPr/>
            </p:nvSpPr>
            <p:spPr>
              <a:xfrm>
                <a:off x="4617725" y="2329900"/>
                <a:ext cx="1874400" cy="4872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66534"/>
                  </a:buClr>
                  <a:buSzPts val="2800"/>
                  <a:buFont typeface="Georgia"/>
                  <a:buNone/>
                </a:pPr>
                <a:r>
                  <a:rPr lang="en-US" sz="2800" b="1" i="0" u="none" strike="noStrike" cap="none">
                    <a:solidFill>
                      <a:srgbClr val="166534"/>
                    </a:solidFill>
                    <a:latin typeface="Josefin Sans"/>
                    <a:ea typeface="Josefin Sans"/>
                    <a:cs typeface="Josefin Sans"/>
                    <a:sym typeface="Josefin Sans"/>
                  </a:rPr>
                  <a:t>+0.0003</a:t>
                </a:r>
                <a:endParaRPr sz="2800" b="0" i="0" u="none" strike="noStrike" cap="none">
                  <a:solidFill>
                    <a:schemeClr val="dk1"/>
                  </a:solidFill>
                  <a:latin typeface="Josefin Sans"/>
                  <a:ea typeface="Josefin Sans"/>
                  <a:cs typeface="Josefin Sans"/>
                  <a:sym typeface="Josefin Sans"/>
                </a:endParaRPr>
              </a:p>
            </p:txBody>
          </p:sp>
          <p:sp>
            <p:nvSpPr>
              <p:cNvPr id="139" name="Google Shape;139;g3d86e330eee_36_0"/>
              <p:cNvSpPr/>
              <p:nvPr/>
            </p:nvSpPr>
            <p:spPr>
              <a:xfrm>
                <a:off x="4617725" y="2796229"/>
                <a:ext cx="1874400" cy="2145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475569"/>
                  </a:buClr>
                  <a:buSzPts val="1000"/>
                  <a:buFont typeface="Calibri"/>
                  <a:buNone/>
                </a:pPr>
                <a:r>
                  <a:rPr lang="en-US" sz="1000" b="0" i="0" u="none" strike="noStrike" cap="none">
                    <a:solidFill>
                      <a:srgbClr val="475569"/>
                    </a:solidFill>
                    <a:latin typeface="Calibri"/>
                    <a:ea typeface="Calibri"/>
                    <a:cs typeface="Calibri"/>
                    <a:sym typeface="Calibri"/>
                  </a:rPr>
                  <a:t>Δ VIX Coefficient</a:t>
                </a:r>
                <a:endParaRPr sz="1000" b="0" i="0" u="none" strike="noStrike" cap="none">
                  <a:solidFill>
                    <a:schemeClr val="dk1"/>
                  </a:solidFill>
                  <a:latin typeface="Calibri"/>
                  <a:ea typeface="Calibri"/>
                  <a:cs typeface="Calibri"/>
                  <a:sym typeface="Calibri"/>
                </a:endParaRPr>
              </a:p>
            </p:txBody>
          </p:sp>
        </p:grpSp>
        <p:sp>
          <p:nvSpPr>
            <p:cNvPr id="140" name="Google Shape;140;g3d86e330eee_36_0"/>
            <p:cNvSpPr/>
            <p:nvPr/>
          </p:nvSpPr>
          <p:spPr>
            <a:xfrm>
              <a:off x="2514545" y="1710947"/>
              <a:ext cx="1874400" cy="1162200"/>
            </a:xfrm>
            <a:prstGeom prst="rect">
              <a:avLst/>
            </a:prstGeom>
            <a:solidFill>
              <a:srgbClr val="FFFFFF"/>
            </a:solidFill>
            <a:ln w="9525" cap="flat" cmpd="sng">
              <a:solidFill>
                <a:srgbClr val="CBD5E1"/>
              </a:solidFill>
              <a:prstDash val="solid"/>
              <a:round/>
              <a:headEnd type="none" w="sm" len="sm"/>
              <a:tailEnd type="none" w="sm" len="sm"/>
            </a:ln>
            <a:effectLst>
              <a:outerShdw blurRad="127000" dist="25400" dir="8100000" algn="bl" rotWithShape="0">
                <a:srgbClr val="000000">
                  <a:alpha val="10196"/>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1" name="Google Shape;141;g3d86e330eee_36_0"/>
            <p:cNvSpPr/>
            <p:nvPr/>
          </p:nvSpPr>
          <p:spPr>
            <a:xfrm>
              <a:off x="2514550" y="1934171"/>
              <a:ext cx="1874400" cy="4872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66534"/>
                </a:buClr>
                <a:buSzPts val="2800"/>
                <a:buFont typeface="Georgia"/>
                <a:buNone/>
              </a:pPr>
              <a:r>
                <a:rPr lang="en-US" sz="2800" b="1" i="0" u="none" strike="noStrike" cap="none" dirty="0">
                  <a:solidFill>
                    <a:srgbClr val="166534"/>
                  </a:solidFill>
                  <a:latin typeface="Josefin Sans"/>
                  <a:ea typeface="Josefin Sans"/>
                  <a:cs typeface="Josefin Sans"/>
                  <a:sym typeface="Josefin Sans"/>
                </a:rPr>
                <a:t>0.181</a:t>
              </a:r>
              <a:endParaRPr sz="2800" b="0" i="0" u="none" strike="noStrike" cap="none" dirty="0">
                <a:solidFill>
                  <a:schemeClr val="dk1"/>
                </a:solidFill>
                <a:latin typeface="Josefin Sans"/>
                <a:ea typeface="Josefin Sans"/>
                <a:cs typeface="Josefin Sans"/>
                <a:sym typeface="Josefin Sans"/>
              </a:endParaRPr>
            </a:p>
          </p:txBody>
        </p:sp>
        <p:sp>
          <p:nvSpPr>
            <p:cNvPr id="142" name="Google Shape;142;g3d86e330eee_36_0"/>
            <p:cNvSpPr/>
            <p:nvPr/>
          </p:nvSpPr>
          <p:spPr>
            <a:xfrm>
              <a:off x="2514550" y="2400499"/>
              <a:ext cx="1874400" cy="2145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475569"/>
                </a:buClr>
                <a:buSzPts val="1000"/>
                <a:buFont typeface="Calibri"/>
                <a:buNone/>
              </a:pPr>
              <a:r>
                <a:rPr lang="en-US" sz="1000" b="0" i="0" u="none" strike="noStrike" cap="none" dirty="0">
                  <a:solidFill>
                    <a:srgbClr val="475569"/>
                  </a:solidFill>
                  <a:latin typeface="Calibri"/>
                  <a:ea typeface="Calibri"/>
                  <a:cs typeface="Calibri"/>
                  <a:sym typeface="Calibri"/>
                </a:rPr>
                <a:t>P</a:t>
              </a:r>
              <a:r>
                <a:rPr lang="en-US" sz="1000" b="0" i="0" u="none" strike="noStrike" cap="none" dirty="0">
                  <a:solidFill>
                    <a:srgbClr val="475569"/>
                  </a:solidFill>
                  <a:latin typeface="Calibri"/>
                  <a:ea typeface="Calibri"/>
                  <a:cs typeface="Calibri"/>
                  <a:sym typeface="Calibri"/>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8"/>
                    </a:ext>
                  </a:extLst>
                </a:rPr>
                <a:t>-Value </a:t>
              </a:r>
              <a:endParaRPr sz="1000" b="0" i="0" u="none" strike="noStrike" cap="none" dirty="0">
                <a:solidFill>
                  <a:schemeClr val="dk1"/>
                </a:solidFill>
                <a:latin typeface="Calibri"/>
                <a:ea typeface="Calibri"/>
                <a:cs typeface="Calibri"/>
                <a:sym typeface="Calibri"/>
              </a:endParaRPr>
            </a:p>
          </p:txBody>
        </p:sp>
        <p:sp>
          <p:nvSpPr>
            <p:cNvPr id="143" name="Google Shape;143;g3d86e330eee_36_0"/>
            <p:cNvSpPr/>
            <p:nvPr/>
          </p:nvSpPr>
          <p:spPr>
            <a:xfrm>
              <a:off x="457145" y="3095149"/>
              <a:ext cx="1874400" cy="1162200"/>
            </a:xfrm>
            <a:prstGeom prst="rect">
              <a:avLst/>
            </a:prstGeom>
            <a:solidFill>
              <a:srgbClr val="FFFFFF"/>
            </a:solidFill>
            <a:ln w="9525" cap="flat" cmpd="sng">
              <a:solidFill>
                <a:srgbClr val="CBD5E1"/>
              </a:solidFill>
              <a:prstDash val="solid"/>
              <a:round/>
              <a:headEnd type="none" w="sm" len="sm"/>
              <a:tailEnd type="none" w="sm" len="sm"/>
            </a:ln>
            <a:effectLst>
              <a:outerShdw blurRad="127000" dist="25400" dir="8100000" algn="bl" rotWithShape="0">
                <a:srgbClr val="000000">
                  <a:alpha val="10196"/>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4" name="Google Shape;144;g3d86e330eee_36_0"/>
            <p:cNvSpPr/>
            <p:nvPr/>
          </p:nvSpPr>
          <p:spPr>
            <a:xfrm>
              <a:off x="457145" y="3201432"/>
              <a:ext cx="1874400" cy="604200"/>
            </a:xfrm>
            <a:prstGeom prst="rect">
              <a:avLst/>
            </a:prstGeom>
            <a:noFill/>
            <a:ln>
              <a:noFill/>
            </a:ln>
          </p:spPr>
          <p:txBody>
            <a:bodyPr spcFirstLastPara="1" wrap="square" lIns="0" tIns="0" rIns="0" bIns="0" anchor="b" anchorCtr="0">
              <a:noAutofit/>
            </a:bodyPr>
            <a:lstStyle/>
            <a:p>
              <a:pPr marL="0" marR="0" lvl="0" indent="0" algn="ctr" rtl="0">
                <a:lnSpc>
                  <a:spcPct val="100000"/>
                </a:lnSpc>
                <a:spcBef>
                  <a:spcPts val="0"/>
                </a:spcBef>
                <a:spcAft>
                  <a:spcPts val="0"/>
                </a:spcAft>
                <a:buClr>
                  <a:srgbClr val="475569"/>
                </a:buClr>
                <a:buSzPts val="2800"/>
                <a:buFont typeface="Georgia"/>
                <a:buNone/>
              </a:pPr>
              <a:r>
                <a:rPr lang="en-US" sz="2800" b="1" i="0" u="none" strike="noStrike" cap="none">
                  <a:solidFill>
                    <a:srgbClr val="475569"/>
                  </a:solidFill>
                  <a:latin typeface="Josefin Sans"/>
                  <a:ea typeface="Josefin Sans"/>
                  <a:cs typeface="Josefin Sans"/>
                  <a:sym typeface="Josefin Sans"/>
                </a:rPr>
                <a:t>-1.01%</a:t>
              </a:r>
              <a:endParaRPr sz="2800" b="0" i="0" u="none" strike="noStrike" cap="none">
                <a:solidFill>
                  <a:schemeClr val="dk1"/>
                </a:solidFill>
                <a:latin typeface="Josefin Sans"/>
                <a:ea typeface="Josefin Sans"/>
                <a:cs typeface="Josefin Sans"/>
                <a:sym typeface="Josefin Sans"/>
              </a:endParaRPr>
            </a:p>
          </p:txBody>
        </p:sp>
        <p:sp>
          <p:nvSpPr>
            <p:cNvPr id="145" name="Google Shape;145;g3d86e330eee_36_0"/>
            <p:cNvSpPr/>
            <p:nvPr/>
          </p:nvSpPr>
          <p:spPr>
            <a:xfrm>
              <a:off x="457145" y="3825769"/>
              <a:ext cx="1874400" cy="3885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475569"/>
                </a:buClr>
                <a:buSzPts val="1000"/>
                <a:buFont typeface="Calibri"/>
                <a:buNone/>
              </a:pPr>
              <a:r>
                <a:rPr lang="en-US" sz="1000" b="0" i="0" u="none" strike="noStrike" cap="none">
                  <a:solidFill>
                    <a:srgbClr val="475569"/>
                  </a:solidFill>
                  <a:latin typeface="Calibri"/>
                  <a:ea typeface="Calibri"/>
                  <a:cs typeface="Calibri"/>
                  <a:sym typeface="Calibri"/>
                </a:rPr>
                <a:t>Test R-Squared</a:t>
              </a:r>
              <a:endParaRPr sz="1000" b="0" i="0" u="none" strike="noStrike" cap="none">
                <a:solidFill>
                  <a:schemeClr val="dk1"/>
                </a:solidFill>
                <a:latin typeface="Calibri"/>
                <a:ea typeface="Calibri"/>
                <a:cs typeface="Calibri"/>
                <a:sym typeface="Calibri"/>
              </a:endParaRPr>
            </a:p>
          </p:txBody>
        </p:sp>
        <p:sp>
          <p:nvSpPr>
            <p:cNvPr id="146" name="Google Shape;146;g3d86e330eee_36_0"/>
            <p:cNvSpPr/>
            <p:nvPr/>
          </p:nvSpPr>
          <p:spPr>
            <a:xfrm>
              <a:off x="2514545" y="3095149"/>
              <a:ext cx="1874400" cy="1162200"/>
            </a:xfrm>
            <a:prstGeom prst="rect">
              <a:avLst/>
            </a:prstGeom>
            <a:solidFill>
              <a:srgbClr val="FFFFFF"/>
            </a:solidFill>
            <a:ln w="9525" cap="flat" cmpd="sng">
              <a:solidFill>
                <a:srgbClr val="CBD5E1"/>
              </a:solidFill>
              <a:prstDash val="solid"/>
              <a:round/>
              <a:headEnd type="none" w="sm" len="sm"/>
              <a:tailEnd type="none" w="sm" len="sm"/>
            </a:ln>
            <a:effectLst>
              <a:outerShdw blurRad="127000" dist="25400" dir="8100000" algn="bl" rotWithShape="0">
                <a:srgbClr val="000000">
                  <a:alpha val="10196"/>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7" name="Google Shape;147;g3d86e330eee_36_0"/>
            <p:cNvSpPr/>
            <p:nvPr/>
          </p:nvSpPr>
          <p:spPr>
            <a:xfrm>
              <a:off x="2514607" y="3201432"/>
              <a:ext cx="1874400" cy="604200"/>
            </a:xfrm>
            <a:prstGeom prst="rect">
              <a:avLst/>
            </a:prstGeom>
            <a:noFill/>
            <a:ln>
              <a:noFill/>
            </a:ln>
          </p:spPr>
          <p:txBody>
            <a:bodyPr spcFirstLastPara="1" wrap="square" lIns="0" tIns="0" rIns="0" bIns="0" anchor="b" anchorCtr="0">
              <a:noAutofit/>
            </a:bodyPr>
            <a:lstStyle/>
            <a:p>
              <a:pPr marL="0" marR="0" lvl="0" indent="0" algn="ctr" rtl="0">
                <a:lnSpc>
                  <a:spcPct val="100000"/>
                </a:lnSpc>
                <a:spcBef>
                  <a:spcPts val="0"/>
                </a:spcBef>
                <a:spcAft>
                  <a:spcPts val="0"/>
                </a:spcAft>
                <a:buClr>
                  <a:srgbClr val="2B6CB0"/>
                </a:buClr>
                <a:buSzPts val="2800"/>
                <a:buFont typeface="Georgia"/>
                <a:buNone/>
              </a:pPr>
              <a:r>
                <a:rPr lang="en-US" sz="2800" b="1" i="0" u="none" strike="noStrike" cap="none" dirty="0">
                  <a:solidFill>
                    <a:srgbClr val="2B6CB0"/>
                  </a:solidFill>
                  <a:latin typeface="Josefin Sans"/>
                  <a:ea typeface="Josefin Sans"/>
                  <a:cs typeface="Josefin Sans"/>
                  <a:sym typeface="Josefin Sans"/>
                </a:rPr>
                <a:t>0.21</a:t>
              </a:r>
              <a:endParaRPr sz="2800" b="0" i="0" u="none" strike="noStrike" cap="none" dirty="0">
                <a:solidFill>
                  <a:schemeClr val="dk1"/>
                </a:solidFill>
                <a:latin typeface="Josefin Sans"/>
                <a:ea typeface="Josefin Sans"/>
                <a:cs typeface="Josefin Sans"/>
                <a:sym typeface="Josefin Sans"/>
              </a:endParaRPr>
            </a:p>
          </p:txBody>
        </p:sp>
        <p:sp>
          <p:nvSpPr>
            <p:cNvPr id="148" name="Google Shape;148;g3d86e330eee_36_0"/>
            <p:cNvSpPr/>
            <p:nvPr/>
          </p:nvSpPr>
          <p:spPr>
            <a:xfrm>
              <a:off x="2514545" y="3825769"/>
              <a:ext cx="1874400" cy="3885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475569"/>
                </a:buClr>
                <a:buSzPts val="1000"/>
                <a:buFont typeface="Calibri"/>
                <a:buNone/>
              </a:pPr>
              <a:r>
                <a:rPr lang="en-US" sz="1000" b="0" i="0" u="none" strike="noStrike" cap="none" dirty="0">
                  <a:solidFill>
                    <a:srgbClr val="475569"/>
                  </a:solidFill>
                  <a:latin typeface="Calibri"/>
                  <a:ea typeface="Calibri"/>
                  <a:cs typeface="Calibri"/>
                  <a:sym typeface="Calibri"/>
                </a:rPr>
                <a:t>Annualized Sharpe Ratio</a:t>
              </a:r>
              <a:endParaRPr sz="1000" b="0" i="0" u="none" strike="noStrike" cap="none" dirty="0">
                <a:solidFill>
                  <a:schemeClr val="dk1"/>
                </a:solidFill>
                <a:latin typeface="Calibri"/>
                <a:ea typeface="Calibri"/>
                <a:cs typeface="Calibri"/>
                <a:sym typeface="Calibri"/>
              </a:endParaRPr>
            </a:p>
          </p:txBody>
        </p:sp>
      </p:grpSp>
      <p:sp>
        <p:nvSpPr>
          <p:cNvPr id="149" name="Google Shape;149;g3d86e330eee_36_0"/>
          <p:cNvSpPr/>
          <p:nvPr/>
        </p:nvSpPr>
        <p:spPr>
          <a:xfrm>
            <a:off x="365699" y="4507174"/>
            <a:ext cx="8407041" cy="604199"/>
          </a:xfrm>
          <a:prstGeom prst="rect">
            <a:avLst/>
          </a:prstGeom>
          <a:solidFill>
            <a:srgbClr val="F7F9FC"/>
          </a:solidFill>
          <a:ln w="9525" cap="flat" cmpd="sng">
            <a:solidFill>
              <a:srgbClr val="CBD5E1"/>
            </a:solidFill>
            <a:prstDash val="solid"/>
            <a:round/>
            <a:headEnd type="none" w="sm" len="sm"/>
            <a:tailEnd type="none" w="sm" len="sm"/>
          </a:ln>
          <a:effectLst>
            <a:outerShdw blurRad="127000" dist="25400" dir="8100000" algn="bl" rotWithShape="0">
              <a:srgbClr val="000000">
                <a:alpha val="10196"/>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50" name="Google Shape;150;g3d86e330eee_36_0"/>
          <p:cNvSpPr/>
          <p:nvPr/>
        </p:nvSpPr>
        <p:spPr>
          <a:xfrm>
            <a:off x="457153" y="4555165"/>
            <a:ext cx="8229600" cy="43921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475569"/>
              </a:buClr>
              <a:buSzPts val="1000"/>
              <a:buFont typeface="Calibri"/>
              <a:buNone/>
            </a:pPr>
            <a:r>
              <a:rPr lang="en-US" sz="1000" b="0" i="1" u="none" strike="noStrike" cap="none" dirty="0">
                <a:solidFill>
                  <a:srgbClr val="475569"/>
                </a:solidFill>
                <a:latin typeface="Calibri"/>
                <a:ea typeface="Calibri"/>
                <a:cs typeface="Calibri"/>
                <a:sym typeface="Calibri"/>
              </a:rPr>
              <a:t>Negative Test R² (-1.01%) is standard in financial return prediction because of high noise in daily EMB returns. ΔVIX had the strongest same-day relationship with EMB and a positive next-day coefficient (thereby suggesting possible short-term rebound after volatility shocks), but the coefficient was not statistically significant after applying HC3 robust standard errors.</a:t>
            </a:r>
            <a:endParaRPr sz="1000" b="0" i="0" u="none" strike="noStrike" cap="none" dirty="0">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55"/>
        <p:cNvGrpSpPr/>
        <p:nvPr/>
      </p:nvGrpSpPr>
      <p:grpSpPr>
        <a:xfrm>
          <a:off x="0" y="0"/>
          <a:ext cx="0" cy="0"/>
          <a:chOff x="0" y="0"/>
          <a:chExt cx="0" cy="0"/>
        </a:xfrm>
      </p:grpSpPr>
      <p:sp>
        <p:nvSpPr>
          <p:cNvPr id="156" name="Google Shape;156;g39789fe7b62_1_251"/>
          <p:cNvSpPr/>
          <p:nvPr/>
        </p:nvSpPr>
        <p:spPr>
          <a:xfrm>
            <a:off x="0" y="762000"/>
            <a:ext cx="9144000" cy="38100"/>
          </a:xfrm>
          <a:prstGeom prst="rect">
            <a:avLst/>
          </a:prstGeom>
          <a:solidFill>
            <a:srgbClr val="E8A020"/>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57" name="Google Shape;157;g39789fe7b62_1_251"/>
          <p:cNvSpPr/>
          <p:nvPr/>
        </p:nvSpPr>
        <p:spPr>
          <a:xfrm>
            <a:off x="973050" y="1750350"/>
            <a:ext cx="7197900" cy="1642800"/>
          </a:xfrm>
          <a:prstGeom prst="rect">
            <a:avLst/>
          </a:prstGeom>
          <a:solidFill>
            <a:srgbClr val="000000">
              <a:alpha val="0"/>
            </a:srgbClr>
          </a:solidFill>
          <a:ln>
            <a:noFill/>
          </a:ln>
        </p:spPr>
        <p:txBody>
          <a:bodyPr spcFirstLastPara="1" wrap="square" lIns="0" tIns="0" rIns="0" bIns="0" anchor="b" anchorCtr="0">
            <a:noAutofit/>
          </a:bodyPr>
          <a:lstStyle/>
          <a:p>
            <a:pPr marL="0" marR="0" lvl="0" indent="0" algn="ctr" rtl="0">
              <a:lnSpc>
                <a:spcPct val="100000"/>
              </a:lnSpc>
              <a:spcBef>
                <a:spcPts val="0"/>
              </a:spcBef>
              <a:spcAft>
                <a:spcPts val="0"/>
              </a:spcAft>
              <a:buClr>
                <a:srgbClr val="000000"/>
              </a:buClr>
              <a:buSzPts val="5200"/>
              <a:buFont typeface="Arial"/>
              <a:buNone/>
            </a:pPr>
            <a:r>
              <a:rPr lang="en-US" sz="5200" b="1" i="0" u="none" strike="noStrike" cap="none">
                <a:solidFill>
                  <a:srgbClr val="FFFFFF"/>
                </a:solidFill>
                <a:latin typeface="Georgia"/>
                <a:ea typeface="Georgia"/>
                <a:cs typeface="Georgia"/>
                <a:sym typeface="Georgia"/>
              </a:rPr>
              <a:t>Model 2 </a:t>
            </a:r>
            <a:endParaRPr sz="5200" b="1" i="0" u="none" strike="noStrike" cap="none">
              <a:solidFill>
                <a:srgbClr val="FFFFFF"/>
              </a:solidFill>
              <a:latin typeface="Georgia"/>
              <a:ea typeface="Georgia"/>
              <a:cs typeface="Georgia"/>
              <a:sym typeface="Georgia"/>
            </a:endParaRPr>
          </a:p>
          <a:p>
            <a:pPr marL="0" marR="0" lvl="0" indent="0" algn="ctr" rtl="0">
              <a:lnSpc>
                <a:spcPct val="100000"/>
              </a:lnSpc>
              <a:spcBef>
                <a:spcPts val="0"/>
              </a:spcBef>
              <a:spcAft>
                <a:spcPts val="0"/>
              </a:spcAft>
              <a:buClr>
                <a:srgbClr val="000000"/>
              </a:buClr>
              <a:buSzPts val="5200"/>
              <a:buFont typeface="Arial"/>
              <a:buNone/>
            </a:pPr>
            <a:r>
              <a:rPr lang="en-US" sz="5200" b="1" i="0" u="none" strike="noStrike" cap="none">
                <a:solidFill>
                  <a:srgbClr val="FFFFFF"/>
                </a:solidFill>
                <a:latin typeface="Georgia"/>
                <a:ea typeface="Georgia"/>
                <a:cs typeface="Georgia"/>
                <a:sym typeface="Georgia"/>
              </a:rPr>
              <a:t>All Three Signals</a:t>
            </a:r>
            <a:endParaRPr sz="5200" b="1" i="0" u="none" strike="noStrike" cap="none">
              <a:solidFill>
                <a:srgbClr val="FFFFFF"/>
              </a:solidFill>
              <a:latin typeface="Georgia"/>
              <a:ea typeface="Georgia"/>
              <a:cs typeface="Georgia"/>
              <a:sym typeface="Georgia"/>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61"/>
        <p:cNvGrpSpPr/>
        <p:nvPr/>
      </p:nvGrpSpPr>
      <p:grpSpPr>
        <a:xfrm>
          <a:off x="0" y="0"/>
          <a:ext cx="0" cy="0"/>
          <a:chOff x="0" y="0"/>
          <a:chExt cx="0" cy="0"/>
        </a:xfrm>
      </p:grpSpPr>
      <p:sp>
        <p:nvSpPr>
          <p:cNvPr id="162" name="Google Shape;162;g3d86e330eee_137_0"/>
          <p:cNvSpPr/>
          <p:nvPr/>
        </p:nvSpPr>
        <p:spPr>
          <a:xfrm>
            <a:off x="457200" y="146304"/>
            <a:ext cx="2194500" cy="274200"/>
          </a:xfrm>
          <a:prstGeom prst="rect">
            <a:avLst/>
          </a:prstGeom>
          <a:solidFill>
            <a:srgbClr val="2B6CB0"/>
          </a:solidFill>
          <a:ln w="9525" cap="flat" cmpd="sng">
            <a:solidFill>
              <a:srgbClr val="2B6CB0"/>
            </a:solidFill>
            <a:prstDash val="solid"/>
            <a:round/>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63" name="Google Shape;163;g3d86e330eee_137_0"/>
          <p:cNvSpPr/>
          <p:nvPr/>
        </p:nvSpPr>
        <p:spPr>
          <a:xfrm>
            <a:off x="457200" y="146304"/>
            <a:ext cx="2194500" cy="274200"/>
          </a:xfrm>
          <a:prstGeom prst="rect">
            <a:avLst/>
          </a:prstGeom>
          <a:solidFill>
            <a:srgbClr val="000000">
              <a:alpha val="0"/>
            </a:srgbClr>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050"/>
              <a:buFont typeface="Arial"/>
              <a:buNone/>
            </a:pPr>
            <a:r>
              <a:rPr lang="en-US" sz="1050" b="1" i="0" u="none" strike="noStrike" cap="none">
                <a:solidFill>
                  <a:srgbClr val="FFFFFF"/>
                </a:solidFill>
                <a:latin typeface="Calibri"/>
                <a:ea typeface="Calibri"/>
                <a:cs typeface="Calibri"/>
                <a:sym typeface="Calibri"/>
              </a:rPr>
              <a:t>MODEL 2 - SELECTION</a:t>
            </a:r>
            <a:endParaRPr sz="1050" b="1" i="0" u="none" strike="noStrike" cap="none">
              <a:solidFill>
                <a:srgbClr val="FFFFFF"/>
              </a:solidFill>
              <a:latin typeface="Calibri"/>
              <a:ea typeface="Calibri"/>
              <a:cs typeface="Calibri"/>
              <a:sym typeface="Calibri"/>
            </a:endParaRPr>
          </a:p>
        </p:txBody>
      </p:sp>
      <p:sp>
        <p:nvSpPr>
          <p:cNvPr id="164" name="Google Shape;164;g3d86e330eee_137_0"/>
          <p:cNvSpPr/>
          <p:nvPr/>
        </p:nvSpPr>
        <p:spPr>
          <a:xfrm>
            <a:off x="457200" y="502925"/>
            <a:ext cx="7741200" cy="658500"/>
          </a:xfrm>
          <a:prstGeom prst="rect">
            <a:avLst/>
          </a:prstGeom>
          <a:solidFill>
            <a:srgbClr val="000000">
              <a:alpha val="0"/>
            </a:srgbClr>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3000"/>
              <a:buFont typeface="Arial"/>
              <a:buNone/>
            </a:pPr>
            <a:r>
              <a:rPr lang="en-US" sz="3000" b="1" i="0" u="none" strike="noStrike" cap="none">
                <a:solidFill>
                  <a:srgbClr val="0C1A35"/>
                </a:solidFill>
                <a:latin typeface="Georgia"/>
                <a:ea typeface="Georgia"/>
                <a:cs typeface="Georgia"/>
                <a:sym typeface="Georgia"/>
              </a:rPr>
              <a:t>Why Also Use Oil or Δ Credit Spreads?</a:t>
            </a:r>
            <a:endParaRPr sz="3000" b="1" i="0" u="none" strike="noStrike" cap="none">
              <a:solidFill>
                <a:srgbClr val="0C1A35"/>
              </a:solidFill>
              <a:latin typeface="Georgia"/>
              <a:ea typeface="Georgia"/>
              <a:cs typeface="Georgia"/>
              <a:sym typeface="Georgia"/>
            </a:endParaRPr>
          </a:p>
        </p:txBody>
      </p:sp>
      <p:grpSp>
        <p:nvGrpSpPr>
          <p:cNvPr id="165" name="Google Shape;165;g3d86e330eee_137_0"/>
          <p:cNvGrpSpPr/>
          <p:nvPr/>
        </p:nvGrpSpPr>
        <p:grpSpPr>
          <a:xfrm>
            <a:off x="530925" y="1637075"/>
            <a:ext cx="3972000" cy="2525475"/>
            <a:chOff x="457200" y="2286000"/>
            <a:chExt cx="3972000" cy="2525475"/>
          </a:xfrm>
        </p:grpSpPr>
        <p:sp>
          <p:nvSpPr>
            <p:cNvPr id="166" name="Google Shape;166;g3d86e330eee_137_0"/>
            <p:cNvSpPr/>
            <p:nvPr/>
          </p:nvSpPr>
          <p:spPr>
            <a:xfrm>
              <a:off x="457200" y="2286000"/>
              <a:ext cx="3972000" cy="2190900"/>
            </a:xfrm>
            <a:prstGeom prst="roundRect">
              <a:avLst>
                <a:gd name="adj" fmla="val 3478"/>
              </a:avLst>
            </a:prstGeom>
            <a:solidFill>
              <a:srgbClr val="FFFFFF"/>
            </a:solidFill>
            <a:ln w="9525" cap="flat" cmpd="sng">
              <a:solidFill>
                <a:srgbClr val="CBD5E1"/>
              </a:solidFill>
              <a:prstDash val="solid"/>
              <a:round/>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67" name="Google Shape;167;g3d86e330eee_137_0"/>
            <p:cNvSpPr/>
            <p:nvPr/>
          </p:nvSpPr>
          <p:spPr>
            <a:xfrm>
              <a:off x="457200" y="2286000"/>
              <a:ext cx="3972000" cy="76200"/>
            </a:xfrm>
            <a:prstGeom prst="roundRect">
              <a:avLst>
                <a:gd name="adj" fmla="val 50000"/>
              </a:avLst>
            </a:prstGeom>
            <a:solidFill>
              <a:srgbClr val="1A3F7A"/>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68" name="Google Shape;168;g3d86e330eee_137_0"/>
            <p:cNvSpPr txBox="1"/>
            <p:nvPr/>
          </p:nvSpPr>
          <p:spPr>
            <a:xfrm>
              <a:off x="457200" y="2428875"/>
              <a:ext cx="3972000" cy="2382600"/>
            </a:xfrm>
            <a:prstGeom prst="rect">
              <a:avLst/>
            </a:prstGeom>
            <a:noFill/>
            <a:ln>
              <a:noFill/>
            </a:ln>
          </p:spPr>
          <p:txBody>
            <a:bodyPr spcFirstLastPara="1" wrap="square" lIns="190500" tIns="190500" rIns="190500" bIns="190500" anchor="t" anchorCtr="0">
              <a:noAutofit/>
            </a:bodyPr>
            <a:lstStyle/>
            <a:p>
              <a:pPr marL="0" marR="0" lvl="0" indent="0" algn="l" rtl="0">
                <a:lnSpc>
                  <a:spcPct val="100000"/>
                </a:lnSpc>
                <a:spcBef>
                  <a:spcPts val="0"/>
                </a:spcBef>
                <a:spcAft>
                  <a:spcPts val="0"/>
                </a:spcAft>
                <a:buClr>
                  <a:srgbClr val="000000"/>
                </a:buClr>
                <a:buSzPts val="1800"/>
                <a:buFont typeface="Arial"/>
                <a:buNone/>
              </a:pPr>
              <a:r>
                <a:rPr lang="en-US" sz="1800" b="1" i="0" u="none" strike="noStrike" cap="none">
                  <a:solidFill>
                    <a:srgbClr val="1A3F7A"/>
                  </a:solidFill>
                  <a:latin typeface="Calibri"/>
                  <a:ea typeface="Calibri"/>
                  <a:cs typeface="Calibri"/>
                  <a:sym typeface="Calibri"/>
                </a:rPr>
                <a:t>Δ Credit Spreads</a:t>
              </a:r>
              <a:endParaRPr sz="1800" b="1" i="0" u="none" strike="noStrike" cap="none">
                <a:solidFill>
                  <a:srgbClr val="1A3F7A"/>
                </a:solidFill>
                <a:latin typeface="Calibri"/>
                <a:ea typeface="Calibri"/>
                <a:cs typeface="Calibri"/>
                <a:sym typeface="Calibri"/>
              </a:endParaRPr>
            </a:p>
            <a:p>
              <a:pPr marL="0" marR="0" lvl="0" indent="0" algn="l" rtl="0">
                <a:lnSpc>
                  <a:spcPct val="100000"/>
                </a:lnSpc>
                <a:spcBef>
                  <a:spcPts val="750"/>
                </a:spcBef>
                <a:spcAft>
                  <a:spcPts val="0"/>
                </a:spcAft>
                <a:buClr>
                  <a:srgbClr val="000000"/>
                </a:buClr>
                <a:buSzPts val="1200"/>
                <a:buFont typeface="Arial"/>
                <a:buNone/>
              </a:pPr>
              <a:r>
                <a:rPr lang="en-US" sz="1200" b="0" i="0" u="none" strike="noStrike" cap="none">
                  <a:solidFill>
                    <a:srgbClr val="334155"/>
                  </a:solidFill>
                  <a:latin typeface="Calibri"/>
                  <a:ea typeface="Calibri"/>
                  <a:cs typeface="Calibri"/>
                  <a:sym typeface="Calibri"/>
                </a:rPr>
                <a:t>Measures default probability and US investment climate.</a:t>
              </a:r>
              <a:endParaRPr sz="1200" b="0" i="0" u="none" strike="noStrike" cap="none">
                <a:solidFill>
                  <a:srgbClr val="334155"/>
                </a:solidFill>
                <a:latin typeface="Calibri"/>
                <a:ea typeface="Calibri"/>
                <a:cs typeface="Calibri"/>
                <a:sym typeface="Calibri"/>
              </a:endParaRPr>
            </a:p>
            <a:p>
              <a:pPr marL="457200" marR="0" lvl="0" indent="-301625" algn="l" rtl="0">
                <a:lnSpc>
                  <a:spcPct val="100000"/>
                </a:lnSpc>
                <a:spcBef>
                  <a:spcPts val="750"/>
                </a:spcBef>
                <a:spcAft>
                  <a:spcPts val="0"/>
                </a:spcAft>
                <a:buClr>
                  <a:srgbClr val="1E293B"/>
                </a:buClr>
                <a:buSzPts val="1150"/>
                <a:buFont typeface="Calibri"/>
                <a:buChar char="●"/>
              </a:pPr>
              <a:r>
                <a:rPr lang="en-US" sz="1150" b="1" i="0" u="none" strike="noStrike" cap="none">
                  <a:solidFill>
                    <a:srgbClr val="1E293B"/>
                  </a:solidFill>
                  <a:latin typeface="Calibri"/>
                  <a:ea typeface="Calibri"/>
                  <a:cs typeface="Calibri"/>
                  <a:sym typeface="Calibri"/>
                </a:rPr>
                <a:t>Widening Spreads:</a:t>
              </a:r>
              <a:r>
                <a:rPr lang="en-US" sz="1150" b="0" i="0" u="none" strike="noStrike" cap="none">
                  <a:solidFill>
                    <a:srgbClr val="1E293B"/>
                  </a:solidFill>
                  <a:latin typeface="Calibri"/>
                  <a:ea typeface="Calibri"/>
                  <a:cs typeface="Calibri"/>
                  <a:sym typeface="Calibri"/>
                </a:rPr>
                <a:t> Indicates increasing risk and worsening financial conditions.</a:t>
              </a:r>
              <a:endParaRPr sz="1150" b="0" i="0" u="none" strike="noStrike" cap="none">
                <a:solidFill>
                  <a:srgbClr val="1E293B"/>
                </a:solidFill>
                <a:latin typeface="Calibri"/>
                <a:ea typeface="Calibri"/>
                <a:cs typeface="Calibri"/>
                <a:sym typeface="Calibri"/>
              </a:endParaRPr>
            </a:p>
            <a:p>
              <a:pPr marL="457200" marR="0" lvl="0" indent="-301625" algn="l" rtl="0">
                <a:lnSpc>
                  <a:spcPct val="100000"/>
                </a:lnSpc>
                <a:spcBef>
                  <a:spcPts val="600"/>
                </a:spcBef>
                <a:spcAft>
                  <a:spcPts val="0"/>
                </a:spcAft>
                <a:buClr>
                  <a:srgbClr val="1E293B"/>
                </a:buClr>
                <a:buSzPts val="1150"/>
                <a:buFont typeface="Calibri"/>
                <a:buChar char="●"/>
              </a:pPr>
              <a:r>
                <a:rPr lang="en-US" sz="1150" b="1" i="0" u="none" strike="noStrike" cap="none">
                  <a:solidFill>
                    <a:srgbClr val="1E293B"/>
                  </a:solidFill>
                  <a:latin typeface="Calibri"/>
                  <a:ea typeface="Calibri"/>
                  <a:cs typeface="Calibri"/>
                  <a:sym typeface="Calibri"/>
                </a:rPr>
                <a:t>Return Impact:</a:t>
              </a:r>
              <a:r>
                <a:rPr lang="en-US" sz="1150" b="0" i="0" u="none" strike="noStrike" cap="none">
                  <a:solidFill>
                    <a:srgbClr val="1E293B"/>
                  </a:solidFill>
                  <a:latin typeface="Calibri"/>
                  <a:ea typeface="Calibri"/>
                  <a:cs typeface="Calibri"/>
                  <a:sym typeface="Calibri"/>
                </a:rPr>
                <a:t> Clear link between positive change in spreads (widening) and a </a:t>
              </a:r>
              <a:r>
                <a:rPr lang="en-US" sz="1150" b="1" i="0" u="none" strike="noStrike" cap="none">
                  <a:solidFill>
                    <a:srgbClr val="1E293B"/>
                  </a:solidFill>
                  <a:latin typeface="Calibri"/>
                  <a:ea typeface="Calibri"/>
                  <a:cs typeface="Calibri"/>
                  <a:sym typeface="Calibri"/>
                </a:rPr>
                <a:t>reduction in EMB returns</a:t>
              </a:r>
              <a:r>
                <a:rPr lang="en-US" sz="1150" b="0" i="0" u="none" strike="noStrike" cap="none">
                  <a:solidFill>
                    <a:srgbClr val="1E293B"/>
                  </a:solidFill>
                  <a:latin typeface="Calibri"/>
                  <a:ea typeface="Calibri"/>
                  <a:cs typeface="Calibri"/>
                  <a:sym typeface="Calibri"/>
                </a:rPr>
                <a:t>.</a:t>
              </a:r>
              <a:endParaRPr sz="1150" b="0" i="0" u="none" strike="noStrike" cap="none">
                <a:solidFill>
                  <a:srgbClr val="1E293B"/>
                </a:solidFill>
                <a:latin typeface="Calibri"/>
                <a:ea typeface="Calibri"/>
                <a:cs typeface="Calibri"/>
                <a:sym typeface="Calibri"/>
              </a:endParaRPr>
            </a:p>
          </p:txBody>
        </p:sp>
      </p:grpSp>
      <p:grpSp>
        <p:nvGrpSpPr>
          <p:cNvPr id="169" name="Google Shape;169;g3d86e330eee_137_0"/>
          <p:cNvGrpSpPr/>
          <p:nvPr/>
        </p:nvGrpSpPr>
        <p:grpSpPr>
          <a:xfrm>
            <a:off x="4714800" y="1637075"/>
            <a:ext cx="3972000" cy="2190900"/>
            <a:chOff x="4714875" y="2286000"/>
            <a:chExt cx="3972000" cy="2190900"/>
          </a:xfrm>
        </p:grpSpPr>
        <p:sp>
          <p:nvSpPr>
            <p:cNvPr id="170" name="Google Shape;170;g3d86e330eee_137_0"/>
            <p:cNvSpPr/>
            <p:nvPr/>
          </p:nvSpPr>
          <p:spPr>
            <a:xfrm>
              <a:off x="4714875" y="2286000"/>
              <a:ext cx="3972000" cy="2190900"/>
            </a:xfrm>
            <a:prstGeom prst="roundRect">
              <a:avLst>
                <a:gd name="adj" fmla="val 3478"/>
              </a:avLst>
            </a:prstGeom>
            <a:solidFill>
              <a:srgbClr val="FFFFFF"/>
            </a:solidFill>
            <a:ln w="9525" cap="flat" cmpd="sng">
              <a:solidFill>
                <a:srgbClr val="CBD5E1"/>
              </a:solidFill>
              <a:prstDash val="solid"/>
              <a:round/>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71" name="Google Shape;171;g3d86e330eee_137_0"/>
            <p:cNvSpPr/>
            <p:nvPr/>
          </p:nvSpPr>
          <p:spPr>
            <a:xfrm>
              <a:off x="4714875" y="2286000"/>
              <a:ext cx="3972000" cy="76200"/>
            </a:xfrm>
            <a:prstGeom prst="roundRect">
              <a:avLst>
                <a:gd name="adj" fmla="val 50000"/>
              </a:avLst>
            </a:prstGeom>
            <a:solidFill>
              <a:srgbClr val="E8A020"/>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72" name="Google Shape;172;g3d86e330eee_137_0"/>
            <p:cNvSpPr txBox="1"/>
            <p:nvPr/>
          </p:nvSpPr>
          <p:spPr>
            <a:xfrm>
              <a:off x="4714875" y="2428875"/>
              <a:ext cx="3972000" cy="2047800"/>
            </a:xfrm>
            <a:prstGeom prst="rect">
              <a:avLst/>
            </a:prstGeom>
            <a:noFill/>
            <a:ln>
              <a:noFill/>
            </a:ln>
          </p:spPr>
          <p:txBody>
            <a:bodyPr spcFirstLastPara="1" wrap="square" lIns="190500" tIns="190500" rIns="190500" bIns="190500" anchor="t" anchorCtr="0">
              <a:noAutofit/>
            </a:bodyPr>
            <a:lstStyle/>
            <a:p>
              <a:pPr marL="0" marR="0" lvl="0" indent="0" algn="l" rtl="0">
                <a:lnSpc>
                  <a:spcPct val="100000"/>
                </a:lnSpc>
                <a:spcBef>
                  <a:spcPts val="0"/>
                </a:spcBef>
                <a:spcAft>
                  <a:spcPts val="0"/>
                </a:spcAft>
                <a:buClr>
                  <a:srgbClr val="000000"/>
                </a:buClr>
                <a:buSzPts val="1800"/>
                <a:buFont typeface="Arial"/>
                <a:buNone/>
              </a:pPr>
              <a:r>
                <a:rPr lang="en-US" sz="1800" b="1" i="0" u="none" strike="noStrike" cap="none">
                  <a:solidFill>
                    <a:srgbClr val="7C4A03"/>
                  </a:solidFill>
                  <a:latin typeface="Calibri"/>
                  <a:ea typeface="Calibri"/>
                  <a:cs typeface="Calibri"/>
                  <a:sym typeface="Calibri"/>
                </a:rPr>
                <a:t>Oil Returns</a:t>
              </a:r>
              <a:endParaRPr sz="1800" b="1" i="0" u="none" strike="noStrike" cap="none">
                <a:solidFill>
                  <a:srgbClr val="7C4A03"/>
                </a:solidFill>
                <a:latin typeface="Calibri"/>
                <a:ea typeface="Calibri"/>
                <a:cs typeface="Calibri"/>
                <a:sym typeface="Calibri"/>
              </a:endParaRPr>
            </a:p>
            <a:p>
              <a:pPr marL="0" marR="0" lvl="0" indent="0" algn="l" rtl="0">
                <a:lnSpc>
                  <a:spcPct val="100000"/>
                </a:lnSpc>
                <a:spcBef>
                  <a:spcPts val="750"/>
                </a:spcBef>
                <a:spcAft>
                  <a:spcPts val="0"/>
                </a:spcAft>
                <a:buClr>
                  <a:srgbClr val="000000"/>
                </a:buClr>
                <a:buSzPts val="1200"/>
                <a:buFont typeface="Arial"/>
                <a:buNone/>
              </a:pPr>
              <a:r>
                <a:rPr lang="en-US" sz="1200" b="0" i="0" u="none" strike="noStrike" cap="none">
                  <a:solidFill>
                    <a:srgbClr val="334155"/>
                  </a:solidFill>
                  <a:latin typeface="Calibri"/>
                  <a:ea typeface="Calibri"/>
                  <a:cs typeface="Calibri"/>
                  <a:sym typeface="Calibri"/>
                </a:rPr>
                <a:t>Major commodity export for EMB nations.</a:t>
              </a:r>
              <a:endParaRPr sz="1150" b="0" i="0" u="none" strike="noStrike" cap="none">
                <a:solidFill>
                  <a:srgbClr val="1E293B"/>
                </a:solidFill>
                <a:latin typeface="Calibri"/>
                <a:ea typeface="Calibri"/>
                <a:cs typeface="Calibri"/>
                <a:sym typeface="Calibri"/>
              </a:endParaRPr>
            </a:p>
            <a:p>
              <a:pPr marL="457200" marR="0" lvl="0" indent="-301625" algn="l" rtl="0">
                <a:lnSpc>
                  <a:spcPct val="100000"/>
                </a:lnSpc>
                <a:spcBef>
                  <a:spcPts val="750"/>
                </a:spcBef>
                <a:spcAft>
                  <a:spcPts val="0"/>
                </a:spcAft>
                <a:buClr>
                  <a:srgbClr val="1E293B"/>
                </a:buClr>
                <a:buSzPts val="1150"/>
                <a:buFont typeface="Calibri"/>
                <a:buChar char="●"/>
              </a:pPr>
              <a:r>
                <a:rPr lang="en-US" sz="1150" b="1" i="0" u="none" strike="noStrike" cap="none">
                  <a:solidFill>
                    <a:srgbClr val="1E293B"/>
                  </a:solidFill>
                  <a:latin typeface="Calibri"/>
                  <a:ea typeface="Calibri"/>
                  <a:cs typeface="Calibri"/>
                  <a:sym typeface="Calibri"/>
                </a:rPr>
                <a:t>Return Impact:</a:t>
              </a:r>
              <a:r>
                <a:rPr lang="en-US" sz="1150" b="0" i="0" u="none" strike="noStrike" cap="none">
                  <a:solidFill>
                    <a:srgbClr val="1E293B"/>
                  </a:solidFill>
                  <a:latin typeface="Calibri"/>
                  <a:ea typeface="Calibri"/>
                  <a:cs typeface="Calibri"/>
                  <a:sym typeface="Calibri"/>
                </a:rPr>
                <a:t> Sudden spikes in oil may signify massive </a:t>
              </a:r>
              <a:r>
                <a:rPr lang="en-US" sz="1150" b="1" i="0" u="none" strike="noStrike" cap="none">
                  <a:solidFill>
                    <a:srgbClr val="1E293B"/>
                  </a:solidFill>
                  <a:latin typeface="Calibri"/>
                  <a:ea typeface="Calibri"/>
                  <a:cs typeface="Calibri"/>
                  <a:sym typeface="Calibri"/>
                </a:rPr>
                <a:t>geopolitical volatility</a:t>
              </a:r>
              <a:r>
                <a:rPr lang="en-US" sz="1150" b="0" i="0" u="none" strike="noStrike" cap="none">
                  <a:solidFill>
                    <a:srgbClr val="1E293B"/>
                  </a:solidFill>
                  <a:latin typeface="Calibri"/>
                  <a:ea typeface="Calibri"/>
                  <a:cs typeface="Calibri"/>
                  <a:sym typeface="Calibri"/>
                </a:rPr>
                <a:t>.</a:t>
              </a:r>
              <a:endParaRPr sz="1150" b="0" i="0" u="none" strike="noStrike" cap="none">
                <a:solidFill>
                  <a:srgbClr val="1E293B"/>
                </a:solidFill>
                <a:latin typeface="Calibri"/>
                <a:ea typeface="Calibri"/>
                <a:cs typeface="Calibri"/>
                <a:sym typeface="Calibri"/>
              </a:endParaRPr>
            </a:p>
            <a:p>
              <a:pPr marL="457200" marR="0" lvl="0" indent="-301625" algn="l" rtl="0">
                <a:lnSpc>
                  <a:spcPct val="100000"/>
                </a:lnSpc>
                <a:spcBef>
                  <a:spcPts val="0"/>
                </a:spcBef>
                <a:spcAft>
                  <a:spcPts val="600"/>
                </a:spcAft>
                <a:buClr>
                  <a:srgbClr val="1E293B"/>
                </a:buClr>
                <a:buSzPts val="1150"/>
                <a:buFont typeface="Calibri"/>
                <a:buChar char="●"/>
              </a:pPr>
              <a:r>
                <a:rPr lang="en-US" sz="1150" b="1" i="0" u="none" strike="noStrike" cap="none">
                  <a:solidFill>
                    <a:srgbClr val="1E293B"/>
                  </a:solidFill>
                  <a:latin typeface="Calibri"/>
                  <a:ea typeface="Calibri"/>
                  <a:cs typeface="Calibri"/>
                  <a:sym typeface="Calibri"/>
                </a:rPr>
                <a:t>One Complication:</a:t>
              </a:r>
              <a:r>
                <a:rPr lang="en-US" sz="1150" b="0" i="0" u="none" strike="noStrike" cap="none">
                  <a:solidFill>
                    <a:srgbClr val="1E293B"/>
                  </a:solidFill>
                  <a:latin typeface="Calibri"/>
                  <a:ea typeface="Calibri"/>
                  <a:cs typeface="Calibri"/>
                  <a:sym typeface="Calibri"/>
                </a:rPr>
                <a:t> Slow longer-term rises in the price may signify a stronger economy and currency for exporting countries.</a:t>
              </a:r>
              <a:endParaRPr sz="1150" b="0" i="0" u="none" strike="noStrike" cap="none">
                <a:solidFill>
                  <a:srgbClr val="1E293B"/>
                </a:solidFill>
                <a:latin typeface="Calibri"/>
                <a:ea typeface="Calibri"/>
                <a:cs typeface="Calibri"/>
                <a:sym typeface="Calibri"/>
              </a:endParaRPr>
            </a:p>
          </p:txBody>
        </p:sp>
      </p:grpSp>
      <p:sp>
        <p:nvSpPr>
          <p:cNvPr id="173" name="Google Shape;173;g3d86e330eee_137_0"/>
          <p:cNvSpPr txBox="1"/>
          <p:nvPr/>
        </p:nvSpPr>
        <p:spPr>
          <a:xfrm>
            <a:off x="457200" y="4162550"/>
            <a:ext cx="8229600" cy="381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US" sz="1000" b="0" i="1" u="none" strike="noStrike" cap="none">
                <a:solidFill>
                  <a:srgbClr val="475569"/>
                </a:solidFill>
                <a:latin typeface="Calibri"/>
                <a:ea typeface="Calibri"/>
                <a:cs typeface="Calibri"/>
                <a:sym typeface="Calibri"/>
              </a:rPr>
              <a:t>By focusing on the delta (change) of these variables, we capture the momentum and shock factors essential for predicting short-term emerging market bond performance.</a:t>
            </a:r>
            <a:endParaRPr sz="1000" b="0" i="1" u="none" strike="noStrike" cap="none">
              <a:solidFill>
                <a:srgbClr val="475569"/>
              </a:solidFill>
              <a:latin typeface="Calibri"/>
              <a:ea typeface="Calibri"/>
              <a:cs typeface="Calibri"/>
              <a:sym typeface="Calibri"/>
            </a:endParaRPr>
          </a:p>
        </p:txBody>
      </p:sp>
      <p:sp>
        <p:nvSpPr>
          <p:cNvPr id="174" name="Google Shape;174;g3d86e330eee_137_0"/>
          <p:cNvSpPr/>
          <p:nvPr/>
        </p:nvSpPr>
        <p:spPr>
          <a:xfrm>
            <a:off x="457200" y="1133934"/>
            <a:ext cx="8229600" cy="27300"/>
          </a:xfrm>
          <a:prstGeom prst="rect">
            <a:avLst/>
          </a:prstGeom>
          <a:solidFill>
            <a:srgbClr val="2B6CB0"/>
          </a:solidFill>
          <a:ln w="9525" cap="flat" cmpd="sng">
            <a:solidFill>
              <a:srgbClr val="2B6CB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66"/>
        <p:cNvGrpSpPr/>
        <p:nvPr/>
      </p:nvGrpSpPr>
      <p:grpSpPr>
        <a:xfrm>
          <a:off x="0" y="0"/>
          <a:ext cx="0" cy="0"/>
          <a:chOff x="0" y="0"/>
          <a:chExt cx="0" cy="0"/>
        </a:xfrm>
      </p:grpSpPr>
      <p:sp>
        <p:nvSpPr>
          <p:cNvPr id="267" name="Google Shape;267;p4"/>
          <p:cNvSpPr/>
          <p:nvPr/>
        </p:nvSpPr>
        <p:spPr>
          <a:xfrm>
            <a:off x="365700" y="4771903"/>
            <a:ext cx="8412600" cy="274200"/>
          </a:xfrm>
          <a:prstGeom prst="rect">
            <a:avLst/>
          </a:prstGeom>
          <a:solidFill>
            <a:srgbClr val="F7F9FC"/>
          </a:solidFill>
          <a:ln w="9525" cap="flat" cmpd="sng">
            <a:solidFill>
              <a:srgbClr val="CBD5E1"/>
            </a:solidFill>
            <a:prstDash val="solid"/>
            <a:round/>
            <a:headEnd type="none" w="sm" len="sm"/>
            <a:tailEnd type="none" w="sm" len="sm"/>
          </a:ln>
          <a:effectLst>
            <a:outerShdw blurRad="127000" dist="25400" dir="8100000" algn="bl" rotWithShape="0">
              <a:srgbClr val="000000">
                <a:alpha val="10196"/>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68" name="Google Shape;268;p4"/>
          <p:cNvSpPr/>
          <p:nvPr/>
        </p:nvSpPr>
        <p:spPr>
          <a:xfrm>
            <a:off x="457200" y="146304"/>
            <a:ext cx="2194560" cy="274320"/>
          </a:xfrm>
          <a:prstGeom prst="rect">
            <a:avLst/>
          </a:prstGeom>
          <a:solidFill>
            <a:srgbClr val="2B6CB0"/>
          </a:solidFill>
          <a:ln w="9525" cap="flat" cmpd="sng">
            <a:solidFill>
              <a:srgbClr val="2B6CB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69" name="Google Shape;269;p4"/>
          <p:cNvSpPr/>
          <p:nvPr/>
        </p:nvSpPr>
        <p:spPr>
          <a:xfrm>
            <a:off x="457200" y="146304"/>
            <a:ext cx="2194560" cy="27432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FFFFFF"/>
              </a:buClr>
              <a:buSzPts val="850"/>
              <a:buFont typeface="Calibri"/>
              <a:buNone/>
            </a:pPr>
            <a:r>
              <a:rPr lang="en-US" sz="1050" b="1" i="0" u="none" strike="noStrike" cap="none">
                <a:solidFill>
                  <a:srgbClr val="FFFFFF"/>
                </a:solidFill>
                <a:latin typeface="Calibri"/>
                <a:ea typeface="Calibri"/>
                <a:cs typeface="Calibri"/>
                <a:sym typeface="Calibri"/>
              </a:rPr>
              <a:t>DATA</a:t>
            </a:r>
            <a:endParaRPr sz="1050" b="0" i="0" u="none" strike="noStrike" cap="none">
              <a:solidFill>
                <a:schemeClr val="dk1"/>
              </a:solidFill>
              <a:latin typeface="Calibri"/>
              <a:ea typeface="Calibri"/>
              <a:cs typeface="Calibri"/>
              <a:sym typeface="Calibri"/>
            </a:endParaRPr>
          </a:p>
        </p:txBody>
      </p:sp>
      <p:sp>
        <p:nvSpPr>
          <p:cNvPr id="270" name="Google Shape;270;p4"/>
          <p:cNvSpPr/>
          <p:nvPr/>
        </p:nvSpPr>
        <p:spPr>
          <a:xfrm>
            <a:off x="457200" y="502920"/>
            <a:ext cx="8229600" cy="658368"/>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C1A35"/>
              </a:buClr>
              <a:buSzPts val="3200"/>
              <a:buFont typeface="Georgia"/>
              <a:buNone/>
            </a:pPr>
            <a:r>
              <a:rPr lang="en-US" sz="3200" b="1" i="0" u="none" strike="noStrike" cap="none" dirty="0">
                <a:solidFill>
                  <a:srgbClr val="0C1A35"/>
                </a:solidFill>
                <a:latin typeface="Georgia"/>
                <a:ea typeface="Georgia"/>
                <a:cs typeface="Georgia"/>
                <a:sym typeface="Georgia"/>
              </a:rPr>
              <a:t>Dataset &amp; Feature Engineering</a:t>
            </a:r>
            <a:endParaRPr sz="3200" b="0" i="0" u="none" strike="noStrike" cap="none" dirty="0">
              <a:solidFill>
                <a:schemeClr val="dk1"/>
              </a:solidFill>
              <a:latin typeface="Calibri"/>
              <a:ea typeface="Calibri"/>
              <a:cs typeface="Calibri"/>
              <a:sym typeface="Calibri"/>
            </a:endParaRPr>
          </a:p>
        </p:txBody>
      </p:sp>
      <p:grpSp>
        <p:nvGrpSpPr>
          <p:cNvPr id="271" name="Google Shape;271;p4"/>
          <p:cNvGrpSpPr/>
          <p:nvPr/>
        </p:nvGrpSpPr>
        <p:grpSpPr>
          <a:xfrm>
            <a:off x="457200" y="1353312"/>
            <a:ext cx="1920300" cy="1079087"/>
            <a:chOff x="457200" y="1353312"/>
            <a:chExt cx="1920300" cy="1079087"/>
          </a:xfrm>
        </p:grpSpPr>
        <p:sp>
          <p:nvSpPr>
            <p:cNvPr id="272" name="Google Shape;272;p4"/>
            <p:cNvSpPr/>
            <p:nvPr/>
          </p:nvSpPr>
          <p:spPr>
            <a:xfrm>
              <a:off x="457200" y="1353312"/>
              <a:ext cx="1920240" cy="1078992"/>
            </a:xfrm>
            <a:prstGeom prst="rect">
              <a:avLst/>
            </a:prstGeom>
            <a:solidFill>
              <a:srgbClr val="FFFFFF"/>
            </a:solidFill>
            <a:ln w="9525" cap="flat" cmpd="sng">
              <a:solidFill>
                <a:srgbClr val="CBD5E1"/>
              </a:solidFill>
              <a:prstDash val="solid"/>
              <a:round/>
              <a:headEnd type="none" w="sm" len="sm"/>
              <a:tailEnd type="none" w="sm" len="sm"/>
            </a:ln>
            <a:effectLst>
              <a:outerShdw blurRad="127000" dist="25400" dir="8100000" algn="bl" rotWithShape="0">
                <a:srgbClr val="000000">
                  <a:alpha val="10196"/>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73" name="Google Shape;273;p4"/>
            <p:cNvSpPr/>
            <p:nvPr/>
          </p:nvSpPr>
          <p:spPr>
            <a:xfrm>
              <a:off x="457200" y="1393940"/>
              <a:ext cx="1920300" cy="604200"/>
            </a:xfrm>
            <a:prstGeom prst="rect">
              <a:avLst/>
            </a:prstGeom>
            <a:noFill/>
            <a:ln>
              <a:noFill/>
            </a:ln>
          </p:spPr>
          <p:txBody>
            <a:bodyPr spcFirstLastPara="1" wrap="square" lIns="0" tIns="0" rIns="0" bIns="0" anchor="b" anchorCtr="0">
              <a:noAutofit/>
            </a:bodyPr>
            <a:lstStyle/>
            <a:p>
              <a:pPr marL="0" marR="0" lvl="0" indent="0" algn="ctr" rtl="0">
                <a:lnSpc>
                  <a:spcPct val="100000"/>
                </a:lnSpc>
                <a:spcBef>
                  <a:spcPts val="0"/>
                </a:spcBef>
                <a:spcAft>
                  <a:spcPts val="0"/>
                </a:spcAft>
                <a:buClr>
                  <a:srgbClr val="1A3F7A"/>
                </a:buClr>
                <a:buSzPts val="2800"/>
                <a:buFont typeface="Georgia"/>
                <a:buNone/>
              </a:pPr>
              <a:r>
                <a:rPr lang="en-US" sz="2800" b="1" i="0" u="none" strike="noStrike" cap="none">
                  <a:solidFill>
                    <a:srgbClr val="1A3F7A"/>
                  </a:solidFill>
                  <a:latin typeface="Josefin Sans"/>
                  <a:ea typeface="Josefin Sans"/>
                  <a:cs typeface="Josefin Sans"/>
                  <a:sym typeface="Josefin Sans"/>
                </a:rPr>
                <a:t>2016–2026</a:t>
              </a:r>
              <a:endParaRPr sz="2800" b="0" i="0" u="none" strike="noStrike" cap="none">
                <a:solidFill>
                  <a:schemeClr val="dk1"/>
                </a:solidFill>
                <a:latin typeface="Josefin Sans"/>
                <a:ea typeface="Josefin Sans"/>
                <a:cs typeface="Josefin Sans"/>
                <a:sym typeface="Josefin Sans"/>
              </a:endParaRPr>
            </a:p>
          </p:txBody>
        </p:sp>
        <p:sp>
          <p:nvSpPr>
            <p:cNvPr id="274" name="Google Shape;274;p4"/>
            <p:cNvSpPr/>
            <p:nvPr/>
          </p:nvSpPr>
          <p:spPr>
            <a:xfrm>
              <a:off x="457200" y="2000699"/>
              <a:ext cx="1920300" cy="431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475569"/>
                </a:buClr>
                <a:buSzPts val="1000"/>
                <a:buFont typeface="Calibri"/>
                <a:buNone/>
              </a:pPr>
              <a:r>
                <a:rPr lang="en-US" sz="1000" b="0" i="0" u="none" strike="noStrike" cap="none">
                  <a:solidFill>
                    <a:srgbClr val="475569"/>
                  </a:solidFill>
                  <a:latin typeface="Calibri"/>
                  <a:ea typeface="Calibri"/>
                  <a:cs typeface="Calibri"/>
                  <a:sym typeface="Calibri"/>
                </a:rPr>
                <a:t>Date Range</a:t>
              </a:r>
              <a:endParaRPr sz="1000" b="0" i="0" u="none" strike="noStrike" cap="none">
                <a:solidFill>
                  <a:schemeClr val="dk1"/>
                </a:solidFill>
                <a:latin typeface="Calibri"/>
                <a:ea typeface="Calibri"/>
                <a:cs typeface="Calibri"/>
                <a:sym typeface="Calibri"/>
              </a:endParaRPr>
            </a:p>
          </p:txBody>
        </p:sp>
      </p:grpSp>
      <p:grpSp>
        <p:nvGrpSpPr>
          <p:cNvPr id="275" name="Google Shape;275;p4"/>
          <p:cNvGrpSpPr/>
          <p:nvPr/>
        </p:nvGrpSpPr>
        <p:grpSpPr>
          <a:xfrm>
            <a:off x="2560299" y="1353312"/>
            <a:ext cx="1920300" cy="1078992"/>
            <a:chOff x="2542032" y="1353312"/>
            <a:chExt cx="1920300" cy="1078992"/>
          </a:xfrm>
        </p:grpSpPr>
        <p:sp>
          <p:nvSpPr>
            <p:cNvPr id="276" name="Google Shape;276;p4"/>
            <p:cNvSpPr/>
            <p:nvPr/>
          </p:nvSpPr>
          <p:spPr>
            <a:xfrm>
              <a:off x="2542032" y="1353312"/>
              <a:ext cx="1920240" cy="1078992"/>
            </a:xfrm>
            <a:prstGeom prst="rect">
              <a:avLst/>
            </a:prstGeom>
            <a:solidFill>
              <a:srgbClr val="FFFFFF"/>
            </a:solidFill>
            <a:ln w="9525" cap="flat" cmpd="sng">
              <a:solidFill>
                <a:srgbClr val="CBD5E1"/>
              </a:solidFill>
              <a:prstDash val="solid"/>
              <a:round/>
              <a:headEnd type="none" w="sm" len="sm"/>
              <a:tailEnd type="none" w="sm" len="sm"/>
            </a:ln>
            <a:effectLst>
              <a:outerShdw blurRad="127000" dist="25400" dir="8100000" algn="bl" rotWithShape="0">
                <a:srgbClr val="000000">
                  <a:alpha val="10196"/>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77" name="Google Shape;277;p4"/>
            <p:cNvSpPr/>
            <p:nvPr/>
          </p:nvSpPr>
          <p:spPr>
            <a:xfrm>
              <a:off x="2542032" y="1393940"/>
              <a:ext cx="1920300" cy="604200"/>
            </a:xfrm>
            <a:prstGeom prst="rect">
              <a:avLst/>
            </a:prstGeom>
            <a:noFill/>
            <a:ln>
              <a:noFill/>
            </a:ln>
          </p:spPr>
          <p:txBody>
            <a:bodyPr spcFirstLastPara="1" wrap="square" lIns="0" tIns="0" rIns="0" bIns="0" anchor="b" anchorCtr="0">
              <a:noAutofit/>
            </a:bodyPr>
            <a:lstStyle/>
            <a:p>
              <a:pPr marL="0" marR="0" lvl="0" indent="0" algn="ctr" rtl="0">
                <a:lnSpc>
                  <a:spcPct val="100000"/>
                </a:lnSpc>
                <a:spcBef>
                  <a:spcPts val="0"/>
                </a:spcBef>
                <a:spcAft>
                  <a:spcPts val="0"/>
                </a:spcAft>
                <a:buClr>
                  <a:srgbClr val="2B6CB0"/>
                </a:buClr>
                <a:buSzPts val="2800"/>
                <a:buFont typeface="Georgia"/>
                <a:buNone/>
              </a:pPr>
              <a:r>
                <a:rPr lang="en-US" sz="2800" b="1" i="0" u="none" strike="noStrike" cap="none">
                  <a:solidFill>
                    <a:srgbClr val="2B6CB0"/>
                  </a:solidFill>
                  <a:latin typeface="Josefin Sans"/>
                  <a:ea typeface="Josefin Sans"/>
                  <a:cs typeface="Josefin Sans"/>
                  <a:sym typeface="Josefin Sans"/>
                </a:rPr>
                <a:t>2,500+</a:t>
              </a:r>
              <a:endParaRPr sz="2800" b="0" i="0" u="none" strike="noStrike" cap="none">
                <a:solidFill>
                  <a:schemeClr val="dk1"/>
                </a:solidFill>
                <a:latin typeface="Josefin Sans"/>
                <a:ea typeface="Josefin Sans"/>
                <a:cs typeface="Josefin Sans"/>
                <a:sym typeface="Josefin Sans"/>
              </a:endParaRPr>
            </a:p>
          </p:txBody>
        </p:sp>
        <p:sp>
          <p:nvSpPr>
            <p:cNvPr id="278" name="Google Shape;278;p4"/>
            <p:cNvSpPr/>
            <p:nvPr/>
          </p:nvSpPr>
          <p:spPr>
            <a:xfrm>
              <a:off x="2542032" y="2000707"/>
              <a:ext cx="1920240" cy="388437"/>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475569"/>
                </a:buClr>
                <a:buSzPts val="1000"/>
                <a:buFont typeface="Calibri"/>
                <a:buNone/>
              </a:pPr>
              <a:r>
                <a:rPr lang="en-US" sz="1000" b="0" i="0" u="none" strike="noStrike" cap="none">
                  <a:solidFill>
                    <a:srgbClr val="475569"/>
                  </a:solidFill>
                  <a:latin typeface="Calibri"/>
                  <a:ea typeface="Calibri"/>
                  <a:cs typeface="Calibri"/>
                  <a:sym typeface="Calibri"/>
                </a:rPr>
                <a:t>Daily Observations</a:t>
              </a:r>
              <a:endParaRPr sz="1000" b="0" i="0" u="none" strike="noStrike" cap="none">
                <a:solidFill>
                  <a:schemeClr val="dk1"/>
                </a:solidFill>
                <a:latin typeface="Calibri"/>
                <a:ea typeface="Calibri"/>
                <a:cs typeface="Calibri"/>
                <a:sym typeface="Calibri"/>
              </a:endParaRPr>
            </a:p>
          </p:txBody>
        </p:sp>
      </p:grpSp>
      <p:grpSp>
        <p:nvGrpSpPr>
          <p:cNvPr id="279" name="Google Shape;279;p4"/>
          <p:cNvGrpSpPr/>
          <p:nvPr/>
        </p:nvGrpSpPr>
        <p:grpSpPr>
          <a:xfrm>
            <a:off x="4663397" y="1353312"/>
            <a:ext cx="1920300" cy="1078992"/>
            <a:chOff x="4626864" y="1353312"/>
            <a:chExt cx="1920300" cy="1078992"/>
          </a:xfrm>
        </p:grpSpPr>
        <p:sp>
          <p:nvSpPr>
            <p:cNvPr id="280" name="Google Shape;280;p4"/>
            <p:cNvSpPr/>
            <p:nvPr/>
          </p:nvSpPr>
          <p:spPr>
            <a:xfrm>
              <a:off x="4626864" y="1353312"/>
              <a:ext cx="1920240" cy="1078992"/>
            </a:xfrm>
            <a:prstGeom prst="rect">
              <a:avLst/>
            </a:prstGeom>
            <a:solidFill>
              <a:srgbClr val="FFFFFF"/>
            </a:solidFill>
            <a:ln w="9525" cap="flat" cmpd="sng">
              <a:solidFill>
                <a:srgbClr val="CBD5E1"/>
              </a:solidFill>
              <a:prstDash val="solid"/>
              <a:round/>
              <a:headEnd type="none" w="sm" len="sm"/>
              <a:tailEnd type="none" w="sm" len="sm"/>
            </a:ln>
            <a:effectLst>
              <a:outerShdw blurRad="127000" dist="25400" dir="8100000" algn="bl" rotWithShape="0">
                <a:srgbClr val="000000">
                  <a:alpha val="10196"/>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81" name="Google Shape;281;p4"/>
            <p:cNvSpPr/>
            <p:nvPr/>
          </p:nvSpPr>
          <p:spPr>
            <a:xfrm>
              <a:off x="4626864" y="1393940"/>
              <a:ext cx="1920300" cy="604200"/>
            </a:xfrm>
            <a:prstGeom prst="rect">
              <a:avLst/>
            </a:prstGeom>
            <a:noFill/>
            <a:ln>
              <a:noFill/>
            </a:ln>
          </p:spPr>
          <p:txBody>
            <a:bodyPr spcFirstLastPara="1" wrap="square" lIns="0" tIns="0" rIns="0" bIns="0" anchor="b" anchorCtr="0">
              <a:noAutofit/>
            </a:bodyPr>
            <a:lstStyle/>
            <a:p>
              <a:pPr marL="0" marR="0" lvl="0" indent="0" algn="ctr" rtl="0">
                <a:lnSpc>
                  <a:spcPct val="100000"/>
                </a:lnSpc>
                <a:spcBef>
                  <a:spcPts val="0"/>
                </a:spcBef>
                <a:spcAft>
                  <a:spcPts val="0"/>
                </a:spcAft>
                <a:buClr>
                  <a:srgbClr val="E8A020"/>
                </a:buClr>
                <a:buSzPts val="2800"/>
                <a:buFont typeface="Georgia"/>
                <a:buNone/>
              </a:pPr>
              <a:r>
                <a:rPr lang="en-US" sz="2800" b="1" i="0" u="none" strike="noStrike" cap="none" dirty="0">
                  <a:solidFill>
                    <a:srgbClr val="E8A020"/>
                  </a:solidFill>
                  <a:latin typeface="Josefin Sans"/>
                  <a:ea typeface="Josefin Sans"/>
                  <a:cs typeface="Josefin Sans"/>
                  <a:sym typeface="Josefin Sans"/>
                </a:rPr>
                <a:t>3</a:t>
              </a:r>
              <a:endParaRPr sz="2800" b="1" i="0" u="none" strike="noStrike" cap="none" dirty="0">
                <a:solidFill>
                  <a:srgbClr val="E8A020"/>
                </a:solidFill>
                <a:latin typeface="Josefin Sans"/>
                <a:ea typeface="Josefin Sans"/>
                <a:cs typeface="Josefin Sans"/>
                <a:sym typeface="Josefin Sans"/>
              </a:endParaRPr>
            </a:p>
          </p:txBody>
        </p:sp>
        <p:sp>
          <p:nvSpPr>
            <p:cNvPr id="282" name="Google Shape;282;p4"/>
            <p:cNvSpPr/>
            <p:nvPr/>
          </p:nvSpPr>
          <p:spPr>
            <a:xfrm>
              <a:off x="4626864" y="2000707"/>
              <a:ext cx="1920300" cy="3885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475569"/>
                </a:buClr>
                <a:buSzPts val="1000"/>
                <a:buFont typeface="Calibri"/>
                <a:buNone/>
              </a:pPr>
              <a:r>
                <a:rPr lang="en-US" sz="1000" b="0" i="0" u="none" strike="noStrike" cap="none" dirty="0">
                  <a:solidFill>
                    <a:srgbClr val="475569"/>
                  </a:solidFill>
                  <a:latin typeface="Calibri"/>
                  <a:ea typeface="Calibri"/>
                  <a:cs typeface="Calibri"/>
                  <a:sym typeface="Calibri"/>
                </a:rPr>
                <a:t>Predictors</a:t>
              </a:r>
              <a:endParaRPr sz="1000" b="0" i="0" u="none" strike="noStrike" cap="none" dirty="0">
                <a:solidFill>
                  <a:schemeClr val="dk1"/>
                </a:solidFill>
                <a:latin typeface="Calibri"/>
                <a:ea typeface="Calibri"/>
                <a:cs typeface="Calibri"/>
                <a:sym typeface="Calibri"/>
              </a:endParaRPr>
            </a:p>
          </p:txBody>
        </p:sp>
      </p:grpSp>
      <p:grpSp>
        <p:nvGrpSpPr>
          <p:cNvPr id="283" name="Google Shape;283;p4"/>
          <p:cNvGrpSpPr/>
          <p:nvPr/>
        </p:nvGrpSpPr>
        <p:grpSpPr>
          <a:xfrm>
            <a:off x="6766496" y="1349978"/>
            <a:ext cx="1920300" cy="1079100"/>
            <a:chOff x="6766496" y="1349978"/>
            <a:chExt cx="1920300" cy="1079100"/>
          </a:xfrm>
        </p:grpSpPr>
        <p:sp>
          <p:nvSpPr>
            <p:cNvPr id="284" name="Google Shape;284;p4"/>
            <p:cNvSpPr/>
            <p:nvPr/>
          </p:nvSpPr>
          <p:spPr>
            <a:xfrm>
              <a:off x="6766496" y="1349978"/>
              <a:ext cx="1920300" cy="1079100"/>
            </a:xfrm>
            <a:prstGeom prst="rect">
              <a:avLst/>
            </a:prstGeom>
            <a:solidFill>
              <a:srgbClr val="FFFFFF"/>
            </a:solidFill>
            <a:ln w="9525" cap="flat" cmpd="sng">
              <a:solidFill>
                <a:srgbClr val="CBD5E1"/>
              </a:solidFill>
              <a:prstDash val="solid"/>
              <a:round/>
              <a:headEnd type="none" w="sm" len="sm"/>
              <a:tailEnd type="none" w="sm" len="sm"/>
            </a:ln>
            <a:effectLst>
              <a:outerShdw blurRad="127000" dist="25400" dir="8100000" algn="bl" rotWithShape="0">
                <a:srgbClr val="000000">
                  <a:alpha val="10196"/>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85" name="Google Shape;285;p4"/>
            <p:cNvSpPr/>
            <p:nvPr/>
          </p:nvSpPr>
          <p:spPr>
            <a:xfrm>
              <a:off x="6766496" y="1390607"/>
              <a:ext cx="1920300" cy="604200"/>
            </a:xfrm>
            <a:prstGeom prst="rect">
              <a:avLst/>
            </a:prstGeom>
            <a:noFill/>
            <a:ln>
              <a:noFill/>
            </a:ln>
          </p:spPr>
          <p:txBody>
            <a:bodyPr spcFirstLastPara="1" wrap="square" lIns="0" tIns="0" rIns="0" bIns="0" anchor="b" anchorCtr="0">
              <a:noAutofit/>
            </a:bodyPr>
            <a:lstStyle/>
            <a:p>
              <a:pPr marL="0" marR="0" lvl="0" indent="0" algn="ctr" rtl="0">
                <a:lnSpc>
                  <a:spcPct val="100000"/>
                </a:lnSpc>
                <a:spcBef>
                  <a:spcPts val="0"/>
                </a:spcBef>
                <a:spcAft>
                  <a:spcPts val="0"/>
                </a:spcAft>
                <a:buClr>
                  <a:srgbClr val="0F766E"/>
                </a:buClr>
                <a:buSzPts val="2800"/>
                <a:buFont typeface="Georgia"/>
                <a:buNone/>
              </a:pPr>
              <a:r>
                <a:rPr lang="en-US" sz="2800" b="1" i="0" u="none" strike="noStrike" cap="none">
                  <a:solidFill>
                    <a:srgbClr val="0F766E"/>
                  </a:solidFill>
                  <a:latin typeface="Josefin Sans"/>
                  <a:ea typeface="Josefin Sans"/>
                  <a:cs typeface="Josefin Sans"/>
                  <a:sym typeface="Josefin Sans"/>
                </a:rPr>
                <a:t>70 / 30</a:t>
              </a:r>
              <a:endParaRPr sz="2800" b="0" i="0" u="none" strike="noStrike" cap="none">
                <a:solidFill>
                  <a:schemeClr val="dk1"/>
                </a:solidFill>
                <a:latin typeface="Josefin Sans"/>
                <a:ea typeface="Josefin Sans"/>
                <a:cs typeface="Josefin Sans"/>
                <a:sym typeface="Josefin Sans"/>
              </a:endParaRPr>
            </a:p>
          </p:txBody>
        </p:sp>
        <p:sp>
          <p:nvSpPr>
            <p:cNvPr id="286" name="Google Shape;286;p4"/>
            <p:cNvSpPr/>
            <p:nvPr/>
          </p:nvSpPr>
          <p:spPr>
            <a:xfrm>
              <a:off x="6766496" y="1997373"/>
              <a:ext cx="1920300" cy="3885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475569"/>
                </a:buClr>
                <a:buSzPts val="1000"/>
                <a:buFont typeface="Calibri"/>
                <a:buNone/>
              </a:pPr>
              <a:r>
                <a:rPr lang="en-US" sz="1000" b="0" i="0" u="none" strike="noStrike" cap="none">
                  <a:solidFill>
                    <a:srgbClr val="475569"/>
                  </a:solidFill>
                  <a:latin typeface="Calibri"/>
                  <a:ea typeface="Calibri"/>
                  <a:cs typeface="Calibri"/>
                  <a:sym typeface="Calibri"/>
                </a:rPr>
                <a:t>Train / Test Split</a:t>
              </a:r>
              <a:endParaRPr sz="1000" b="0" i="0" u="none" strike="noStrike" cap="none">
                <a:solidFill>
                  <a:schemeClr val="dk1"/>
                </a:solidFill>
                <a:latin typeface="Calibri"/>
                <a:ea typeface="Calibri"/>
                <a:cs typeface="Calibri"/>
                <a:sym typeface="Calibri"/>
              </a:endParaRPr>
            </a:p>
          </p:txBody>
        </p:sp>
      </p:grpSp>
      <p:graphicFrame>
        <p:nvGraphicFramePr>
          <p:cNvPr id="287" name="Google Shape;287;p4"/>
          <p:cNvGraphicFramePr/>
          <p:nvPr>
            <p:extLst>
              <p:ext uri="{D42A27DB-BD31-4B8C-83A1-F6EECF244321}">
                <p14:modId xmlns:p14="http://schemas.microsoft.com/office/powerpoint/2010/main" val="1727310523"/>
              </p:ext>
            </p:extLst>
          </p:nvPr>
        </p:nvGraphicFramePr>
        <p:xfrm>
          <a:off x="457200" y="2578608"/>
          <a:ext cx="8229600" cy="2103125"/>
        </p:xfrm>
        <a:graphic>
          <a:graphicData uri="http://schemas.openxmlformats.org/drawingml/2006/table">
            <a:tbl>
              <a:tblPr>
                <a:noFill/>
                <a:tableStyleId>{3E3B9169-A877-4DBC-8345-1FAB3B18362B}</a:tableStyleId>
              </a:tblPr>
              <a:tblGrid>
                <a:gridCol w="1737350">
                  <a:extLst>
                    <a:ext uri="{9D8B030D-6E8A-4147-A177-3AD203B41FA5}">
                      <a16:colId xmlns:a16="http://schemas.microsoft.com/office/drawing/2014/main" val="20000"/>
                    </a:ext>
                  </a:extLst>
                </a:gridCol>
                <a:gridCol w="2103125">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2560325">
                  <a:extLst>
                    <a:ext uri="{9D8B030D-6E8A-4147-A177-3AD203B41FA5}">
                      <a16:colId xmlns:a16="http://schemas.microsoft.com/office/drawing/2014/main" val="20003"/>
                    </a:ext>
                  </a:extLst>
                </a:gridCol>
              </a:tblGrid>
              <a:tr h="420625">
                <a:tc>
                  <a:txBody>
                    <a:bodyPr/>
                    <a:lstStyle/>
                    <a:p>
                      <a:pPr marL="0" marR="0" lvl="0" indent="0" algn="ctr" rtl="0">
                        <a:lnSpc>
                          <a:spcPct val="100000"/>
                        </a:lnSpc>
                        <a:spcBef>
                          <a:spcPts val="0"/>
                        </a:spcBef>
                        <a:spcAft>
                          <a:spcPts val="0"/>
                        </a:spcAft>
                        <a:buClr>
                          <a:srgbClr val="FFFFFF"/>
                        </a:buClr>
                        <a:buSzPts val="1100"/>
                        <a:buFont typeface="Calibri"/>
                        <a:buNone/>
                      </a:pPr>
                      <a:r>
                        <a:rPr lang="en-US" sz="1100" b="1" u="none" strike="noStrike" cap="none">
                          <a:solidFill>
                            <a:srgbClr val="FFFFFF"/>
                          </a:solidFill>
                          <a:latin typeface="Calibri"/>
                          <a:ea typeface="Calibri"/>
                          <a:cs typeface="Calibri"/>
                          <a:sym typeface="Calibri"/>
                        </a:rPr>
                        <a:t>Variable</a:t>
                      </a:r>
                      <a:endParaRPr sz="1100" u="none" strike="noStrike" cap="none">
                        <a:latin typeface="Calibri"/>
                        <a:ea typeface="Calibri"/>
                        <a:cs typeface="Calibri"/>
                        <a:sym typeface="Calibri"/>
                      </a:endParaRPr>
                    </a:p>
                  </a:txBody>
                  <a:tcPr marL="91450" marR="91450" marT="45725" marB="45725" anchor="ctr">
                    <a:lnL w="9525" cap="flat" cmpd="sng">
                      <a:solidFill>
                        <a:srgbClr val="CBD5E1"/>
                      </a:solidFill>
                      <a:prstDash val="solid"/>
                      <a:round/>
                      <a:headEnd type="none" w="sm" len="sm"/>
                      <a:tailEnd type="none" w="sm" len="sm"/>
                    </a:lnL>
                    <a:lnR w="9525" cap="flat" cmpd="sng">
                      <a:solidFill>
                        <a:srgbClr val="CBD5E1"/>
                      </a:solidFill>
                      <a:prstDash val="solid"/>
                      <a:round/>
                      <a:headEnd type="none" w="sm" len="sm"/>
                      <a:tailEnd type="none" w="sm" len="sm"/>
                    </a:lnR>
                    <a:lnT w="9525" cap="flat" cmpd="sng">
                      <a:solidFill>
                        <a:srgbClr val="CBD5E1"/>
                      </a:solidFill>
                      <a:prstDash val="solid"/>
                      <a:round/>
                      <a:headEnd type="none" w="sm" len="sm"/>
                      <a:tailEnd type="none" w="sm" len="sm"/>
                    </a:lnT>
                    <a:lnB w="9525" cap="flat" cmpd="sng">
                      <a:solidFill>
                        <a:srgbClr val="CBD5E1"/>
                      </a:solidFill>
                      <a:prstDash val="solid"/>
                      <a:round/>
                      <a:headEnd type="none" w="sm" len="sm"/>
                      <a:tailEnd type="none" w="sm" len="sm"/>
                    </a:lnB>
                    <a:solidFill>
                      <a:srgbClr val="0C1A35"/>
                    </a:solidFill>
                  </a:tcPr>
                </a:tc>
                <a:tc>
                  <a:txBody>
                    <a:bodyPr/>
                    <a:lstStyle/>
                    <a:p>
                      <a:pPr marL="0" marR="0" lvl="0" indent="0" algn="ctr" rtl="0">
                        <a:lnSpc>
                          <a:spcPct val="100000"/>
                        </a:lnSpc>
                        <a:spcBef>
                          <a:spcPts val="0"/>
                        </a:spcBef>
                        <a:spcAft>
                          <a:spcPts val="0"/>
                        </a:spcAft>
                        <a:buClr>
                          <a:srgbClr val="FFFFFF"/>
                        </a:buClr>
                        <a:buSzPts val="1100"/>
                        <a:buFont typeface="Calibri"/>
                        <a:buNone/>
                      </a:pPr>
                      <a:r>
                        <a:rPr lang="en-US" sz="1100" b="1" u="none" strike="noStrike" cap="none">
                          <a:solidFill>
                            <a:srgbClr val="FFFFFF"/>
                          </a:solidFill>
                          <a:latin typeface="Calibri"/>
                          <a:ea typeface="Calibri"/>
                          <a:cs typeface="Calibri"/>
                          <a:sym typeface="Calibri"/>
                        </a:rPr>
                        <a:t>Constructed As</a:t>
                      </a:r>
                      <a:endParaRPr sz="1100" u="none" strike="noStrike" cap="none">
                        <a:latin typeface="Calibri"/>
                        <a:ea typeface="Calibri"/>
                        <a:cs typeface="Calibri"/>
                        <a:sym typeface="Calibri"/>
                      </a:endParaRPr>
                    </a:p>
                  </a:txBody>
                  <a:tcPr marL="91450" marR="91450" marT="45725" marB="45725" anchor="ctr">
                    <a:lnL w="9525" cap="flat" cmpd="sng">
                      <a:solidFill>
                        <a:srgbClr val="CBD5E1"/>
                      </a:solidFill>
                      <a:prstDash val="solid"/>
                      <a:round/>
                      <a:headEnd type="none" w="sm" len="sm"/>
                      <a:tailEnd type="none" w="sm" len="sm"/>
                    </a:lnL>
                    <a:lnR w="9525" cap="flat" cmpd="sng">
                      <a:solidFill>
                        <a:srgbClr val="CBD5E1"/>
                      </a:solidFill>
                      <a:prstDash val="solid"/>
                      <a:round/>
                      <a:headEnd type="none" w="sm" len="sm"/>
                      <a:tailEnd type="none" w="sm" len="sm"/>
                    </a:lnR>
                    <a:lnT w="9525" cap="flat" cmpd="sng">
                      <a:solidFill>
                        <a:srgbClr val="CBD5E1"/>
                      </a:solidFill>
                      <a:prstDash val="solid"/>
                      <a:round/>
                      <a:headEnd type="none" w="sm" len="sm"/>
                      <a:tailEnd type="none" w="sm" len="sm"/>
                    </a:lnT>
                    <a:lnB w="9525" cap="flat" cmpd="sng">
                      <a:solidFill>
                        <a:srgbClr val="CBD5E1"/>
                      </a:solidFill>
                      <a:prstDash val="solid"/>
                      <a:round/>
                      <a:headEnd type="none" w="sm" len="sm"/>
                      <a:tailEnd type="none" w="sm" len="sm"/>
                    </a:lnB>
                    <a:solidFill>
                      <a:srgbClr val="0C1A35"/>
                    </a:solidFill>
                  </a:tcPr>
                </a:tc>
                <a:tc>
                  <a:txBody>
                    <a:bodyPr/>
                    <a:lstStyle/>
                    <a:p>
                      <a:pPr marL="0" marR="0" lvl="0" indent="0" algn="ctr" rtl="0">
                        <a:lnSpc>
                          <a:spcPct val="100000"/>
                        </a:lnSpc>
                        <a:spcBef>
                          <a:spcPts val="0"/>
                        </a:spcBef>
                        <a:spcAft>
                          <a:spcPts val="0"/>
                        </a:spcAft>
                        <a:buClr>
                          <a:srgbClr val="FFFFFF"/>
                        </a:buClr>
                        <a:buSzPts val="1100"/>
                        <a:buFont typeface="Calibri"/>
                        <a:buNone/>
                      </a:pPr>
                      <a:r>
                        <a:rPr lang="en-US" sz="1100" b="1" u="none" strike="noStrike" cap="none">
                          <a:solidFill>
                            <a:srgbClr val="FFFFFF"/>
                          </a:solidFill>
                          <a:latin typeface="Calibri"/>
                          <a:ea typeface="Calibri"/>
                          <a:cs typeface="Calibri"/>
                          <a:sym typeface="Calibri"/>
                        </a:rPr>
                        <a:t>Role</a:t>
                      </a:r>
                      <a:endParaRPr sz="1100" u="none" strike="noStrike" cap="none">
                        <a:latin typeface="Calibri"/>
                        <a:ea typeface="Calibri"/>
                        <a:cs typeface="Calibri"/>
                        <a:sym typeface="Calibri"/>
                      </a:endParaRPr>
                    </a:p>
                  </a:txBody>
                  <a:tcPr marL="91450" marR="91450" marT="45725" marB="45725" anchor="ctr">
                    <a:lnL w="9525" cap="flat" cmpd="sng">
                      <a:solidFill>
                        <a:srgbClr val="CBD5E1"/>
                      </a:solidFill>
                      <a:prstDash val="solid"/>
                      <a:round/>
                      <a:headEnd type="none" w="sm" len="sm"/>
                      <a:tailEnd type="none" w="sm" len="sm"/>
                    </a:lnL>
                    <a:lnR w="9525" cap="flat" cmpd="sng">
                      <a:solidFill>
                        <a:srgbClr val="CBD5E1"/>
                      </a:solidFill>
                      <a:prstDash val="solid"/>
                      <a:round/>
                      <a:headEnd type="none" w="sm" len="sm"/>
                      <a:tailEnd type="none" w="sm" len="sm"/>
                    </a:lnR>
                    <a:lnT w="9525" cap="flat" cmpd="sng">
                      <a:solidFill>
                        <a:srgbClr val="CBD5E1"/>
                      </a:solidFill>
                      <a:prstDash val="solid"/>
                      <a:round/>
                      <a:headEnd type="none" w="sm" len="sm"/>
                      <a:tailEnd type="none" w="sm" len="sm"/>
                    </a:lnT>
                    <a:lnB w="9525" cap="flat" cmpd="sng">
                      <a:solidFill>
                        <a:srgbClr val="CBD5E1"/>
                      </a:solidFill>
                      <a:prstDash val="solid"/>
                      <a:round/>
                      <a:headEnd type="none" w="sm" len="sm"/>
                      <a:tailEnd type="none" w="sm" len="sm"/>
                    </a:lnB>
                    <a:solidFill>
                      <a:srgbClr val="0C1A35"/>
                    </a:solidFill>
                  </a:tcPr>
                </a:tc>
                <a:tc>
                  <a:txBody>
                    <a:bodyPr/>
                    <a:lstStyle/>
                    <a:p>
                      <a:pPr marL="0" marR="0" lvl="0" indent="0" algn="ctr" rtl="0">
                        <a:lnSpc>
                          <a:spcPct val="100000"/>
                        </a:lnSpc>
                        <a:spcBef>
                          <a:spcPts val="0"/>
                        </a:spcBef>
                        <a:spcAft>
                          <a:spcPts val="0"/>
                        </a:spcAft>
                        <a:buClr>
                          <a:srgbClr val="FFFFFF"/>
                        </a:buClr>
                        <a:buSzPts val="1100"/>
                        <a:buFont typeface="Calibri"/>
                        <a:buNone/>
                      </a:pPr>
                      <a:r>
                        <a:rPr lang="en-US" sz="1100" b="1" u="none" strike="noStrike" cap="none">
                          <a:solidFill>
                            <a:srgbClr val="FFFFFF"/>
                          </a:solidFill>
                          <a:latin typeface="Calibri"/>
                          <a:ea typeface="Calibri"/>
                          <a:cs typeface="Calibri"/>
                          <a:sym typeface="Calibri"/>
                        </a:rPr>
                        <a:t>Intuition</a:t>
                      </a:r>
                      <a:endParaRPr sz="1100" u="none" strike="noStrike" cap="none">
                        <a:latin typeface="Calibri"/>
                        <a:ea typeface="Calibri"/>
                        <a:cs typeface="Calibri"/>
                        <a:sym typeface="Calibri"/>
                      </a:endParaRPr>
                    </a:p>
                  </a:txBody>
                  <a:tcPr marL="91450" marR="91450" marT="45725" marB="45725" anchor="ctr">
                    <a:lnL w="9525" cap="flat" cmpd="sng">
                      <a:solidFill>
                        <a:srgbClr val="CBD5E1"/>
                      </a:solidFill>
                      <a:prstDash val="solid"/>
                      <a:round/>
                      <a:headEnd type="none" w="sm" len="sm"/>
                      <a:tailEnd type="none" w="sm" len="sm"/>
                    </a:lnL>
                    <a:lnR w="9525" cap="flat" cmpd="sng">
                      <a:solidFill>
                        <a:srgbClr val="CBD5E1"/>
                      </a:solidFill>
                      <a:prstDash val="solid"/>
                      <a:round/>
                      <a:headEnd type="none" w="sm" len="sm"/>
                      <a:tailEnd type="none" w="sm" len="sm"/>
                    </a:lnR>
                    <a:lnT w="9525" cap="flat" cmpd="sng">
                      <a:solidFill>
                        <a:srgbClr val="CBD5E1"/>
                      </a:solidFill>
                      <a:prstDash val="solid"/>
                      <a:round/>
                      <a:headEnd type="none" w="sm" len="sm"/>
                      <a:tailEnd type="none" w="sm" len="sm"/>
                    </a:lnT>
                    <a:lnB w="9525" cap="flat" cmpd="sng">
                      <a:solidFill>
                        <a:srgbClr val="CBD5E1"/>
                      </a:solidFill>
                      <a:prstDash val="solid"/>
                      <a:round/>
                      <a:headEnd type="none" w="sm" len="sm"/>
                      <a:tailEnd type="none" w="sm" len="sm"/>
                    </a:lnB>
                    <a:solidFill>
                      <a:srgbClr val="0C1A35"/>
                    </a:solidFill>
                  </a:tcPr>
                </a:tc>
                <a:extLst>
                  <a:ext uri="{0D108BD9-81ED-4DB2-BD59-A6C34878D82A}">
                    <a16:rowId xmlns:a16="http://schemas.microsoft.com/office/drawing/2014/main" val="10000"/>
                  </a:ext>
                </a:extLst>
              </a:tr>
              <a:tr h="420625">
                <a:tc>
                  <a:txBody>
                    <a:bodyPr/>
                    <a:lstStyle/>
                    <a:p>
                      <a:pPr marL="0" marR="0" lvl="0" indent="0" algn="ctr" rtl="0">
                        <a:lnSpc>
                          <a:spcPct val="100000"/>
                        </a:lnSpc>
                        <a:spcBef>
                          <a:spcPts val="0"/>
                        </a:spcBef>
                        <a:spcAft>
                          <a:spcPts val="0"/>
                        </a:spcAft>
                        <a:buClr>
                          <a:srgbClr val="1E293B"/>
                        </a:buClr>
                        <a:buSzPts val="1100"/>
                        <a:buFont typeface="Calibri"/>
                        <a:buNone/>
                      </a:pPr>
                      <a:r>
                        <a:rPr lang="en-US" sz="1100" u="none" strike="noStrike" cap="none">
                          <a:solidFill>
                            <a:srgbClr val="1E293B"/>
                          </a:solidFill>
                          <a:latin typeface="Calibri"/>
                          <a:ea typeface="Calibri"/>
                          <a:cs typeface="Calibri"/>
                          <a:sym typeface="Calibri"/>
                        </a:rPr>
                        <a:t>em_return (Y)</a:t>
                      </a:r>
                      <a:endParaRPr sz="1100" u="none" strike="noStrike" cap="none">
                        <a:latin typeface="Calibri"/>
                        <a:ea typeface="Calibri"/>
                        <a:cs typeface="Calibri"/>
                        <a:sym typeface="Calibri"/>
                      </a:endParaRPr>
                    </a:p>
                  </a:txBody>
                  <a:tcPr marL="91450" marR="91450" marT="45725" marB="45725" anchor="ctr">
                    <a:lnL w="9525" cap="flat" cmpd="sng">
                      <a:solidFill>
                        <a:srgbClr val="CBD5E1"/>
                      </a:solidFill>
                      <a:prstDash val="solid"/>
                      <a:round/>
                      <a:headEnd type="none" w="sm" len="sm"/>
                      <a:tailEnd type="none" w="sm" len="sm"/>
                    </a:lnL>
                    <a:lnR w="9525" cap="flat" cmpd="sng">
                      <a:solidFill>
                        <a:srgbClr val="CBD5E1"/>
                      </a:solidFill>
                      <a:prstDash val="solid"/>
                      <a:round/>
                      <a:headEnd type="none" w="sm" len="sm"/>
                      <a:tailEnd type="none" w="sm" len="sm"/>
                    </a:lnR>
                    <a:lnT w="9525" cap="flat" cmpd="sng">
                      <a:solidFill>
                        <a:srgbClr val="CBD5E1"/>
                      </a:solidFill>
                      <a:prstDash val="solid"/>
                      <a:round/>
                      <a:headEnd type="none" w="sm" len="sm"/>
                      <a:tailEnd type="none" w="sm" len="sm"/>
                    </a:lnT>
                    <a:lnB w="9525" cap="flat" cmpd="sng">
                      <a:solidFill>
                        <a:srgbClr val="CBD5E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1E293B"/>
                        </a:buClr>
                        <a:buSzPts val="1100"/>
                        <a:buFont typeface="Calibri"/>
                        <a:buNone/>
                      </a:pPr>
                      <a:r>
                        <a:rPr lang="en-US" sz="1100" u="none" strike="noStrike" cap="none">
                          <a:solidFill>
                            <a:srgbClr val="1E293B"/>
                          </a:solidFill>
                          <a:latin typeface="Calibri"/>
                          <a:ea typeface="Calibri"/>
                          <a:cs typeface="Calibri"/>
                          <a:sym typeface="Calibri"/>
                        </a:rPr>
                        <a:t>log(EMBt / EMBt-1)</a:t>
                      </a:r>
                      <a:endParaRPr sz="1100" u="none" strike="noStrike" cap="none">
                        <a:latin typeface="Calibri"/>
                        <a:ea typeface="Calibri"/>
                        <a:cs typeface="Calibri"/>
                        <a:sym typeface="Calibri"/>
                      </a:endParaRPr>
                    </a:p>
                  </a:txBody>
                  <a:tcPr marL="91450" marR="91450" marT="45725" marB="45725" anchor="ctr">
                    <a:lnL w="9525" cap="flat" cmpd="sng">
                      <a:solidFill>
                        <a:srgbClr val="CBD5E1"/>
                      </a:solidFill>
                      <a:prstDash val="solid"/>
                      <a:round/>
                      <a:headEnd type="none" w="sm" len="sm"/>
                      <a:tailEnd type="none" w="sm" len="sm"/>
                    </a:lnL>
                    <a:lnR w="9525" cap="flat" cmpd="sng">
                      <a:solidFill>
                        <a:srgbClr val="CBD5E1"/>
                      </a:solidFill>
                      <a:prstDash val="solid"/>
                      <a:round/>
                      <a:headEnd type="none" w="sm" len="sm"/>
                      <a:tailEnd type="none" w="sm" len="sm"/>
                    </a:lnR>
                    <a:lnT w="9525" cap="flat" cmpd="sng">
                      <a:solidFill>
                        <a:srgbClr val="CBD5E1"/>
                      </a:solidFill>
                      <a:prstDash val="solid"/>
                      <a:round/>
                      <a:headEnd type="none" w="sm" len="sm"/>
                      <a:tailEnd type="none" w="sm" len="sm"/>
                    </a:lnT>
                    <a:lnB w="9525" cap="flat" cmpd="sng">
                      <a:solidFill>
                        <a:srgbClr val="CBD5E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1E293B"/>
                        </a:buClr>
                        <a:buSzPts val="1100"/>
                        <a:buFont typeface="Calibri"/>
                        <a:buNone/>
                      </a:pPr>
                      <a:r>
                        <a:rPr lang="en-US" sz="1100" u="none" strike="noStrike" cap="none">
                          <a:solidFill>
                            <a:srgbClr val="1E293B"/>
                          </a:solidFill>
                          <a:latin typeface="Calibri"/>
                          <a:ea typeface="Calibri"/>
                          <a:cs typeface="Calibri"/>
                          <a:sym typeface="Calibri"/>
                        </a:rPr>
                        <a:t>Dependent variable</a:t>
                      </a:r>
                      <a:endParaRPr sz="1100" u="none" strike="noStrike" cap="none">
                        <a:latin typeface="Calibri"/>
                        <a:ea typeface="Calibri"/>
                        <a:cs typeface="Calibri"/>
                        <a:sym typeface="Calibri"/>
                      </a:endParaRPr>
                    </a:p>
                  </a:txBody>
                  <a:tcPr marL="91450" marR="91450" marT="45725" marB="45725" anchor="ctr">
                    <a:lnL w="9525" cap="flat" cmpd="sng">
                      <a:solidFill>
                        <a:srgbClr val="CBD5E1"/>
                      </a:solidFill>
                      <a:prstDash val="solid"/>
                      <a:round/>
                      <a:headEnd type="none" w="sm" len="sm"/>
                      <a:tailEnd type="none" w="sm" len="sm"/>
                    </a:lnL>
                    <a:lnR w="9525" cap="flat" cmpd="sng">
                      <a:solidFill>
                        <a:srgbClr val="CBD5E1"/>
                      </a:solidFill>
                      <a:prstDash val="solid"/>
                      <a:round/>
                      <a:headEnd type="none" w="sm" len="sm"/>
                      <a:tailEnd type="none" w="sm" len="sm"/>
                    </a:lnR>
                    <a:lnT w="9525" cap="flat" cmpd="sng">
                      <a:solidFill>
                        <a:srgbClr val="CBD5E1"/>
                      </a:solidFill>
                      <a:prstDash val="solid"/>
                      <a:round/>
                      <a:headEnd type="none" w="sm" len="sm"/>
                      <a:tailEnd type="none" w="sm" len="sm"/>
                    </a:lnT>
                    <a:lnB w="9525" cap="flat" cmpd="sng">
                      <a:solidFill>
                        <a:srgbClr val="CBD5E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1E293B"/>
                        </a:buClr>
                        <a:buSzPts val="1100"/>
                        <a:buFont typeface="Calibri"/>
                        <a:buNone/>
                      </a:pPr>
                      <a:r>
                        <a:rPr lang="en-US" sz="1100" u="none" strike="noStrike" cap="none">
                          <a:solidFill>
                            <a:srgbClr val="1E293B"/>
                          </a:solidFill>
                          <a:latin typeface="Calibri"/>
                          <a:ea typeface="Calibri"/>
                          <a:cs typeface="Calibri"/>
                          <a:sym typeface="Calibri"/>
                        </a:rPr>
                        <a:t>What we predict and trade</a:t>
                      </a:r>
                      <a:endParaRPr sz="1100" u="none" strike="noStrike" cap="none">
                        <a:latin typeface="Calibri"/>
                        <a:ea typeface="Calibri"/>
                        <a:cs typeface="Calibri"/>
                        <a:sym typeface="Calibri"/>
                      </a:endParaRPr>
                    </a:p>
                  </a:txBody>
                  <a:tcPr marL="91450" marR="91450" marT="45725" marB="45725" anchor="ctr">
                    <a:lnL w="9525" cap="flat" cmpd="sng">
                      <a:solidFill>
                        <a:srgbClr val="CBD5E1"/>
                      </a:solidFill>
                      <a:prstDash val="solid"/>
                      <a:round/>
                      <a:headEnd type="none" w="sm" len="sm"/>
                      <a:tailEnd type="none" w="sm" len="sm"/>
                    </a:lnL>
                    <a:lnR w="9525" cap="flat" cmpd="sng">
                      <a:solidFill>
                        <a:srgbClr val="CBD5E1"/>
                      </a:solidFill>
                      <a:prstDash val="solid"/>
                      <a:round/>
                      <a:headEnd type="none" w="sm" len="sm"/>
                      <a:tailEnd type="none" w="sm" len="sm"/>
                    </a:lnR>
                    <a:lnT w="9525" cap="flat" cmpd="sng">
                      <a:solidFill>
                        <a:srgbClr val="CBD5E1"/>
                      </a:solidFill>
                      <a:prstDash val="solid"/>
                      <a:round/>
                      <a:headEnd type="none" w="sm" len="sm"/>
                      <a:tailEnd type="none" w="sm" len="sm"/>
                    </a:lnT>
                    <a:lnB w="9525" cap="flat" cmpd="sng">
                      <a:solidFill>
                        <a:srgbClr val="CBD5E1"/>
                      </a:solidFill>
                      <a:prstDash val="solid"/>
                      <a:round/>
                      <a:headEnd type="none" w="sm" len="sm"/>
                      <a:tailEnd type="none" w="sm" len="sm"/>
                    </a:lnB>
                  </a:tcPr>
                </a:tc>
                <a:extLst>
                  <a:ext uri="{0D108BD9-81ED-4DB2-BD59-A6C34878D82A}">
                    <a16:rowId xmlns:a16="http://schemas.microsoft.com/office/drawing/2014/main" val="10001"/>
                  </a:ext>
                </a:extLst>
              </a:tr>
              <a:tr h="420625">
                <a:tc>
                  <a:txBody>
                    <a:bodyPr/>
                    <a:lstStyle/>
                    <a:p>
                      <a:pPr marL="0" marR="0" lvl="0" indent="0" algn="ctr" rtl="0">
                        <a:lnSpc>
                          <a:spcPct val="100000"/>
                        </a:lnSpc>
                        <a:spcBef>
                          <a:spcPts val="0"/>
                        </a:spcBef>
                        <a:spcAft>
                          <a:spcPts val="0"/>
                        </a:spcAft>
                        <a:buClr>
                          <a:srgbClr val="1E293B"/>
                        </a:buClr>
                        <a:buSzPts val="1100"/>
                        <a:buFont typeface="Calibri"/>
                        <a:buNone/>
                      </a:pPr>
                      <a:r>
                        <a:rPr lang="en-US" sz="1100" u="none" strike="noStrike" cap="none">
                          <a:solidFill>
                            <a:srgbClr val="1E293B"/>
                          </a:solidFill>
                          <a:latin typeface="Calibri"/>
                          <a:ea typeface="Calibri"/>
                          <a:cs typeface="Calibri"/>
                          <a:sym typeface="Calibri"/>
                        </a:rPr>
                        <a:t>Δ VIX (X₁)</a:t>
                      </a:r>
                      <a:endParaRPr sz="1100" u="none" strike="noStrike" cap="none">
                        <a:latin typeface="Calibri"/>
                        <a:ea typeface="Calibri"/>
                        <a:cs typeface="Calibri"/>
                        <a:sym typeface="Calibri"/>
                      </a:endParaRPr>
                    </a:p>
                  </a:txBody>
                  <a:tcPr marL="91450" marR="91450" marT="45725" marB="45725" anchor="ctr">
                    <a:lnL w="9525" cap="flat" cmpd="sng">
                      <a:solidFill>
                        <a:srgbClr val="CBD5E1"/>
                      </a:solidFill>
                      <a:prstDash val="solid"/>
                      <a:round/>
                      <a:headEnd type="none" w="sm" len="sm"/>
                      <a:tailEnd type="none" w="sm" len="sm"/>
                    </a:lnL>
                    <a:lnR w="9525" cap="flat" cmpd="sng">
                      <a:solidFill>
                        <a:srgbClr val="CBD5E1"/>
                      </a:solidFill>
                      <a:prstDash val="solid"/>
                      <a:round/>
                      <a:headEnd type="none" w="sm" len="sm"/>
                      <a:tailEnd type="none" w="sm" len="sm"/>
                    </a:lnR>
                    <a:lnT w="9525" cap="flat" cmpd="sng">
                      <a:solidFill>
                        <a:srgbClr val="CBD5E1"/>
                      </a:solidFill>
                      <a:prstDash val="solid"/>
                      <a:round/>
                      <a:headEnd type="none" w="sm" len="sm"/>
                      <a:tailEnd type="none" w="sm" len="sm"/>
                    </a:lnT>
                    <a:lnB w="9525" cap="flat" cmpd="sng">
                      <a:solidFill>
                        <a:srgbClr val="CBD5E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1E293B"/>
                        </a:buClr>
                        <a:buSzPts val="1100"/>
                        <a:buFont typeface="Calibri"/>
                        <a:buNone/>
                      </a:pPr>
                      <a:r>
                        <a:rPr lang="en-US" sz="1100" u="none" strike="noStrike" cap="none" dirty="0">
                          <a:solidFill>
                            <a:srgbClr val="1E293B"/>
                          </a:solidFill>
                          <a:latin typeface="Calibri"/>
                          <a:ea typeface="Calibri"/>
                          <a:cs typeface="Calibri"/>
                          <a:sym typeface="Calibri"/>
                        </a:rPr>
                        <a:t>VIXₜ − VIXₜ₋₁</a:t>
                      </a:r>
                      <a:endParaRPr sz="1100" u="none" strike="noStrike" cap="none" dirty="0">
                        <a:latin typeface="Calibri"/>
                        <a:ea typeface="Calibri"/>
                        <a:cs typeface="Calibri"/>
                        <a:sym typeface="Calibri"/>
                      </a:endParaRPr>
                    </a:p>
                  </a:txBody>
                  <a:tcPr marL="91450" marR="91450" marT="45725" marB="45725" anchor="ctr">
                    <a:lnL w="9525" cap="flat" cmpd="sng">
                      <a:solidFill>
                        <a:srgbClr val="CBD5E1"/>
                      </a:solidFill>
                      <a:prstDash val="solid"/>
                      <a:round/>
                      <a:headEnd type="none" w="sm" len="sm"/>
                      <a:tailEnd type="none" w="sm" len="sm"/>
                    </a:lnL>
                    <a:lnR w="9525" cap="flat" cmpd="sng">
                      <a:solidFill>
                        <a:srgbClr val="CBD5E1"/>
                      </a:solidFill>
                      <a:prstDash val="solid"/>
                      <a:round/>
                      <a:headEnd type="none" w="sm" len="sm"/>
                      <a:tailEnd type="none" w="sm" len="sm"/>
                    </a:lnR>
                    <a:lnT w="9525" cap="flat" cmpd="sng">
                      <a:solidFill>
                        <a:srgbClr val="CBD5E1"/>
                      </a:solidFill>
                      <a:prstDash val="solid"/>
                      <a:round/>
                      <a:headEnd type="none" w="sm" len="sm"/>
                      <a:tailEnd type="none" w="sm" len="sm"/>
                    </a:lnT>
                    <a:lnB w="9525" cap="flat" cmpd="sng">
                      <a:solidFill>
                        <a:srgbClr val="CBD5E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1E293B"/>
                        </a:buClr>
                        <a:buSzPts val="1100"/>
                        <a:buFont typeface="Calibri"/>
                        <a:buNone/>
                      </a:pPr>
                      <a:r>
                        <a:rPr lang="en-US" sz="1100" u="none" strike="noStrike" cap="none" dirty="0">
                          <a:solidFill>
                            <a:srgbClr val="1E293B"/>
                          </a:solidFill>
                          <a:latin typeface="Calibri"/>
                          <a:ea typeface="Calibri"/>
                          <a:cs typeface="Calibri"/>
                          <a:sym typeface="Calibri"/>
                        </a:rPr>
                        <a:t>Primary predictor</a:t>
                      </a:r>
                      <a:endParaRPr sz="1100" u="none" strike="noStrike" cap="none" dirty="0">
                        <a:latin typeface="Calibri"/>
                        <a:ea typeface="Calibri"/>
                        <a:cs typeface="Calibri"/>
                        <a:sym typeface="Calibri"/>
                      </a:endParaRPr>
                    </a:p>
                  </a:txBody>
                  <a:tcPr marL="91450" marR="91450" marT="45725" marB="45725" anchor="ctr">
                    <a:lnL w="9525" cap="flat" cmpd="sng">
                      <a:solidFill>
                        <a:srgbClr val="CBD5E1"/>
                      </a:solidFill>
                      <a:prstDash val="solid"/>
                      <a:round/>
                      <a:headEnd type="none" w="sm" len="sm"/>
                      <a:tailEnd type="none" w="sm" len="sm"/>
                    </a:lnL>
                    <a:lnR w="9525" cap="flat" cmpd="sng">
                      <a:solidFill>
                        <a:srgbClr val="CBD5E1"/>
                      </a:solidFill>
                      <a:prstDash val="solid"/>
                      <a:round/>
                      <a:headEnd type="none" w="sm" len="sm"/>
                      <a:tailEnd type="none" w="sm" len="sm"/>
                    </a:lnR>
                    <a:lnT w="9525" cap="flat" cmpd="sng">
                      <a:solidFill>
                        <a:srgbClr val="CBD5E1"/>
                      </a:solidFill>
                      <a:prstDash val="solid"/>
                      <a:round/>
                      <a:headEnd type="none" w="sm" len="sm"/>
                      <a:tailEnd type="none" w="sm" len="sm"/>
                    </a:lnT>
                    <a:lnB w="9525" cap="flat" cmpd="sng">
                      <a:solidFill>
                        <a:srgbClr val="CBD5E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1E293B"/>
                        </a:buClr>
                        <a:buSzPts val="1100"/>
                        <a:buFont typeface="Calibri"/>
                        <a:buNone/>
                      </a:pPr>
                      <a:r>
                        <a:rPr lang="en-US" sz="1100" u="none" strike="noStrike" cap="none">
                          <a:solidFill>
                            <a:srgbClr val="1E293B"/>
                          </a:solidFill>
                          <a:latin typeface="Calibri"/>
                          <a:ea typeface="Calibri"/>
                          <a:cs typeface="Calibri"/>
                          <a:sym typeface="Calibri"/>
                        </a:rPr>
                        <a:t>Δ in levels; fear spike detector</a:t>
                      </a:r>
                      <a:endParaRPr sz="1100" u="none" strike="noStrike" cap="none">
                        <a:latin typeface="Calibri"/>
                        <a:ea typeface="Calibri"/>
                        <a:cs typeface="Calibri"/>
                        <a:sym typeface="Calibri"/>
                      </a:endParaRPr>
                    </a:p>
                  </a:txBody>
                  <a:tcPr marL="91450" marR="91450" marT="45725" marB="45725" anchor="ctr">
                    <a:lnL w="9525" cap="flat" cmpd="sng">
                      <a:solidFill>
                        <a:srgbClr val="CBD5E1"/>
                      </a:solidFill>
                      <a:prstDash val="solid"/>
                      <a:round/>
                      <a:headEnd type="none" w="sm" len="sm"/>
                      <a:tailEnd type="none" w="sm" len="sm"/>
                    </a:lnL>
                    <a:lnR w="9525" cap="flat" cmpd="sng">
                      <a:solidFill>
                        <a:srgbClr val="CBD5E1"/>
                      </a:solidFill>
                      <a:prstDash val="solid"/>
                      <a:round/>
                      <a:headEnd type="none" w="sm" len="sm"/>
                      <a:tailEnd type="none" w="sm" len="sm"/>
                    </a:lnR>
                    <a:lnT w="9525" cap="flat" cmpd="sng">
                      <a:solidFill>
                        <a:srgbClr val="CBD5E1"/>
                      </a:solidFill>
                      <a:prstDash val="solid"/>
                      <a:round/>
                      <a:headEnd type="none" w="sm" len="sm"/>
                      <a:tailEnd type="none" w="sm" len="sm"/>
                    </a:lnT>
                    <a:lnB w="9525" cap="flat" cmpd="sng">
                      <a:solidFill>
                        <a:srgbClr val="CBD5E1"/>
                      </a:solidFill>
                      <a:prstDash val="solid"/>
                      <a:round/>
                      <a:headEnd type="none" w="sm" len="sm"/>
                      <a:tailEnd type="none" w="sm" len="sm"/>
                    </a:lnB>
                  </a:tcPr>
                </a:tc>
                <a:extLst>
                  <a:ext uri="{0D108BD9-81ED-4DB2-BD59-A6C34878D82A}">
                    <a16:rowId xmlns:a16="http://schemas.microsoft.com/office/drawing/2014/main" val="10002"/>
                  </a:ext>
                </a:extLst>
              </a:tr>
              <a:tr h="420625">
                <a:tc>
                  <a:txBody>
                    <a:bodyPr/>
                    <a:lstStyle/>
                    <a:p>
                      <a:pPr marL="0" marR="0" lvl="0" indent="0" algn="ctr" rtl="0">
                        <a:lnSpc>
                          <a:spcPct val="100000"/>
                        </a:lnSpc>
                        <a:spcBef>
                          <a:spcPts val="0"/>
                        </a:spcBef>
                        <a:spcAft>
                          <a:spcPts val="0"/>
                        </a:spcAft>
                        <a:buClr>
                          <a:srgbClr val="1E293B"/>
                        </a:buClr>
                        <a:buSzPts val="1100"/>
                        <a:buFont typeface="Calibri"/>
                        <a:buNone/>
                      </a:pPr>
                      <a:r>
                        <a:rPr lang="en-US" sz="1100" u="none" strike="noStrike" cap="none">
                          <a:solidFill>
                            <a:srgbClr val="1E293B"/>
                          </a:solidFill>
                          <a:latin typeface="Calibri"/>
                          <a:ea typeface="Calibri"/>
                          <a:cs typeface="Calibri"/>
                          <a:sym typeface="Calibri"/>
                        </a:rPr>
                        <a:t>Δ Credit Spread (X₂)</a:t>
                      </a:r>
                      <a:endParaRPr sz="1100" u="none" strike="noStrike" cap="none">
                        <a:latin typeface="Calibri"/>
                        <a:ea typeface="Calibri"/>
                        <a:cs typeface="Calibri"/>
                        <a:sym typeface="Calibri"/>
                      </a:endParaRPr>
                    </a:p>
                  </a:txBody>
                  <a:tcPr marL="91450" marR="91450" marT="45725" marB="45725" anchor="ctr">
                    <a:lnL w="9525" cap="flat" cmpd="sng">
                      <a:solidFill>
                        <a:srgbClr val="CBD5E1"/>
                      </a:solidFill>
                      <a:prstDash val="solid"/>
                      <a:round/>
                      <a:headEnd type="none" w="sm" len="sm"/>
                      <a:tailEnd type="none" w="sm" len="sm"/>
                    </a:lnL>
                    <a:lnR w="9525" cap="flat" cmpd="sng">
                      <a:solidFill>
                        <a:srgbClr val="CBD5E1"/>
                      </a:solidFill>
                      <a:prstDash val="solid"/>
                      <a:round/>
                      <a:headEnd type="none" w="sm" len="sm"/>
                      <a:tailEnd type="none" w="sm" len="sm"/>
                    </a:lnR>
                    <a:lnT w="9525" cap="flat" cmpd="sng">
                      <a:solidFill>
                        <a:srgbClr val="CBD5E1"/>
                      </a:solidFill>
                      <a:prstDash val="solid"/>
                      <a:round/>
                      <a:headEnd type="none" w="sm" len="sm"/>
                      <a:tailEnd type="none" w="sm" len="sm"/>
                    </a:lnT>
                    <a:lnB w="9525" cap="flat" cmpd="sng">
                      <a:solidFill>
                        <a:srgbClr val="CBD5E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1E293B"/>
                        </a:buClr>
                        <a:buSzPts val="1100"/>
                        <a:buFont typeface="Calibri"/>
                        <a:buNone/>
                      </a:pPr>
                      <a:r>
                        <a:rPr lang="en-US" sz="1100" u="none" strike="noStrike" cap="none">
                          <a:solidFill>
                            <a:srgbClr val="1E293B"/>
                          </a:solidFill>
                          <a:latin typeface="Calibri"/>
                          <a:ea typeface="Calibri"/>
                          <a:cs typeface="Calibri"/>
                          <a:sym typeface="Calibri"/>
                        </a:rPr>
                        <a:t>Spreadt − Spreadt-1</a:t>
                      </a:r>
                      <a:endParaRPr sz="1100" u="none" strike="noStrike" cap="none">
                        <a:latin typeface="Calibri"/>
                        <a:ea typeface="Calibri"/>
                        <a:cs typeface="Calibri"/>
                        <a:sym typeface="Calibri"/>
                      </a:endParaRPr>
                    </a:p>
                  </a:txBody>
                  <a:tcPr marL="91450" marR="91450" marT="45725" marB="45725" anchor="ctr">
                    <a:lnL w="9525" cap="flat" cmpd="sng">
                      <a:solidFill>
                        <a:srgbClr val="CBD5E1"/>
                      </a:solidFill>
                      <a:prstDash val="solid"/>
                      <a:round/>
                      <a:headEnd type="none" w="sm" len="sm"/>
                      <a:tailEnd type="none" w="sm" len="sm"/>
                    </a:lnL>
                    <a:lnR w="9525" cap="flat" cmpd="sng">
                      <a:solidFill>
                        <a:srgbClr val="CBD5E1"/>
                      </a:solidFill>
                      <a:prstDash val="solid"/>
                      <a:round/>
                      <a:headEnd type="none" w="sm" len="sm"/>
                      <a:tailEnd type="none" w="sm" len="sm"/>
                    </a:lnR>
                    <a:lnT w="9525" cap="flat" cmpd="sng">
                      <a:solidFill>
                        <a:srgbClr val="CBD5E1"/>
                      </a:solidFill>
                      <a:prstDash val="solid"/>
                      <a:round/>
                      <a:headEnd type="none" w="sm" len="sm"/>
                      <a:tailEnd type="none" w="sm" len="sm"/>
                    </a:lnT>
                    <a:lnB w="9525" cap="flat" cmpd="sng">
                      <a:solidFill>
                        <a:srgbClr val="CBD5E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1E293B"/>
                        </a:buClr>
                        <a:buSzPts val="1100"/>
                        <a:buFont typeface="Calibri"/>
                        <a:buNone/>
                      </a:pPr>
                      <a:r>
                        <a:rPr lang="en-US" sz="1100" u="none" strike="noStrike" cap="none">
                          <a:solidFill>
                            <a:srgbClr val="1E293B"/>
                          </a:solidFill>
                          <a:latin typeface="Calibri"/>
                          <a:ea typeface="Calibri"/>
                          <a:cs typeface="Calibri"/>
                          <a:sym typeface="Calibri"/>
                        </a:rPr>
                        <a:t>Risk premium proxy</a:t>
                      </a:r>
                      <a:endParaRPr sz="1100" u="none" strike="noStrike" cap="none">
                        <a:latin typeface="Calibri"/>
                        <a:ea typeface="Calibri"/>
                        <a:cs typeface="Calibri"/>
                        <a:sym typeface="Calibri"/>
                      </a:endParaRPr>
                    </a:p>
                  </a:txBody>
                  <a:tcPr marL="91450" marR="91450" marT="45725" marB="45725" anchor="ctr">
                    <a:lnL w="9525" cap="flat" cmpd="sng">
                      <a:solidFill>
                        <a:srgbClr val="CBD5E1"/>
                      </a:solidFill>
                      <a:prstDash val="solid"/>
                      <a:round/>
                      <a:headEnd type="none" w="sm" len="sm"/>
                      <a:tailEnd type="none" w="sm" len="sm"/>
                    </a:lnL>
                    <a:lnR w="9525" cap="flat" cmpd="sng">
                      <a:solidFill>
                        <a:srgbClr val="CBD5E1"/>
                      </a:solidFill>
                      <a:prstDash val="solid"/>
                      <a:round/>
                      <a:headEnd type="none" w="sm" len="sm"/>
                      <a:tailEnd type="none" w="sm" len="sm"/>
                    </a:lnR>
                    <a:lnT w="9525" cap="flat" cmpd="sng">
                      <a:solidFill>
                        <a:srgbClr val="CBD5E1"/>
                      </a:solidFill>
                      <a:prstDash val="solid"/>
                      <a:round/>
                      <a:headEnd type="none" w="sm" len="sm"/>
                      <a:tailEnd type="none" w="sm" len="sm"/>
                    </a:lnT>
                    <a:lnB w="9525" cap="flat" cmpd="sng">
                      <a:solidFill>
                        <a:srgbClr val="CBD5E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1E293B"/>
                        </a:buClr>
                        <a:buSzPts val="1100"/>
                        <a:buFont typeface="Calibri"/>
                        <a:buNone/>
                      </a:pPr>
                      <a:r>
                        <a:rPr lang="en-US" sz="1100" u="none" strike="noStrike" cap="none">
                          <a:solidFill>
                            <a:srgbClr val="1E293B"/>
                          </a:solidFill>
                          <a:latin typeface="Calibri"/>
                          <a:ea typeface="Calibri"/>
                          <a:cs typeface="Calibri"/>
                          <a:sym typeface="Calibri"/>
                        </a:rPr>
                        <a:t>Δ in levels; increased risk off climate</a:t>
                      </a:r>
                      <a:endParaRPr sz="1100" u="none" strike="noStrike" cap="none">
                        <a:latin typeface="Calibri"/>
                        <a:ea typeface="Calibri"/>
                        <a:cs typeface="Calibri"/>
                        <a:sym typeface="Calibri"/>
                      </a:endParaRPr>
                    </a:p>
                  </a:txBody>
                  <a:tcPr marL="91450" marR="91450" marT="45725" marB="45725" anchor="ctr">
                    <a:lnL w="9525" cap="flat" cmpd="sng">
                      <a:solidFill>
                        <a:srgbClr val="CBD5E1"/>
                      </a:solidFill>
                      <a:prstDash val="solid"/>
                      <a:round/>
                      <a:headEnd type="none" w="sm" len="sm"/>
                      <a:tailEnd type="none" w="sm" len="sm"/>
                    </a:lnL>
                    <a:lnR w="9525" cap="flat" cmpd="sng">
                      <a:solidFill>
                        <a:srgbClr val="CBD5E1"/>
                      </a:solidFill>
                      <a:prstDash val="solid"/>
                      <a:round/>
                      <a:headEnd type="none" w="sm" len="sm"/>
                      <a:tailEnd type="none" w="sm" len="sm"/>
                    </a:lnR>
                    <a:lnT w="9525" cap="flat" cmpd="sng">
                      <a:solidFill>
                        <a:srgbClr val="CBD5E1"/>
                      </a:solidFill>
                      <a:prstDash val="solid"/>
                      <a:round/>
                      <a:headEnd type="none" w="sm" len="sm"/>
                      <a:tailEnd type="none" w="sm" len="sm"/>
                    </a:lnT>
                    <a:lnB w="9525" cap="flat" cmpd="sng">
                      <a:solidFill>
                        <a:srgbClr val="CBD5E1"/>
                      </a:solidFill>
                      <a:prstDash val="solid"/>
                      <a:round/>
                      <a:headEnd type="none" w="sm" len="sm"/>
                      <a:tailEnd type="none" w="sm" len="sm"/>
                    </a:lnB>
                  </a:tcPr>
                </a:tc>
                <a:extLst>
                  <a:ext uri="{0D108BD9-81ED-4DB2-BD59-A6C34878D82A}">
                    <a16:rowId xmlns:a16="http://schemas.microsoft.com/office/drawing/2014/main" val="10003"/>
                  </a:ext>
                </a:extLst>
              </a:tr>
              <a:tr h="420625">
                <a:tc>
                  <a:txBody>
                    <a:bodyPr/>
                    <a:lstStyle/>
                    <a:p>
                      <a:pPr marL="0" marR="0" lvl="0" indent="0" algn="ctr" rtl="0">
                        <a:lnSpc>
                          <a:spcPct val="100000"/>
                        </a:lnSpc>
                        <a:spcBef>
                          <a:spcPts val="0"/>
                        </a:spcBef>
                        <a:spcAft>
                          <a:spcPts val="0"/>
                        </a:spcAft>
                        <a:buClr>
                          <a:srgbClr val="1E293B"/>
                        </a:buClr>
                        <a:buSzPts val="1100"/>
                        <a:buFont typeface="Calibri"/>
                        <a:buNone/>
                      </a:pPr>
                      <a:r>
                        <a:rPr lang="en-US" sz="1100" u="none" strike="noStrike" cap="none">
                          <a:solidFill>
                            <a:srgbClr val="1E293B"/>
                          </a:solidFill>
                          <a:latin typeface="Calibri"/>
                          <a:ea typeface="Calibri"/>
                          <a:cs typeface="Calibri"/>
                          <a:sym typeface="Calibri"/>
                        </a:rPr>
                        <a:t>Oil Return (X₃)</a:t>
                      </a:r>
                      <a:endParaRPr sz="1100" u="none" strike="noStrike" cap="none">
                        <a:latin typeface="Calibri"/>
                        <a:ea typeface="Calibri"/>
                        <a:cs typeface="Calibri"/>
                        <a:sym typeface="Calibri"/>
                      </a:endParaRPr>
                    </a:p>
                  </a:txBody>
                  <a:tcPr marL="91450" marR="91450" marT="45725" marB="45725" anchor="ctr">
                    <a:lnL w="9525" cap="flat" cmpd="sng">
                      <a:solidFill>
                        <a:srgbClr val="CBD5E1"/>
                      </a:solidFill>
                      <a:prstDash val="solid"/>
                      <a:round/>
                      <a:headEnd type="none" w="sm" len="sm"/>
                      <a:tailEnd type="none" w="sm" len="sm"/>
                    </a:lnL>
                    <a:lnR w="9525" cap="flat" cmpd="sng">
                      <a:solidFill>
                        <a:srgbClr val="CBD5E1"/>
                      </a:solidFill>
                      <a:prstDash val="solid"/>
                      <a:round/>
                      <a:headEnd type="none" w="sm" len="sm"/>
                      <a:tailEnd type="none" w="sm" len="sm"/>
                    </a:lnR>
                    <a:lnT w="9525" cap="flat" cmpd="sng">
                      <a:solidFill>
                        <a:srgbClr val="CBD5E1"/>
                      </a:solidFill>
                      <a:prstDash val="solid"/>
                      <a:round/>
                      <a:headEnd type="none" w="sm" len="sm"/>
                      <a:tailEnd type="none" w="sm" len="sm"/>
                    </a:lnT>
                    <a:lnB w="9525" cap="flat" cmpd="sng">
                      <a:solidFill>
                        <a:srgbClr val="CBD5E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1E293B"/>
                        </a:buClr>
                        <a:buSzPts val="1100"/>
                        <a:buFont typeface="Calibri"/>
                        <a:buNone/>
                      </a:pPr>
                      <a:r>
                        <a:rPr lang="en-US" sz="1100" u="none" strike="noStrike" cap="none">
                          <a:solidFill>
                            <a:srgbClr val="1E293B"/>
                          </a:solidFill>
                          <a:latin typeface="Calibri"/>
                          <a:ea typeface="Calibri"/>
                          <a:cs typeface="Calibri"/>
                          <a:sym typeface="Calibri"/>
                        </a:rPr>
                        <a:t>log(OIL_t / OIL_t-1)</a:t>
                      </a:r>
                      <a:endParaRPr sz="1100" u="none" strike="noStrike" cap="none">
                        <a:latin typeface="Calibri"/>
                        <a:ea typeface="Calibri"/>
                        <a:cs typeface="Calibri"/>
                        <a:sym typeface="Calibri"/>
                      </a:endParaRPr>
                    </a:p>
                  </a:txBody>
                  <a:tcPr marL="91450" marR="91450" marT="45725" marB="45725" anchor="ctr">
                    <a:lnL w="9525" cap="flat" cmpd="sng">
                      <a:solidFill>
                        <a:srgbClr val="CBD5E1"/>
                      </a:solidFill>
                      <a:prstDash val="solid"/>
                      <a:round/>
                      <a:headEnd type="none" w="sm" len="sm"/>
                      <a:tailEnd type="none" w="sm" len="sm"/>
                    </a:lnL>
                    <a:lnR w="9525" cap="flat" cmpd="sng">
                      <a:solidFill>
                        <a:srgbClr val="CBD5E1"/>
                      </a:solidFill>
                      <a:prstDash val="solid"/>
                      <a:round/>
                      <a:headEnd type="none" w="sm" len="sm"/>
                      <a:tailEnd type="none" w="sm" len="sm"/>
                    </a:lnR>
                    <a:lnT w="9525" cap="flat" cmpd="sng">
                      <a:solidFill>
                        <a:srgbClr val="CBD5E1"/>
                      </a:solidFill>
                      <a:prstDash val="solid"/>
                      <a:round/>
                      <a:headEnd type="none" w="sm" len="sm"/>
                      <a:tailEnd type="none" w="sm" len="sm"/>
                    </a:lnT>
                    <a:lnB w="9525" cap="flat" cmpd="sng">
                      <a:solidFill>
                        <a:srgbClr val="CBD5E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1E293B"/>
                        </a:buClr>
                        <a:buSzPts val="1100"/>
                        <a:buFont typeface="Calibri"/>
                        <a:buNone/>
                      </a:pPr>
                      <a:r>
                        <a:rPr lang="en-US" sz="1100" u="none" strike="noStrike" cap="none">
                          <a:solidFill>
                            <a:srgbClr val="1E293B"/>
                          </a:solidFill>
                          <a:latin typeface="Calibri"/>
                          <a:ea typeface="Calibri"/>
                          <a:cs typeface="Calibri"/>
                          <a:sym typeface="Calibri"/>
                        </a:rPr>
                        <a:t>Global risk appetite</a:t>
                      </a:r>
                      <a:endParaRPr sz="1100" u="none" strike="noStrike" cap="none">
                        <a:latin typeface="Calibri"/>
                        <a:ea typeface="Calibri"/>
                        <a:cs typeface="Calibri"/>
                        <a:sym typeface="Calibri"/>
                      </a:endParaRPr>
                    </a:p>
                  </a:txBody>
                  <a:tcPr marL="91450" marR="91450" marT="45725" marB="45725" anchor="ctr">
                    <a:lnL w="9525" cap="flat" cmpd="sng">
                      <a:solidFill>
                        <a:srgbClr val="CBD5E1"/>
                      </a:solidFill>
                      <a:prstDash val="solid"/>
                      <a:round/>
                      <a:headEnd type="none" w="sm" len="sm"/>
                      <a:tailEnd type="none" w="sm" len="sm"/>
                    </a:lnL>
                    <a:lnR w="9525" cap="flat" cmpd="sng">
                      <a:solidFill>
                        <a:srgbClr val="CBD5E1"/>
                      </a:solidFill>
                      <a:prstDash val="solid"/>
                      <a:round/>
                      <a:headEnd type="none" w="sm" len="sm"/>
                      <a:tailEnd type="none" w="sm" len="sm"/>
                    </a:lnR>
                    <a:lnT w="9525" cap="flat" cmpd="sng">
                      <a:solidFill>
                        <a:srgbClr val="CBD5E1"/>
                      </a:solidFill>
                      <a:prstDash val="solid"/>
                      <a:round/>
                      <a:headEnd type="none" w="sm" len="sm"/>
                      <a:tailEnd type="none" w="sm" len="sm"/>
                    </a:lnT>
                    <a:lnB w="9525" cap="flat" cmpd="sng">
                      <a:solidFill>
                        <a:srgbClr val="CBD5E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1E293B"/>
                        </a:buClr>
                        <a:buSzPts val="1100"/>
                        <a:buFont typeface="Calibri"/>
                        <a:buNone/>
                      </a:pPr>
                      <a:r>
                        <a:rPr lang="en-US" sz="1100" u="none" strike="noStrike" cap="none" dirty="0">
                          <a:solidFill>
                            <a:srgbClr val="1E293B"/>
                          </a:solidFill>
                          <a:latin typeface="Calibri"/>
                          <a:ea typeface="Calibri"/>
                          <a:cs typeface="Calibri"/>
                          <a:sym typeface="Calibri"/>
                        </a:rPr>
                        <a:t>Δ in levels; increased macro uncertainty</a:t>
                      </a:r>
                      <a:endParaRPr sz="1100" u="none" strike="noStrike" cap="none" dirty="0">
                        <a:latin typeface="Calibri"/>
                        <a:ea typeface="Calibri"/>
                        <a:cs typeface="Calibri"/>
                        <a:sym typeface="Calibri"/>
                      </a:endParaRPr>
                    </a:p>
                  </a:txBody>
                  <a:tcPr marL="91450" marR="91450" marT="45725" marB="45725" anchor="ctr">
                    <a:lnL w="9525" cap="flat" cmpd="sng">
                      <a:solidFill>
                        <a:srgbClr val="CBD5E1"/>
                      </a:solidFill>
                      <a:prstDash val="solid"/>
                      <a:round/>
                      <a:headEnd type="none" w="sm" len="sm"/>
                      <a:tailEnd type="none" w="sm" len="sm"/>
                    </a:lnL>
                    <a:lnR w="9525" cap="flat" cmpd="sng">
                      <a:solidFill>
                        <a:srgbClr val="CBD5E1"/>
                      </a:solidFill>
                      <a:prstDash val="solid"/>
                      <a:round/>
                      <a:headEnd type="none" w="sm" len="sm"/>
                      <a:tailEnd type="none" w="sm" len="sm"/>
                    </a:lnR>
                    <a:lnT w="9525" cap="flat" cmpd="sng">
                      <a:solidFill>
                        <a:srgbClr val="CBD5E1"/>
                      </a:solidFill>
                      <a:prstDash val="solid"/>
                      <a:round/>
                      <a:headEnd type="none" w="sm" len="sm"/>
                      <a:tailEnd type="none" w="sm" len="sm"/>
                    </a:lnT>
                    <a:lnB w="9525" cap="flat" cmpd="sng">
                      <a:solidFill>
                        <a:srgbClr val="CBD5E1"/>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
        <p:nvSpPr>
          <p:cNvPr id="288" name="Google Shape;288;p4"/>
          <p:cNvSpPr/>
          <p:nvPr/>
        </p:nvSpPr>
        <p:spPr>
          <a:xfrm>
            <a:off x="457200" y="4755027"/>
            <a:ext cx="8229600" cy="2925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475569"/>
              </a:buClr>
              <a:buSzPts val="1000"/>
              <a:buFont typeface="Calibri"/>
              <a:buNone/>
            </a:pPr>
            <a:r>
              <a:rPr lang="en-US" sz="1000" b="0" i="1" u="none" strike="noStrike" cap="none" dirty="0">
                <a:solidFill>
                  <a:srgbClr val="475569"/>
                </a:solidFill>
                <a:latin typeface="Calibri"/>
                <a:ea typeface="Calibri"/>
                <a:cs typeface="Calibri"/>
                <a:sym typeface="Calibri"/>
              </a:rPr>
              <a:t>Returns used for prices (oil, EMB); first differences used for non-prices (VIX, spreads). Eliminates look-ahead bias by predicting t+1 returns using t predictors.</a:t>
            </a:r>
            <a:endParaRPr sz="1000" b="0" i="0" u="none" strike="noStrike" cap="none" dirty="0">
              <a:solidFill>
                <a:schemeClr val="dk1"/>
              </a:solidFill>
              <a:latin typeface="Calibri"/>
              <a:ea typeface="Calibri"/>
              <a:cs typeface="Calibri"/>
              <a:sym typeface="Calibri"/>
            </a:endParaRPr>
          </a:p>
        </p:txBody>
      </p:sp>
      <p:sp>
        <p:nvSpPr>
          <p:cNvPr id="289" name="Google Shape;289;p4"/>
          <p:cNvSpPr/>
          <p:nvPr/>
        </p:nvSpPr>
        <p:spPr>
          <a:xfrm>
            <a:off x="457200" y="1133934"/>
            <a:ext cx="8229600" cy="27300"/>
          </a:xfrm>
          <a:prstGeom prst="rect">
            <a:avLst/>
          </a:prstGeom>
          <a:solidFill>
            <a:srgbClr val="2B6CB0"/>
          </a:solidFill>
          <a:ln w="9525" cap="flat" cmpd="sng">
            <a:solidFill>
              <a:srgbClr val="2B6CB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94"/>
        <p:cNvGrpSpPr/>
        <p:nvPr/>
      </p:nvGrpSpPr>
      <p:grpSpPr>
        <a:xfrm>
          <a:off x="0" y="0"/>
          <a:ext cx="0" cy="0"/>
          <a:chOff x="0" y="0"/>
          <a:chExt cx="0" cy="0"/>
        </a:xfrm>
      </p:grpSpPr>
      <p:sp>
        <p:nvSpPr>
          <p:cNvPr id="295" name="Google Shape;295;p5"/>
          <p:cNvSpPr/>
          <p:nvPr/>
        </p:nvSpPr>
        <p:spPr>
          <a:xfrm>
            <a:off x="365700" y="4912526"/>
            <a:ext cx="8412600" cy="216000"/>
          </a:xfrm>
          <a:prstGeom prst="rect">
            <a:avLst/>
          </a:prstGeom>
          <a:solidFill>
            <a:srgbClr val="F7F9FC"/>
          </a:solidFill>
          <a:ln w="9525" cap="flat" cmpd="sng">
            <a:solidFill>
              <a:srgbClr val="CBD5E1"/>
            </a:solidFill>
            <a:prstDash val="solid"/>
            <a:round/>
            <a:headEnd type="none" w="sm" len="sm"/>
            <a:tailEnd type="none" w="sm" len="sm"/>
          </a:ln>
          <a:effectLst>
            <a:outerShdw blurRad="127000" dist="25400" dir="8100000" algn="bl" rotWithShape="0">
              <a:srgbClr val="000000">
                <a:alpha val="10196"/>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96" name="Google Shape;296;p5"/>
          <p:cNvSpPr/>
          <p:nvPr/>
        </p:nvSpPr>
        <p:spPr>
          <a:xfrm>
            <a:off x="457200" y="146304"/>
            <a:ext cx="2194560" cy="274320"/>
          </a:xfrm>
          <a:prstGeom prst="rect">
            <a:avLst/>
          </a:prstGeom>
          <a:solidFill>
            <a:srgbClr val="2B6CB0"/>
          </a:solidFill>
          <a:ln w="9525" cap="flat" cmpd="sng">
            <a:solidFill>
              <a:srgbClr val="2B6CB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97" name="Google Shape;297;p5"/>
          <p:cNvSpPr/>
          <p:nvPr/>
        </p:nvSpPr>
        <p:spPr>
          <a:xfrm>
            <a:off x="457200" y="146304"/>
            <a:ext cx="2194560" cy="27432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FFFFFF"/>
              </a:buClr>
              <a:buSzPts val="850"/>
              <a:buFont typeface="Calibri"/>
              <a:buNone/>
            </a:pPr>
            <a:r>
              <a:rPr lang="en-US" sz="1050" b="1" i="0" u="none" strike="noStrike" cap="none">
                <a:solidFill>
                  <a:srgbClr val="FFFFFF"/>
                </a:solidFill>
                <a:latin typeface="Calibri"/>
                <a:ea typeface="Calibri"/>
                <a:cs typeface="Calibri"/>
                <a:sym typeface="Calibri"/>
              </a:rPr>
              <a:t>DATA - CORRELATIONS</a:t>
            </a:r>
            <a:endParaRPr sz="1050" b="0" i="0" u="none" strike="noStrike" cap="none">
              <a:solidFill>
                <a:schemeClr val="dk1"/>
              </a:solidFill>
              <a:latin typeface="Calibri"/>
              <a:ea typeface="Calibri"/>
              <a:cs typeface="Calibri"/>
              <a:sym typeface="Calibri"/>
            </a:endParaRPr>
          </a:p>
        </p:txBody>
      </p:sp>
      <p:sp>
        <p:nvSpPr>
          <p:cNvPr id="298" name="Google Shape;298;p5"/>
          <p:cNvSpPr/>
          <p:nvPr/>
        </p:nvSpPr>
        <p:spPr>
          <a:xfrm>
            <a:off x="457200" y="502920"/>
            <a:ext cx="8229600" cy="658368"/>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C1A35"/>
              </a:buClr>
              <a:buSzPts val="3200"/>
              <a:buFont typeface="Georgia"/>
              <a:buNone/>
            </a:pPr>
            <a:r>
              <a:rPr lang="en-US" sz="3200" b="1" i="0" u="none" strike="noStrike" cap="none">
                <a:solidFill>
                  <a:srgbClr val="0C1A35"/>
                </a:solidFill>
                <a:latin typeface="Georgia"/>
                <a:ea typeface="Georgia"/>
                <a:cs typeface="Georgia"/>
                <a:sym typeface="Georgia"/>
              </a:rPr>
              <a:t>How the Variables Move Together</a:t>
            </a:r>
            <a:endParaRPr sz="3200" b="0" i="0" u="none" strike="noStrike" cap="none">
              <a:solidFill>
                <a:schemeClr val="dk1"/>
              </a:solidFill>
              <a:latin typeface="Calibri"/>
              <a:ea typeface="Calibri"/>
              <a:cs typeface="Calibri"/>
              <a:sym typeface="Calibri"/>
            </a:endParaRPr>
          </a:p>
        </p:txBody>
      </p:sp>
      <p:sp>
        <p:nvSpPr>
          <p:cNvPr id="299" name="Google Shape;299;p5"/>
          <p:cNvSpPr/>
          <p:nvPr/>
        </p:nvSpPr>
        <p:spPr>
          <a:xfrm>
            <a:off x="365750" y="1371600"/>
            <a:ext cx="8412600" cy="792000"/>
          </a:xfrm>
          <a:prstGeom prst="rect">
            <a:avLst/>
          </a:prstGeom>
          <a:solidFill>
            <a:srgbClr val="F7F9FC"/>
          </a:solidFill>
          <a:ln w="9525" cap="flat" cmpd="sng">
            <a:solidFill>
              <a:srgbClr val="CBD5E1"/>
            </a:solidFill>
            <a:prstDash val="solid"/>
            <a:round/>
            <a:headEnd type="none" w="sm" len="sm"/>
            <a:tailEnd type="none" w="sm" len="sm"/>
          </a:ln>
          <a:effectLst>
            <a:outerShdw blurRad="127000" dist="25400" dir="8100000" algn="bl" rotWithShape="0">
              <a:srgbClr val="000000">
                <a:alpha val="10196"/>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00" name="Google Shape;300;p5"/>
          <p:cNvSpPr/>
          <p:nvPr/>
        </p:nvSpPr>
        <p:spPr>
          <a:xfrm>
            <a:off x="365750" y="1371600"/>
            <a:ext cx="91500" cy="792000"/>
          </a:xfrm>
          <a:prstGeom prst="rect">
            <a:avLst/>
          </a:prstGeom>
          <a:solidFill>
            <a:srgbClr val="B91C1C"/>
          </a:solidFill>
          <a:ln w="9525" cap="flat" cmpd="sng">
            <a:solidFill>
              <a:srgbClr val="B91C1C"/>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01" name="Google Shape;301;p5"/>
          <p:cNvSpPr/>
          <p:nvPr/>
        </p:nvSpPr>
        <p:spPr>
          <a:xfrm>
            <a:off x="631018" y="1569634"/>
            <a:ext cx="2560200" cy="360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E293B"/>
              </a:buClr>
              <a:buSzPts val="1200"/>
              <a:buFont typeface="Calibri"/>
              <a:buNone/>
            </a:pPr>
            <a:r>
              <a:rPr lang="en-US" sz="1200" b="1" i="0" u="none" strike="noStrike" cap="none">
                <a:solidFill>
                  <a:srgbClr val="1E293B"/>
                </a:solidFill>
                <a:latin typeface="Calibri"/>
                <a:ea typeface="Calibri"/>
                <a:cs typeface="Calibri"/>
                <a:sym typeface="Calibri"/>
              </a:rPr>
              <a:t>Δ VIX vs EMB Return</a:t>
            </a:r>
            <a:endParaRPr sz="1200" b="0" i="0" u="none" strike="noStrike" cap="none">
              <a:solidFill>
                <a:schemeClr val="dk1"/>
              </a:solidFill>
              <a:latin typeface="Calibri"/>
              <a:ea typeface="Calibri"/>
              <a:cs typeface="Calibri"/>
              <a:sym typeface="Calibri"/>
            </a:endParaRPr>
          </a:p>
        </p:txBody>
      </p:sp>
      <p:sp>
        <p:nvSpPr>
          <p:cNvPr id="302" name="Google Shape;302;p5"/>
          <p:cNvSpPr/>
          <p:nvPr/>
        </p:nvSpPr>
        <p:spPr>
          <a:xfrm>
            <a:off x="3098776" y="1632199"/>
            <a:ext cx="1828800" cy="21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B91C1C"/>
              </a:buClr>
              <a:buSzPts val="1100"/>
              <a:buFont typeface="Calibri"/>
              <a:buNone/>
            </a:pPr>
            <a:r>
              <a:rPr lang="en-US" sz="1100" b="1" i="0" u="none" strike="noStrike" cap="none">
                <a:solidFill>
                  <a:srgbClr val="B91C1C"/>
                </a:solidFill>
                <a:latin typeface="Calibri"/>
                <a:ea typeface="Calibri"/>
                <a:cs typeface="Calibri"/>
                <a:sym typeface="Calibri"/>
              </a:rPr>
              <a:t>−0.47  (Strong Negative)</a:t>
            </a:r>
            <a:endParaRPr sz="1100" b="0" i="0" u="none" strike="noStrike" cap="none">
              <a:solidFill>
                <a:schemeClr val="dk1"/>
              </a:solidFill>
              <a:latin typeface="Calibri"/>
              <a:ea typeface="Calibri"/>
              <a:cs typeface="Calibri"/>
              <a:sym typeface="Calibri"/>
            </a:endParaRPr>
          </a:p>
        </p:txBody>
      </p:sp>
      <p:sp>
        <p:nvSpPr>
          <p:cNvPr id="303" name="Google Shape;303;p5"/>
          <p:cNvSpPr/>
          <p:nvPr/>
        </p:nvSpPr>
        <p:spPr>
          <a:xfrm>
            <a:off x="5285234" y="1425609"/>
            <a:ext cx="3383400" cy="684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475569"/>
              </a:buClr>
              <a:buSzPts val="1000"/>
              <a:buFont typeface="Calibri"/>
              <a:buNone/>
            </a:pPr>
            <a:r>
              <a:rPr lang="en-US" sz="1000" b="0" i="0" u="none" strike="noStrike" cap="none">
                <a:solidFill>
                  <a:srgbClr val="475569"/>
                </a:solidFill>
                <a:latin typeface="Calibri"/>
                <a:ea typeface="Calibri"/>
                <a:cs typeface="Calibri"/>
                <a:sym typeface="Calibri"/>
              </a:rPr>
              <a:t>On the SAME day: when fear spikes, investors panic-sell EMBs. This is a contemporaneous reaction, not a prediction.</a:t>
            </a:r>
            <a:endParaRPr sz="1000" b="0" i="0" u="none" strike="noStrike" cap="none">
              <a:solidFill>
                <a:schemeClr val="dk1"/>
              </a:solidFill>
              <a:latin typeface="Calibri"/>
              <a:ea typeface="Calibri"/>
              <a:cs typeface="Calibri"/>
              <a:sym typeface="Calibri"/>
            </a:endParaRPr>
          </a:p>
        </p:txBody>
      </p:sp>
      <p:sp>
        <p:nvSpPr>
          <p:cNvPr id="304" name="Google Shape;304;p5"/>
          <p:cNvSpPr/>
          <p:nvPr/>
        </p:nvSpPr>
        <p:spPr>
          <a:xfrm>
            <a:off x="365750" y="2262741"/>
            <a:ext cx="8412600" cy="792000"/>
          </a:xfrm>
          <a:prstGeom prst="rect">
            <a:avLst/>
          </a:prstGeom>
          <a:solidFill>
            <a:srgbClr val="FFFFFF"/>
          </a:solidFill>
          <a:ln w="9525" cap="flat" cmpd="sng">
            <a:solidFill>
              <a:srgbClr val="CBD5E1"/>
            </a:solidFill>
            <a:prstDash val="solid"/>
            <a:round/>
            <a:headEnd type="none" w="sm" len="sm"/>
            <a:tailEnd type="none" w="sm" len="sm"/>
          </a:ln>
          <a:effectLst>
            <a:outerShdw blurRad="127000" dist="25400" dir="8100000" algn="bl" rotWithShape="0">
              <a:srgbClr val="000000">
                <a:alpha val="10196"/>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05" name="Google Shape;305;p5"/>
          <p:cNvSpPr/>
          <p:nvPr/>
        </p:nvSpPr>
        <p:spPr>
          <a:xfrm>
            <a:off x="365750" y="2262741"/>
            <a:ext cx="91500" cy="792000"/>
          </a:xfrm>
          <a:prstGeom prst="rect">
            <a:avLst/>
          </a:prstGeom>
          <a:solidFill>
            <a:srgbClr val="1A3F7A"/>
          </a:solidFill>
          <a:ln w="9525" cap="flat" cmpd="sng">
            <a:solidFill>
              <a:srgbClr val="1A3F7A"/>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06" name="Google Shape;306;p5"/>
          <p:cNvSpPr/>
          <p:nvPr/>
        </p:nvSpPr>
        <p:spPr>
          <a:xfrm>
            <a:off x="631018" y="2467106"/>
            <a:ext cx="2560200" cy="360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E293B"/>
              </a:buClr>
              <a:buSzPts val="1200"/>
              <a:buFont typeface="Calibri"/>
              <a:buNone/>
            </a:pPr>
            <a:r>
              <a:rPr lang="en-US" sz="1200" b="1" i="0" u="none" strike="noStrike" cap="none">
                <a:solidFill>
                  <a:srgbClr val="1E293B"/>
                </a:solidFill>
                <a:latin typeface="Calibri"/>
                <a:ea typeface="Calibri"/>
                <a:cs typeface="Calibri"/>
                <a:sym typeface="Calibri"/>
              </a:rPr>
              <a:t>Δ Credit Spread vs EMB</a:t>
            </a:r>
            <a:endParaRPr sz="1200" b="0" i="0" u="none" strike="noStrike" cap="none">
              <a:solidFill>
                <a:schemeClr val="dk1"/>
              </a:solidFill>
              <a:latin typeface="Calibri"/>
              <a:ea typeface="Calibri"/>
              <a:cs typeface="Calibri"/>
              <a:sym typeface="Calibri"/>
            </a:endParaRPr>
          </a:p>
        </p:txBody>
      </p:sp>
      <p:sp>
        <p:nvSpPr>
          <p:cNvPr id="307" name="Google Shape;307;p5"/>
          <p:cNvSpPr/>
          <p:nvPr/>
        </p:nvSpPr>
        <p:spPr>
          <a:xfrm>
            <a:off x="3098776" y="2529983"/>
            <a:ext cx="1828800" cy="21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A3F7A"/>
              </a:buClr>
              <a:buSzPts val="1100"/>
              <a:buFont typeface="Calibri"/>
              <a:buNone/>
            </a:pPr>
            <a:r>
              <a:rPr lang="en-US" sz="1100" b="1" i="0" u="none" strike="noStrike" cap="none">
                <a:solidFill>
                  <a:srgbClr val="1A3F7A"/>
                </a:solidFill>
                <a:latin typeface="Calibri"/>
                <a:ea typeface="Calibri"/>
                <a:cs typeface="Calibri"/>
                <a:sym typeface="Calibri"/>
              </a:rPr>
              <a:t>−0.35  (Moderate Negative)</a:t>
            </a:r>
            <a:endParaRPr sz="1100" b="0" i="0" u="none" strike="noStrike" cap="none">
              <a:solidFill>
                <a:schemeClr val="dk1"/>
              </a:solidFill>
              <a:latin typeface="Calibri"/>
              <a:ea typeface="Calibri"/>
              <a:cs typeface="Calibri"/>
              <a:sym typeface="Calibri"/>
            </a:endParaRPr>
          </a:p>
        </p:txBody>
      </p:sp>
      <p:sp>
        <p:nvSpPr>
          <p:cNvPr id="308" name="Google Shape;308;p5"/>
          <p:cNvSpPr/>
          <p:nvPr/>
        </p:nvSpPr>
        <p:spPr>
          <a:xfrm>
            <a:off x="5285234" y="2316750"/>
            <a:ext cx="3383400" cy="684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475569"/>
              </a:buClr>
              <a:buSzPts val="1000"/>
              <a:buFont typeface="Calibri"/>
              <a:buNone/>
            </a:pPr>
            <a:r>
              <a:rPr lang="en-US" sz="1000" b="0" i="0" u="none" strike="noStrike" cap="none">
                <a:solidFill>
                  <a:srgbClr val="475569"/>
                </a:solidFill>
                <a:latin typeface="Calibri"/>
                <a:ea typeface="Calibri"/>
                <a:cs typeface="Calibri"/>
                <a:sym typeface="Calibri"/>
              </a:rPr>
              <a:t>Higher credit spreads = more market stress = investors dump risky EM bonds on the same day they see spreads widen.</a:t>
            </a:r>
            <a:endParaRPr sz="1000" b="0" i="0" u="none" strike="noStrike" cap="none">
              <a:solidFill>
                <a:schemeClr val="dk1"/>
              </a:solidFill>
              <a:latin typeface="Calibri"/>
              <a:ea typeface="Calibri"/>
              <a:cs typeface="Calibri"/>
              <a:sym typeface="Calibri"/>
            </a:endParaRPr>
          </a:p>
        </p:txBody>
      </p:sp>
      <p:sp>
        <p:nvSpPr>
          <p:cNvPr id="309" name="Google Shape;309;p5"/>
          <p:cNvSpPr/>
          <p:nvPr/>
        </p:nvSpPr>
        <p:spPr>
          <a:xfrm>
            <a:off x="365750" y="3153883"/>
            <a:ext cx="8412600" cy="792000"/>
          </a:xfrm>
          <a:prstGeom prst="rect">
            <a:avLst/>
          </a:prstGeom>
          <a:solidFill>
            <a:srgbClr val="F7F9FC"/>
          </a:solidFill>
          <a:ln w="9525" cap="flat" cmpd="sng">
            <a:solidFill>
              <a:srgbClr val="CBD5E1"/>
            </a:solidFill>
            <a:prstDash val="solid"/>
            <a:round/>
            <a:headEnd type="none" w="sm" len="sm"/>
            <a:tailEnd type="none" w="sm" len="sm"/>
          </a:ln>
          <a:effectLst>
            <a:outerShdw blurRad="127000" dist="25400" dir="8100000" algn="bl" rotWithShape="0">
              <a:srgbClr val="000000">
                <a:alpha val="10196"/>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10" name="Google Shape;310;p5"/>
          <p:cNvSpPr/>
          <p:nvPr/>
        </p:nvSpPr>
        <p:spPr>
          <a:xfrm>
            <a:off x="365750" y="3153883"/>
            <a:ext cx="91500" cy="792000"/>
          </a:xfrm>
          <a:prstGeom prst="rect">
            <a:avLst/>
          </a:prstGeom>
          <a:solidFill>
            <a:srgbClr val="0F766E"/>
          </a:solidFill>
          <a:ln w="9525" cap="flat" cmpd="sng">
            <a:solidFill>
              <a:srgbClr val="0F766E"/>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11" name="Google Shape;311;p5"/>
          <p:cNvSpPr/>
          <p:nvPr/>
        </p:nvSpPr>
        <p:spPr>
          <a:xfrm>
            <a:off x="631018" y="3364578"/>
            <a:ext cx="2560200" cy="360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E293B"/>
              </a:buClr>
              <a:buSzPts val="1200"/>
              <a:buFont typeface="Calibri"/>
              <a:buNone/>
            </a:pPr>
            <a:r>
              <a:rPr lang="en-US" sz="1200" b="1" i="0" u="none" strike="noStrike" cap="none">
                <a:solidFill>
                  <a:srgbClr val="1E293B"/>
                </a:solidFill>
                <a:latin typeface="Calibri"/>
                <a:ea typeface="Calibri"/>
                <a:cs typeface="Calibri"/>
                <a:sym typeface="Calibri"/>
              </a:rPr>
              <a:t>Oil Return vs EMB Return</a:t>
            </a:r>
            <a:endParaRPr sz="1200" b="0" i="0" u="none" strike="noStrike" cap="none">
              <a:solidFill>
                <a:schemeClr val="dk1"/>
              </a:solidFill>
              <a:latin typeface="Calibri"/>
              <a:ea typeface="Calibri"/>
              <a:cs typeface="Calibri"/>
              <a:sym typeface="Calibri"/>
            </a:endParaRPr>
          </a:p>
        </p:txBody>
      </p:sp>
      <p:sp>
        <p:nvSpPr>
          <p:cNvPr id="312" name="Google Shape;312;p5"/>
          <p:cNvSpPr/>
          <p:nvPr/>
        </p:nvSpPr>
        <p:spPr>
          <a:xfrm>
            <a:off x="3098776" y="3427766"/>
            <a:ext cx="1828800" cy="21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F766E"/>
              </a:buClr>
              <a:buSzPts val="1100"/>
              <a:buFont typeface="Calibri"/>
              <a:buNone/>
            </a:pPr>
            <a:r>
              <a:rPr lang="en-US" sz="1100" b="1" i="0" u="none" strike="noStrike" cap="none">
                <a:solidFill>
                  <a:srgbClr val="0F766E"/>
                </a:solidFill>
                <a:latin typeface="Calibri"/>
                <a:ea typeface="Calibri"/>
                <a:cs typeface="Calibri"/>
                <a:sym typeface="Calibri"/>
              </a:rPr>
              <a:t>+0.24  (Weak Positive)</a:t>
            </a:r>
            <a:endParaRPr sz="1100" b="0" i="0" u="none" strike="noStrike" cap="none">
              <a:solidFill>
                <a:schemeClr val="dk1"/>
              </a:solidFill>
              <a:latin typeface="Calibri"/>
              <a:ea typeface="Calibri"/>
              <a:cs typeface="Calibri"/>
              <a:sym typeface="Calibri"/>
            </a:endParaRPr>
          </a:p>
        </p:txBody>
      </p:sp>
      <p:sp>
        <p:nvSpPr>
          <p:cNvPr id="313" name="Google Shape;313;p5"/>
          <p:cNvSpPr/>
          <p:nvPr/>
        </p:nvSpPr>
        <p:spPr>
          <a:xfrm>
            <a:off x="5285234" y="3207891"/>
            <a:ext cx="3383400" cy="684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475569"/>
              </a:buClr>
              <a:buSzPts val="1000"/>
              <a:buFont typeface="Calibri"/>
              <a:buNone/>
            </a:pPr>
            <a:r>
              <a:rPr lang="en-US" sz="1000" b="0" i="0" u="none" strike="noStrike" cap="none" dirty="0">
                <a:solidFill>
                  <a:srgbClr val="475569"/>
                </a:solidFill>
                <a:latin typeface="Calibri"/>
                <a:ea typeface="Calibri"/>
                <a:cs typeface="Calibri"/>
                <a:sym typeface="Calibri"/>
              </a:rPr>
              <a:t>Rising oil = healthy global economy = more risk appetite. But the relationship is noisy since geopolitical volatility increases prices. </a:t>
            </a:r>
            <a:endParaRPr sz="1000" b="0" i="0" u="none" strike="noStrike" cap="none" dirty="0">
              <a:solidFill>
                <a:schemeClr val="dk1"/>
              </a:solidFill>
              <a:latin typeface="Calibri"/>
              <a:ea typeface="Calibri"/>
              <a:cs typeface="Calibri"/>
              <a:sym typeface="Calibri"/>
            </a:endParaRPr>
          </a:p>
        </p:txBody>
      </p:sp>
      <p:sp>
        <p:nvSpPr>
          <p:cNvPr id="314" name="Google Shape;314;p5"/>
          <p:cNvSpPr/>
          <p:nvPr/>
        </p:nvSpPr>
        <p:spPr>
          <a:xfrm>
            <a:off x="365750" y="4045024"/>
            <a:ext cx="8412600" cy="792000"/>
          </a:xfrm>
          <a:prstGeom prst="rect">
            <a:avLst/>
          </a:prstGeom>
          <a:solidFill>
            <a:srgbClr val="FFFFFF"/>
          </a:solidFill>
          <a:ln w="9525" cap="flat" cmpd="sng">
            <a:solidFill>
              <a:srgbClr val="CBD5E1"/>
            </a:solidFill>
            <a:prstDash val="solid"/>
            <a:round/>
            <a:headEnd type="none" w="sm" len="sm"/>
            <a:tailEnd type="none" w="sm" len="sm"/>
          </a:ln>
          <a:effectLst>
            <a:outerShdw blurRad="127000" dist="25400" dir="8100000" algn="bl" rotWithShape="0">
              <a:srgbClr val="000000">
                <a:alpha val="10196"/>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15" name="Google Shape;315;p5"/>
          <p:cNvSpPr/>
          <p:nvPr/>
        </p:nvSpPr>
        <p:spPr>
          <a:xfrm>
            <a:off x="365750" y="4045024"/>
            <a:ext cx="91500" cy="792000"/>
          </a:xfrm>
          <a:prstGeom prst="rect">
            <a:avLst/>
          </a:prstGeom>
          <a:solidFill>
            <a:srgbClr val="E8A020"/>
          </a:solidFill>
          <a:ln w="9525" cap="flat" cmpd="sng">
            <a:solidFill>
              <a:srgbClr val="E8A02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16" name="Google Shape;316;p5"/>
          <p:cNvSpPr/>
          <p:nvPr/>
        </p:nvSpPr>
        <p:spPr>
          <a:xfrm>
            <a:off x="631018" y="4262050"/>
            <a:ext cx="2560200" cy="360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E293B"/>
              </a:buClr>
              <a:buSzPts val="1200"/>
              <a:buFont typeface="Calibri"/>
              <a:buNone/>
            </a:pPr>
            <a:r>
              <a:rPr lang="en-US" sz="1200" b="1" i="0" u="none" strike="noStrike" cap="none">
                <a:solidFill>
                  <a:srgbClr val="1E293B"/>
                </a:solidFill>
                <a:latin typeface="Calibri"/>
                <a:ea typeface="Calibri"/>
                <a:cs typeface="Calibri"/>
                <a:sym typeface="Calibri"/>
              </a:rPr>
              <a:t>Δ VIX vs Δ Credit Spread</a:t>
            </a:r>
            <a:endParaRPr sz="1200" b="0" i="0" u="none" strike="noStrike" cap="none">
              <a:solidFill>
                <a:schemeClr val="dk1"/>
              </a:solidFill>
              <a:latin typeface="Calibri"/>
              <a:ea typeface="Calibri"/>
              <a:cs typeface="Calibri"/>
              <a:sym typeface="Calibri"/>
            </a:endParaRPr>
          </a:p>
        </p:txBody>
      </p:sp>
      <p:sp>
        <p:nvSpPr>
          <p:cNvPr id="317" name="Google Shape;317;p5"/>
          <p:cNvSpPr/>
          <p:nvPr/>
        </p:nvSpPr>
        <p:spPr>
          <a:xfrm>
            <a:off x="3098776" y="4325550"/>
            <a:ext cx="1828800" cy="21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E8A020"/>
              </a:buClr>
              <a:buSzPts val="1100"/>
              <a:buFont typeface="Calibri"/>
              <a:buNone/>
            </a:pPr>
            <a:r>
              <a:rPr lang="en-US" sz="1100" b="1" i="0" u="none" strike="noStrike" cap="none">
                <a:solidFill>
                  <a:srgbClr val="E8A020"/>
                </a:solidFill>
                <a:latin typeface="Calibri"/>
                <a:ea typeface="Calibri"/>
                <a:cs typeface="Calibri"/>
                <a:sym typeface="Calibri"/>
              </a:rPr>
              <a:t>+0.46  (⚠ Multicollinearity)</a:t>
            </a:r>
            <a:endParaRPr sz="1100" b="0" i="0" u="none" strike="noStrike" cap="none">
              <a:solidFill>
                <a:schemeClr val="dk1"/>
              </a:solidFill>
              <a:latin typeface="Calibri"/>
              <a:ea typeface="Calibri"/>
              <a:cs typeface="Calibri"/>
              <a:sym typeface="Calibri"/>
            </a:endParaRPr>
          </a:p>
        </p:txBody>
      </p:sp>
      <p:sp>
        <p:nvSpPr>
          <p:cNvPr id="318" name="Google Shape;318;p5"/>
          <p:cNvSpPr/>
          <p:nvPr/>
        </p:nvSpPr>
        <p:spPr>
          <a:xfrm>
            <a:off x="5285234" y="4099033"/>
            <a:ext cx="3383400" cy="684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475569"/>
              </a:buClr>
              <a:buSzPts val="1000"/>
              <a:buFont typeface="Calibri"/>
              <a:buNone/>
            </a:pPr>
            <a:r>
              <a:rPr lang="en-US" sz="1000" b="0" i="0" u="none" strike="noStrike" cap="none">
                <a:solidFill>
                  <a:srgbClr val="475569"/>
                </a:solidFill>
                <a:latin typeface="Calibri"/>
                <a:ea typeface="Calibri"/>
                <a:cs typeface="Calibri"/>
                <a:sym typeface="Calibri"/>
              </a:rPr>
              <a:t>PROBLEM: Two of our predictors are highly correlated with each other; they explain the same variation in EMB returns.</a:t>
            </a:r>
            <a:endParaRPr sz="1000" b="0" i="0" u="none" strike="noStrike" cap="none">
              <a:solidFill>
                <a:schemeClr val="dk1"/>
              </a:solidFill>
              <a:latin typeface="Calibri"/>
              <a:ea typeface="Calibri"/>
              <a:cs typeface="Calibri"/>
              <a:sym typeface="Calibri"/>
            </a:endParaRPr>
          </a:p>
        </p:txBody>
      </p:sp>
      <p:sp>
        <p:nvSpPr>
          <p:cNvPr id="319" name="Google Shape;319;p5"/>
          <p:cNvSpPr/>
          <p:nvPr/>
        </p:nvSpPr>
        <p:spPr>
          <a:xfrm>
            <a:off x="457200" y="4864616"/>
            <a:ext cx="8229600" cy="2925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475569"/>
              </a:buClr>
              <a:buSzPts val="1000"/>
              <a:buFont typeface="Calibri"/>
              <a:buNone/>
            </a:pPr>
            <a:r>
              <a:rPr lang="en-US" sz="1000" b="0" i="1" u="none" strike="noStrike" cap="none">
                <a:solidFill>
                  <a:srgbClr val="475569"/>
                </a:solidFill>
                <a:latin typeface="Calibri"/>
                <a:ea typeface="Calibri"/>
                <a:cs typeface="Calibri"/>
                <a:sym typeface="Calibri"/>
              </a:rPr>
              <a:t>Important: correlations are same-day (time t) relationships which is good for understanding reactions, but NOT as good for predicting future returns.</a:t>
            </a:r>
            <a:endParaRPr sz="1000" b="0" i="0" u="none" strike="noStrike" cap="none">
              <a:solidFill>
                <a:schemeClr val="dk1"/>
              </a:solidFill>
              <a:latin typeface="Calibri"/>
              <a:ea typeface="Calibri"/>
              <a:cs typeface="Calibri"/>
              <a:sym typeface="Calibri"/>
            </a:endParaRPr>
          </a:p>
        </p:txBody>
      </p:sp>
      <p:sp>
        <p:nvSpPr>
          <p:cNvPr id="320" name="Google Shape;320;p5"/>
          <p:cNvSpPr/>
          <p:nvPr/>
        </p:nvSpPr>
        <p:spPr>
          <a:xfrm>
            <a:off x="457200" y="1133934"/>
            <a:ext cx="8229600" cy="27300"/>
          </a:xfrm>
          <a:prstGeom prst="rect">
            <a:avLst/>
          </a:prstGeom>
          <a:solidFill>
            <a:srgbClr val="2B6CB0"/>
          </a:solidFill>
          <a:ln w="9525" cap="flat" cmpd="sng">
            <a:solidFill>
              <a:srgbClr val="2B6CB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79"/>
        <p:cNvGrpSpPr/>
        <p:nvPr/>
      </p:nvGrpSpPr>
      <p:grpSpPr>
        <a:xfrm>
          <a:off x="0" y="0"/>
          <a:ext cx="0" cy="0"/>
          <a:chOff x="0" y="0"/>
          <a:chExt cx="0" cy="0"/>
        </a:xfrm>
      </p:grpSpPr>
      <p:sp>
        <p:nvSpPr>
          <p:cNvPr id="180" name="Google Shape;180;g39789fe7b62_1_268"/>
          <p:cNvSpPr/>
          <p:nvPr/>
        </p:nvSpPr>
        <p:spPr>
          <a:xfrm>
            <a:off x="457200" y="146304"/>
            <a:ext cx="2194500" cy="274200"/>
          </a:xfrm>
          <a:prstGeom prst="rect">
            <a:avLst/>
          </a:prstGeom>
          <a:solidFill>
            <a:srgbClr val="2B6CB0"/>
          </a:solidFill>
          <a:ln w="9525" cap="flat" cmpd="sng">
            <a:solidFill>
              <a:srgbClr val="2B6CB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81" name="Google Shape;181;g39789fe7b62_1_268"/>
          <p:cNvSpPr/>
          <p:nvPr/>
        </p:nvSpPr>
        <p:spPr>
          <a:xfrm>
            <a:off x="457200" y="146304"/>
            <a:ext cx="2194500" cy="2742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FFFFFF"/>
              </a:buClr>
              <a:buSzPts val="850"/>
              <a:buFont typeface="Calibri"/>
              <a:buNone/>
            </a:pPr>
            <a:r>
              <a:rPr lang="en-US" sz="1050" b="1" i="0" u="none" strike="noStrike" cap="none">
                <a:solidFill>
                  <a:srgbClr val="FFFFFF"/>
                </a:solidFill>
                <a:latin typeface="Calibri"/>
                <a:ea typeface="Calibri"/>
                <a:cs typeface="Calibri"/>
                <a:sym typeface="Calibri"/>
              </a:rPr>
              <a:t>MODEL 2 - INTRO</a:t>
            </a:r>
            <a:endParaRPr sz="1050" b="0" i="0" u="none" strike="noStrike" cap="none">
              <a:solidFill>
                <a:schemeClr val="dk1"/>
              </a:solidFill>
              <a:latin typeface="Calibri"/>
              <a:ea typeface="Calibri"/>
              <a:cs typeface="Calibri"/>
              <a:sym typeface="Calibri"/>
            </a:endParaRPr>
          </a:p>
        </p:txBody>
      </p:sp>
      <p:sp>
        <p:nvSpPr>
          <p:cNvPr id="182" name="Google Shape;182;g39789fe7b62_1_268"/>
          <p:cNvSpPr/>
          <p:nvPr/>
        </p:nvSpPr>
        <p:spPr>
          <a:xfrm>
            <a:off x="457200" y="502920"/>
            <a:ext cx="8229600" cy="6585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C1A35"/>
              </a:buClr>
              <a:buSzPts val="3000"/>
              <a:buFont typeface="Georgia"/>
              <a:buNone/>
            </a:pPr>
            <a:r>
              <a:rPr lang="en-US" sz="3000" b="1" i="0" u="none" strike="noStrike" cap="none" dirty="0">
                <a:solidFill>
                  <a:srgbClr val="0C1A35"/>
                </a:solidFill>
                <a:latin typeface="Georgia"/>
                <a:ea typeface="Georgia"/>
                <a:cs typeface="Georgia"/>
                <a:sym typeface="Georgia"/>
              </a:rPr>
              <a:t>Model 2: Setup &amp; Results</a:t>
            </a:r>
            <a:endParaRPr sz="3000" b="0" i="0" u="none" strike="noStrike" cap="none" dirty="0">
              <a:solidFill>
                <a:schemeClr val="dk1"/>
              </a:solidFill>
              <a:latin typeface="Calibri"/>
              <a:ea typeface="Calibri"/>
              <a:cs typeface="Calibri"/>
              <a:sym typeface="Calibri"/>
            </a:endParaRPr>
          </a:p>
        </p:txBody>
      </p:sp>
      <p:sp>
        <p:nvSpPr>
          <p:cNvPr id="183" name="Google Shape;183;g39789fe7b62_1_268"/>
          <p:cNvSpPr/>
          <p:nvPr/>
        </p:nvSpPr>
        <p:spPr>
          <a:xfrm>
            <a:off x="280705" y="1486219"/>
            <a:ext cx="3977700" cy="2546400"/>
          </a:xfrm>
          <a:prstGeom prst="rect">
            <a:avLst/>
          </a:prstGeom>
          <a:solidFill>
            <a:srgbClr val="F7F9FC"/>
          </a:solidFill>
          <a:ln w="9525" cap="flat" cmpd="sng">
            <a:solidFill>
              <a:srgbClr val="CBD5E1"/>
            </a:solidFill>
            <a:prstDash val="solid"/>
            <a:round/>
            <a:headEnd type="none" w="sm" len="sm"/>
            <a:tailEnd type="none" w="sm" len="sm"/>
          </a:ln>
          <a:effectLst>
            <a:outerShdw blurRad="127000" dist="25400" dir="8100000" algn="bl" rotWithShape="0">
              <a:srgbClr val="000000">
                <a:alpha val="10196"/>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84" name="Google Shape;184;g39789fe7b62_1_268"/>
          <p:cNvSpPr/>
          <p:nvPr/>
        </p:nvSpPr>
        <p:spPr>
          <a:xfrm>
            <a:off x="280703" y="1486219"/>
            <a:ext cx="91500" cy="2546400"/>
          </a:xfrm>
          <a:prstGeom prst="rect">
            <a:avLst/>
          </a:prstGeom>
          <a:solidFill>
            <a:srgbClr val="1A3F7A"/>
          </a:solidFill>
          <a:ln w="9525" cap="flat" cmpd="sng">
            <a:solidFill>
              <a:srgbClr val="1A3F7A"/>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nvGrpSpPr>
          <p:cNvPr id="185" name="Google Shape;185;g39789fe7b62_1_268"/>
          <p:cNvGrpSpPr/>
          <p:nvPr/>
        </p:nvGrpSpPr>
        <p:grpSpPr>
          <a:xfrm>
            <a:off x="463595" y="1559361"/>
            <a:ext cx="3749110" cy="2430291"/>
            <a:chOff x="548640" y="2163161"/>
            <a:chExt cx="3749110" cy="2430291"/>
          </a:xfrm>
        </p:grpSpPr>
        <p:sp>
          <p:nvSpPr>
            <p:cNvPr id="186" name="Google Shape;186;g39789fe7b62_1_268"/>
            <p:cNvSpPr/>
            <p:nvPr/>
          </p:nvSpPr>
          <p:spPr>
            <a:xfrm>
              <a:off x="548640" y="2163161"/>
              <a:ext cx="3657600" cy="320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3F7A"/>
                </a:buClr>
                <a:buSzPts val="1250"/>
                <a:buFont typeface="Calibri"/>
                <a:buNone/>
              </a:pPr>
              <a:r>
                <a:rPr lang="en-US" sz="1250" b="1" i="0" u="none" strike="noStrike" cap="none">
                  <a:solidFill>
                    <a:srgbClr val="1A3F7A"/>
                  </a:solidFill>
                  <a:latin typeface="Calibri"/>
                  <a:ea typeface="Calibri"/>
                  <a:cs typeface="Calibri"/>
                  <a:sym typeface="Calibri"/>
                </a:rPr>
                <a:t>Methodology</a:t>
              </a:r>
              <a:endParaRPr sz="1250" b="0" i="0" u="none" strike="noStrike" cap="none">
                <a:solidFill>
                  <a:schemeClr val="dk1"/>
                </a:solidFill>
                <a:latin typeface="Calibri"/>
                <a:ea typeface="Calibri"/>
                <a:cs typeface="Calibri"/>
                <a:sym typeface="Calibri"/>
              </a:endParaRPr>
            </a:p>
          </p:txBody>
        </p:sp>
        <p:sp>
          <p:nvSpPr>
            <p:cNvPr id="187" name="Google Shape;187;g39789fe7b62_1_268"/>
            <p:cNvSpPr/>
            <p:nvPr/>
          </p:nvSpPr>
          <p:spPr>
            <a:xfrm>
              <a:off x="548650" y="2485652"/>
              <a:ext cx="3749100" cy="2107800"/>
            </a:xfrm>
            <a:prstGeom prst="rect">
              <a:avLst/>
            </a:prstGeom>
            <a:noFill/>
            <a:ln>
              <a:noFill/>
            </a:ln>
          </p:spPr>
          <p:txBody>
            <a:bodyPr spcFirstLastPara="1" wrap="square" lIns="25400" tIns="50800" rIns="0" bIns="0" anchor="t" anchorCtr="0">
              <a:noAutofit/>
            </a:bodyPr>
            <a:lstStyle/>
            <a:p>
              <a:pPr marL="342900" marR="0" lvl="0" indent="-342900" algn="l" rtl="0">
                <a:lnSpc>
                  <a:spcPct val="100000"/>
                </a:lnSpc>
                <a:spcBef>
                  <a:spcPts val="0"/>
                </a:spcBef>
                <a:spcAft>
                  <a:spcPts val="0"/>
                </a:spcAft>
                <a:buClr>
                  <a:srgbClr val="1E293B"/>
                </a:buClr>
                <a:buSzPts val="1100"/>
                <a:buFont typeface="Calibri"/>
                <a:buChar char="•"/>
              </a:pPr>
              <a:r>
                <a:rPr lang="en-US" sz="1100" b="0" i="0" u="none" strike="noStrike" cap="none" dirty="0">
                  <a:solidFill>
                    <a:srgbClr val="1E293B"/>
                  </a:solidFill>
                  <a:latin typeface="Calibri"/>
                  <a:ea typeface="Calibri"/>
                  <a:cs typeface="Calibri"/>
                  <a:sym typeface="Calibri"/>
                </a:rPr>
                <a:t>Using 3 factors to predict EMB Returns, and we have 2 choices: long (only invest today if predicting EMB return tomorrow is positive) or stay out (do nothing)</a:t>
              </a:r>
              <a:endParaRPr sz="1100" b="0" i="0" u="none" strike="noStrike" cap="none" dirty="0">
                <a:solidFill>
                  <a:srgbClr val="1E293B"/>
                </a:solidFill>
                <a:latin typeface="Calibri"/>
                <a:ea typeface="Calibri"/>
                <a:cs typeface="Calibri"/>
                <a:sym typeface="Calibri"/>
              </a:endParaRPr>
            </a:p>
            <a:p>
              <a:pPr marL="342900" marR="0" lvl="0" indent="-342900" algn="l" rtl="0">
                <a:lnSpc>
                  <a:spcPct val="100000"/>
                </a:lnSpc>
                <a:spcBef>
                  <a:spcPts val="0"/>
                </a:spcBef>
                <a:spcAft>
                  <a:spcPts val="0"/>
                </a:spcAft>
                <a:buClr>
                  <a:srgbClr val="1E293B"/>
                </a:buClr>
                <a:buSzPts val="1100"/>
                <a:buFont typeface="Calibri"/>
                <a:buChar char="•"/>
              </a:pPr>
              <a:r>
                <a:rPr lang="en-US" sz="1100" b="0" i="0" u="none" strike="noStrike" cap="none" dirty="0">
                  <a:solidFill>
                    <a:srgbClr val="1E293B"/>
                  </a:solidFill>
                  <a:latin typeface="Calibri"/>
                  <a:ea typeface="Calibri"/>
                  <a:cs typeface="Calibri"/>
                  <a:sym typeface="Calibri"/>
                </a:rPr>
                <a:t>Corrected for heteroskedasticity by using HC3 (</a:t>
              </a:r>
              <a:r>
                <a:rPr lang="en-US" sz="1100" b="0" i="0" u="none" strike="noStrike" cap="none" dirty="0" err="1">
                  <a:solidFill>
                    <a:srgbClr val="1E293B"/>
                  </a:solidFill>
                  <a:latin typeface="Calibri"/>
                  <a:ea typeface="Calibri"/>
                  <a:cs typeface="Calibri"/>
                  <a:sym typeface="Calibri"/>
                </a:rPr>
                <a:t>Heteroskedacity</a:t>
              </a:r>
              <a:r>
                <a:rPr lang="en-US" sz="1100" b="0" i="0" u="none" strike="noStrike" cap="none" dirty="0">
                  <a:solidFill>
                    <a:srgbClr val="1E293B"/>
                  </a:solidFill>
                  <a:latin typeface="Calibri"/>
                  <a:ea typeface="Calibri"/>
                  <a:cs typeface="Calibri"/>
                  <a:sym typeface="Calibri"/>
                </a:rPr>
                <a:t>-Consistent standard errors type 3) - helps provide more reliable p-values by ensuring outliers don't make your p-values look smaller </a:t>
              </a:r>
              <a:endParaRPr sz="1100" b="0" i="0" u="none" strike="noStrike" cap="none" dirty="0">
                <a:solidFill>
                  <a:srgbClr val="1E293B"/>
                </a:solidFill>
                <a:latin typeface="Calibri"/>
                <a:ea typeface="Calibri"/>
                <a:cs typeface="Calibri"/>
                <a:sym typeface="Calibri"/>
              </a:endParaRPr>
            </a:p>
            <a:p>
              <a:pPr marL="342900" marR="0" lvl="0" indent="-342900" algn="l" rtl="0">
                <a:lnSpc>
                  <a:spcPct val="100000"/>
                </a:lnSpc>
                <a:spcBef>
                  <a:spcPts val="0"/>
                </a:spcBef>
                <a:spcAft>
                  <a:spcPts val="0"/>
                </a:spcAft>
                <a:buClr>
                  <a:srgbClr val="1E293B"/>
                </a:buClr>
                <a:buSzPts val="1100"/>
                <a:buFont typeface="Calibri"/>
                <a:buChar char="•"/>
              </a:pPr>
              <a:r>
                <a:rPr lang="en-US" sz="1100" b="0" i="0" u="none" strike="noStrike" cap="none" dirty="0">
                  <a:solidFill>
                    <a:schemeClr val="dk1"/>
                  </a:solidFill>
                  <a:latin typeface="Calibri"/>
                  <a:ea typeface="Calibri"/>
                  <a:cs typeface="Calibri"/>
                  <a:sym typeface="Calibri"/>
                </a:rPr>
                <a:t>The test R-Squared decreased from -0.0101 (for </a:t>
              </a:r>
              <a:r>
                <a:rPr lang="en-US" sz="1100" b="0" i="0" u="none" strike="noStrike" cap="none" dirty="0" err="1">
                  <a:solidFill>
                    <a:schemeClr val="dk1"/>
                  </a:solidFill>
                  <a:latin typeface="Calibri"/>
                  <a:ea typeface="Calibri"/>
                  <a:cs typeface="Calibri"/>
                  <a:sym typeface="Calibri"/>
                </a:rPr>
                <a:t>delta_vix</a:t>
              </a:r>
              <a:r>
                <a:rPr lang="en-US" sz="1100" b="0" i="0" u="none" strike="noStrike" cap="none" dirty="0">
                  <a:solidFill>
                    <a:schemeClr val="dk1"/>
                  </a:solidFill>
                  <a:latin typeface="Calibri"/>
                  <a:ea typeface="Calibri"/>
                  <a:cs typeface="Calibri"/>
                  <a:sym typeface="Calibri"/>
                </a:rPr>
                <a:t> only) to -0.0162 → this means the multivariate model became less accurate in predicting EMB returns</a:t>
              </a:r>
              <a:endParaRPr sz="1100" b="0" i="0" u="none" strike="noStrike" cap="none" dirty="0">
                <a:solidFill>
                  <a:schemeClr val="dk1"/>
                </a:solidFill>
                <a:latin typeface="Calibri"/>
                <a:ea typeface="Calibri"/>
                <a:cs typeface="Calibri"/>
                <a:sym typeface="Calibri"/>
              </a:endParaRPr>
            </a:p>
            <a:p>
              <a:pPr marL="342900" marR="0" lvl="0" indent="-342900" algn="l" rtl="0">
                <a:lnSpc>
                  <a:spcPct val="100000"/>
                </a:lnSpc>
                <a:spcBef>
                  <a:spcPts val="0"/>
                </a:spcBef>
                <a:spcAft>
                  <a:spcPts val="0"/>
                </a:spcAft>
                <a:buClr>
                  <a:srgbClr val="1E293B"/>
                </a:buClr>
                <a:buSzPts val="1100"/>
                <a:buFont typeface="Calibri"/>
                <a:buChar char="•"/>
              </a:pPr>
              <a:r>
                <a:rPr lang="en-US" sz="1100" b="0" i="0" u="none" strike="noStrike" cap="none" dirty="0">
                  <a:solidFill>
                    <a:schemeClr val="dk1"/>
                  </a:solidFill>
                  <a:latin typeface="Calibri"/>
                  <a:ea typeface="Calibri"/>
                  <a:cs typeface="Calibri"/>
                  <a:sym typeface="Calibri"/>
                </a:rPr>
                <a:t>We plotted the cumulative returns of our strategy and compared it to a buy and hold strategy </a:t>
              </a:r>
              <a:endParaRPr sz="1100" b="0" i="0" u="none" strike="noStrike" cap="none" dirty="0">
                <a:solidFill>
                  <a:schemeClr val="dk1"/>
                </a:solidFill>
                <a:latin typeface="Calibri"/>
                <a:ea typeface="Calibri"/>
                <a:cs typeface="Calibri"/>
                <a:sym typeface="Calibri"/>
              </a:endParaRPr>
            </a:p>
          </p:txBody>
        </p:sp>
      </p:grpSp>
      <p:sp>
        <p:nvSpPr>
          <p:cNvPr id="188" name="Google Shape;188;g39789fe7b62_1_268"/>
          <p:cNvSpPr/>
          <p:nvPr/>
        </p:nvSpPr>
        <p:spPr>
          <a:xfrm>
            <a:off x="365700" y="4168725"/>
            <a:ext cx="8412600" cy="388500"/>
          </a:xfrm>
          <a:prstGeom prst="rect">
            <a:avLst/>
          </a:prstGeom>
          <a:solidFill>
            <a:srgbClr val="F7F9FC"/>
          </a:solidFill>
          <a:ln w="9525" cap="flat" cmpd="sng">
            <a:solidFill>
              <a:srgbClr val="CBD5E1"/>
            </a:solidFill>
            <a:prstDash val="solid"/>
            <a:round/>
            <a:headEnd type="none" w="sm" len="sm"/>
            <a:tailEnd type="none" w="sm" len="sm"/>
          </a:ln>
          <a:effectLst>
            <a:outerShdw blurRad="127000" dist="25400" dir="8100000" algn="bl" rotWithShape="0">
              <a:srgbClr val="000000">
                <a:alpha val="10196"/>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89" name="Google Shape;189;g39789fe7b62_1_268"/>
          <p:cNvSpPr/>
          <p:nvPr/>
        </p:nvSpPr>
        <p:spPr>
          <a:xfrm>
            <a:off x="457153" y="4216715"/>
            <a:ext cx="8229600" cy="2925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475569"/>
              </a:buClr>
              <a:buSzPts val="1000"/>
              <a:buFont typeface="Calibri"/>
              <a:buNone/>
            </a:pPr>
            <a:r>
              <a:rPr lang="en-US" sz="1000" b="0" i="1" u="none" strike="noStrike" cap="none" dirty="0">
                <a:solidFill>
                  <a:srgbClr val="475569"/>
                </a:solidFill>
                <a:latin typeface="Calibri"/>
                <a:ea typeface="Calibri"/>
                <a:cs typeface="Calibri"/>
                <a:sym typeface="Calibri"/>
              </a:rPr>
              <a:t>Negative Test R² (-1.01%) is standard in financial return prediction because of high noise in daily EMB returns. The key finding is that Δ VIX is statistically significant and directionally correct for short-term reversals.</a:t>
            </a:r>
            <a:endParaRPr sz="1000" b="0" i="0" u="none" strike="noStrike" cap="none" dirty="0">
              <a:solidFill>
                <a:schemeClr val="dk1"/>
              </a:solidFill>
              <a:latin typeface="Calibri"/>
              <a:ea typeface="Calibri"/>
              <a:cs typeface="Calibri"/>
              <a:sym typeface="Calibri"/>
            </a:endParaRPr>
          </a:p>
        </p:txBody>
      </p:sp>
      <p:sp>
        <p:nvSpPr>
          <p:cNvPr id="191" name="Google Shape;191;g39789fe7b62_1_268"/>
          <p:cNvSpPr/>
          <p:nvPr/>
        </p:nvSpPr>
        <p:spPr>
          <a:xfrm>
            <a:off x="457200" y="1133934"/>
            <a:ext cx="8229600" cy="27300"/>
          </a:xfrm>
          <a:prstGeom prst="rect">
            <a:avLst/>
          </a:prstGeom>
          <a:solidFill>
            <a:srgbClr val="2B6CB0"/>
          </a:solidFill>
          <a:ln w="9525" cap="flat" cmpd="sng">
            <a:solidFill>
              <a:srgbClr val="2B6CB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3" name="Picture 2" descr="The diagram illustrates a comparison between a 3-factor strategy, including VIX, spread, and oil, and a buy-and-hold EMB strategy, showing their respective portfolio values over time from May 2023 to May 2026.&#10;&#10;AI-generated content may be incorrect.">
            <a:extLst>
              <a:ext uri="{FF2B5EF4-FFF2-40B4-BE49-F238E27FC236}">
                <a16:creationId xmlns:a16="http://schemas.microsoft.com/office/drawing/2014/main" id="{CEDDDF26-110C-96B8-A40E-B1C6462E00E5}"/>
              </a:ext>
            </a:extLst>
          </p:cNvPr>
          <p:cNvPicPr>
            <a:picLocks noChangeAspect="1"/>
          </p:cNvPicPr>
          <p:nvPr/>
        </p:nvPicPr>
        <p:blipFill>
          <a:blip r:embed="rId3"/>
          <a:stretch>
            <a:fillRect/>
          </a:stretch>
        </p:blipFill>
        <p:spPr>
          <a:xfrm>
            <a:off x="4540241" y="1410048"/>
            <a:ext cx="4278069" cy="2622571"/>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96">
          <a:extLst>
            <a:ext uri="{FF2B5EF4-FFF2-40B4-BE49-F238E27FC236}">
              <a16:creationId xmlns:a16="http://schemas.microsoft.com/office/drawing/2014/main" id="{E326A022-4FEF-3819-4184-75D8590DBCE6}"/>
            </a:ext>
          </a:extLst>
        </p:cNvPr>
        <p:cNvGrpSpPr/>
        <p:nvPr/>
      </p:nvGrpSpPr>
      <p:grpSpPr>
        <a:xfrm>
          <a:off x="0" y="0"/>
          <a:ext cx="0" cy="0"/>
          <a:chOff x="0" y="0"/>
          <a:chExt cx="0" cy="0"/>
        </a:xfrm>
      </p:grpSpPr>
      <p:sp>
        <p:nvSpPr>
          <p:cNvPr id="197" name="Google Shape;197;g3d86e330eee_36_39">
            <a:extLst>
              <a:ext uri="{FF2B5EF4-FFF2-40B4-BE49-F238E27FC236}">
                <a16:creationId xmlns:a16="http://schemas.microsoft.com/office/drawing/2014/main" id="{144C9228-51D4-5610-EE41-B228EC0A44E2}"/>
              </a:ext>
            </a:extLst>
          </p:cNvPr>
          <p:cNvSpPr/>
          <p:nvPr/>
        </p:nvSpPr>
        <p:spPr>
          <a:xfrm>
            <a:off x="457200" y="146304"/>
            <a:ext cx="2194500" cy="274200"/>
          </a:xfrm>
          <a:prstGeom prst="rect">
            <a:avLst/>
          </a:prstGeom>
          <a:solidFill>
            <a:srgbClr val="2B6CB0"/>
          </a:solidFill>
          <a:ln w="9525" cap="flat" cmpd="sng">
            <a:solidFill>
              <a:srgbClr val="2B6CB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98" name="Google Shape;198;g3d86e330eee_36_39">
            <a:extLst>
              <a:ext uri="{FF2B5EF4-FFF2-40B4-BE49-F238E27FC236}">
                <a16:creationId xmlns:a16="http://schemas.microsoft.com/office/drawing/2014/main" id="{FF6C89D6-25A7-C333-6B9E-D2E02FA6AA9F}"/>
              </a:ext>
            </a:extLst>
          </p:cNvPr>
          <p:cNvSpPr/>
          <p:nvPr/>
        </p:nvSpPr>
        <p:spPr>
          <a:xfrm>
            <a:off x="457200" y="146304"/>
            <a:ext cx="2194500" cy="2742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FFFFFF"/>
              </a:buClr>
              <a:buSzPts val="850"/>
              <a:buFont typeface="Calibri"/>
              <a:buNone/>
            </a:pPr>
            <a:r>
              <a:rPr lang="en-US" sz="1050" b="1" i="0" u="none" strike="noStrike" cap="none">
                <a:solidFill>
                  <a:srgbClr val="FFFFFF"/>
                </a:solidFill>
                <a:latin typeface="Calibri"/>
                <a:ea typeface="Calibri"/>
                <a:cs typeface="Calibri"/>
                <a:sym typeface="Calibri"/>
              </a:rPr>
              <a:t>MODEL 2 - 3 FACTOR MODEL</a:t>
            </a:r>
            <a:endParaRPr sz="1050" b="0" i="0" u="none" strike="noStrike" cap="none">
              <a:solidFill>
                <a:schemeClr val="dk1"/>
              </a:solidFill>
              <a:latin typeface="Calibri"/>
              <a:ea typeface="Calibri"/>
              <a:cs typeface="Calibri"/>
              <a:sym typeface="Calibri"/>
            </a:endParaRPr>
          </a:p>
        </p:txBody>
      </p:sp>
      <p:sp>
        <p:nvSpPr>
          <p:cNvPr id="199" name="Google Shape;199;g3d86e330eee_36_39">
            <a:extLst>
              <a:ext uri="{FF2B5EF4-FFF2-40B4-BE49-F238E27FC236}">
                <a16:creationId xmlns:a16="http://schemas.microsoft.com/office/drawing/2014/main" id="{571B18A0-982C-6413-E527-5477A4492BFC}"/>
              </a:ext>
            </a:extLst>
          </p:cNvPr>
          <p:cNvSpPr/>
          <p:nvPr/>
        </p:nvSpPr>
        <p:spPr>
          <a:xfrm>
            <a:off x="457200" y="502920"/>
            <a:ext cx="8229600" cy="6585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C1A35"/>
              </a:buClr>
              <a:buSzPts val="3000"/>
              <a:buFont typeface="Georgia"/>
              <a:buNone/>
            </a:pPr>
            <a:r>
              <a:rPr lang="en-US" sz="3000" b="1" i="0" u="none" strike="noStrike" cap="none" dirty="0">
                <a:solidFill>
                  <a:srgbClr val="0C1A35"/>
                </a:solidFill>
                <a:latin typeface="Georgia"/>
                <a:ea typeface="Georgia"/>
                <a:cs typeface="Georgia"/>
                <a:sym typeface="Georgia"/>
              </a:rPr>
              <a:t>Model 2 Regression Statistics</a:t>
            </a:r>
            <a:endParaRPr sz="3000" b="1" i="0" u="none" strike="noStrike" cap="none" dirty="0">
              <a:solidFill>
                <a:srgbClr val="0C1A35"/>
              </a:solidFill>
              <a:latin typeface="Georgia"/>
              <a:ea typeface="Georgia"/>
              <a:cs typeface="Georgia"/>
              <a:sym typeface="Georgia"/>
            </a:endParaRPr>
          </a:p>
        </p:txBody>
      </p:sp>
      <p:sp>
        <p:nvSpPr>
          <p:cNvPr id="200" name="Google Shape;200;g3d86e330eee_36_39">
            <a:extLst>
              <a:ext uri="{FF2B5EF4-FFF2-40B4-BE49-F238E27FC236}">
                <a16:creationId xmlns:a16="http://schemas.microsoft.com/office/drawing/2014/main" id="{9E5D33F8-9164-80A2-D0B0-9DF6E0899679}"/>
              </a:ext>
            </a:extLst>
          </p:cNvPr>
          <p:cNvSpPr/>
          <p:nvPr/>
        </p:nvSpPr>
        <p:spPr>
          <a:xfrm>
            <a:off x="365750" y="1333128"/>
            <a:ext cx="3977700" cy="2534400"/>
          </a:xfrm>
          <a:prstGeom prst="rect">
            <a:avLst/>
          </a:prstGeom>
          <a:solidFill>
            <a:srgbClr val="F7F9FC"/>
          </a:solidFill>
          <a:ln w="9525" cap="flat" cmpd="sng">
            <a:solidFill>
              <a:srgbClr val="CBD5E1"/>
            </a:solidFill>
            <a:prstDash val="solid"/>
            <a:round/>
            <a:headEnd type="none" w="sm" len="sm"/>
            <a:tailEnd type="none" w="sm" len="sm"/>
          </a:ln>
          <a:effectLst>
            <a:outerShdw blurRad="127000" dist="25400" dir="8100000" algn="bl" rotWithShape="0">
              <a:srgbClr val="000000">
                <a:alpha val="10196"/>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600"/>
              <a:buFont typeface="Arial"/>
              <a:buNone/>
            </a:pPr>
            <a:endParaRPr sz="1600" b="0" i="0" u="none" strike="noStrike" cap="none" dirty="0">
              <a:solidFill>
                <a:srgbClr val="000000"/>
              </a:solidFill>
              <a:latin typeface="Arial"/>
              <a:ea typeface="Arial"/>
              <a:cs typeface="Arial"/>
              <a:sym typeface="Arial"/>
            </a:endParaRPr>
          </a:p>
        </p:txBody>
      </p:sp>
      <p:sp>
        <p:nvSpPr>
          <p:cNvPr id="201" name="Google Shape;201;g3d86e330eee_36_39">
            <a:extLst>
              <a:ext uri="{FF2B5EF4-FFF2-40B4-BE49-F238E27FC236}">
                <a16:creationId xmlns:a16="http://schemas.microsoft.com/office/drawing/2014/main" id="{CA1FA83C-EAF8-BD74-FC08-42C5257C905C}"/>
              </a:ext>
            </a:extLst>
          </p:cNvPr>
          <p:cNvSpPr/>
          <p:nvPr/>
        </p:nvSpPr>
        <p:spPr>
          <a:xfrm>
            <a:off x="365750" y="1341773"/>
            <a:ext cx="91500" cy="2534400"/>
          </a:xfrm>
          <a:prstGeom prst="rect">
            <a:avLst/>
          </a:prstGeom>
          <a:solidFill>
            <a:srgbClr val="1A3F7A"/>
          </a:solidFill>
          <a:ln w="9525" cap="flat" cmpd="sng">
            <a:solidFill>
              <a:srgbClr val="1A3F7A"/>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600"/>
              <a:buFont typeface="Arial"/>
              <a:buNone/>
            </a:pPr>
            <a:endParaRPr sz="1600" b="0" i="0" u="none" strike="noStrike" cap="none">
              <a:solidFill>
                <a:srgbClr val="000000"/>
              </a:solidFill>
              <a:latin typeface="Arial"/>
              <a:ea typeface="Arial"/>
              <a:cs typeface="Arial"/>
              <a:sym typeface="Arial"/>
            </a:endParaRPr>
          </a:p>
        </p:txBody>
      </p:sp>
      <p:grpSp>
        <p:nvGrpSpPr>
          <p:cNvPr id="202" name="Google Shape;202;g3d86e330eee_36_39">
            <a:extLst>
              <a:ext uri="{FF2B5EF4-FFF2-40B4-BE49-F238E27FC236}">
                <a16:creationId xmlns:a16="http://schemas.microsoft.com/office/drawing/2014/main" id="{EB9E6251-4D99-9094-574D-6CD3C12C24EF}"/>
              </a:ext>
            </a:extLst>
          </p:cNvPr>
          <p:cNvGrpSpPr/>
          <p:nvPr/>
        </p:nvGrpSpPr>
        <p:grpSpPr>
          <a:xfrm>
            <a:off x="718888" y="1528425"/>
            <a:ext cx="3587426" cy="2374154"/>
            <a:chOff x="718885" y="2192080"/>
            <a:chExt cx="3587426" cy="1242622"/>
          </a:xfrm>
        </p:grpSpPr>
        <p:sp>
          <p:nvSpPr>
            <p:cNvPr id="203" name="Google Shape;203;g3d86e330eee_36_39">
              <a:extLst>
                <a:ext uri="{FF2B5EF4-FFF2-40B4-BE49-F238E27FC236}">
                  <a16:creationId xmlns:a16="http://schemas.microsoft.com/office/drawing/2014/main" id="{63903C5E-5CFB-EB08-C7EF-5CE10996A6C0}"/>
                </a:ext>
              </a:extLst>
            </p:cNvPr>
            <p:cNvSpPr/>
            <p:nvPr/>
          </p:nvSpPr>
          <p:spPr>
            <a:xfrm>
              <a:off x="718885" y="2192080"/>
              <a:ext cx="3492000" cy="4209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3F7A"/>
                </a:buClr>
                <a:buSzPts val="1250"/>
                <a:buFont typeface="Calibri"/>
                <a:buNone/>
              </a:pPr>
              <a:r>
                <a:rPr lang="en-US" sz="1450" b="1" i="0" u="none" strike="noStrike" cap="none" dirty="0">
                  <a:solidFill>
                    <a:srgbClr val="1A3F7A"/>
                  </a:solidFill>
                  <a:latin typeface="Calibri"/>
                  <a:ea typeface="Calibri"/>
                  <a:cs typeface="Calibri"/>
                  <a:sym typeface="Calibri"/>
                </a:rPr>
                <a:t>3 Factor Model - Delta Vix, Delta Credit Spreads, &amp; Oil Returns </a:t>
              </a:r>
              <a:endParaRPr sz="1450" b="1" i="0" u="none" strike="noStrike" cap="none" dirty="0">
                <a:solidFill>
                  <a:srgbClr val="1A3F7A"/>
                </a:solidFill>
                <a:latin typeface="Calibri"/>
                <a:ea typeface="Calibri"/>
                <a:cs typeface="Calibri"/>
                <a:sym typeface="Calibri"/>
              </a:endParaRPr>
            </a:p>
            <a:p>
              <a:pPr marL="0" marR="0" lvl="0" indent="0" algn="l" rtl="0">
                <a:lnSpc>
                  <a:spcPct val="100000"/>
                </a:lnSpc>
                <a:spcBef>
                  <a:spcPts val="0"/>
                </a:spcBef>
                <a:spcAft>
                  <a:spcPts val="0"/>
                </a:spcAft>
                <a:buClr>
                  <a:srgbClr val="1A3F7A"/>
                </a:buClr>
                <a:buSzPts val="1250"/>
                <a:buFont typeface="Calibri"/>
                <a:buNone/>
              </a:pPr>
              <a:endParaRPr sz="1450" b="1" i="0" u="none" strike="noStrike" cap="none" dirty="0">
                <a:solidFill>
                  <a:srgbClr val="1A3F7A"/>
                </a:solidFill>
                <a:latin typeface="Calibri"/>
                <a:ea typeface="Calibri"/>
                <a:cs typeface="Calibri"/>
                <a:sym typeface="Calibri"/>
              </a:endParaRPr>
            </a:p>
          </p:txBody>
        </p:sp>
        <p:sp>
          <p:nvSpPr>
            <p:cNvPr id="204" name="Google Shape;204;g3d86e330eee_36_39">
              <a:extLst>
                <a:ext uri="{FF2B5EF4-FFF2-40B4-BE49-F238E27FC236}">
                  <a16:creationId xmlns:a16="http://schemas.microsoft.com/office/drawing/2014/main" id="{7A3827C5-C6EA-2892-40F1-5368B8A6AE3D}"/>
                </a:ext>
              </a:extLst>
            </p:cNvPr>
            <p:cNvSpPr/>
            <p:nvPr/>
          </p:nvSpPr>
          <p:spPr>
            <a:xfrm>
              <a:off x="727011" y="2608202"/>
              <a:ext cx="3579300" cy="826500"/>
            </a:xfrm>
            <a:prstGeom prst="rect">
              <a:avLst/>
            </a:prstGeom>
            <a:noFill/>
            <a:ln>
              <a:noFill/>
            </a:ln>
          </p:spPr>
          <p:txBody>
            <a:bodyPr spcFirstLastPara="1" wrap="square" lIns="25400" tIns="50800" rIns="0" bIns="0" anchor="t" anchorCtr="0">
              <a:noAutofit/>
            </a:bodyPr>
            <a:lstStyle/>
            <a:p>
              <a:pPr marL="342900" marR="0" lvl="0" indent="-342900" algn="l" rtl="0">
                <a:lnSpc>
                  <a:spcPct val="100000"/>
                </a:lnSpc>
                <a:spcBef>
                  <a:spcPts val="500"/>
                </a:spcBef>
                <a:spcAft>
                  <a:spcPts val="0"/>
                </a:spcAft>
                <a:buClr>
                  <a:srgbClr val="1E293B"/>
                </a:buClr>
                <a:buSzPts val="1300"/>
                <a:buFont typeface="Calibri"/>
                <a:buChar char="•"/>
              </a:pPr>
              <a:r>
                <a:rPr lang="en-US" sz="1300" b="0" i="0" u="none" strike="noStrike" cap="none" dirty="0">
                  <a:solidFill>
                    <a:srgbClr val="1E293B"/>
                  </a:solidFill>
                  <a:latin typeface="Calibri"/>
                  <a:ea typeface="Calibri"/>
                  <a:cs typeface="Calibri"/>
                  <a:sym typeface="Calibri"/>
                </a:rPr>
                <a:t>Test R-Squared = </a:t>
              </a:r>
              <a:r>
                <a:rPr lang="en-US" sz="1300" dirty="0">
                  <a:solidFill>
                    <a:srgbClr val="1E293B"/>
                  </a:solidFill>
                  <a:latin typeface="Calibri"/>
                  <a:ea typeface="Calibri"/>
                  <a:cs typeface="Calibri"/>
                  <a:sym typeface="Calibri"/>
                </a:rPr>
                <a:t>-0.0162</a:t>
              </a:r>
              <a:endParaRPr sz="1300" b="0" i="0" u="none" strike="noStrike" cap="none" dirty="0">
                <a:solidFill>
                  <a:srgbClr val="1E293B"/>
                </a:solidFill>
                <a:latin typeface="Calibri"/>
                <a:ea typeface="Calibri"/>
                <a:cs typeface="Calibri"/>
                <a:sym typeface="Calibri"/>
              </a:endParaRPr>
            </a:p>
            <a:p>
              <a:pPr marL="342900" marR="0" lvl="0" indent="-342900" algn="l" rtl="0">
                <a:lnSpc>
                  <a:spcPct val="100000"/>
                </a:lnSpc>
                <a:spcBef>
                  <a:spcPts val="500"/>
                </a:spcBef>
                <a:spcAft>
                  <a:spcPts val="0"/>
                </a:spcAft>
                <a:buClr>
                  <a:srgbClr val="1E293B"/>
                </a:buClr>
                <a:buSzPts val="1300"/>
                <a:buFont typeface="Calibri"/>
                <a:buChar char="•"/>
              </a:pPr>
              <a:r>
                <a:rPr lang="en-US" sz="1300" b="0" i="0" u="none" strike="noStrike" cap="none" dirty="0">
                  <a:solidFill>
                    <a:srgbClr val="1E293B"/>
                  </a:solidFill>
                  <a:latin typeface="Calibri"/>
                  <a:ea typeface="Calibri"/>
                  <a:cs typeface="Calibri"/>
                  <a:sym typeface="Calibri"/>
                </a:rPr>
                <a:t>Annualized Sharpe Ratio = 0.84</a:t>
              </a:r>
              <a:endParaRPr sz="1300" b="0" i="0" u="none" strike="noStrike" cap="none" dirty="0">
                <a:solidFill>
                  <a:srgbClr val="1E293B"/>
                </a:solidFill>
                <a:latin typeface="Calibri"/>
                <a:ea typeface="Calibri"/>
                <a:cs typeface="Calibri"/>
                <a:sym typeface="Calibri"/>
              </a:endParaRPr>
            </a:p>
          </p:txBody>
        </p:sp>
      </p:grpSp>
      <p:sp>
        <p:nvSpPr>
          <p:cNvPr id="205" name="Google Shape;205;g3d86e330eee_36_39">
            <a:extLst>
              <a:ext uri="{FF2B5EF4-FFF2-40B4-BE49-F238E27FC236}">
                <a16:creationId xmlns:a16="http://schemas.microsoft.com/office/drawing/2014/main" id="{E5196B14-647A-FEBC-15BC-4A56A12E020B}"/>
              </a:ext>
            </a:extLst>
          </p:cNvPr>
          <p:cNvSpPr/>
          <p:nvPr/>
        </p:nvSpPr>
        <p:spPr>
          <a:xfrm>
            <a:off x="4846395" y="1333124"/>
            <a:ext cx="1874400" cy="1162200"/>
          </a:xfrm>
          <a:prstGeom prst="rect">
            <a:avLst/>
          </a:prstGeom>
          <a:solidFill>
            <a:srgbClr val="FFFFFF"/>
          </a:solidFill>
          <a:ln w="9525" cap="flat" cmpd="sng">
            <a:solidFill>
              <a:srgbClr val="CBD5E1"/>
            </a:solidFill>
            <a:prstDash val="solid"/>
            <a:round/>
            <a:headEnd type="none" w="sm" len="sm"/>
            <a:tailEnd type="none" w="sm" len="sm"/>
          </a:ln>
          <a:effectLst>
            <a:outerShdw blurRad="127000" dist="25400" dir="8100000" algn="bl" rotWithShape="0">
              <a:srgbClr val="000000">
                <a:alpha val="10196"/>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nvGrpSpPr>
          <p:cNvPr id="206" name="Google Shape;206;g3d86e330eee_36_39">
            <a:extLst>
              <a:ext uri="{FF2B5EF4-FFF2-40B4-BE49-F238E27FC236}">
                <a16:creationId xmlns:a16="http://schemas.microsoft.com/office/drawing/2014/main" id="{EE81A727-5B11-F0CF-FCFA-891E275EB220}"/>
              </a:ext>
            </a:extLst>
          </p:cNvPr>
          <p:cNvGrpSpPr/>
          <p:nvPr/>
        </p:nvGrpSpPr>
        <p:grpSpPr>
          <a:xfrm>
            <a:off x="4846388" y="1556347"/>
            <a:ext cx="1874400" cy="680829"/>
            <a:chOff x="4617725" y="2329900"/>
            <a:chExt cx="1874400" cy="680829"/>
          </a:xfrm>
        </p:grpSpPr>
        <p:sp>
          <p:nvSpPr>
            <p:cNvPr id="207" name="Google Shape;207;g3d86e330eee_36_39">
              <a:extLst>
                <a:ext uri="{FF2B5EF4-FFF2-40B4-BE49-F238E27FC236}">
                  <a16:creationId xmlns:a16="http://schemas.microsoft.com/office/drawing/2014/main" id="{5A0CE20C-D81F-D77A-3560-C1528B3C92F8}"/>
                </a:ext>
              </a:extLst>
            </p:cNvPr>
            <p:cNvSpPr/>
            <p:nvPr/>
          </p:nvSpPr>
          <p:spPr>
            <a:xfrm>
              <a:off x="4617725" y="2329900"/>
              <a:ext cx="1874400" cy="4872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66534"/>
                </a:buClr>
                <a:buSzPts val="2800"/>
                <a:buFont typeface="Georgia"/>
                <a:buNone/>
              </a:pPr>
              <a:r>
                <a:rPr lang="en-US" sz="2800" b="1" i="0" u="none" strike="noStrike" cap="none" dirty="0">
                  <a:solidFill>
                    <a:srgbClr val="166534"/>
                  </a:solidFill>
                  <a:latin typeface="Josefin Sans"/>
                  <a:ea typeface="Josefin Sans"/>
                  <a:cs typeface="Josefin Sans"/>
                  <a:sym typeface="Josefin Sans"/>
                </a:rPr>
                <a:t>0.0104</a:t>
              </a:r>
              <a:endParaRPr sz="2800" b="0" i="0" u="none" strike="noStrike" cap="none" dirty="0">
                <a:solidFill>
                  <a:schemeClr val="dk1"/>
                </a:solidFill>
                <a:latin typeface="Josefin Sans"/>
                <a:ea typeface="Josefin Sans"/>
                <a:cs typeface="Josefin Sans"/>
                <a:sym typeface="Josefin Sans"/>
              </a:endParaRPr>
            </a:p>
          </p:txBody>
        </p:sp>
        <p:sp>
          <p:nvSpPr>
            <p:cNvPr id="208" name="Google Shape;208;g3d86e330eee_36_39">
              <a:extLst>
                <a:ext uri="{FF2B5EF4-FFF2-40B4-BE49-F238E27FC236}">
                  <a16:creationId xmlns:a16="http://schemas.microsoft.com/office/drawing/2014/main" id="{60A011AA-161E-D34F-36C6-0CFAF787B125}"/>
                </a:ext>
              </a:extLst>
            </p:cNvPr>
            <p:cNvSpPr/>
            <p:nvPr/>
          </p:nvSpPr>
          <p:spPr>
            <a:xfrm>
              <a:off x="4617725" y="2796229"/>
              <a:ext cx="1874400" cy="2145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475569"/>
                </a:buClr>
                <a:buSzPts val="1000"/>
                <a:buFont typeface="Calibri"/>
                <a:buNone/>
              </a:pPr>
              <a:r>
                <a:rPr lang="en-US" sz="1000" b="0" i="0" u="none" strike="noStrike" cap="none">
                  <a:solidFill>
                    <a:srgbClr val="475569"/>
                  </a:solidFill>
                  <a:latin typeface="Calibri"/>
                  <a:ea typeface="Calibri"/>
                  <a:cs typeface="Calibri"/>
                  <a:sym typeface="Calibri"/>
                </a:rPr>
                <a:t>Oil Return Coefficient</a:t>
              </a:r>
              <a:endParaRPr sz="1000" b="0" i="0" u="none" strike="noStrike" cap="none">
                <a:solidFill>
                  <a:schemeClr val="dk1"/>
                </a:solidFill>
                <a:latin typeface="Calibri"/>
                <a:ea typeface="Calibri"/>
                <a:cs typeface="Calibri"/>
                <a:sym typeface="Calibri"/>
              </a:endParaRPr>
            </a:p>
          </p:txBody>
        </p:sp>
      </p:grpSp>
      <p:sp>
        <p:nvSpPr>
          <p:cNvPr id="209" name="Google Shape;209;g3d86e330eee_36_39">
            <a:extLst>
              <a:ext uri="{FF2B5EF4-FFF2-40B4-BE49-F238E27FC236}">
                <a16:creationId xmlns:a16="http://schemas.microsoft.com/office/drawing/2014/main" id="{DED05680-010B-8131-ECB1-45D2DD4CAB33}"/>
              </a:ext>
            </a:extLst>
          </p:cNvPr>
          <p:cNvSpPr/>
          <p:nvPr/>
        </p:nvSpPr>
        <p:spPr>
          <a:xfrm>
            <a:off x="6903795" y="1333124"/>
            <a:ext cx="1874400" cy="1162200"/>
          </a:xfrm>
          <a:prstGeom prst="rect">
            <a:avLst/>
          </a:prstGeom>
          <a:solidFill>
            <a:srgbClr val="FFFFFF"/>
          </a:solidFill>
          <a:ln w="9525" cap="flat" cmpd="sng">
            <a:solidFill>
              <a:srgbClr val="CBD5E1"/>
            </a:solidFill>
            <a:prstDash val="solid"/>
            <a:round/>
            <a:headEnd type="none" w="sm" len="sm"/>
            <a:tailEnd type="none" w="sm" len="sm"/>
          </a:ln>
          <a:effectLst>
            <a:outerShdw blurRad="127000" dist="25400" dir="8100000" algn="bl" rotWithShape="0">
              <a:srgbClr val="000000">
                <a:alpha val="10196"/>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10" name="Google Shape;210;g3d86e330eee_36_39">
            <a:extLst>
              <a:ext uri="{FF2B5EF4-FFF2-40B4-BE49-F238E27FC236}">
                <a16:creationId xmlns:a16="http://schemas.microsoft.com/office/drawing/2014/main" id="{FB3F75C9-72AF-5DC8-026C-721585D2E1FE}"/>
              </a:ext>
            </a:extLst>
          </p:cNvPr>
          <p:cNvSpPr/>
          <p:nvPr/>
        </p:nvSpPr>
        <p:spPr>
          <a:xfrm>
            <a:off x="6903800" y="1556348"/>
            <a:ext cx="1874400" cy="4872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66534"/>
              </a:buClr>
              <a:buSzPts val="2800"/>
              <a:buFont typeface="Georgia"/>
              <a:buNone/>
            </a:pPr>
            <a:r>
              <a:rPr lang="en-US" sz="2800" b="1" i="0" u="none" strike="noStrike" cap="none" dirty="0">
                <a:solidFill>
                  <a:srgbClr val="166534"/>
                </a:solidFill>
                <a:latin typeface="Josefin Sans"/>
                <a:ea typeface="Josefin Sans"/>
                <a:cs typeface="Josefin Sans"/>
                <a:sym typeface="Josefin Sans"/>
              </a:rPr>
              <a:t>0.0003</a:t>
            </a:r>
            <a:endParaRPr sz="2800" b="1" i="0" u="none" strike="noStrike" cap="none" dirty="0">
              <a:solidFill>
                <a:srgbClr val="166534"/>
              </a:solidFill>
              <a:latin typeface="Josefin Sans"/>
              <a:ea typeface="Josefin Sans"/>
              <a:cs typeface="Josefin Sans"/>
              <a:sym typeface="Josefin Sans"/>
            </a:endParaRPr>
          </a:p>
        </p:txBody>
      </p:sp>
      <p:sp>
        <p:nvSpPr>
          <p:cNvPr id="211" name="Google Shape;211;g3d86e330eee_36_39">
            <a:extLst>
              <a:ext uri="{FF2B5EF4-FFF2-40B4-BE49-F238E27FC236}">
                <a16:creationId xmlns:a16="http://schemas.microsoft.com/office/drawing/2014/main" id="{CE56D115-A3C7-2150-00C6-F1A64C20B176}"/>
              </a:ext>
            </a:extLst>
          </p:cNvPr>
          <p:cNvSpPr/>
          <p:nvPr/>
        </p:nvSpPr>
        <p:spPr>
          <a:xfrm>
            <a:off x="6903800" y="2022676"/>
            <a:ext cx="1874400" cy="2145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475569"/>
              </a:buClr>
              <a:buSzPts val="1000"/>
              <a:buFont typeface="Calibri"/>
              <a:buNone/>
            </a:pPr>
            <a:r>
              <a:rPr lang="en-US" sz="1000" b="0" i="0" u="none" strike="noStrike" cap="none">
                <a:solidFill>
                  <a:srgbClr val="475569"/>
                </a:solidFill>
                <a:latin typeface="Calibri"/>
                <a:ea typeface="Calibri"/>
                <a:cs typeface="Calibri"/>
                <a:sym typeface="Calibri"/>
              </a:rPr>
              <a:t>Delta VIX</a:t>
            </a:r>
            <a:endParaRPr sz="1000" b="0" i="0" u="none" strike="noStrike" cap="none">
              <a:solidFill>
                <a:schemeClr val="dk1"/>
              </a:solidFill>
              <a:latin typeface="Calibri"/>
              <a:ea typeface="Calibri"/>
              <a:cs typeface="Calibri"/>
              <a:sym typeface="Calibri"/>
            </a:endParaRPr>
          </a:p>
        </p:txBody>
      </p:sp>
      <p:sp>
        <p:nvSpPr>
          <p:cNvPr id="212" name="Google Shape;212;g3d86e330eee_36_39">
            <a:extLst>
              <a:ext uri="{FF2B5EF4-FFF2-40B4-BE49-F238E27FC236}">
                <a16:creationId xmlns:a16="http://schemas.microsoft.com/office/drawing/2014/main" id="{6CEEECE5-1C69-C843-ADBA-36AF066CD71E}"/>
              </a:ext>
            </a:extLst>
          </p:cNvPr>
          <p:cNvSpPr/>
          <p:nvPr/>
        </p:nvSpPr>
        <p:spPr>
          <a:xfrm>
            <a:off x="4846395" y="2717326"/>
            <a:ext cx="1874400" cy="1162200"/>
          </a:xfrm>
          <a:prstGeom prst="rect">
            <a:avLst/>
          </a:prstGeom>
          <a:solidFill>
            <a:srgbClr val="FFFFFF"/>
          </a:solidFill>
          <a:ln w="9525" cap="flat" cmpd="sng">
            <a:solidFill>
              <a:srgbClr val="CBD5E1"/>
            </a:solidFill>
            <a:prstDash val="solid"/>
            <a:round/>
            <a:headEnd type="none" w="sm" len="sm"/>
            <a:tailEnd type="none" w="sm" len="sm"/>
          </a:ln>
          <a:effectLst>
            <a:outerShdw blurRad="127000" dist="25400" dir="8100000" algn="bl" rotWithShape="0">
              <a:srgbClr val="000000">
                <a:alpha val="10196"/>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13" name="Google Shape;213;g3d86e330eee_36_39">
            <a:extLst>
              <a:ext uri="{FF2B5EF4-FFF2-40B4-BE49-F238E27FC236}">
                <a16:creationId xmlns:a16="http://schemas.microsoft.com/office/drawing/2014/main" id="{5F6B2C73-2640-7D12-6F8D-8ABCF306E598}"/>
              </a:ext>
            </a:extLst>
          </p:cNvPr>
          <p:cNvSpPr/>
          <p:nvPr/>
        </p:nvSpPr>
        <p:spPr>
          <a:xfrm>
            <a:off x="4846395" y="2823609"/>
            <a:ext cx="1874400" cy="604200"/>
          </a:xfrm>
          <a:prstGeom prst="rect">
            <a:avLst/>
          </a:prstGeom>
          <a:noFill/>
          <a:ln>
            <a:noFill/>
          </a:ln>
        </p:spPr>
        <p:txBody>
          <a:bodyPr spcFirstLastPara="1" wrap="square" lIns="0" tIns="0" rIns="0" bIns="0" anchor="b" anchorCtr="0">
            <a:noAutofit/>
          </a:bodyPr>
          <a:lstStyle/>
          <a:p>
            <a:pPr marL="0" marR="0" lvl="0" indent="0" algn="ctr" rtl="0">
              <a:lnSpc>
                <a:spcPct val="100000"/>
              </a:lnSpc>
              <a:spcBef>
                <a:spcPts val="0"/>
              </a:spcBef>
              <a:spcAft>
                <a:spcPts val="0"/>
              </a:spcAft>
              <a:buClr>
                <a:srgbClr val="475569"/>
              </a:buClr>
              <a:buSzPts val="2800"/>
              <a:buFont typeface="Georgia"/>
              <a:buNone/>
            </a:pPr>
            <a:r>
              <a:rPr lang="en-US" sz="2800" b="1" i="0" u="none" strike="noStrike" cap="none" dirty="0">
                <a:solidFill>
                  <a:srgbClr val="475569"/>
                </a:solidFill>
                <a:latin typeface="Josefin Sans"/>
                <a:ea typeface="Josefin Sans"/>
                <a:cs typeface="Josefin Sans"/>
                <a:sym typeface="Josefin Sans"/>
              </a:rPr>
              <a:t>0.0016</a:t>
            </a:r>
            <a:endParaRPr sz="2800" b="1" i="0" u="none" strike="noStrike" cap="none" dirty="0">
              <a:solidFill>
                <a:srgbClr val="475569"/>
              </a:solidFill>
              <a:latin typeface="Josefin Sans"/>
              <a:ea typeface="Josefin Sans"/>
              <a:cs typeface="Josefin Sans"/>
              <a:sym typeface="Josefin Sans"/>
            </a:endParaRPr>
          </a:p>
        </p:txBody>
      </p:sp>
      <p:sp>
        <p:nvSpPr>
          <p:cNvPr id="214" name="Google Shape;214;g3d86e330eee_36_39">
            <a:extLst>
              <a:ext uri="{FF2B5EF4-FFF2-40B4-BE49-F238E27FC236}">
                <a16:creationId xmlns:a16="http://schemas.microsoft.com/office/drawing/2014/main" id="{6EF120BA-DFE4-19D1-F7DE-C58B6DCE76EB}"/>
              </a:ext>
            </a:extLst>
          </p:cNvPr>
          <p:cNvSpPr/>
          <p:nvPr/>
        </p:nvSpPr>
        <p:spPr>
          <a:xfrm>
            <a:off x="4846395" y="3447946"/>
            <a:ext cx="1874400" cy="3885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475569"/>
              </a:buClr>
              <a:buSzPts val="1000"/>
              <a:buFont typeface="Calibri"/>
              <a:buNone/>
            </a:pPr>
            <a:r>
              <a:rPr lang="en-US" sz="1000" b="0" i="0" u="none" strike="noStrike" cap="none">
                <a:solidFill>
                  <a:srgbClr val="475569"/>
                </a:solidFill>
                <a:latin typeface="Calibri"/>
                <a:ea typeface="Calibri"/>
                <a:cs typeface="Calibri"/>
                <a:sym typeface="Calibri"/>
              </a:rPr>
              <a:t>Delta Spread</a:t>
            </a:r>
            <a:endParaRPr sz="1000" b="0" i="0" u="none" strike="noStrike" cap="none">
              <a:solidFill>
                <a:schemeClr val="dk1"/>
              </a:solidFill>
              <a:latin typeface="Calibri"/>
              <a:ea typeface="Calibri"/>
              <a:cs typeface="Calibri"/>
              <a:sym typeface="Calibri"/>
            </a:endParaRPr>
          </a:p>
        </p:txBody>
      </p:sp>
      <p:sp>
        <p:nvSpPr>
          <p:cNvPr id="215" name="Google Shape;215;g3d86e330eee_36_39">
            <a:extLst>
              <a:ext uri="{FF2B5EF4-FFF2-40B4-BE49-F238E27FC236}">
                <a16:creationId xmlns:a16="http://schemas.microsoft.com/office/drawing/2014/main" id="{3456C180-3AC7-B4FB-A12D-34EF4E485569}"/>
              </a:ext>
            </a:extLst>
          </p:cNvPr>
          <p:cNvSpPr/>
          <p:nvPr/>
        </p:nvSpPr>
        <p:spPr>
          <a:xfrm>
            <a:off x="6903795" y="2717326"/>
            <a:ext cx="1874400" cy="1162200"/>
          </a:xfrm>
          <a:prstGeom prst="rect">
            <a:avLst/>
          </a:prstGeom>
          <a:solidFill>
            <a:srgbClr val="FFFFFF"/>
          </a:solidFill>
          <a:ln w="9525" cap="flat" cmpd="sng">
            <a:solidFill>
              <a:srgbClr val="CBD5E1"/>
            </a:solidFill>
            <a:prstDash val="solid"/>
            <a:round/>
            <a:headEnd type="none" w="sm" len="sm"/>
            <a:tailEnd type="none" w="sm" len="sm"/>
          </a:ln>
          <a:effectLst>
            <a:outerShdw blurRad="127000" dist="25400" dir="8100000" algn="bl" rotWithShape="0">
              <a:srgbClr val="000000">
                <a:alpha val="10196"/>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16" name="Google Shape;216;g3d86e330eee_36_39">
            <a:extLst>
              <a:ext uri="{FF2B5EF4-FFF2-40B4-BE49-F238E27FC236}">
                <a16:creationId xmlns:a16="http://schemas.microsoft.com/office/drawing/2014/main" id="{CEE91CD9-1206-5DC7-25B6-C2E6896D5992}"/>
              </a:ext>
            </a:extLst>
          </p:cNvPr>
          <p:cNvSpPr/>
          <p:nvPr/>
        </p:nvSpPr>
        <p:spPr>
          <a:xfrm>
            <a:off x="6903858" y="2823609"/>
            <a:ext cx="1874400" cy="604200"/>
          </a:xfrm>
          <a:prstGeom prst="rect">
            <a:avLst/>
          </a:prstGeom>
          <a:noFill/>
          <a:ln>
            <a:noFill/>
          </a:ln>
        </p:spPr>
        <p:txBody>
          <a:bodyPr spcFirstLastPara="1" wrap="square" lIns="0" tIns="0" rIns="0" bIns="0" anchor="b" anchorCtr="0">
            <a:noAutofit/>
          </a:bodyPr>
          <a:lstStyle/>
          <a:p>
            <a:pPr marL="0" marR="0" lvl="0" indent="0" algn="ctr" rtl="0">
              <a:lnSpc>
                <a:spcPct val="100000"/>
              </a:lnSpc>
              <a:spcBef>
                <a:spcPts val="0"/>
              </a:spcBef>
              <a:spcAft>
                <a:spcPts val="0"/>
              </a:spcAft>
              <a:buClr>
                <a:srgbClr val="2B6CB0"/>
              </a:buClr>
              <a:buSzPts val="2800"/>
              <a:buFont typeface="Georgia"/>
              <a:buNone/>
            </a:pPr>
            <a:r>
              <a:rPr lang="en-US" sz="2800" b="1" i="0" u="none" strike="noStrike" cap="none" dirty="0">
                <a:solidFill>
                  <a:srgbClr val="2B6CB0"/>
                </a:solidFill>
                <a:latin typeface="Josefin Sans"/>
                <a:ea typeface="Josefin Sans"/>
                <a:cs typeface="Josefin Sans"/>
                <a:sym typeface="Josefin Sans"/>
              </a:rPr>
              <a:t>-0.0001</a:t>
            </a:r>
            <a:endParaRPr sz="2800" b="1" i="0" u="none" strike="noStrike" cap="none" dirty="0">
              <a:solidFill>
                <a:srgbClr val="2B6CB0"/>
              </a:solidFill>
              <a:latin typeface="Josefin Sans"/>
              <a:ea typeface="Josefin Sans"/>
              <a:cs typeface="Josefin Sans"/>
              <a:sym typeface="Josefin Sans"/>
            </a:endParaRPr>
          </a:p>
        </p:txBody>
      </p:sp>
      <p:sp>
        <p:nvSpPr>
          <p:cNvPr id="217" name="Google Shape;217;g3d86e330eee_36_39">
            <a:extLst>
              <a:ext uri="{FF2B5EF4-FFF2-40B4-BE49-F238E27FC236}">
                <a16:creationId xmlns:a16="http://schemas.microsoft.com/office/drawing/2014/main" id="{013CFE89-463E-D06B-0F35-336EB5504C1F}"/>
              </a:ext>
            </a:extLst>
          </p:cNvPr>
          <p:cNvSpPr/>
          <p:nvPr/>
        </p:nvSpPr>
        <p:spPr>
          <a:xfrm>
            <a:off x="6903795" y="3447946"/>
            <a:ext cx="1874400" cy="3885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475569"/>
              </a:buClr>
              <a:buSzPts val="1000"/>
              <a:buFont typeface="Calibri"/>
              <a:buNone/>
            </a:pPr>
            <a:r>
              <a:rPr lang="en-US" sz="1000" b="0" i="0" u="none" strike="noStrike" cap="none">
                <a:solidFill>
                  <a:srgbClr val="475569"/>
                </a:solidFill>
                <a:latin typeface="Calibri"/>
                <a:ea typeface="Calibri"/>
                <a:cs typeface="Calibri"/>
                <a:sym typeface="Calibri"/>
              </a:rPr>
              <a:t>Constant</a:t>
            </a:r>
            <a:endParaRPr sz="1000" b="0" i="0" u="none" strike="noStrike" cap="none">
              <a:solidFill>
                <a:schemeClr val="dk1"/>
              </a:solidFill>
              <a:latin typeface="Calibri"/>
              <a:ea typeface="Calibri"/>
              <a:cs typeface="Calibri"/>
              <a:sym typeface="Calibri"/>
            </a:endParaRPr>
          </a:p>
        </p:txBody>
      </p:sp>
      <p:cxnSp>
        <p:nvCxnSpPr>
          <p:cNvPr id="218" name="Google Shape;218;g3d86e330eee_36_39">
            <a:extLst>
              <a:ext uri="{FF2B5EF4-FFF2-40B4-BE49-F238E27FC236}">
                <a16:creationId xmlns:a16="http://schemas.microsoft.com/office/drawing/2014/main" id="{90954DDB-CD19-A2F7-8D71-9E622BC9029D}"/>
              </a:ext>
            </a:extLst>
          </p:cNvPr>
          <p:cNvCxnSpPr/>
          <p:nvPr/>
        </p:nvCxnSpPr>
        <p:spPr>
          <a:xfrm>
            <a:off x="4590725" y="1336347"/>
            <a:ext cx="8400" cy="2560200"/>
          </a:xfrm>
          <a:prstGeom prst="straightConnector1">
            <a:avLst/>
          </a:prstGeom>
          <a:noFill/>
          <a:ln w="19050" cap="flat" cmpd="sng">
            <a:solidFill>
              <a:schemeClr val="accent3"/>
            </a:solidFill>
            <a:prstDash val="solid"/>
            <a:round/>
            <a:headEnd type="none" w="sm" len="sm"/>
            <a:tailEnd type="none" w="sm" len="sm"/>
          </a:ln>
        </p:spPr>
      </p:cxnSp>
      <p:sp>
        <p:nvSpPr>
          <p:cNvPr id="219" name="Google Shape;219;g3d86e330eee_36_39">
            <a:extLst>
              <a:ext uri="{FF2B5EF4-FFF2-40B4-BE49-F238E27FC236}">
                <a16:creationId xmlns:a16="http://schemas.microsoft.com/office/drawing/2014/main" id="{57862266-7CED-A272-D361-094AF5E76E0A}"/>
              </a:ext>
            </a:extLst>
          </p:cNvPr>
          <p:cNvSpPr/>
          <p:nvPr/>
        </p:nvSpPr>
        <p:spPr>
          <a:xfrm>
            <a:off x="388635" y="4101537"/>
            <a:ext cx="8412600" cy="621900"/>
          </a:xfrm>
          <a:prstGeom prst="rect">
            <a:avLst/>
          </a:prstGeom>
          <a:solidFill>
            <a:srgbClr val="0C1A35"/>
          </a:solidFill>
          <a:ln w="9525" cap="flat" cmpd="sng">
            <a:solidFill>
              <a:srgbClr val="CBD5E1"/>
            </a:solidFill>
            <a:prstDash val="solid"/>
            <a:round/>
            <a:headEnd type="none" w="sm" len="sm"/>
            <a:tailEnd type="none" w="sm" len="sm"/>
          </a:ln>
          <a:effectLst>
            <a:outerShdw blurRad="127000" dist="25400" dir="8100000" algn="bl" rotWithShape="0">
              <a:srgbClr val="000000">
                <a:alpha val="10196"/>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20" name="Google Shape;220;g3d86e330eee_36_39">
            <a:extLst>
              <a:ext uri="{FF2B5EF4-FFF2-40B4-BE49-F238E27FC236}">
                <a16:creationId xmlns:a16="http://schemas.microsoft.com/office/drawing/2014/main" id="{7CAC1B14-4284-86BC-5019-164BEBBD367E}"/>
              </a:ext>
            </a:extLst>
          </p:cNvPr>
          <p:cNvSpPr/>
          <p:nvPr/>
        </p:nvSpPr>
        <p:spPr>
          <a:xfrm>
            <a:off x="388625" y="4101525"/>
            <a:ext cx="8412600" cy="621900"/>
          </a:xfrm>
          <a:prstGeom prst="rect">
            <a:avLst/>
          </a:prstGeom>
          <a:solidFill>
            <a:srgbClr val="F7F9FC"/>
          </a:solidFill>
          <a:ln w="9525" cap="flat" cmpd="sng">
            <a:solidFill>
              <a:srgbClr val="CBD5E1"/>
            </a:solidFill>
            <a:prstDash val="solid"/>
            <a:round/>
            <a:headEnd type="none" w="sm" len="sm"/>
            <a:tailEnd type="none" w="sm" len="sm"/>
          </a:ln>
          <a:effectLst>
            <a:outerShdw blurRad="127000" dist="25400" dir="8100000" algn="bl" rotWithShape="0">
              <a:srgbClr val="000000">
                <a:alpha val="10196"/>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21" name="Google Shape;221;g3d86e330eee_36_39">
            <a:extLst>
              <a:ext uri="{FF2B5EF4-FFF2-40B4-BE49-F238E27FC236}">
                <a16:creationId xmlns:a16="http://schemas.microsoft.com/office/drawing/2014/main" id="{97CA1460-82C1-E5E0-2482-126536D02179}"/>
              </a:ext>
            </a:extLst>
          </p:cNvPr>
          <p:cNvSpPr/>
          <p:nvPr/>
        </p:nvSpPr>
        <p:spPr>
          <a:xfrm>
            <a:off x="525795" y="4223158"/>
            <a:ext cx="8138100" cy="5487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E8A020"/>
              </a:buClr>
              <a:buSzPts val="1400"/>
              <a:buFont typeface="Courier New"/>
              <a:buNone/>
            </a:pPr>
            <a:r>
              <a:rPr lang="en-US" sz="1400" b="0" i="0" u="none" strike="noStrike" cap="none" dirty="0">
                <a:solidFill>
                  <a:srgbClr val="E8A020"/>
                </a:solidFill>
                <a:latin typeface="Courier New"/>
                <a:ea typeface="Courier New"/>
                <a:cs typeface="Courier New"/>
                <a:sym typeface="Courier New"/>
              </a:rPr>
              <a:t>Equation: ŷ = 0.0104 * (</a:t>
            </a:r>
            <a:r>
              <a:rPr lang="en-US" sz="1400" b="0" i="0" u="none" strike="noStrike" cap="none" dirty="0" err="1">
                <a:solidFill>
                  <a:srgbClr val="E8A020"/>
                </a:solidFill>
                <a:latin typeface="Courier New"/>
                <a:ea typeface="Courier New"/>
                <a:cs typeface="Courier New"/>
                <a:sym typeface="Courier New"/>
              </a:rPr>
              <a:t>oil_return</a:t>
            </a:r>
            <a:r>
              <a:rPr lang="en-US" sz="1400" b="0" i="0" u="none" strike="noStrike" cap="none" dirty="0">
                <a:solidFill>
                  <a:srgbClr val="E8A020"/>
                </a:solidFill>
                <a:latin typeface="Courier New"/>
                <a:ea typeface="Courier New"/>
                <a:cs typeface="Courier New"/>
                <a:sym typeface="Courier New"/>
              </a:rPr>
              <a:t>) + 0.0003 * (</a:t>
            </a:r>
            <a:r>
              <a:rPr lang="en-US" sz="1400" b="0" i="0" u="none" strike="noStrike" cap="none" dirty="0" err="1">
                <a:solidFill>
                  <a:srgbClr val="E8A020"/>
                </a:solidFill>
                <a:latin typeface="Courier New"/>
                <a:ea typeface="Courier New"/>
                <a:cs typeface="Courier New"/>
                <a:sym typeface="Courier New"/>
              </a:rPr>
              <a:t>delta_vix</a:t>
            </a:r>
            <a:r>
              <a:rPr lang="en-US" sz="1400" b="0" i="0" u="none" strike="noStrike" cap="none" dirty="0">
                <a:solidFill>
                  <a:srgbClr val="E8A020"/>
                </a:solidFill>
                <a:latin typeface="Courier New"/>
                <a:ea typeface="Courier New"/>
                <a:cs typeface="Courier New"/>
                <a:sym typeface="Courier New"/>
              </a:rPr>
              <a:t>) + 0.00160 * (</a:t>
            </a:r>
            <a:r>
              <a:rPr lang="en-US" sz="1400" b="0" i="0" u="none" strike="noStrike" cap="none" dirty="0" err="1">
                <a:solidFill>
                  <a:srgbClr val="E8A020"/>
                </a:solidFill>
                <a:latin typeface="Courier New"/>
                <a:ea typeface="Courier New"/>
                <a:cs typeface="Courier New"/>
                <a:sym typeface="Courier New"/>
              </a:rPr>
              <a:t>delta_spread</a:t>
            </a:r>
            <a:r>
              <a:rPr lang="en-US" sz="1400" b="0" i="0" u="none" strike="noStrike" cap="none" dirty="0">
                <a:solidFill>
                  <a:srgbClr val="E8A020"/>
                </a:solidFill>
                <a:latin typeface="Courier New"/>
                <a:ea typeface="Courier New"/>
                <a:cs typeface="Courier New"/>
                <a:sym typeface="Courier New"/>
              </a:rPr>
              <a:t>) - 0.0001</a:t>
            </a:r>
            <a:endParaRPr sz="1400" b="0" i="0" u="none" strike="noStrike" cap="none" dirty="0">
              <a:solidFill>
                <a:srgbClr val="E8A020"/>
              </a:solidFill>
              <a:latin typeface="Courier New"/>
              <a:ea typeface="Courier New"/>
              <a:cs typeface="Courier New"/>
              <a:sym typeface="Courier New"/>
            </a:endParaRPr>
          </a:p>
          <a:p>
            <a:pPr marL="0" marR="0" lvl="0" indent="0" algn="ctr" rtl="0">
              <a:lnSpc>
                <a:spcPct val="100000"/>
              </a:lnSpc>
              <a:spcBef>
                <a:spcPts val="0"/>
              </a:spcBef>
              <a:spcAft>
                <a:spcPts val="0"/>
              </a:spcAft>
              <a:buClr>
                <a:srgbClr val="E8A020"/>
              </a:buClr>
              <a:buSzPts val="1400"/>
              <a:buFont typeface="Courier New"/>
              <a:buNone/>
            </a:pPr>
            <a:endParaRPr sz="1400" b="0" i="0" u="none" strike="noStrike" cap="none" dirty="0">
              <a:solidFill>
                <a:srgbClr val="E8A020"/>
              </a:solidFill>
              <a:latin typeface="Courier New"/>
              <a:ea typeface="Courier New"/>
              <a:cs typeface="Courier New"/>
              <a:sym typeface="Courier New"/>
            </a:endParaRPr>
          </a:p>
        </p:txBody>
      </p:sp>
      <p:sp>
        <p:nvSpPr>
          <p:cNvPr id="222" name="Google Shape;222;g3d86e330eee_36_39">
            <a:extLst>
              <a:ext uri="{FF2B5EF4-FFF2-40B4-BE49-F238E27FC236}">
                <a16:creationId xmlns:a16="http://schemas.microsoft.com/office/drawing/2014/main" id="{EE5DC389-0784-95DC-93B0-0B0FC0A9E29D}"/>
              </a:ext>
            </a:extLst>
          </p:cNvPr>
          <p:cNvSpPr/>
          <p:nvPr/>
        </p:nvSpPr>
        <p:spPr>
          <a:xfrm>
            <a:off x="457200" y="1133934"/>
            <a:ext cx="8229600" cy="27300"/>
          </a:xfrm>
          <a:prstGeom prst="rect">
            <a:avLst/>
          </a:prstGeom>
          <a:solidFill>
            <a:srgbClr val="2B6CB0"/>
          </a:solidFill>
          <a:ln w="9525" cap="flat" cmpd="sng">
            <a:solidFill>
              <a:srgbClr val="2B6CB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169701491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43"/>
        <p:cNvGrpSpPr/>
        <p:nvPr/>
      </p:nvGrpSpPr>
      <p:grpSpPr>
        <a:xfrm>
          <a:off x="0" y="0"/>
          <a:ext cx="0" cy="0"/>
          <a:chOff x="0" y="0"/>
          <a:chExt cx="0" cy="0"/>
        </a:xfrm>
      </p:grpSpPr>
      <p:sp>
        <p:nvSpPr>
          <p:cNvPr id="244" name="Google Shape;244;p14"/>
          <p:cNvSpPr/>
          <p:nvPr/>
        </p:nvSpPr>
        <p:spPr>
          <a:xfrm>
            <a:off x="365700" y="4744427"/>
            <a:ext cx="8412600" cy="274200"/>
          </a:xfrm>
          <a:prstGeom prst="rect">
            <a:avLst/>
          </a:prstGeom>
          <a:solidFill>
            <a:srgbClr val="F7F9FC"/>
          </a:solidFill>
          <a:ln w="9525" cap="flat" cmpd="sng">
            <a:solidFill>
              <a:srgbClr val="CBD5E1"/>
            </a:solidFill>
            <a:prstDash val="solid"/>
            <a:round/>
            <a:headEnd type="none" w="sm" len="sm"/>
            <a:tailEnd type="none" w="sm" len="sm"/>
          </a:ln>
          <a:effectLst>
            <a:outerShdw blurRad="127000" dist="25400" dir="8100000" algn="bl" rotWithShape="0">
              <a:srgbClr val="000000">
                <a:alpha val="10196"/>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45" name="Google Shape;245;p14"/>
          <p:cNvSpPr/>
          <p:nvPr/>
        </p:nvSpPr>
        <p:spPr>
          <a:xfrm>
            <a:off x="457200" y="146304"/>
            <a:ext cx="2194560" cy="274320"/>
          </a:xfrm>
          <a:prstGeom prst="rect">
            <a:avLst/>
          </a:prstGeom>
          <a:solidFill>
            <a:srgbClr val="2B6CB0"/>
          </a:solidFill>
          <a:ln w="9525" cap="flat" cmpd="sng">
            <a:solidFill>
              <a:srgbClr val="2B6CB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46" name="Google Shape;246;p14"/>
          <p:cNvSpPr/>
          <p:nvPr/>
        </p:nvSpPr>
        <p:spPr>
          <a:xfrm>
            <a:off x="457200" y="146304"/>
            <a:ext cx="2194560" cy="27432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FFFFFF"/>
              </a:buClr>
              <a:buSzPts val="850"/>
              <a:buFont typeface="Calibri"/>
              <a:buNone/>
            </a:pPr>
            <a:r>
              <a:rPr lang="en-US" sz="1050" b="1" i="0" u="none" strike="noStrike" cap="none">
                <a:solidFill>
                  <a:srgbClr val="FFFFFF"/>
                </a:solidFill>
                <a:latin typeface="Calibri"/>
                <a:ea typeface="Calibri"/>
                <a:cs typeface="Calibri"/>
                <a:sym typeface="Calibri"/>
              </a:rPr>
              <a:t>MODEL 2 - MULTI-FACTOR OLS</a:t>
            </a:r>
            <a:endParaRPr sz="1050" b="0" i="0" u="none" strike="noStrike" cap="none">
              <a:solidFill>
                <a:schemeClr val="dk1"/>
              </a:solidFill>
              <a:latin typeface="Calibri"/>
              <a:ea typeface="Calibri"/>
              <a:cs typeface="Calibri"/>
              <a:sym typeface="Calibri"/>
            </a:endParaRPr>
          </a:p>
        </p:txBody>
      </p:sp>
      <p:sp>
        <p:nvSpPr>
          <p:cNvPr id="247" name="Google Shape;247;p14"/>
          <p:cNvSpPr/>
          <p:nvPr/>
        </p:nvSpPr>
        <p:spPr>
          <a:xfrm>
            <a:off x="457200" y="502925"/>
            <a:ext cx="5709600" cy="6585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C1A35"/>
              </a:buClr>
              <a:buSzPts val="3000"/>
              <a:buFont typeface="Georgia"/>
              <a:buNone/>
            </a:pPr>
            <a:r>
              <a:rPr lang="en-US" sz="3000" b="1" i="0" u="none" strike="noStrike" cap="none" dirty="0">
                <a:solidFill>
                  <a:srgbClr val="0C1A35"/>
                </a:solidFill>
                <a:latin typeface="Georgia"/>
                <a:ea typeface="Georgia"/>
                <a:cs typeface="Georgia"/>
                <a:sym typeface="Georgia"/>
              </a:rPr>
              <a:t>Model 2 Analysis</a:t>
            </a:r>
            <a:endParaRPr sz="3000" b="0" i="0" u="none" strike="noStrike" cap="none" dirty="0">
              <a:solidFill>
                <a:schemeClr val="dk1"/>
              </a:solidFill>
              <a:latin typeface="Calibri"/>
              <a:ea typeface="Calibri"/>
              <a:cs typeface="Calibri"/>
              <a:sym typeface="Calibri"/>
            </a:endParaRPr>
          </a:p>
        </p:txBody>
      </p:sp>
      <p:sp>
        <p:nvSpPr>
          <p:cNvPr id="248" name="Google Shape;248;p14"/>
          <p:cNvSpPr/>
          <p:nvPr/>
        </p:nvSpPr>
        <p:spPr>
          <a:xfrm>
            <a:off x="365750" y="2103124"/>
            <a:ext cx="4005000" cy="2562300"/>
          </a:xfrm>
          <a:prstGeom prst="rect">
            <a:avLst/>
          </a:prstGeom>
          <a:solidFill>
            <a:srgbClr val="F7F9FC"/>
          </a:solidFill>
          <a:ln w="9525" cap="flat" cmpd="sng">
            <a:solidFill>
              <a:srgbClr val="CBD5E1"/>
            </a:solidFill>
            <a:prstDash val="solid"/>
            <a:round/>
            <a:headEnd type="none" w="sm" len="sm"/>
            <a:tailEnd type="none" w="sm" len="sm"/>
          </a:ln>
          <a:effectLst>
            <a:outerShdw blurRad="127000" dist="25400" dir="8100000" algn="bl" rotWithShape="0">
              <a:srgbClr val="000000">
                <a:alpha val="10196"/>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49" name="Google Shape;249;p14"/>
          <p:cNvSpPr/>
          <p:nvPr/>
        </p:nvSpPr>
        <p:spPr>
          <a:xfrm>
            <a:off x="365750" y="2103124"/>
            <a:ext cx="91500" cy="2562000"/>
          </a:xfrm>
          <a:prstGeom prst="rect">
            <a:avLst/>
          </a:prstGeom>
          <a:solidFill>
            <a:schemeClr val="dk2"/>
          </a:solidFill>
          <a:ln w="9525" cap="flat" cmpd="sng">
            <a:solidFill>
              <a:srgbClr val="0F766E"/>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50" name="Google Shape;250;p14"/>
          <p:cNvSpPr/>
          <p:nvPr/>
        </p:nvSpPr>
        <p:spPr>
          <a:xfrm>
            <a:off x="594365" y="2167110"/>
            <a:ext cx="3657600" cy="320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F766E"/>
              </a:buClr>
              <a:buSzPts val="1250"/>
              <a:buFont typeface="Calibri"/>
              <a:buNone/>
            </a:pPr>
            <a:r>
              <a:rPr lang="en-US" sz="1250" b="1" i="0" u="none" strike="noStrike" cap="none">
                <a:solidFill>
                  <a:srgbClr val="0F766E"/>
                </a:solidFill>
                <a:latin typeface="Calibri"/>
                <a:ea typeface="Calibri"/>
                <a:cs typeface="Calibri"/>
                <a:sym typeface="Calibri"/>
              </a:rPr>
              <a:t>What Improved</a:t>
            </a:r>
            <a:endParaRPr sz="1250" b="0" i="0" u="none" strike="noStrike" cap="none">
              <a:solidFill>
                <a:schemeClr val="dk1"/>
              </a:solidFill>
              <a:latin typeface="Calibri"/>
              <a:ea typeface="Calibri"/>
              <a:cs typeface="Calibri"/>
              <a:sym typeface="Calibri"/>
            </a:endParaRPr>
          </a:p>
        </p:txBody>
      </p:sp>
      <p:sp>
        <p:nvSpPr>
          <p:cNvPr id="251" name="Google Shape;251;p14"/>
          <p:cNvSpPr/>
          <p:nvPr/>
        </p:nvSpPr>
        <p:spPr>
          <a:xfrm>
            <a:off x="548650" y="2483710"/>
            <a:ext cx="3749100" cy="1186500"/>
          </a:xfrm>
          <a:prstGeom prst="rect">
            <a:avLst/>
          </a:prstGeom>
          <a:noFill/>
          <a:ln>
            <a:noFill/>
          </a:ln>
        </p:spPr>
        <p:txBody>
          <a:bodyPr spcFirstLastPara="1" wrap="square" lIns="25400" tIns="50800" rIns="0" bIns="0" anchor="t" anchorCtr="0">
            <a:noAutofit/>
          </a:bodyPr>
          <a:lstStyle/>
          <a:p>
            <a:pPr marL="342900" marR="0" lvl="0" indent="-342900" algn="l" rtl="0">
              <a:lnSpc>
                <a:spcPct val="95000"/>
              </a:lnSpc>
              <a:spcBef>
                <a:spcPts val="0"/>
              </a:spcBef>
              <a:spcAft>
                <a:spcPts val="0"/>
              </a:spcAft>
              <a:buClr>
                <a:srgbClr val="1E293B"/>
              </a:buClr>
              <a:buSzPts val="1100"/>
              <a:buFont typeface="Calibri"/>
              <a:buChar char="•"/>
            </a:pPr>
            <a:r>
              <a:rPr lang="en-US" sz="1100" b="0" i="0" u="none" strike="noStrike" cap="none" dirty="0">
                <a:solidFill>
                  <a:srgbClr val="1E293B"/>
                </a:solidFill>
                <a:latin typeface="Calibri"/>
                <a:ea typeface="Calibri"/>
                <a:cs typeface="Calibri"/>
                <a:sym typeface="Calibri"/>
              </a:rPr>
              <a:t>Used HC3 heteroskedasticity correction for more reliable p-values</a:t>
            </a:r>
            <a:endParaRPr sz="1100" b="0" i="0" u="none" strike="noStrike" cap="none" dirty="0">
              <a:solidFill>
                <a:schemeClr val="dk1"/>
              </a:solidFill>
              <a:latin typeface="Calibri"/>
              <a:ea typeface="Calibri"/>
              <a:cs typeface="Calibri"/>
              <a:sym typeface="Calibri"/>
            </a:endParaRPr>
          </a:p>
          <a:p>
            <a:pPr marL="342900" marR="0" lvl="0" indent="-342900" algn="l" rtl="0">
              <a:lnSpc>
                <a:spcPct val="95000"/>
              </a:lnSpc>
              <a:spcBef>
                <a:spcPts val="0"/>
              </a:spcBef>
              <a:spcAft>
                <a:spcPts val="0"/>
              </a:spcAft>
              <a:buClr>
                <a:srgbClr val="1E293B"/>
              </a:buClr>
              <a:buSzPts val="1100"/>
              <a:buFont typeface="Calibri"/>
              <a:buChar char="•"/>
            </a:pPr>
            <a:r>
              <a:rPr lang="en-US" sz="1100" b="0" i="0" u="none" strike="noStrike" cap="none" dirty="0">
                <a:solidFill>
                  <a:srgbClr val="1E293B"/>
                </a:solidFill>
                <a:latin typeface="Calibri"/>
                <a:ea typeface="Calibri"/>
                <a:cs typeface="Calibri"/>
                <a:sym typeface="Calibri"/>
              </a:rPr>
              <a:t>Strategy: go long tomorrow if predicted EMB return &gt; 0, else stay out</a:t>
            </a:r>
            <a:endParaRPr sz="1100" b="0" i="0" u="none" strike="noStrike" cap="none" dirty="0">
              <a:solidFill>
                <a:schemeClr val="dk1"/>
              </a:solidFill>
              <a:latin typeface="Calibri"/>
              <a:ea typeface="Calibri"/>
              <a:cs typeface="Calibri"/>
              <a:sym typeface="Calibri"/>
            </a:endParaRPr>
          </a:p>
          <a:p>
            <a:pPr marL="342900" marR="0" lvl="0" indent="-342900" algn="l" rtl="0">
              <a:lnSpc>
                <a:spcPct val="95000"/>
              </a:lnSpc>
              <a:spcBef>
                <a:spcPts val="0"/>
              </a:spcBef>
              <a:spcAft>
                <a:spcPts val="0"/>
              </a:spcAft>
              <a:buClr>
                <a:srgbClr val="1E293B"/>
              </a:buClr>
              <a:buSzPts val="1100"/>
              <a:buFont typeface="Calibri"/>
              <a:buChar char="•"/>
            </a:pPr>
            <a:r>
              <a:rPr lang="en-US" sz="1100" b="0" i="0" u="none" strike="noStrike" cap="none" dirty="0">
                <a:solidFill>
                  <a:srgbClr val="1E293B"/>
                </a:solidFill>
                <a:latin typeface="Calibri"/>
                <a:ea typeface="Calibri"/>
                <a:cs typeface="Calibri"/>
                <a:sym typeface="Calibri"/>
              </a:rPr>
              <a:t>Annualized Sharpe ratio: ~0.20 (model 1) vs 0</a:t>
            </a:r>
            <a:r>
              <a:rPr lang="en-US" sz="1100" dirty="0">
                <a:solidFill>
                  <a:srgbClr val="1E293B"/>
                </a:solidFill>
                <a:latin typeface="Calibri"/>
                <a:ea typeface="Calibri"/>
                <a:cs typeface="Calibri"/>
                <a:sym typeface="Calibri"/>
              </a:rPr>
              <a:t>.84 </a:t>
            </a:r>
            <a:r>
              <a:rPr lang="en-US" sz="1100" b="0" i="0" u="none" strike="noStrike" cap="none" dirty="0">
                <a:solidFill>
                  <a:srgbClr val="1E293B"/>
                </a:solidFill>
                <a:latin typeface="Calibri"/>
                <a:ea typeface="Calibri"/>
                <a:cs typeface="Calibri"/>
                <a:sym typeface="Calibri"/>
              </a:rPr>
              <a:t>(model 2)</a:t>
            </a:r>
            <a:endParaRPr sz="1100" b="0" i="0" u="none" strike="noStrike" cap="none" dirty="0">
              <a:solidFill>
                <a:schemeClr val="dk1"/>
              </a:solidFill>
              <a:latin typeface="Calibri"/>
              <a:ea typeface="Calibri"/>
              <a:cs typeface="Calibri"/>
              <a:sym typeface="Calibri"/>
            </a:endParaRPr>
          </a:p>
        </p:txBody>
      </p:sp>
      <p:sp>
        <p:nvSpPr>
          <p:cNvPr id="252" name="Google Shape;252;p14"/>
          <p:cNvSpPr/>
          <p:nvPr/>
        </p:nvSpPr>
        <p:spPr>
          <a:xfrm>
            <a:off x="548640" y="3595707"/>
            <a:ext cx="3657600" cy="320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F766E"/>
              </a:buClr>
              <a:buSzPts val="1200"/>
              <a:buFont typeface="Calibri"/>
              <a:buNone/>
            </a:pPr>
            <a:r>
              <a:rPr lang="en-US" sz="1200" b="1" i="0" u="none" strike="noStrike" cap="none">
                <a:solidFill>
                  <a:srgbClr val="0F766E"/>
                </a:solidFill>
                <a:latin typeface="Calibri"/>
                <a:ea typeface="Calibri"/>
                <a:cs typeface="Calibri"/>
                <a:sym typeface="Calibri"/>
              </a:rPr>
              <a:t>Strategy vs Buy-and-Hold</a:t>
            </a:r>
            <a:endParaRPr sz="1200" b="0" i="0" u="none" strike="noStrike" cap="none">
              <a:solidFill>
                <a:schemeClr val="dk1"/>
              </a:solidFill>
              <a:latin typeface="Calibri"/>
              <a:ea typeface="Calibri"/>
              <a:cs typeface="Calibri"/>
              <a:sym typeface="Calibri"/>
            </a:endParaRPr>
          </a:p>
        </p:txBody>
      </p:sp>
      <p:sp>
        <p:nvSpPr>
          <p:cNvPr id="253" name="Google Shape;253;p14"/>
          <p:cNvSpPr/>
          <p:nvPr/>
        </p:nvSpPr>
        <p:spPr>
          <a:xfrm>
            <a:off x="548640" y="3894582"/>
            <a:ext cx="3749100" cy="530400"/>
          </a:xfrm>
          <a:prstGeom prst="rect">
            <a:avLst/>
          </a:prstGeom>
          <a:noFill/>
          <a:ln>
            <a:noFill/>
          </a:ln>
        </p:spPr>
        <p:txBody>
          <a:bodyPr spcFirstLastPara="1" wrap="square" lIns="25400" tIns="50800" rIns="0" bIns="0" anchor="t" anchorCtr="0">
            <a:noAutofit/>
          </a:bodyPr>
          <a:lstStyle/>
          <a:p>
            <a:pPr marL="342900" marR="0" lvl="0" indent="-342900" algn="l" rtl="0">
              <a:lnSpc>
                <a:spcPct val="95000"/>
              </a:lnSpc>
              <a:spcBef>
                <a:spcPts val="0"/>
              </a:spcBef>
              <a:spcAft>
                <a:spcPts val="0"/>
              </a:spcAft>
              <a:buClr>
                <a:srgbClr val="1E293B"/>
              </a:buClr>
              <a:buSzPts val="1100"/>
              <a:buFont typeface="Calibri"/>
              <a:buChar char="•"/>
            </a:pPr>
            <a:r>
              <a:rPr lang="en-US" sz="1100" b="0" i="0" u="none" strike="noStrike" cap="none" dirty="0">
                <a:solidFill>
                  <a:srgbClr val="1E293B"/>
                </a:solidFill>
                <a:latin typeface="Calibri"/>
                <a:ea typeface="Calibri"/>
                <a:cs typeface="Calibri"/>
                <a:sym typeface="Calibri"/>
              </a:rPr>
              <a:t>3-factor strategy ends at 1.129 × vs buy-and-hold at 1.09×</a:t>
            </a:r>
            <a:endParaRPr sz="1100" b="0" i="0" u="none" strike="noStrike" cap="none" dirty="0">
              <a:solidFill>
                <a:schemeClr val="dk1"/>
              </a:solidFill>
              <a:latin typeface="Calibri"/>
              <a:ea typeface="Calibri"/>
              <a:cs typeface="Calibri"/>
              <a:sym typeface="Calibri"/>
            </a:endParaRPr>
          </a:p>
          <a:p>
            <a:pPr marL="342900" marR="0" lvl="0" indent="-342900" algn="l" rtl="0">
              <a:lnSpc>
                <a:spcPct val="95000"/>
              </a:lnSpc>
              <a:spcBef>
                <a:spcPts val="0"/>
              </a:spcBef>
              <a:spcAft>
                <a:spcPts val="0"/>
              </a:spcAft>
              <a:buClr>
                <a:srgbClr val="1E293B"/>
              </a:buClr>
              <a:buSzPts val="1100"/>
              <a:buFont typeface="Calibri"/>
              <a:buChar char="•"/>
            </a:pPr>
            <a:r>
              <a:rPr lang="en-US" sz="1100" b="0" i="0" u="none" strike="noStrike" cap="none" dirty="0">
                <a:solidFill>
                  <a:srgbClr val="1E293B"/>
                </a:solidFill>
                <a:latin typeface="Calibri"/>
                <a:ea typeface="Calibri"/>
                <a:cs typeface="Calibri"/>
                <a:sym typeface="Calibri"/>
              </a:rPr>
              <a:t>Sep 2023: strategy protected capital when buy-and-hold crashed</a:t>
            </a:r>
            <a:endParaRPr sz="1100" b="0" i="0" u="none" strike="noStrike" cap="none" dirty="0">
              <a:solidFill>
                <a:schemeClr val="dk1"/>
              </a:solidFill>
              <a:latin typeface="Calibri"/>
              <a:ea typeface="Calibri"/>
              <a:cs typeface="Calibri"/>
              <a:sym typeface="Calibri"/>
            </a:endParaRPr>
          </a:p>
          <a:p>
            <a:pPr marL="342900" marR="0" lvl="0" indent="-342900" algn="l" rtl="0">
              <a:lnSpc>
                <a:spcPct val="95000"/>
              </a:lnSpc>
              <a:spcBef>
                <a:spcPts val="0"/>
              </a:spcBef>
              <a:spcAft>
                <a:spcPts val="0"/>
              </a:spcAft>
              <a:buClr>
                <a:srgbClr val="1E293B"/>
              </a:buClr>
              <a:buSzPts val="1100"/>
              <a:buFont typeface="Calibri"/>
              <a:buChar char="•"/>
            </a:pPr>
            <a:r>
              <a:rPr lang="en-US" sz="1100" b="0" i="0" u="none" strike="noStrike" cap="none" dirty="0">
                <a:solidFill>
                  <a:srgbClr val="1E293B"/>
                </a:solidFill>
                <a:latin typeface="Calibri"/>
                <a:ea typeface="Calibri"/>
                <a:cs typeface="Calibri"/>
                <a:sym typeface="Calibri"/>
              </a:rPr>
              <a:t>Strategy consistently hovers at or above buy-and-hold</a:t>
            </a:r>
            <a:endParaRPr sz="1100" b="0" i="0" u="none" strike="noStrike" cap="none" dirty="0">
              <a:solidFill>
                <a:schemeClr val="dk1"/>
              </a:solidFill>
              <a:latin typeface="Calibri"/>
              <a:ea typeface="Calibri"/>
              <a:cs typeface="Calibri"/>
              <a:sym typeface="Calibri"/>
            </a:endParaRPr>
          </a:p>
        </p:txBody>
      </p:sp>
      <p:sp>
        <p:nvSpPr>
          <p:cNvPr id="254" name="Google Shape;254;p14"/>
          <p:cNvSpPr/>
          <p:nvPr/>
        </p:nvSpPr>
        <p:spPr>
          <a:xfrm>
            <a:off x="4617725" y="2103124"/>
            <a:ext cx="4114800" cy="2562000"/>
          </a:xfrm>
          <a:prstGeom prst="rect">
            <a:avLst/>
          </a:prstGeom>
          <a:solidFill>
            <a:srgbClr val="F7F9FC"/>
          </a:solidFill>
          <a:ln w="9525" cap="flat" cmpd="sng">
            <a:solidFill>
              <a:srgbClr val="CBD5E1"/>
            </a:solidFill>
            <a:prstDash val="solid"/>
            <a:round/>
            <a:headEnd type="none" w="sm" len="sm"/>
            <a:tailEnd type="none" w="sm" len="sm"/>
          </a:ln>
          <a:effectLst>
            <a:outerShdw blurRad="127000" dist="25400" dir="8100000" algn="bl" rotWithShape="0">
              <a:srgbClr val="000000">
                <a:alpha val="10196"/>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55" name="Google Shape;255;p14"/>
          <p:cNvSpPr/>
          <p:nvPr/>
        </p:nvSpPr>
        <p:spPr>
          <a:xfrm>
            <a:off x="4617725" y="2103124"/>
            <a:ext cx="91500" cy="2562000"/>
          </a:xfrm>
          <a:prstGeom prst="rect">
            <a:avLst/>
          </a:prstGeom>
          <a:solidFill>
            <a:srgbClr val="B91C1C"/>
          </a:solidFill>
          <a:ln w="9525" cap="flat" cmpd="sng">
            <a:solidFill>
              <a:srgbClr val="B91C1C"/>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56" name="Google Shape;256;p14"/>
          <p:cNvSpPr/>
          <p:nvPr/>
        </p:nvSpPr>
        <p:spPr>
          <a:xfrm>
            <a:off x="4800600" y="2176272"/>
            <a:ext cx="3749040" cy="3200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B91C1C"/>
              </a:buClr>
              <a:buSzPts val="1250"/>
              <a:buFont typeface="Calibri"/>
              <a:buNone/>
            </a:pPr>
            <a:r>
              <a:rPr lang="en-US" sz="1250" b="1" i="0" u="none" strike="noStrike" cap="none">
                <a:solidFill>
                  <a:srgbClr val="B91C1C"/>
                </a:solidFill>
                <a:latin typeface="Calibri"/>
                <a:ea typeface="Calibri"/>
                <a:cs typeface="Calibri"/>
                <a:sym typeface="Calibri"/>
              </a:rPr>
              <a:t>The Problem: Multicollinearity</a:t>
            </a:r>
            <a:endParaRPr sz="1250" b="0" i="0" u="none" strike="noStrike" cap="none">
              <a:solidFill>
                <a:schemeClr val="dk1"/>
              </a:solidFill>
              <a:latin typeface="Calibri"/>
              <a:ea typeface="Calibri"/>
              <a:cs typeface="Calibri"/>
              <a:sym typeface="Calibri"/>
            </a:endParaRPr>
          </a:p>
        </p:txBody>
      </p:sp>
      <p:sp>
        <p:nvSpPr>
          <p:cNvPr id="257" name="Google Shape;257;p14"/>
          <p:cNvSpPr/>
          <p:nvPr/>
        </p:nvSpPr>
        <p:spPr>
          <a:xfrm>
            <a:off x="4800605" y="2497278"/>
            <a:ext cx="3840600" cy="2135100"/>
          </a:xfrm>
          <a:prstGeom prst="rect">
            <a:avLst/>
          </a:prstGeom>
          <a:noFill/>
          <a:ln>
            <a:noFill/>
          </a:ln>
        </p:spPr>
        <p:txBody>
          <a:bodyPr spcFirstLastPara="1" wrap="square" lIns="25400" tIns="50800" rIns="0" bIns="0" anchor="t" anchorCtr="0">
            <a:noAutofit/>
          </a:bodyPr>
          <a:lstStyle/>
          <a:p>
            <a:pPr marL="342900" marR="0" lvl="0" indent="-342900" algn="l" rtl="0">
              <a:lnSpc>
                <a:spcPct val="100000"/>
              </a:lnSpc>
              <a:spcBef>
                <a:spcPts val="0"/>
              </a:spcBef>
              <a:spcAft>
                <a:spcPts val="0"/>
              </a:spcAft>
              <a:buClr>
                <a:srgbClr val="1E293B"/>
              </a:buClr>
              <a:buSzPts val="1100"/>
              <a:buFont typeface="Calibri"/>
              <a:buChar char="•"/>
            </a:pPr>
            <a:r>
              <a:rPr lang="en-US" sz="1100" b="0" i="0" u="none" strike="noStrike" cap="none" dirty="0">
                <a:solidFill>
                  <a:srgbClr val="1E293B"/>
                </a:solidFill>
                <a:latin typeface="Calibri"/>
                <a:ea typeface="Calibri"/>
                <a:cs typeface="Calibri"/>
                <a:sym typeface="Calibri"/>
              </a:rPr>
              <a:t>Δ VIX and Δ Credit Spread are 0.46 correlated — shared signal</a:t>
            </a:r>
            <a:endParaRPr sz="1100" b="0" i="0" u="none" strike="noStrike" cap="none" dirty="0">
              <a:solidFill>
                <a:schemeClr val="dk1"/>
              </a:solidFill>
              <a:latin typeface="Calibri"/>
              <a:ea typeface="Calibri"/>
              <a:cs typeface="Calibri"/>
              <a:sym typeface="Calibri"/>
            </a:endParaRPr>
          </a:p>
          <a:p>
            <a:pPr marL="342900" marR="0" lvl="0" indent="-342900" algn="l" rtl="0">
              <a:lnSpc>
                <a:spcPct val="100000"/>
              </a:lnSpc>
              <a:spcBef>
                <a:spcPts val="500"/>
              </a:spcBef>
              <a:spcAft>
                <a:spcPts val="0"/>
              </a:spcAft>
              <a:buClr>
                <a:srgbClr val="1E293B"/>
              </a:buClr>
              <a:buSzPts val="1100"/>
              <a:buFont typeface="Calibri"/>
              <a:buChar char="•"/>
            </a:pPr>
            <a:r>
              <a:rPr lang="en-US" sz="1100" b="0" i="0" u="none" strike="noStrike" cap="none" dirty="0">
                <a:solidFill>
                  <a:srgbClr val="1E293B"/>
                </a:solidFill>
                <a:latin typeface="Calibri"/>
                <a:ea typeface="Calibri"/>
                <a:cs typeface="Calibri"/>
                <a:sym typeface="Calibri"/>
              </a:rPr>
              <a:t>Condition number = 84 (&gt;30 = very high multicollinearity)</a:t>
            </a:r>
            <a:endParaRPr sz="1100" b="0" i="0" u="none" strike="noStrike" cap="none" dirty="0">
              <a:solidFill>
                <a:schemeClr val="dk1"/>
              </a:solidFill>
              <a:latin typeface="Calibri"/>
              <a:ea typeface="Calibri"/>
              <a:cs typeface="Calibri"/>
              <a:sym typeface="Calibri"/>
            </a:endParaRPr>
          </a:p>
          <a:p>
            <a:pPr marL="342900" marR="0" lvl="0" indent="-342900" algn="l" rtl="0">
              <a:lnSpc>
                <a:spcPct val="100000"/>
              </a:lnSpc>
              <a:spcBef>
                <a:spcPts val="500"/>
              </a:spcBef>
              <a:spcAft>
                <a:spcPts val="0"/>
              </a:spcAft>
              <a:buClr>
                <a:srgbClr val="1E293B"/>
              </a:buClr>
              <a:buSzPts val="1100"/>
              <a:buFont typeface="Calibri"/>
              <a:buChar char="•"/>
            </a:pPr>
            <a:r>
              <a:rPr lang="en-US" sz="1100" b="0" i="0" u="none" strike="noStrike" cap="none" dirty="0">
                <a:solidFill>
                  <a:srgbClr val="1E293B"/>
                </a:solidFill>
                <a:latin typeface="Calibri"/>
                <a:ea typeface="Calibri"/>
                <a:cs typeface="Calibri"/>
                <a:sym typeface="Calibri"/>
              </a:rPr>
              <a:t>Result: none of the 3 predictors are individually significant</a:t>
            </a:r>
            <a:endParaRPr sz="1100" b="0" i="0" u="none" strike="noStrike" cap="none" dirty="0">
              <a:solidFill>
                <a:schemeClr val="dk1"/>
              </a:solidFill>
              <a:latin typeface="Calibri"/>
              <a:ea typeface="Calibri"/>
              <a:cs typeface="Calibri"/>
              <a:sym typeface="Calibri"/>
            </a:endParaRPr>
          </a:p>
          <a:p>
            <a:pPr marL="342900" marR="0" lvl="0" indent="-342900" algn="l" rtl="0">
              <a:lnSpc>
                <a:spcPct val="100000"/>
              </a:lnSpc>
              <a:spcBef>
                <a:spcPts val="500"/>
              </a:spcBef>
              <a:spcAft>
                <a:spcPts val="0"/>
              </a:spcAft>
              <a:buClr>
                <a:srgbClr val="1E293B"/>
              </a:buClr>
              <a:buSzPts val="1100"/>
              <a:buFont typeface="Calibri"/>
              <a:buChar char="•"/>
            </a:pPr>
            <a:r>
              <a:rPr lang="en-US" sz="1100" b="0" i="0" u="none" strike="noStrike" cap="none" dirty="0">
                <a:solidFill>
                  <a:srgbClr val="1E293B"/>
                </a:solidFill>
                <a:latin typeface="Calibri"/>
                <a:ea typeface="Calibri"/>
                <a:cs typeface="Calibri"/>
                <a:sym typeface="Calibri"/>
              </a:rPr>
              <a:t>More variables did not improve prediction — double-counting noise</a:t>
            </a:r>
            <a:endParaRPr sz="1100" b="0" i="0" u="none" strike="noStrike" cap="none" dirty="0">
              <a:solidFill>
                <a:schemeClr val="dk1"/>
              </a:solidFill>
              <a:latin typeface="Calibri"/>
              <a:ea typeface="Calibri"/>
              <a:cs typeface="Calibri"/>
              <a:sym typeface="Calibri"/>
            </a:endParaRPr>
          </a:p>
          <a:p>
            <a:pPr marL="342900" marR="0" lvl="0" indent="-342900" algn="l" rtl="0">
              <a:lnSpc>
                <a:spcPct val="100000"/>
              </a:lnSpc>
              <a:spcBef>
                <a:spcPts val="500"/>
              </a:spcBef>
              <a:spcAft>
                <a:spcPts val="0"/>
              </a:spcAft>
              <a:buClr>
                <a:srgbClr val="1E293B"/>
              </a:buClr>
              <a:buSzPts val="1100"/>
              <a:buFont typeface="Calibri"/>
              <a:buChar char="•"/>
            </a:pPr>
            <a:r>
              <a:rPr lang="en-US" sz="1100" b="0" i="0" u="none" strike="noStrike" cap="none" dirty="0">
                <a:solidFill>
                  <a:srgbClr val="1E293B"/>
                </a:solidFill>
                <a:latin typeface="Calibri"/>
                <a:ea typeface="Calibri"/>
                <a:cs typeface="Calibri"/>
                <a:sym typeface="Calibri"/>
              </a:rPr>
              <a:t>Fix: Ridge regression adds penalty term to shrink correlated predictors</a:t>
            </a:r>
            <a:endParaRPr sz="1100" b="0" i="0" u="none" strike="noStrike" cap="none" dirty="0">
              <a:solidFill>
                <a:schemeClr val="dk1"/>
              </a:solidFill>
              <a:latin typeface="Calibri"/>
              <a:ea typeface="Calibri"/>
              <a:cs typeface="Calibri"/>
              <a:sym typeface="Calibri"/>
            </a:endParaRPr>
          </a:p>
        </p:txBody>
      </p:sp>
      <p:sp>
        <p:nvSpPr>
          <p:cNvPr id="258" name="Google Shape;258;p14"/>
          <p:cNvSpPr/>
          <p:nvPr/>
        </p:nvSpPr>
        <p:spPr>
          <a:xfrm>
            <a:off x="457190" y="4752329"/>
            <a:ext cx="8229600" cy="2628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475569"/>
              </a:buClr>
              <a:buSzPts val="1000"/>
              <a:buFont typeface="Calibri"/>
              <a:buNone/>
            </a:pPr>
            <a:r>
              <a:rPr lang="en-US" sz="1000" b="0" i="1" u="none" strike="noStrike" cap="none">
                <a:solidFill>
                  <a:srgbClr val="475569"/>
                </a:solidFill>
                <a:latin typeface="Calibri"/>
                <a:ea typeface="Calibri"/>
                <a:cs typeface="Calibri"/>
                <a:sym typeface="Calibri"/>
              </a:rPr>
              <a:t>Lesson: adding correlated predictors inflates the condition number and destroys individual significance, even when R² marginally improves.</a:t>
            </a:r>
            <a:endParaRPr sz="1000" b="0" i="0" u="none" strike="noStrike" cap="none">
              <a:solidFill>
                <a:schemeClr val="dk1"/>
              </a:solidFill>
              <a:latin typeface="Calibri"/>
              <a:ea typeface="Calibri"/>
              <a:cs typeface="Calibri"/>
              <a:sym typeface="Calibri"/>
            </a:endParaRPr>
          </a:p>
        </p:txBody>
      </p:sp>
      <p:sp>
        <p:nvSpPr>
          <p:cNvPr id="259" name="Google Shape;259;p14"/>
          <p:cNvSpPr/>
          <p:nvPr/>
        </p:nvSpPr>
        <p:spPr>
          <a:xfrm>
            <a:off x="365710" y="1339550"/>
            <a:ext cx="8412600" cy="658500"/>
          </a:xfrm>
          <a:prstGeom prst="rect">
            <a:avLst/>
          </a:prstGeom>
          <a:solidFill>
            <a:srgbClr val="F7F9FC"/>
          </a:solidFill>
          <a:ln w="9525" cap="flat" cmpd="sng">
            <a:solidFill>
              <a:srgbClr val="CBD5E1"/>
            </a:solidFill>
            <a:prstDash val="solid"/>
            <a:round/>
            <a:headEnd type="none" w="sm" len="sm"/>
            <a:tailEnd type="none" w="sm" len="sm"/>
          </a:ln>
          <a:effectLst>
            <a:outerShdw blurRad="127000" dist="25400" dir="8100000" algn="bl" rotWithShape="0">
              <a:srgbClr val="000000">
                <a:alpha val="10196"/>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60" name="Google Shape;260;p14"/>
          <p:cNvSpPr txBox="1"/>
          <p:nvPr/>
        </p:nvSpPr>
        <p:spPr>
          <a:xfrm>
            <a:off x="415025" y="1447913"/>
            <a:ext cx="8412600" cy="6156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E8A020"/>
              </a:buClr>
              <a:buSzPts val="1400"/>
              <a:buFont typeface="Courier New"/>
              <a:buNone/>
            </a:pPr>
            <a:r>
              <a:rPr lang="en-US" sz="1400" b="0" i="0" u="none" strike="noStrike" cap="none">
                <a:solidFill>
                  <a:srgbClr val="E8A020"/>
                </a:solidFill>
                <a:latin typeface="Courier New"/>
                <a:ea typeface="Courier New"/>
                <a:cs typeface="Courier New"/>
                <a:sym typeface="Courier New"/>
              </a:rPr>
              <a:t>EMB Return_t+1  =  α  +  β₁·ΔVIX_t  +  β₂·ΔSpread_t  +  β₃·Oil_Return_t  +  ε</a:t>
            </a:r>
            <a:endParaRPr sz="1400" b="0" i="0" u="none" strike="noStrike" cap="none">
              <a:solidFill>
                <a:schemeClr val="dk1"/>
              </a:solidFill>
              <a:latin typeface="Courier New"/>
              <a:ea typeface="Courier New"/>
              <a:cs typeface="Courier New"/>
              <a:sym typeface="Courier New"/>
            </a:endParaRPr>
          </a:p>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61" name="Google Shape;261;p14"/>
          <p:cNvSpPr/>
          <p:nvPr/>
        </p:nvSpPr>
        <p:spPr>
          <a:xfrm>
            <a:off x="457200" y="1133934"/>
            <a:ext cx="8229600" cy="27300"/>
          </a:xfrm>
          <a:prstGeom prst="rect">
            <a:avLst/>
          </a:prstGeom>
          <a:solidFill>
            <a:srgbClr val="2B6CB0"/>
          </a:solidFill>
          <a:ln w="9525" cap="flat" cmpd="sng">
            <a:solidFill>
              <a:srgbClr val="2B6CB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55">
          <a:extLst>
            <a:ext uri="{FF2B5EF4-FFF2-40B4-BE49-F238E27FC236}">
              <a16:creationId xmlns:a16="http://schemas.microsoft.com/office/drawing/2014/main" id="{6C7D09D0-58B3-081A-9184-BB961CE24A2A}"/>
            </a:ext>
          </a:extLst>
        </p:cNvPr>
        <p:cNvGrpSpPr/>
        <p:nvPr/>
      </p:nvGrpSpPr>
      <p:grpSpPr>
        <a:xfrm>
          <a:off x="0" y="0"/>
          <a:ext cx="0" cy="0"/>
          <a:chOff x="0" y="0"/>
          <a:chExt cx="0" cy="0"/>
        </a:xfrm>
      </p:grpSpPr>
      <p:sp>
        <p:nvSpPr>
          <p:cNvPr id="156" name="Google Shape;156;g39789fe7b62_1_251">
            <a:extLst>
              <a:ext uri="{FF2B5EF4-FFF2-40B4-BE49-F238E27FC236}">
                <a16:creationId xmlns:a16="http://schemas.microsoft.com/office/drawing/2014/main" id="{8384BF21-525F-BE47-4681-8DBA64FAECED}"/>
              </a:ext>
            </a:extLst>
          </p:cNvPr>
          <p:cNvSpPr/>
          <p:nvPr/>
        </p:nvSpPr>
        <p:spPr>
          <a:xfrm>
            <a:off x="0" y="762000"/>
            <a:ext cx="9144000" cy="38100"/>
          </a:xfrm>
          <a:prstGeom prst="rect">
            <a:avLst/>
          </a:prstGeom>
          <a:solidFill>
            <a:srgbClr val="E8A020"/>
          </a:solidFill>
          <a:ln>
            <a:noFill/>
          </a:ln>
        </p:spPr>
        <p:txBody>
          <a:bodyPr spcFirstLastPara="1" wrap="square" lIns="0" tIns="0" rIns="0" bIns="0"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400" b="0" i="0" u="none" strike="noStrike" kern="0" cap="none" spc="0" normalizeH="0" baseline="0" noProof="0">
              <a:ln>
                <a:noFill/>
              </a:ln>
              <a:solidFill>
                <a:srgbClr val="000000"/>
              </a:solidFill>
              <a:effectLst/>
              <a:uLnTx/>
              <a:uFillTx/>
              <a:latin typeface="Arial"/>
              <a:ea typeface="Arial"/>
              <a:cs typeface="Arial"/>
              <a:sym typeface="Arial"/>
            </a:endParaRPr>
          </a:p>
        </p:txBody>
      </p:sp>
      <p:sp>
        <p:nvSpPr>
          <p:cNvPr id="157" name="Google Shape;157;g39789fe7b62_1_251">
            <a:extLst>
              <a:ext uri="{FF2B5EF4-FFF2-40B4-BE49-F238E27FC236}">
                <a16:creationId xmlns:a16="http://schemas.microsoft.com/office/drawing/2014/main" id="{0D070900-A247-8FD2-734E-9096826EFB30}"/>
              </a:ext>
            </a:extLst>
          </p:cNvPr>
          <p:cNvSpPr/>
          <p:nvPr/>
        </p:nvSpPr>
        <p:spPr>
          <a:xfrm>
            <a:off x="973050" y="1750350"/>
            <a:ext cx="7197900" cy="1642800"/>
          </a:xfrm>
          <a:prstGeom prst="rect">
            <a:avLst/>
          </a:prstGeom>
          <a:solidFill>
            <a:srgbClr val="000000">
              <a:alpha val="0"/>
            </a:srgbClr>
          </a:solidFill>
          <a:ln>
            <a:noFill/>
          </a:ln>
        </p:spPr>
        <p:txBody>
          <a:bodyPr spcFirstLastPara="1" wrap="square" lIns="0" tIns="0" rIns="0" bIns="0" anchor="b" anchorCtr="0">
            <a:noAutofit/>
          </a:bodyPr>
          <a:lstStyle/>
          <a:p>
            <a:pPr marL="0" marR="0" lvl="0" indent="0" algn="ctr" defTabSz="914400" rtl="0" eaLnBrk="1" fontAlgn="auto" latinLnBrk="0" hangingPunct="1">
              <a:lnSpc>
                <a:spcPct val="100000"/>
              </a:lnSpc>
              <a:spcBef>
                <a:spcPts val="0"/>
              </a:spcBef>
              <a:spcAft>
                <a:spcPts val="0"/>
              </a:spcAft>
              <a:buClr>
                <a:srgbClr val="000000"/>
              </a:buClr>
              <a:buSzPts val="5200"/>
              <a:buFont typeface="Arial"/>
              <a:buNone/>
              <a:tabLst/>
              <a:defRPr/>
            </a:pPr>
            <a:r>
              <a:rPr kumimoji="0" lang="en-US" sz="5200" b="1" i="0" u="none" strike="noStrike" kern="0" cap="none" spc="0" normalizeH="0" baseline="0" noProof="0" dirty="0">
                <a:ln>
                  <a:noFill/>
                </a:ln>
                <a:solidFill>
                  <a:srgbClr val="FFFFFF"/>
                </a:solidFill>
                <a:effectLst/>
                <a:uLnTx/>
                <a:uFillTx/>
                <a:latin typeface="Georgia"/>
                <a:ea typeface="Georgia"/>
                <a:cs typeface="Georgia"/>
                <a:sym typeface="Georgia"/>
              </a:rPr>
              <a:t>Model 3 </a:t>
            </a:r>
            <a:endParaRPr kumimoji="0" sz="5200" b="1" i="0" u="none" strike="noStrike" kern="0" cap="none" spc="0" normalizeH="0" baseline="0" noProof="0" dirty="0">
              <a:ln>
                <a:noFill/>
              </a:ln>
              <a:solidFill>
                <a:srgbClr val="FFFFFF"/>
              </a:solidFill>
              <a:effectLst/>
              <a:uLnTx/>
              <a:uFillTx/>
              <a:latin typeface="Georgia"/>
              <a:ea typeface="Georgia"/>
              <a:cs typeface="Georgia"/>
              <a:sym typeface="Georgia"/>
            </a:endParaRPr>
          </a:p>
          <a:p>
            <a:pPr marL="0" marR="0" lvl="0" indent="0" algn="ctr" defTabSz="914400" rtl="0" eaLnBrk="1" fontAlgn="auto" latinLnBrk="0" hangingPunct="1">
              <a:lnSpc>
                <a:spcPct val="100000"/>
              </a:lnSpc>
              <a:spcBef>
                <a:spcPts val="0"/>
              </a:spcBef>
              <a:spcAft>
                <a:spcPts val="0"/>
              </a:spcAft>
              <a:buClr>
                <a:srgbClr val="000000"/>
              </a:buClr>
              <a:buSzPts val="5200"/>
              <a:buFont typeface="Arial"/>
              <a:buNone/>
              <a:tabLst/>
              <a:defRPr/>
            </a:pPr>
            <a:r>
              <a:rPr kumimoji="0" lang="en-US" sz="5200" b="1" i="0" u="none" strike="noStrike" kern="0" cap="none" spc="0" normalizeH="0" baseline="0" noProof="0" dirty="0">
                <a:ln>
                  <a:noFill/>
                </a:ln>
                <a:solidFill>
                  <a:srgbClr val="FFFFFF"/>
                </a:solidFill>
                <a:effectLst/>
                <a:uLnTx/>
                <a:uFillTx/>
                <a:latin typeface="Georgia"/>
                <a:ea typeface="Georgia"/>
                <a:cs typeface="Georgia"/>
                <a:sym typeface="Georgia"/>
              </a:rPr>
              <a:t>All Three Signals with Ridge </a:t>
            </a:r>
            <a:endParaRPr kumimoji="0" sz="5200" b="1" i="0" u="none" strike="noStrike" kern="0" cap="none" spc="0" normalizeH="0" baseline="0" noProof="0" dirty="0">
              <a:ln>
                <a:noFill/>
              </a:ln>
              <a:solidFill>
                <a:srgbClr val="FFFFFF"/>
              </a:solidFill>
              <a:effectLst/>
              <a:uLnTx/>
              <a:uFillTx/>
              <a:latin typeface="Georgia"/>
              <a:ea typeface="Georgia"/>
              <a:cs typeface="Georgia"/>
              <a:sym typeface="Georgia"/>
            </a:endParaRPr>
          </a:p>
        </p:txBody>
      </p:sp>
    </p:spTree>
    <p:extLst>
      <p:ext uri="{BB962C8B-B14F-4D97-AF65-F5344CB8AC3E}">
        <p14:creationId xmlns:p14="http://schemas.microsoft.com/office/powerpoint/2010/main" val="392498329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96"/>
        <p:cNvGrpSpPr/>
        <p:nvPr/>
      </p:nvGrpSpPr>
      <p:grpSpPr>
        <a:xfrm>
          <a:off x="0" y="0"/>
          <a:ext cx="0" cy="0"/>
          <a:chOff x="0" y="0"/>
          <a:chExt cx="0" cy="0"/>
        </a:xfrm>
      </p:grpSpPr>
      <p:sp>
        <p:nvSpPr>
          <p:cNvPr id="197" name="Google Shape;197;g3d86e330eee_36_39"/>
          <p:cNvSpPr/>
          <p:nvPr/>
        </p:nvSpPr>
        <p:spPr>
          <a:xfrm>
            <a:off x="457200" y="146304"/>
            <a:ext cx="2194500" cy="274200"/>
          </a:xfrm>
          <a:prstGeom prst="rect">
            <a:avLst/>
          </a:prstGeom>
          <a:solidFill>
            <a:srgbClr val="2B6CB0"/>
          </a:solidFill>
          <a:ln w="9525" cap="flat" cmpd="sng">
            <a:solidFill>
              <a:srgbClr val="2B6CB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98" name="Google Shape;198;g3d86e330eee_36_39"/>
          <p:cNvSpPr/>
          <p:nvPr/>
        </p:nvSpPr>
        <p:spPr>
          <a:xfrm>
            <a:off x="457200" y="146304"/>
            <a:ext cx="2194500" cy="2742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FFFFFF"/>
              </a:buClr>
              <a:buSzPts val="850"/>
              <a:buFont typeface="Calibri"/>
              <a:buNone/>
            </a:pPr>
            <a:r>
              <a:rPr lang="en-US" sz="1050" b="1" i="0" u="none" strike="noStrike" cap="none" dirty="0">
                <a:solidFill>
                  <a:srgbClr val="FFFFFF"/>
                </a:solidFill>
                <a:latin typeface="Calibri"/>
                <a:ea typeface="Calibri"/>
                <a:cs typeface="Calibri"/>
                <a:sym typeface="Calibri"/>
              </a:rPr>
              <a:t>MODEL 3 – Ridge 3 FACTOR MODEL</a:t>
            </a:r>
            <a:endParaRPr sz="1050" b="0" i="0" u="none" strike="noStrike" cap="none" dirty="0">
              <a:solidFill>
                <a:schemeClr val="dk1"/>
              </a:solidFill>
              <a:latin typeface="Calibri"/>
              <a:ea typeface="Calibri"/>
              <a:cs typeface="Calibri"/>
              <a:sym typeface="Calibri"/>
            </a:endParaRPr>
          </a:p>
        </p:txBody>
      </p:sp>
      <p:sp>
        <p:nvSpPr>
          <p:cNvPr id="199" name="Google Shape;199;g3d86e330eee_36_39"/>
          <p:cNvSpPr/>
          <p:nvPr/>
        </p:nvSpPr>
        <p:spPr>
          <a:xfrm>
            <a:off x="457200" y="502920"/>
            <a:ext cx="8229600" cy="6585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C1A35"/>
              </a:buClr>
              <a:buSzPts val="3000"/>
              <a:buFont typeface="Georgia"/>
              <a:buNone/>
            </a:pPr>
            <a:r>
              <a:rPr lang="en-US" sz="3000" b="1" i="0" u="none" strike="noStrike" cap="none" dirty="0">
                <a:solidFill>
                  <a:srgbClr val="0C1A35"/>
                </a:solidFill>
                <a:latin typeface="Georgia"/>
                <a:ea typeface="Georgia"/>
                <a:cs typeface="Georgia"/>
                <a:sym typeface="Georgia"/>
              </a:rPr>
              <a:t>Model 3: Ridge 3 Factor Model</a:t>
            </a:r>
            <a:endParaRPr sz="3000" b="1" i="0" u="none" strike="noStrike" cap="none" dirty="0">
              <a:solidFill>
                <a:srgbClr val="0C1A35"/>
              </a:solidFill>
              <a:latin typeface="Georgia"/>
              <a:ea typeface="Georgia"/>
              <a:cs typeface="Georgia"/>
              <a:sym typeface="Georgia"/>
            </a:endParaRPr>
          </a:p>
        </p:txBody>
      </p:sp>
      <p:sp>
        <p:nvSpPr>
          <p:cNvPr id="200" name="Google Shape;200;g3d86e330eee_36_39"/>
          <p:cNvSpPr/>
          <p:nvPr/>
        </p:nvSpPr>
        <p:spPr>
          <a:xfrm>
            <a:off x="365750" y="1333128"/>
            <a:ext cx="3977700" cy="2534400"/>
          </a:xfrm>
          <a:prstGeom prst="rect">
            <a:avLst/>
          </a:prstGeom>
          <a:solidFill>
            <a:srgbClr val="F7F9FC"/>
          </a:solidFill>
          <a:ln w="9525" cap="flat" cmpd="sng">
            <a:solidFill>
              <a:srgbClr val="CBD5E1"/>
            </a:solidFill>
            <a:prstDash val="solid"/>
            <a:round/>
            <a:headEnd type="none" w="sm" len="sm"/>
            <a:tailEnd type="none" w="sm" len="sm"/>
          </a:ln>
          <a:effectLst>
            <a:outerShdw blurRad="127000" dist="25400" dir="8100000" algn="bl" rotWithShape="0">
              <a:srgbClr val="000000">
                <a:alpha val="10196"/>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600"/>
              <a:buFont typeface="Arial"/>
              <a:buNone/>
            </a:pPr>
            <a:endParaRPr sz="1600" b="0" i="0" u="none" strike="noStrike" cap="none">
              <a:solidFill>
                <a:srgbClr val="000000"/>
              </a:solidFill>
              <a:latin typeface="Arial"/>
              <a:ea typeface="Arial"/>
              <a:cs typeface="Arial"/>
              <a:sym typeface="Arial"/>
            </a:endParaRPr>
          </a:p>
        </p:txBody>
      </p:sp>
      <p:sp>
        <p:nvSpPr>
          <p:cNvPr id="201" name="Google Shape;201;g3d86e330eee_36_39"/>
          <p:cNvSpPr/>
          <p:nvPr/>
        </p:nvSpPr>
        <p:spPr>
          <a:xfrm>
            <a:off x="365750" y="1341773"/>
            <a:ext cx="91500" cy="2534400"/>
          </a:xfrm>
          <a:prstGeom prst="rect">
            <a:avLst/>
          </a:prstGeom>
          <a:solidFill>
            <a:srgbClr val="1A3F7A"/>
          </a:solidFill>
          <a:ln w="9525" cap="flat" cmpd="sng">
            <a:solidFill>
              <a:srgbClr val="1A3F7A"/>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600"/>
              <a:buFont typeface="Arial"/>
              <a:buNone/>
            </a:pPr>
            <a:endParaRPr sz="1600" b="0" i="0" u="none" strike="noStrike" cap="none">
              <a:solidFill>
                <a:srgbClr val="000000"/>
              </a:solidFill>
              <a:latin typeface="Arial"/>
              <a:ea typeface="Arial"/>
              <a:cs typeface="Arial"/>
              <a:sym typeface="Arial"/>
            </a:endParaRPr>
          </a:p>
        </p:txBody>
      </p:sp>
      <p:grpSp>
        <p:nvGrpSpPr>
          <p:cNvPr id="202" name="Google Shape;202;g3d86e330eee_36_39"/>
          <p:cNvGrpSpPr/>
          <p:nvPr/>
        </p:nvGrpSpPr>
        <p:grpSpPr>
          <a:xfrm>
            <a:off x="718888" y="1528425"/>
            <a:ext cx="3587426" cy="2374154"/>
            <a:chOff x="718885" y="2192080"/>
            <a:chExt cx="3587426" cy="1242622"/>
          </a:xfrm>
        </p:grpSpPr>
        <p:sp>
          <p:nvSpPr>
            <p:cNvPr id="203" name="Google Shape;203;g3d86e330eee_36_39"/>
            <p:cNvSpPr/>
            <p:nvPr/>
          </p:nvSpPr>
          <p:spPr>
            <a:xfrm>
              <a:off x="718885" y="2192080"/>
              <a:ext cx="3492000" cy="4209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3F7A"/>
                </a:buClr>
                <a:buSzPts val="1250"/>
                <a:buFont typeface="Calibri"/>
                <a:buNone/>
              </a:pPr>
              <a:r>
                <a:rPr lang="en-US" sz="1450" b="1" i="0" u="none" strike="noStrike" cap="none" dirty="0">
                  <a:solidFill>
                    <a:srgbClr val="1A3F7A"/>
                  </a:solidFill>
                  <a:latin typeface="Calibri"/>
                  <a:ea typeface="Calibri"/>
                  <a:cs typeface="Calibri"/>
                  <a:sym typeface="Calibri"/>
                </a:rPr>
                <a:t>3 Factor Model (Ridge) - Delta Vix, Delta Credit Spreads, &amp; Oil Returns </a:t>
              </a:r>
              <a:endParaRPr sz="1450" b="1" i="0" u="none" strike="noStrike" cap="none" dirty="0">
                <a:solidFill>
                  <a:srgbClr val="1A3F7A"/>
                </a:solidFill>
                <a:latin typeface="Calibri"/>
                <a:ea typeface="Calibri"/>
                <a:cs typeface="Calibri"/>
                <a:sym typeface="Calibri"/>
              </a:endParaRPr>
            </a:p>
            <a:p>
              <a:pPr marL="0" marR="0" lvl="0" indent="0" algn="l" rtl="0">
                <a:lnSpc>
                  <a:spcPct val="100000"/>
                </a:lnSpc>
                <a:spcBef>
                  <a:spcPts val="0"/>
                </a:spcBef>
                <a:spcAft>
                  <a:spcPts val="0"/>
                </a:spcAft>
                <a:buClr>
                  <a:srgbClr val="1A3F7A"/>
                </a:buClr>
                <a:buSzPts val="1250"/>
                <a:buFont typeface="Calibri"/>
                <a:buNone/>
              </a:pPr>
              <a:endParaRPr sz="1450" b="1" i="0" u="none" strike="noStrike" cap="none" dirty="0">
                <a:solidFill>
                  <a:srgbClr val="1A3F7A"/>
                </a:solidFill>
                <a:latin typeface="Calibri"/>
                <a:ea typeface="Calibri"/>
                <a:cs typeface="Calibri"/>
                <a:sym typeface="Calibri"/>
              </a:endParaRPr>
            </a:p>
          </p:txBody>
        </p:sp>
        <p:sp>
          <p:nvSpPr>
            <p:cNvPr id="204" name="Google Shape;204;g3d86e330eee_36_39"/>
            <p:cNvSpPr/>
            <p:nvPr/>
          </p:nvSpPr>
          <p:spPr>
            <a:xfrm>
              <a:off x="727011" y="2608202"/>
              <a:ext cx="3579300" cy="826500"/>
            </a:xfrm>
            <a:prstGeom prst="rect">
              <a:avLst/>
            </a:prstGeom>
            <a:noFill/>
            <a:ln>
              <a:noFill/>
            </a:ln>
          </p:spPr>
          <p:txBody>
            <a:bodyPr spcFirstLastPara="1" wrap="square" lIns="25400" tIns="50800" rIns="0" bIns="0" anchor="t" anchorCtr="0">
              <a:noAutofit/>
            </a:bodyPr>
            <a:lstStyle/>
            <a:p>
              <a:pPr marL="342900" marR="0" lvl="0" indent="-342900" algn="l" rtl="0">
                <a:lnSpc>
                  <a:spcPct val="100000"/>
                </a:lnSpc>
                <a:spcBef>
                  <a:spcPts val="500"/>
                </a:spcBef>
                <a:spcAft>
                  <a:spcPts val="0"/>
                </a:spcAft>
                <a:buClr>
                  <a:srgbClr val="1E293B"/>
                </a:buClr>
                <a:buSzPts val="1300"/>
                <a:buFont typeface="Calibri"/>
                <a:buChar char="•"/>
              </a:pPr>
              <a:r>
                <a:rPr lang="en-US" sz="1300" b="0" i="0" u="none" strike="noStrike" cap="none" dirty="0">
                  <a:solidFill>
                    <a:srgbClr val="1E293B"/>
                  </a:solidFill>
                  <a:latin typeface="Calibri"/>
                  <a:ea typeface="Calibri"/>
                  <a:cs typeface="Calibri"/>
                  <a:sym typeface="Calibri"/>
                </a:rPr>
                <a:t>Test R-Squared = -0.0149</a:t>
              </a:r>
              <a:endParaRPr sz="1300" b="0" i="0" u="none" strike="noStrike" cap="none" dirty="0">
                <a:solidFill>
                  <a:srgbClr val="1E293B"/>
                </a:solidFill>
                <a:latin typeface="Calibri"/>
                <a:ea typeface="Calibri"/>
                <a:cs typeface="Calibri"/>
                <a:sym typeface="Calibri"/>
              </a:endParaRPr>
            </a:p>
            <a:p>
              <a:pPr marL="342900" marR="0" lvl="0" indent="-342900" algn="l" rtl="0">
                <a:lnSpc>
                  <a:spcPct val="100000"/>
                </a:lnSpc>
                <a:spcBef>
                  <a:spcPts val="500"/>
                </a:spcBef>
                <a:spcAft>
                  <a:spcPts val="0"/>
                </a:spcAft>
                <a:buClr>
                  <a:srgbClr val="1E293B"/>
                </a:buClr>
                <a:buSzPts val="1300"/>
                <a:buFont typeface="Calibri"/>
                <a:buChar char="•"/>
              </a:pPr>
              <a:r>
                <a:rPr lang="en-US" sz="1300" b="0" i="0" u="none" strike="noStrike" cap="none" dirty="0">
                  <a:solidFill>
                    <a:srgbClr val="1E293B"/>
                  </a:solidFill>
                  <a:latin typeface="Calibri"/>
                  <a:ea typeface="Calibri"/>
                  <a:cs typeface="Calibri"/>
                  <a:sym typeface="Calibri"/>
                </a:rPr>
                <a:t>Annualized Sharpe Ratio = </a:t>
              </a:r>
              <a:r>
                <a:rPr lang="en-US" sz="1300" dirty="0">
                  <a:solidFill>
                    <a:srgbClr val="1E293B"/>
                  </a:solidFill>
                  <a:latin typeface="Calibri"/>
                  <a:ea typeface="Calibri"/>
                  <a:cs typeface="Calibri"/>
                  <a:sym typeface="Calibri"/>
                </a:rPr>
                <a:t>0.89</a:t>
              </a:r>
              <a:endParaRPr sz="1300" b="0" i="0" u="none" strike="noStrike" cap="none" dirty="0">
                <a:solidFill>
                  <a:srgbClr val="1E293B"/>
                </a:solidFill>
                <a:latin typeface="Calibri"/>
                <a:ea typeface="Calibri"/>
                <a:cs typeface="Calibri"/>
                <a:sym typeface="Calibri"/>
              </a:endParaRPr>
            </a:p>
          </p:txBody>
        </p:sp>
      </p:grpSp>
      <p:sp>
        <p:nvSpPr>
          <p:cNvPr id="205" name="Google Shape;205;g3d86e330eee_36_39"/>
          <p:cNvSpPr/>
          <p:nvPr/>
        </p:nvSpPr>
        <p:spPr>
          <a:xfrm>
            <a:off x="4846395" y="1333124"/>
            <a:ext cx="1874400" cy="1162200"/>
          </a:xfrm>
          <a:prstGeom prst="rect">
            <a:avLst/>
          </a:prstGeom>
          <a:solidFill>
            <a:srgbClr val="FFFFFF"/>
          </a:solidFill>
          <a:ln w="9525" cap="flat" cmpd="sng">
            <a:solidFill>
              <a:srgbClr val="CBD5E1"/>
            </a:solidFill>
            <a:prstDash val="solid"/>
            <a:round/>
            <a:headEnd type="none" w="sm" len="sm"/>
            <a:tailEnd type="none" w="sm" len="sm"/>
          </a:ln>
          <a:effectLst>
            <a:outerShdw blurRad="127000" dist="25400" dir="8100000" algn="bl" rotWithShape="0">
              <a:srgbClr val="000000">
                <a:alpha val="10196"/>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nvGrpSpPr>
          <p:cNvPr id="206" name="Google Shape;206;g3d86e330eee_36_39"/>
          <p:cNvGrpSpPr/>
          <p:nvPr/>
        </p:nvGrpSpPr>
        <p:grpSpPr>
          <a:xfrm>
            <a:off x="4846388" y="1556347"/>
            <a:ext cx="1874400" cy="680829"/>
            <a:chOff x="4617725" y="2329900"/>
            <a:chExt cx="1874400" cy="680829"/>
          </a:xfrm>
        </p:grpSpPr>
        <p:sp>
          <p:nvSpPr>
            <p:cNvPr id="207" name="Google Shape;207;g3d86e330eee_36_39"/>
            <p:cNvSpPr/>
            <p:nvPr/>
          </p:nvSpPr>
          <p:spPr>
            <a:xfrm>
              <a:off x="4617725" y="2329900"/>
              <a:ext cx="1874400" cy="4872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66534"/>
                </a:buClr>
                <a:buSzPts val="2800"/>
                <a:buFont typeface="Georgia"/>
                <a:buNone/>
              </a:pPr>
              <a:r>
                <a:rPr lang="en-US" sz="2800" b="1" i="0" u="none" strike="noStrike" cap="none">
                  <a:solidFill>
                    <a:srgbClr val="166534"/>
                  </a:solidFill>
                  <a:latin typeface="Josefin Sans"/>
                  <a:ea typeface="Josefin Sans"/>
                  <a:cs typeface="Josefin Sans"/>
                  <a:sym typeface="Josefin Sans"/>
                </a:rPr>
                <a:t>0.000245</a:t>
              </a:r>
              <a:endParaRPr sz="2800" b="0" i="0" u="none" strike="noStrike" cap="none">
                <a:solidFill>
                  <a:schemeClr val="dk1"/>
                </a:solidFill>
                <a:latin typeface="Josefin Sans"/>
                <a:ea typeface="Josefin Sans"/>
                <a:cs typeface="Josefin Sans"/>
                <a:sym typeface="Josefin Sans"/>
              </a:endParaRPr>
            </a:p>
          </p:txBody>
        </p:sp>
        <p:sp>
          <p:nvSpPr>
            <p:cNvPr id="208" name="Google Shape;208;g3d86e330eee_36_39"/>
            <p:cNvSpPr/>
            <p:nvPr/>
          </p:nvSpPr>
          <p:spPr>
            <a:xfrm>
              <a:off x="4617725" y="2796229"/>
              <a:ext cx="1874400" cy="2145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475569"/>
                </a:buClr>
                <a:buSzPts val="1000"/>
                <a:buFont typeface="Calibri"/>
                <a:buNone/>
              </a:pPr>
              <a:r>
                <a:rPr lang="en-US" sz="1000" b="0" i="0" u="none" strike="noStrike" cap="none">
                  <a:solidFill>
                    <a:srgbClr val="475569"/>
                  </a:solidFill>
                  <a:latin typeface="Calibri"/>
                  <a:ea typeface="Calibri"/>
                  <a:cs typeface="Calibri"/>
                  <a:sym typeface="Calibri"/>
                </a:rPr>
                <a:t>Oil Return Coefficient</a:t>
              </a:r>
              <a:endParaRPr sz="1000" b="0" i="0" u="none" strike="noStrike" cap="none">
                <a:solidFill>
                  <a:schemeClr val="dk1"/>
                </a:solidFill>
                <a:latin typeface="Calibri"/>
                <a:ea typeface="Calibri"/>
                <a:cs typeface="Calibri"/>
                <a:sym typeface="Calibri"/>
              </a:endParaRPr>
            </a:p>
          </p:txBody>
        </p:sp>
      </p:grpSp>
      <p:sp>
        <p:nvSpPr>
          <p:cNvPr id="209" name="Google Shape;209;g3d86e330eee_36_39"/>
          <p:cNvSpPr/>
          <p:nvPr/>
        </p:nvSpPr>
        <p:spPr>
          <a:xfrm>
            <a:off x="6903795" y="1333124"/>
            <a:ext cx="1874400" cy="1162200"/>
          </a:xfrm>
          <a:prstGeom prst="rect">
            <a:avLst/>
          </a:prstGeom>
          <a:solidFill>
            <a:srgbClr val="FFFFFF"/>
          </a:solidFill>
          <a:ln w="9525" cap="flat" cmpd="sng">
            <a:solidFill>
              <a:srgbClr val="CBD5E1"/>
            </a:solidFill>
            <a:prstDash val="solid"/>
            <a:round/>
            <a:headEnd type="none" w="sm" len="sm"/>
            <a:tailEnd type="none" w="sm" len="sm"/>
          </a:ln>
          <a:effectLst>
            <a:outerShdw blurRad="127000" dist="25400" dir="8100000" algn="bl" rotWithShape="0">
              <a:srgbClr val="000000">
                <a:alpha val="10196"/>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10" name="Google Shape;210;g3d86e330eee_36_39"/>
          <p:cNvSpPr/>
          <p:nvPr/>
        </p:nvSpPr>
        <p:spPr>
          <a:xfrm>
            <a:off x="6903800" y="1556348"/>
            <a:ext cx="1874400" cy="4872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66534"/>
              </a:buClr>
              <a:buSzPts val="2800"/>
              <a:buFont typeface="Georgia"/>
              <a:buNone/>
            </a:pPr>
            <a:r>
              <a:rPr lang="en-US" sz="2800" b="1" i="0" u="none" strike="noStrike" cap="none">
                <a:solidFill>
                  <a:srgbClr val="166534"/>
                </a:solidFill>
                <a:latin typeface="Josefin Sans"/>
                <a:ea typeface="Josefin Sans"/>
                <a:cs typeface="Josefin Sans"/>
                <a:sym typeface="Josefin Sans"/>
              </a:rPr>
              <a:t>0.000512</a:t>
            </a:r>
            <a:endParaRPr sz="2800" b="1" i="0" u="none" strike="noStrike" cap="none">
              <a:solidFill>
                <a:srgbClr val="166534"/>
              </a:solidFill>
              <a:latin typeface="Josefin Sans"/>
              <a:ea typeface="Josefin Sans"/>
              <a:cs typeface="Josefin Sans"/>
              <a:sym typeface="Josefin Sans"/>
            </a:endParaRPr>
          </a:p>
        </p:txBody>
      </p:sp>
      <p:sp>
        <p:nvSpPr>
          <p:cNvPr id="211" name="Google Shape;211;g3d86e330eee_36_39"/>
          <p:cNvSpPr/>
          <p:nvPr/>
        </p:nvSpPr>
        <p:spPr>
          <a:xfrm>
            <a:off x="6903800" y="2022676"/>
            <a:ext cx="1874400" cy="2145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475569"/>
              </a:buClr>
              <a:buSzPts val="1000"/>
              <a:buFont typeface="Calibri"/>
              <a:buNone/>
            </a:pPr>
            <a:r>
              <a:rPr lang="en-US" sz="1000" b="0" i="0" u="none" strike="noStrike" cap="none">
                <a:solidFill>
                  <a:srgbClr val="475569"/>
                </a:solidFill>
                <a:latin typeface="Calibri"/>
                <a:ea typeface="Calibri"/>
                <a:cs typeface="Calibri"/>
                <a:sym typeface="Calibri"/>
              </a:rPr>
              <a:t>Delta VIX</a:t>
            </a:r>
            <a:endParaRPr sz="1000" b="0" i="0" u="none" strike="noStrike" cap="none">
              <a:solidFill>
                <a:schemeClr val="dk1"/>
              </a:solidFill>
              <a:latin typeface="Calibri"/>
              <a:ea typeface="Calibri"/>
              <a:cs typeface="Calibri"/>
              <a:sym typeface="Calibri"/>
            </a:endParaRPr>
          </a:p>
        </p:txBody>
      </p:sp>
      <p:sp>
        <p:nvSpPr>
          <p:cNvPr id="212" name="Google Shape;212;g3d86e330eee_36_39"/>
          <p:cNvSpPr/>
          <p:nvPr/>
        </p:nvSpPr>
        <p:spPr>
          <a:xfrm>
            <a:off x="4846395" y="2717326"/>
            <a:ext cx="1874400" cy="1162200"/>
          </a:xfrm>
          <a:prstGeom prst="rect">
            <a:avLst/>
          </a:prstGeom>
          <a:solidFill>
            <a:srgbClr val="FFFFFF"/>
          </a:solidFill>
          <a:ln w="9525" cap="flat" cmpd="sng">
            <a:solidFill>
              <a:srgbClr val="CBD5E1"/>
            </a:solidFill>
            <a:prstDash val="solid"/>
            <a:round/>
            <a:headEnd type="none" w="sm" len="sm"/>
            <a:tailEnd type="none" w="sm" len="sm"/>
          </a:ln>
          <a:effectLst>
            <a:outerShdw blurRad="127000" dist="25400" dir="8100000" algn="bl" rotWithShape="0">
              <a:srgbClr val="000000">
                <a:alpha val="10196"/>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13" name="Google Shape;213;g3d86e330eee_36_39"/>
          <p:cNvSpPr/>
          <p:nvPr/>
        </p:nvSpPr>
        <p:spPr>
          <a:xfrm>
            <a:off x="4846395" y="2823609"/>
            <a:ext cx="1874400" cy="604200"/>
          </a:xfrm>
          <a:prstGeom prst="rect">
            <a:avLst/>
          </a:prstGeom>
          <a:noFill/>
          <a:ln>
            <a:noFill/>
          </a:ln>
        </p:spPr>
        <p:txBody>
          <a:bodyPr spcFirstLastPara="1" wrap="square" lIns="0" tIns="0" rIns="0" bIns="0" anchor="b" anchorCtr="0">
            <a:noAutofit/>
          </a:bodyPr>
          <a:lstStyle/>
          <a:p>
            <a:pPr marL="0" marR="0" lvl="0" indent="0" algn="ctr" rtl="0">
              <a:lnSpc>
                <a:spcPct val="100000"/>
              </a:lnSpc>
              <a:spcBef>
                <a:spcPts val="0"/>
              </a:spcBef>
              <a:spcAft>
                <a:spcPts val="0"/>
              </a:spcAft>
              <a:buClr>
                <a:srgbClr val="475569"/>
              </a:buClr>
              <a:buSzPts val="2800"/>
              <a:buFont typeface="Georgia"/>
              <a:buNone/>
            </a:pPr>
            <a:r>
              <a:rPr lang="en-US" sz="2800" b="1" i="0" u="none" strike="noStrike" cap="none">
                <a:solidFill>
                  <a:srgbClr val="475569"/>
                </a:solidFill>
                <a:latin typeface="Josefin Sans"/>
                <a:ea typeface="Josefin Sans"/>
                <a:cs typeface="Josefin Sans"/>
                <a:sym typeface="Josefin Sans"/>
              </a:rPr>
              <a:t>0.000160</a:t>
            </a:r>
            <a:endParaRPr sz="2800" b="1" i="0" u="none" strike="noStrike" cap="none">
              <a:solidFill>
                <a:srgbClr val="475569"/>
              </a:solidFill>
              <a:latin typeface="Josefin Sans"/>
              <a:ea typeface="Josefin Sans"/>
              <a:cs typeface="Josefin Sans"/>
              <a:sym typeface="Josefin Sans"/>
            </a:endParaRPr>
          </a:p>
        </p:txBody>
      </p:sp>
      <p:sp>
        <p:nvSpPr>
          <p:cNvPr id="214" name="Google Shape;214;g3d86e330eee_36_39"/>
          <p:cNvSpPr/>
          <p:nvPr/>
        </p:nvSpPr>
        <p:spPr>
          <a:xfrm>
            <a:off x="4846395" y="3447946"/>
            <a:ext cx="1874400" cy="3885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475569"/>
              </a:buClr>
              <a:buSzPts val="1000"/>
              <a:buFont typeface="Calibri"/>
              <a:buNone/>
            </a:pPr>
            <a:r>
              <a:rPr lang="en-US" sz="1000" b="0" i="0" u="none" strike="noStrike" cap="none">
                <a:solidFill>
                  <a:srgbClr val="475569"/>
                </a:solidFill>
                <a:latin typeface="Calibri"/>
                <a:ea typeface="Calibri"/>
                <a:cs typeface="Calibri"/>
                <a:sym typeface="Calibri"/>
              </a:rPr>
              <a:t>Delta Spread</a:t>
            </a:r>
            <a:endParaRPr sz="1000" b="0" i="0" u="none" strike="noStrike" cap="none">
              <a:solidFill>
                <a:schemeClr val="dk1"/>
              </a:solidFill>
              <a:latin typeface="Calibri"/>
              <a:ea typeface="Calibri"/>
              <a:cs typeface="Calibri"/>
              <a:sym typeface="Calibri"/>
            </a:endParaRPr>
          </a:p>
        </p:txBody>
      </p:sp>
      <p:sp>
        <p:nvSpPr>
          <p:cNvPr id="215" name="Google Shape;215;g3d86e330eee_36_39"/>
          <p:cNvSpPr/>
          <p:nvPr/>
        </p:nvSpPr>
        <p:spPr>
          <a:xfrm>
            <a:off x="6903795" y="2717326"/>
            <a:ext cx="1874400" cy="1162200"/>
          </a:xfrm>
          <a:prstGeom prst="rect">
            <a:avLst/>
          </a:prstGeom>
          <a:solidFill>
            <a:srgbClr val="FFFFFF"/>
          </a:solidFill>
          <a:ln w="9525" cap="flat" cmpd="sng">
            <a:solidFill>
              <a:srgbClr val="CBD5E1"/>
            </a:solidFill>
            <a:prstDash val="solid"/>
            <a:round/>
            <a:headEnd type="none" w="sm" len="sm"/>
            <a:tailEnd type="none" w="sm" len="sm"/>
          </a:ln>
          <a:effectLst>
            <a:outerShdw blurRad="127000" dist="25400" dir="8100000" algn="bl" rotWithShape="0">
              <a:srgbClr val="000000">
                <a:alpha val="10196"/>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16" name="Google Shape;216;g3d86e330eee_36_39"/>
          <p:cNvSpPr/>
          <p:nvPr/>
        </p:nvSpPr>
        <p:spPr>
          <a:xfrm>
            <a:off x="6903858" y="2823609"/>
            <a:ext cx="1874400" cy="604200"/>
          </a:xfrm>
          <a:prstGeom prst="rect">
            <a:avLst/>
          </a:prstGeom>
          <a:noFill/>
          <a:ln>
            <a:noFill/>
          </a:ln>
        </p:spPr>
        <p:txBody>
          <a:bodyPr spcFirstLastPara="1" wrap="square" lIns="0" tIns="0" rIns="0" bIns="0" anchor="b" anchorCtr="0">
            <a:noAutofit/>
          </a:bodyPr>
          <a:lstStyle/>
          <a:p>
            <a:pPr marL="0" marR="0" lvl="0" indent="0" algn="ctr" rtl="0">
              <a:lnSpc>
                <a:spcPct val="100000"/>
              </a:lnSpc>
              <a:spcBef>
                <a:spcPts val="0"/>
              </a:spcBef>
              <a:spcAft>
                <a:spcPts val="0"/>
              </a:spcAft>
              <a:buClr>
                <a:srgbClr val="2B6CB0"/>
              </a:buClr>
              <a:buSzPts val="2800"/>
              <a:buFont typeface="Georgia"/>
              <a:buNone/>
            </a:pPr>
            <a:r>
              <a:rPr lang="en-US" sz="2800" b="1" i="0" u="none" strike="noStrike" cap="none">
                <a:solidFill>
                  <a:srgbClr val="2B6CB0"/>
                </a:solidFill>
                <a:latin typeface="Josefin Sans"/>
                <a:ea typeface="Josefin Sans"/>
                <a:cs typeface="Josefin Sans"/>
                <a:sym typeface="Josefin Sans"/>
              </a:rPr>
              <a:t>-0.000141</a:t>
            </a:r>
            <a:endParaRPr sz="2800" b="1" i="0" u="none" strike="noStrike" cap="none">
              <a:solidFill>
                <a:srgbClr val="2B6CB0"/>
              </a:solidFill>
              <a:latin typeface="Josefin Sans"/>
              <a:ea typeface="Josefin Sans"/>
              <a:cs typeface="Josefin Sans"/>
              <a:sym typeface="Josefin Sans"/>
            </a:endParaRPr>
          </a:p>
        </p:txBody>
      </p:sp>
      <p:sp>
        <p:nvSpPr>
          <p:cNvPr id="217" name="Google Shape;217;g3d86e330eee_36_39"/>
          <p:cNvSpPr/>
          <p:nvPr/>
        </p:nvSpPr>
        <p:spPr>
          <a:xfrm>
            <a:off x="6903795" y="3447946"/>
            <a:ext cx="1874400" cy="3885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475569"/>
              </a:buClr>
              <a:buSzPts val="1000"/>
              <a:buFont typeface="Calibri"/>
              <a:buNone/>
            </a:pPr>
            <a:r>
              <a:rPr lang="en-US" sz="1000" b="0" i="0" u="none" strike="noStrike" cap="none">
                <a:solidFill>
                  <a:srgbClr val="475569"/>
                </a:solidFill>
                <a:latin typeface="Calibri"/>
                <a:ea typeface="Calibri"/>
                <a:cs typeface="Calibri"/>
                <a:sym typeface="Calibri"/>
              </a:rPr>
              <a:t>Constant</a:t>
            </a:r>
            <a:endParaRPr sz="1000" b="0" i="0" u="none" strike="noStrike" cap="none">
              <a:solidFill>
                <a:schemeClr val="dk1"/>
              </a:solidFill>
              <a:latin typeface="Calibri"/>
              <a:ea typeface="Calibri"/>
              <a:cs typeface="Calibri"/>
              <a:sym typeface="Calibri"/>
            </a:endParaRPr>
          </a:p>
        </p:txBody>
      </p:sp>
      <p:cxnSp>
        <p:nvCxnSpPr>
          <p:cNvPr id="218" name="Google Shape;218;g3d86e330eee_36_39"/>
          <p:cNvCxnSpPr/>
          <p:nvPr/>
        </p:nvCxnSpPr>
        <p:spPr>
          <a:xfrm>
            <a:off x="4590725" y="1336347"/>
            <a:ext cx="8400" cy="2560200"/>
          </a:xfrm>
          <a:prstGeom prst="straightConnector1">
            <a:avLst/>
          </a:prstGeom>
          <a:noFill/>
          <a:ln w="19050" cap="flat" cmpd="sng">
            <a:solidFill>
              <a:schemeClr val="accent3"/>
            </a:solidFill>
            <a:prstDash val="solid"/>
            <a:round/>
            <a:headEnd type="none" w="sm" len="sm"/>
            <a:tailEnd type="none" w="sm" len="sm"/>
          </a:ln>
        </p:spPr>
      </p:cxnSp>
      <p:sp>
        <p:nvSpPr>
          <p:cNvPr id="219" name="Google Shape;219;g3d86e330eee_36_39"/>
          <p:cNvSpPr/>
          <p:nvPr/>
        </p:nvSpPr>
        <p:spPr>
          <a:xfrm>
            <a:off x="388635" y="4101537"/>
            <a:ext cx="8412600" cy="621900"/>
          </a:xfrm>
          <a:prstGeom prst="rect">
            <a:avLst/>
          </a:prstGeom>
          <a:solidFill>
            <a:srgbClr val="0C1A35"/>
          </a:solidFill>
          <a:ln w="9525" cap="flat" cmpd="sng">
            <a:solidFill>
              <a:srgbClr val="CBD5E1"/>
            </a:solidFill>
            <a:prstDash val="solid"/>
            <a:round/>
            <a:headEnd type="none" w="sm" len="sm"/>
            <a:tailEnd type="none" w="sm" len="sm"/>
          </a:ln>
          <a:effectLst>
            <a:outerShdw blurRad="127000" dist="25400" dir="8100000" algn="bl" rotWithShape="0">
              <a:srgbClr val="000000">
                <a:alpha val="10196"/>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20" name="Google Shape;220;g3d86e330eee_36_39"/>
          <p:cNvSpPr/>
          <p:nvPr/>
        </p:nvSpPr>
        <p:spPr>
          <a:xfrm>
            <a:off x="388625" y="4101525"/>
            <a:ext cx="8412600" cy="621900"/>
          </a:xfrm>
          <a:prstGeom prst="rect">
            <a:avLst/>
          </a:prstGeom>
          <a:solidFill>
            <a:srgbClr val="F7F9FC"/>
          </a:solidFill>
          <a:ln w="9525" cap="flat" cmpd="sng">
            <a:solidFill>
              <a:srgbClr val="CBD5E1"/>
            </a:solidFill>
            <a:prstDash val="solid"/>
            <a:round/>
            <a:headEnd type="none" w="sm" len="sm"/>
            <a:tailEnd type="none" w="sm" len="sm"/>
          </a:ln>
          <a:effectLst>
            <a:outerShdw blurRad="127000" dist="25400" dir="8100000" algn="bl" rotWithShape="0">
              <a:srgbClr val="000000">
                <a:alpha val="10196"/>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21" name="Google Shape;221;g3d86e330eee_36_39"/>
          <p:cNvSpPr/>
          <p:nvPr/>
        </p:nvSpPr>
        <p:spPr>
          <a:xfrm>
            <a:off x="525795" y="4223158"/>
            <a:ext cx="8138100" cy="5487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E8A020"/>
              </a:buClr>
              <a:buSzPts val="1400"/>
              <a:buFont typeface="Courier New"/>
              <a:buNone/>
            </a:pPr>
            <a:r>
              <a:rPr lang="en-US" sz="1400" b="0" i="0" u="none" strike="noStrike" cap="none" dirty="0">
                <a:solidFill>
                  <a:srgbClr val="E8A020"/>
                </a:solidFill>
                <a:latin typeface="Courier New"/>
                <a:ea typeface="Courier New"/>
                <a:cs typeface="Courier New"/>
                <a:sym typeface="Courier New"/>
              </a:rPr>
              <a:t>Equation: ŷ = </a:t>
            </a:r>
            <a:r>
              <a:rPr lang="en-US" dirty="0">
                <a:solidFill>
                  <a:srgbClr val="E8A020"/>
                </a:solidFill>
                <a:latin typeface="Courier New"/>
                <a:ea typeface="Courier New"/>
                <a:cs typeface="Courier New"/>
                <a:sym typeface="Courier New"/>
              </a:rPr>
              <a:t>0.00937428</a:t>
            </a:r>
            <a:r>
              <a:rPr lang="en-US" sz="1400" b="0" i="0" u="none" strike="noStrike" cap="none" dirty="0">
                <a:solidFill>
                  <a:srgbClr val="E8A020"/>
                </a:solidFill>
                <a:latin typeface="Courier New"/>
                <a:ea typeface="Courier New"/>
                <a:cs typeface="Courier New"/>
                <a:sym typeface="Courier New"/>
              </a:rPr>
              <a:t>* (</a:t>
            </a:r>
            <a:r>
              <a:rPr lang="en-US" sz="1400" b="0" i="0" u="none" strike="noStrike" cap="none" dirty="0" err="1">
                <a:solidFill>
                  <a:srgbClr val="E8A020"/>
                </a:solidFill>
                <a:latin typeface="Courier New"/>
                <a:ea typeface="Courier New"/>
                <a:cs typeface="Courier New"/>
                <a:sym typeface="Courier New"/>
              </a:rPr>
              <a:t>oil_return</a:t>
            </a:r>
            <a:r>
              <a:rPr lang="en-US" sz="1400" b="0" i="0" u="none" strike="noStrike" cap="none" dirty="0">
                <a:solidFill>
                  <a:srgbClr val="E8A020"/>
                </a:solidFill>
                <a:latin typeface="Courier New"/>
                <a:ea typeface="Courier New"/>
                <a:cs typeface="Courier New"/>
                <a:sym typeface="Courier New"/>
              </a:rPr>
              <a:t>) + 0.00025108 * (</a:t>
            </a:r>
            <a:r>
              <a:rPr lang="en-US" sz="1400" b="0" i="0" u="none" strike="noStrike" cap="none" dirty="0" err="1">
                <a:solidFill>
                  <a:srgbClr val="E8A020"/>
                </a:solidFill>
                <a:latin typeface="Courier New"/>
                <a:ea typeface="Courier New"/>
                <a:cs typeface="Courier New"/>
                <a:sym typeface="Courier New"/>
              </a:rPr>
              <a:t>delta_vix</a:t>
            </a:r>
            <a:r>
              <a:rPr lang="en-US" sz="1400" b="0" i="0" u="none" strike="noStrike" cap="none" dirty="0">
                <a:solidFill>
                  <a:srgbClr val="E8A020"/>
                </a:solidFill>
                <a:latin typeface="Courier New"/>
                <a:ea typeface="Courier New"/>
                <a:cs typeface="Courier New"/>
                <a:sym typeface="Courier New"/>
              </a:rPr>
              <a:t>) + 0.00160883* (</a:t>
            </a:r>
            <a:r>
              <a:rPr lang="en-US" sz="1400" b="0" i="0" u="none" strike="noStrike" cap="none" dirty="0" err="1">
                <a:solidFill>
                  <a:srgbClr val="E8A020"/>
                </a:solidFill>
                <a:latin typeface="Courier New"/>
                <a:ea typeface="Courier New"/>
                <a:cs typeface="Courier New"/>
                <a:sym typeface="Courier New"/>
              </a:rPr>
              <a:t>delta_spread</a:t>
            </a:r>
            <a:r>
              <a:rPr lang="en-US" sz="1400" b="0" i="0" u="none" strike="noStrike" cap="none" dirty="0">
                <a:solidFill>
                  <a:srgbClr val="E8A020"/>
                </a:solidFill>
                <a:latin typeface="Courier New"/>
                <a:ea typeface="Courier New"/>
                <a:cs typeface="Courier New"/>
                <a:sym typeface="Courier New"/>
              </a:rPr>
              <a:t>) - 0.00013946</a:t>
            </a:r>
            <a:endParaRPr sz="1400" b="0" i="0" u="none" strike="noStrike" cap="none" dirty="0">
              <a:solidFill>
                <a:srgbClr val="E8A020"/>
              </a:solidFill>
              <a:latin typeface="Courier New"/>
              <a:ea typeface="Courier New"/>
              <a:cs typeface="Courier New"/>
              <a:sym typeface="Courier New"/>
            </a:endParaRPr>
          </a:p>
          <a:p>
            <a:pPr marL="0" marR="0" lvl="0" indent="0" algn="ctr" rtl="0">
              <a:lnSpc>
                <a:spcPct val="100000"/>
              </a:lnSpc>
              <a:spcBef>
                <a:spcPts val="0"/>
              </a:spcBef>
              <a:spcAft>
                <a:spcPts val="0"/>
              </a:spcAft>
              <a:buClr>
                <a:srgbClr val="E8A020"/>
              </a:buClr>
              <a:buSzPts val="1400"/>
              <a:buFont typeface="Courier New"/>
              <a:buNone/>
            </a:pPr>
            <a:endParaRPr sz="1400" b="0" i="0" u="none" strike="noStrike" cap="none" dirty="0">
              <a:solidFill>
                <a:srgbClr val="E8A020"/>
              </a:solidFill>
              <a:latin typeface="Courier New"/>
              <a:ea typeface="Courier New"/>
              <a:cs typeface="Courier New"/>
              <a:sym typeface="Courier New"/>
            </a:endParaRPr>
          </a:p>
        </p:txBody>
      </p:sp>
      <p:sp>
        <p:nvSpPr>
          <p:cNvPr id="222" name="Google Shape;222;g3d86e330eee_36_39"/>
          <p:cNvSpPr/>
          <p:nvPr/>
        </p:nvSpPr>
        <p:spPr>
          <a:xfrm>
            <a:off x="457200" y="1133934"/>
            <a:ext cx="8229600" cy="27300"/>
          </a:xfrm>
          <a:prstGeom prst="rect">
            <a:avLst/>
          </a:prstGeom>
          <a:solidFill>
            <a:srgbClr val="2B6CB0"/>
          </a:solidFill>
          <a:ln w="9525" cap="flat" cmpd="sng">
            <a:solidFill>
              <a:srgbClr val="2B6CB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 name="TextBox 1">
            <a:extLst>
              <a:ext uri="{FF2B5EF4-FFF2-40B4-BE49-F238E27FC236}">
                <a16:creationId xmlns:a16="http://schemas.microsoft.com/office/drawing/2014/main" id="{C8D37A56-979B-B554-0A74-8F3D16D98EDB}"/>
              </a:ext>
            </a:extLst>
          </p:cNvPr>
          <p:cNvSpPr txBox="1"/>
          <p:nvPr/>
        </p:nvSpPr>
        <p:spPr>
          <a:xfrm>
            <a:off x="365750" y="4853883"/>
            <a:ext cx="8503242" cy="292388"/>
          </a:xfrm>
          <a:prstGeom prst="rect">
            <a:avLst/>
          </a:prstGeom>
          <a:noFill/>
        </p:spPr>
        <p:txBody>
          <a:bodyPr wrap="square" rtlCol="0">
            <a:spAutoFit/>
          </a:bodyPr>
          <a:lstStyle/>
          <a:p>
            <a:r>
              <a:rPr lang="en-US" sz="1300" dirty="0">
                <a:latin typeface="Calibri" panose="020F0502020204030204" pitchFamily="34" charset="0"/>
                <a:ea typeface="Calibri" panose="020F0502020204030204" pitchFamily="34" charset="0"/>
                <a:cs typeface="Calibri" panose="020F0502020204030204" pitchFamily="34" charset="0"/>
              </a:rPr>
              <a:t>*Note: Coefficients in the boxes are standardized coefficients – these are NOT the original unit-coefficients (see footnote).  </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43">
          <a:extLst>
            <a:ext uri="{FF2B5EF4-FFF2-40B4-BE49-F238E27FC236}">
              <a16:creationId xmlns:a16="http://schemas.microsoft.com/office/drawing/2014/main" id="{DD54F648-2AE1-7063-F9B7-01B5DA5917BF}"/>
            </a:ext>
          </a:extLst>
        </p:cNvPr>
        <p:cNvGrpSpPr/>
        <p:nvPr/>
      </p:nvGrpSpPr>
      <p:grpSpPr>
        <a:xfrm>
          <a:off x="0" y="0"/>
          <a:ext cx="0" cy="0"/>
          <a:chOff x="0" y="0"/>
          <a:chExt cx="0" cy="0"/>
        </a:xfrm>
      </p:grpSpPr>
      <p:sp>
        <p:nvSpPr>
          <p:cNvPr id="244" name="Google Shape;244;p14">
            <a:extLst>
              <a:ext uri="{FF2B5EF4-FFF2-40B4-BE49-F238E27FC236}">
                <a16:creationId xmlns:a16="http://schemas.microsoft.com/office/drawing/2014/main" id="{B53C8959-CDD8-54C6-0E0E-6A188DCB970A}"/>
              </a:ext>
            </a:extLst>
          </p:cNvPr>
          <p:cNvSpPr/>
          <p:nvPr/>
        </p:nvSpPr>
        <p:spPr>
          <a:xfrm>
            <a:off x="365700" y="4744427"/>
            <a:ext cx="8412600" cy="274200"/>
          </a:xfrm>
          <a:prstGeom prst="rect">
            <a:avLst/>
          </a:prstGeom>
          <a:solidFill>
            <a:srgbClr val="F7F9FC"/>
          </a:solidFill>
          <a:ln w="9525" cap="flat" cmpd="sng">
            <a:solidFill>
              <a:srgbClr val="CBD5E1"/>
            </a:solidFill>
            <a:prstDash val="solid"/>
            <a:round/>
            <a:headEnd type="none" w="sm" len="sm"/>
            <a:tailEnd type="none" w="sm" len="sm"/>
          </a:ln>
          <a:effectLst>
            <a:outerShdw blurRad="127000" dist="25400" dir="8100000" algn="bl" rotWithShape="0">
              <a:srgbClr val="000000">
                <a:alpha val="10196"/>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45" name="Google Shape;245;p14">
            <a:extLst>
              <a:ext uri="{FF2B5EF4-FFF2-40B4-BE49-F238E27FC236}">
                <a16:creationId xmlns:a16="http://schemas.microsoft.com/office/drawing/2014/main" id="{78CBADAB-911D-55C1-BE75-D3ED7A50E8B4}"/>
              </a:ext>
            </a:extLst>
          </p:cNvPr>
          <p:cNvSpPr/>
          <p:nvPr/>
        </p:nvSpPr>
        <p:spPr>
          <a:xfrm>
            <a:off x="457200" y="146304"/>
            <a:ext cx="2194560" cy="274320"/>
          </a:xfrm>
          <a:prstGeom prst="rect">
            <a:avLst/>
          </a:prstGeom>
          <a:solidFill>
            <a:srgbClr val="2B6CB0"/>
          </a:solidFill>
          <a:ln w="9525" cap="flat" cmpd="sng">
            <a:solidFill>
              <a:srgbClr val="2B6CB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46" name="Google Shape;246;p14">
            <a:extLst>
              <a:ext uri="{FF2B5EF4-FFF2-40B4-BE49-F238E27FC236}">
                <a16:creationId xmlns:a16="http://schemas.microsoft.com/office/drawing/2014/main" id="{5E0DE62C-4C1F-4556-EF81-5F7DFBE93E4B}"/>
              </a:ext>
            </a:extLst>
          </p:cNvPr>
          <p:cNvSpPr/>
          <p:nvPr/>
        </p:nvSpPr>
        <p:spPr>
          <a:xfrm>
            <a:off x="457200" y="146304"/>
            <a:ext cx="2194560" cy="27432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FFFFFF"/>
              </a:buClr>
              <a:buSzPts val="850"/>
              <a:buFont typeface="Calibri"/>
              <a:buNone/>
            </a:pPr>
            <a:r>
              <a:rPr lang="en-US" sz="1050" b="1" i="0" u="none" strike="noStrike" cap="none" dirty="0">
                <a:solidFill>
                  <a:srgbClr val="FFFFFF"/>
                </a:solidFill>
                <a:latin typeface="Calibri"/>
                <a:ea typeface="Calibri"/>
                <a:cs typeface="Calibri"/>
                <a:sym typeface="Calibri"/>
              </a:rPr>
              <a:t>MODEL 3 – Ridge 3 Factor Model</a:t>
            </a:r>
            <a:endParaRPr sz="1050" b="0" i="0" u="none" strike="noStrike" cap="none" dirty="0">
              <a:solidFill>
                <a:schemeClr val="dk1"/>
              </a:solidFill>
              <a:latin typeface="Calibri"/>
              <a:ea typeface="Calibri"/>
              <a:cs typeface="Calibri"/>
              <a:sym typeface="Calibri"/>
            </a:endParaRPr>
          </a:p>
        </p:txBody>
      </p:sp>
      <p:sp>
        <p:nvSpPr>
          <p:cNvPr id="247" name="Google Shape;247;p14">
            <a:extLst>
              <a:ext uri="{FF2B5EF4-FFF2-40B4-BE49-F238E27FC236}">
                <a16:creationId xmlns:a16="http://schemas.microsoft.com/office/drawing/2014/main" id="{A3F21FE5-EADD-1E71-2418-7B29EAAC56C5}"/>
              </a:ext>
            </a:extLst>
          </p:cNvPr>
          <p:cNvSpPr/>
          <p:nvPr/>
        </p:nvSpPr>
        <p:spPr>
          <a:xfrm>
            <a:off x="457200" y="502925"/>
            <a:ext cx="5709600" cy="6585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C1A35"/>
              </a:buClr>
              <a:buSzPts val="3000"/>
              <a:buFont typeface="Georgia"/>
              <a:buNone/>
            </a:pPr>
            <a:r>
              <a:rPr lang="en-US" sz="3000" b="1" i="0" u="none" strike="noStrike" cap="none" dirty="0">
                <a:solidFill>
                  <a:srgbClr val="0C1A35"/>
                </a:solidFill>
                <a:latin typeface="Georgia"/>
                <a:ea typeface="Georgia"/>
                <a:cs typeface="Georgia"/>
                <a:sym typeface="Georgia"/>
              </a:rPr>
              <a:t>Model 3 Analysis</a:t>
            </a:r>
            <a:endParaRPr sz="3000" b="0" i="0" u="none" strike="noStrike" cap="none" dirty="0">
              <a:solidFill>
                <a:schemeClr val="dk1"/>
              </a:solidFill>
              <a:latin typeface="Calibri"/>
              <a:ea typeface="Calibri"/>
              <a:cs typeface="Calibri"/>
              <a:sym typeface="Calibri"/>
            </a:endParaRPr>
          </a:p>
        </p:txBody>
      </p:sp>
      <p:sp>
        <p:nvSpPr>
          <p:cNvPr id="248" name="Google Shape;248;p14">
            <a:extLst>
              <a:ext uri="{FF2B5EF4-FFF2-40B4-BE49-F238E27FC236}">
                <a16:creationId xmlns:a16="http://schemas.microsoft.com/office/drawing/2014/main" id="{112E3877-9867-E231-0852-09A241FFFBC5}"/>
              </a:ext>
            </a:extLst>
          </p:cNvPr>
          <p:cNvSpPr/>
          <p:nvPr/>
        </p:nvSpPr>
        <p:spPr>
          <a:xfrm>
            <a:off x="369275" y="2106413"/>
            <a:ext cx="4005000" cy="2562300"/>
          </a:xfrm>
          <a:prstGeom prst="rect">
            <a:avLst/>
          </a:prstGeom>
          <a:solidFill>
            <a:srgbClr val="F7F9FC"/>
          </a:solidFill>
          <a:ln w="9525" cap="flat" cmpd="sng">
            <a:solidFill>
              <a:srgbClr val="CBD5E1"/>
            </a:solidFill>
            <a:prstDash val="solid"/>
            <a:round/>
            <a:headEnd type="none" w="sm" len="sm"/>
            <a:tailEnd type="none" w="sm" len="sm"/>
          </a:ln>
          <a:effectLst>
            <a:outerShdw blurRad="127000" dist="25400" dir="8100000" algn="bl" rotWithShape="0">
              <a:srgbClr val="000000">
                <a:alpha val="10196"/>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49" name="Google Shape;249;p14">
            <a:extLst>
              <a:ext uri="{FF2B5EF4-FFF2-40B4-BE49-F238E27FC236}">
                <a16:creationId xmlns:a16="http://schemas.microsoft.com/office/drawing/2014/main" id="{8FDF885D-5BAF-7627-3DDB-EE0F9D9D8052}"/>
              </a:ext>
            </a:extLst>
          </p:cNvPr>
          <p:cNvSpPr/>
          <p:nvPr/>
        </p:nvSpPr>
        <p:spPr>
          <a:xfrm>
            <a:off x="369275" y="2106413"/>
            <a:ext cx="91500" cy="2562000"/>
          </a:xfrm>
          <a:prstGeom prst="rect">
            <a:avLst/>
          </a:prstGeom>
          <a:solidFill>
            <a:schemeClr val="dk2"/>
          </a:solidFill>
          <a:ln w="9525" cap="flat" cmpd="sng">
            <a:solidFill>
              <a:srgbClr val="0F766E"/>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50" name="Google Shape;250;p14">
            <a:extLst>
              <a:ext uri="{FF2B5EF4-FFF2-40B4-BE49-F238E27FC236}">
                <a16:creationId xmlns:a16="http://schemas.microsoft.com/office/drawing/2014/main" id="{C35DB035-6065-9558-504D-644050C0DE86}"/>
              </a:ext>
            </a:extLst>
          </p:cNvPr>
          <p:cNvSpPr/>
          <p:nvPr/>
        </p:nvSpPr>
        <p:spPr>
          <a:xfrm>
            <a:off x="597890" y="2170399"/>
            <a:ext cx="3657600" cy="320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F766E"/>
              </a:buClr>
              <a:buSzPts val="1250"/>
              <a:buFont typeface="Calibri"/>
              <a:buNone/>
            </a:pPr>
            <a:r>
              <a:rPr lang="en-US" sz="1250" b="1" i="0" u="none" strike="noStrike" cap="none">
                <a:solidFill>
                  <a:srgbClr val="0F766E"/>
                </a:solidFill>
                <a:latin typeface="Calibri"/>
                <a:ea typeface="Calibri"/>
                <a:cs typeface="Calibri"/>
                <a:sym typeface="Calibri"/>
              </a:rPr>
              <a:t>What Improved</a:t>
            </a:r>
            <a:endParaRPr sz="1250" b="0" i="0" u="none" strike="noStrike" cap="none">
              <a:solidFill>
                <a:schemeClr val="dk1"/>
              </a:solidFill>
              <a:latin typeface="Calibri"/>
              <a:ea typeface="Calibri"/>
              <a:cs typeface="Calibri"/>
              <a:sym typeface="Calibri"/>
            </a:endParaRPr>
          </a:p>
        </p:txBody>
      </p:sp>
      <p:sp>
        <p:nvSpPr>
          <p:cNvPr id="251" name="Google Shape;251;p14">
            <a:extLst>
              <a:ext uri="{FF2B5EF4-FFF2-40B4-BE49-F238E27FC236}">
                <a16:creationId xmlns:a16="http://schemas.microsoft.com/office/drawing/2014/main" id="{9238A363-7F00-80E9-FE37-C5C3AC22F76D}"/>
              </a:ext>
            </a:extLst>
          </p:cNvPr>
          <p:cNvSpPr/>
          <p:nvPr/>
        </p:nvSpPr>
        <p:spPr>
          <a:xfrm>
            <a:off x="552175" y="2486999"/>
            <a:ext cx="3749100" cy="1186500"/>
          </a:xfrm>
          <a:prstGeom prst="rect">
            <a:avLst/>
          </a:prstGeom>
          <a:noFill/>
          <a:ln>
            <a:noFill/>
          </a:ln>
        </p:spPr>
        <p:txBody>
          <a:bodyPr spcFirstLastPara="1" wrap="square" lIns="25400" tIns="50800" rIns="0" bIns="0" anchor="t" anchorCtr="0">
            <a:noAutofit/>
          </a:bodyPr>
          <a:lstStyle/>
          <a:p>
            <a:pPr marL="342900" marR="0" lvl="0" indent="-342900" algn="l" rtl="0">
              <a:lnSpc>
                <a:spcPct val="95000"/>
              </a:lnSpc>
              <a:spcBef>
                <a:spcPts val="0"/>
              </a:spcBef>
              <a:spcAft>
                <a:spcPts val="0"/>
              </a:spcAft>
              <a:buClr>
                <a:srgbClr val="1E293B"/>
              </a:buClr>
              <a:buSzPts val="1100"/>
              <a:buFont typeface="Calibri"/>
              <a:buChar char="•"/>
            </a:pPr>
            <a:r>
              <a:rPr lang="en-US" sz="1100" b="0" i="0" u="none" strike="noStrike" cap="none" dirty="0">
                <a:solidFill>
                  <a:srgbClr val="1E293B"/>
                </a:solidFill>
                <a:latin typeface="Calibri"/>
                <a:ea typeface="Calibri"/>
                <a:cs typeface="Calibri"/>
                <a:sym typeface="Calibri"/>
              </a:rPr>
              <a:t>Annualized Sharpe ratio: ~0.</a:t>
            </a:r>
            <a:r>
              <a:rPr lang="en-US" sz="1100" dirty="0">
                <a:solidFill>
                  <a:srgbClr val="1E293B"/>
                </a:solidFill>
                <a:latin typeface="Calibri"/>
                <a:ea typeface="Calibri"/>
                <a:cs typeface="Calibri"/>
                <a:sym typeface="Calibri"/>
              </a:rPr>
              <a:t>84</a:t>
            </a:r>
            <a:r>
              <a:rPr lang="en-US" sz="1100" b="0" i="0" u="none" strike="noStrike" cap="none" dirty="0">
                <a:solidFill>
                  <a:srgbClr val="1E293B"/>
                </a:solidFill>
                <a:latin typeface="Calibri"/>
                <a:ea typeface="Calibri"/>
                <a:cs typeface="Calibri"/>
                <a:sym typeface="Calibri"/>
              </a:rPr>
              <a:t> (model </a:t>
            </a:r>
            <a:r>
              <a:rPr lang="en-US" sz="1100" dirty="0">
                <a:solidFill>
                  <a:srgbClr val="1E293B"/>
                </a:solidFill>
                <a:latin typeface="Calibri"/>
                <a:ea typeface="Calibri"/>
                <a:cs typeface="Calibri"/>
                <a:sym typeface="Calibri"/>
              </a:rPr>
              <a:t>2</a:t>
            </a:r>
            <a:r>
              <a:rPr lang="en-US" sz="1100" b="0" i="0" u="none" strike="noStrike" cap="none" dirty="0">
                <a:solidFill>
                  <a:srgbClr val="1E293B"/>
                </a:solidFill>
                <a:latin typeface="Calibri"/>
                <a:ea typeface="Calibri"/>
                <a:cs typeface="Calibri"/>
                <a:sym typeface="Calibri"/>
              </a:rPr>
              <a:t>) vs 0</a:t>
            </a:r>
            <a:r>
              <a:rPr lang="en-US" sz="1100" dirty="0">
                <a:solidFill>
                  <a:srgbClr val="1E293B"/>
                </a:solidFill>
                <a:latin typeface="Calibri"/>
                <a:ea typeface="Calibri"/>
                <a:cs typeface="Calibri"/>
                <a:sym typeface="Calibri"/>
              </a:rPr>
              <a:t>.89 </a:t>
            </a:r>
            <a:r>
              <a:rPr lang="en-US" sz="1100" b="0" i="0" u="none" strike="noStrike" cap="none" dirty="0">
                <a:solidFill>
                  <a:srgbClr val="1E293B"/>
                </a:solidFill>
                <a:latin typeface="Calibri"/>
                <a:ea typeface="Calibri"/>
                <a:cs typeface="Calibri"/>
                <a:sym typeface="Calibri"/>
              </a:rPr>
              <a:t>(model 3)</a:t>
            </a:r>
          </a:p>
          <a:p>
            <a:pPr marL="342900" marR="0" lvl="0" indent="-342900" algn="l" rtl="0">
              <a:lnSpc>
                <a:spcPct val="95000"/>
              </a:lnSpc>
              <a:spcBef>
                <a:spcPts val="0"/>
              </a:spcBef>
              <a:spcAft>
                <a:spcPts val="0"/>
              </a:spcAft>
              <a:buClr>
                <a:srgbClr val="1E293B"/>
              </a:buClr>
              <a:buSzPts val="1100"/>
              <a:buFont typeface="Calibri"/>
              <a:buChar char="•"/>
            </a:pPr>
            <a:r>
              <a:rPr lang="en-US" sz="1100" dirty="0">
                <a:solidFill>
                  <a:srgbClr val="1E293B"/>
                </a:solidFill>
                <a:latin typeface="Calibri"/>
                <a:ea typeface="Calibri"/>
                <a:cs typeface="Calibri"/>
                <a:sym typeface="Calibri"/>
              </a:rPr>
              <a:t>Returns: 12.9% (model 2) vs 13.8% (model 3)</a:t>
            </a:r>
          </a:p>
          <a:p>
            <a:pPr marL="342900" marR="0" lvl="0" indent="-342900" algn="l" rtl="0">
              <a:lnSpc>
                <a:spcPct val="95000"/>
              </a:lnSpc>
              <a:spcBef>
                <a:spcPts val="0"/>
              </a:spcBef>
              <a:spcAft>
                <a:spcPts val="0"/>
              </a:spcAft>
              <a:buClr>
                <a:srgbClr val="1E293B"/>
              </a:buClr>
              <a:buSzPts val="1100"/>
              <a:buFont typeface="Calibri"/>
              <a:buChar char="•"/>
            </a:pPr>
            <a:r>
              <a:rPr lang="en-US" sz="1100" dirty="0">
                <a:solidFill>
                  <a:srgbClr val="1E293B"/>
                </a:solidFill>
                <a:latin typeface="Calibri"/>
                <a:ea typeface="Calibri"/>
                <a:cs typeface="Calibri"/>
                <a:sym typeface="Calibri"/>
              </a:rPr>
              <a:t>Penalty term to shrink correlated predictors – more stable</a:t>
            </a:r>
          </a:p>
          <a:p>
            <a:pPr marL="342900" marR="0" lvl="0" indent="-342900" algn="l" rtl="0">
              <a:lnSpc>
                <a:spcPct val="95000"/>
              </a:lnSpc>
              <a:spcBef>
                <a:spcPts val="0"/>
              </a:spcBef>
              <a:spcAft>
                <a:spcPts val="0"/>
              </a:spcAft>
              <a:buClr>
                <a:srgbClr val="1E293B"/>
              </a:buClr>
              <a:buSzPts val="1100"/>
              <a:buFont typeface="Calibri"/>
              <a:buChar char="•"/>
            </a:pPr>
            <a:r>
              <a:rPr lang="en-US" sz="1100" b="0" i="0" u="none" strike="noStrike" cap="none" dirty="0">
                <a:solidFill>
                  <a:srgbClr val="1E293B"/>
                </a:solidFill>
                <a:latin typeface="Calibri"/>
                <a:ea typeface="Calibri"/>
                <a:cs typeface="Calibri"/>
                <a:sym typeface="Calibri"/>
              </a:rPr>
              <a:t>Test R-Squared: -0.0162 (model 2) vs -0.0149 (model 3)</a:t>
            </a:r>
          </a:p>
          <a:p>
            <a:pPr marL="342900" marR="0" lvl="0" indent="-342900" algn="l" rtl="0">
              <a:lnSpc>
                <a:spcPct val="95000"/>
              </a:lnSpc>
              <a:spcBef>
                <a:spcPts val="0"/>
              </a:spcBef>
              <a:spcAft>
                <a:spcPts val="0"/>
              </a:spcAft>
              <a:buClr>
                <a:srgbClr val="1E293B"/>
              </a:buClr>
              <a:buSzPts val="1100"/>
              <a:buFont typeface="Calibri"/>
              <a:buChar char="•"/>
            </a:pPr>
            <a:endParaRPr sz="1100" b="0" i="0" u="none" strike="noStrike" cap="none" dirty="0">
              <a:solidFill>
                <a:schemeClr val="dk1"/>
              </a:solidFill>
              <a:latin typeface="Calibri"/>
              <a:ea typeface="Calibri"/>
              <a:cs typeface="Calibri"/>
              <a:sym typeface="Calibri"/>
            </a:endParaRPr>
          </a:p>
        </p:txBody>
      </p:sp>
      <p:sp>
        <p:nvSpPr>
          <p:cNvPr id="252" name="Google Shape;252;p14">
            <a:extLst>
              <a:ext uri="{FF2B5EF4-FFF2-40B4-BE49-F238E27FC236}">
                <a16:creationId xmlns:a16="http://schemas.microsoft.com/office/drawing/2014/main" id="{806D9CFE-9C1C-E525-A5CF-14576D8F4D9F}"/>
              </a:ext>
            </a:extLst>
          </p:cNvPr>
          <p:cNvSpPr/>
          <p:nvPr/>
        </p:nvSpPr>
        <p:spPr>
          <a:xfrm>
            <a:off x="506320" y="3347174"/>
            <a:ext cx="3657600" cy="320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F766E"/>
              </a:buClr>
              <a:buSzPts val="1200"/>
              <a:buFont typeface="Calibri"/>
              <a:buNone/>
            </a:pPr>
            <a:r>
              <a:rPr lang="en-US" sz="1200" b="1" i="0" u="none" strike="noStrike" cap="none" dirty="0">
                <a:solidFill>
                  <a:srgbClr val="0F766E"/>
                </a:solidFill>
                <a:latin typeface="Calibri"/>
                <a:ea typeface="Calibri"/>
                <a:cs typeface="Calibri"/>
                <a:sym typeface="Calibri"/>
              </a:rPr>
              <a:t>Strategy vs Buy-and-Hold</a:t>
            </a:r>
            <a:endParaRPr sz="1200" b="0" i="0" u="none" strike="noStrike" cap="none" dirty="0">
              <a:solidFill>
                <a:schemeClr val="dk1"/>
              </a:solidFill>
              <a:latin typeface="Calibri"/>
              <a:ea typeface="Calibri"/>
              <a:cs typeface="Calibri"/>
              <a:sym typeface="Calibri"/>
            </a:endParaRPr>
          </a:p>
        </p:txBody>
      </p:sp>
      <p:sp>
        <p:nvSpPr>
          <p:cNvPr id="253" name="Google Shape;253;p14">
            <a:extLst>
              <a:ext uri="{FF2B5EF4-FFF2-40B4-BE49-F238E27FC236}">
                <a16:creationId xmlns:a16="http://schemas.microsoft.com/office/drawing/2014/main" id="{868559D8-CF1E-F3F2-0008-B20E439E278F}"/>
              </a:ext>
            </a:extLst>
          </p:cNvPr>
          <p:cNvSpPr/>
          <p:nvPr/>
        </p:nvSpPr>
        <p:spPr>
          <a:xfrm>
            <a:off x="552175" y="3706885"/>
            <a:ext cx="3749100" cy="846347"/>
          </a:xfrm>
          <a:prstGeom prst="rect">
            <a:avLst/>
          </a:prstGeom>
          <a:noFill/>
          <a:ln>
            <a:noFill/>
          </a:ln>
        </p:spPr>
        <p:txBody>
          <a:bodyPr spcFirstLastPara="1" wrap="square" lIns="25400" tIns="50800" rIns="0" bIns="0" anchor="t" anchorCtr="0">
            <a:noAutofit/>
          </a:bodyPr>
          <a:lstStyle/>
          <a:p>
            <a:pPr marL="342900" marR="0" lvl="0" indent="-342900" algn="l" rtl="0">
              <a:lnSpc>
                <a:spcPct val="95000"/>
              </a:lnSpc>
              <a:spcBef>
                <a:spcPts val="0"/>
              </a:spcBef>
              <a:spcAft>
                <a:spcPts val="0"/>
              </a:spcAft>
              <a:buClr>
                <a:srgbClr val="1E293B"/>
              </a:buClr>
              <a:buSzPts val="1100"/>
              <a:buFont typeface="Calibri"/>
              <a:buChar char="•"/>
            </a:pPr>
            <a:r>
              <a:rPr lang="en-US" sz="1100" b="0" i="0" u="none" strike="noStrike" cap="none" dirty="0">
                <a:solidFill>
                  <a:srgbClr val="1E293B"/>
                </a:solidFill>
                <a:latin typeface="Calibri"/>
                <a:ea typeface="Calibri"/>
                <a:cs typeface="Calibri"/>
                <a:sym typeface="Calibri"/>
              </a:rPr>
              <a:t>Ridge 3-factor strategy ends at 1.138 × vs buy-and-hold at 1.09×</a:t>
            </a:r>
            <a:endParaRPr sz="1100" b="0" i="0" u="none" strike="noStrike" cap="none" dirty="0">
              <a:solidFill>
                <a:schemeClr val="dk1"/>
              </a:solidFill>
              <a:latin typeface="Calibri"/>
              <a:ea typeface="Calibri"/>
              <a:cs typeface="Calibri"/>
              <a:sym typeface="Calibri"/>
            </a:endParaRPr>
          </a:p>
          <a:p>
            <a:pPr marL="342900" marR="0" lvl="0" indent="-342900" algn="l" rtl="0">
              <a:lnSpc>
                <a:spcPct val="95000"/>
              </a:lnSpc>
              <a:spcBef>
                <a:spcPts val="0"/>
              </a:spcBef>
              <a:spcAft>
                <a:spcPts val="0"/>
              </a:spcAft>
              <a:buClr>
                <a:srgbClr val="1E293B"/>
              </a:buClr>
              <a:buSzPts val="1100"/>
              <a:buFont typeface="Calibri"/>
              <a:buChar char="•"/>
            </a:pPr>
            <a:r>
              <a:rPr lang="en-US" sz="1100" b="0" i="0" u="none" strike="noStrike" cap="none" dirty="0">
                <a:solidFill>
                  <a:srgbClr val="1E293B"/>
                </a:solidFill>
                <a:latin typeface="Calibri"/>
                <a:ea typeface="Calibri"/>
                <a:cs typeface="Calibri"/>
                <a:sym typeface="Calibri"/>
              </a:rPr>
              <a:t>Sep 2023: strategy protected capital when buy-and-hold crashed</a:t>
            </a:r>
            <a:endParaRPr sz="1100" b="0" i="0" u="none" strike="noStrike" cap="none" dirty="0">
              <a:solidFill>
                <a:schemeClr val="dk1"/>
              </a:solidFill>
              <a:latin typeface="Calibri"/>
              <a:ea typeface="Calibri"/>
              <a:cs typeface="Calibri"/>
              <a:sym typeface="Calibri"/>
            </a:endParaRPr>
          </a:p>
          <a:p>
            <a:pPr marL="342900" marR="0" lvl="0" indent="-342900" algn="l" rtl="0">
              <a:lnSpc>
                <a:spcPct val="95000"/>
              </a:lnSpc>
              <a:spcBef>
                <a:spcPts val="0"/>
              </a:spcBef>
              <a:spcAft>
                <a:spcPts val="0"/>
              </a:spcAft>
              <a:buClr>
                <a:srgbClr val="1E293B"/>
              </a:buClr>
              <a:buSzPts val="1100"/>
              <a:buFont typeface="Calibri"/>
              <a:buChar char="•"/>
            </a:pPr>
            <a:r>
              <a:rPr lang="en-US" sz="1100" b="0" i="0" u="none" strike="noStrike" cap="none" dirty="0">
                <a:solidFill>
                  <a:srgbClr val="1E293B"/>
                </a:solidFill>
                <a:latin typeface="Calibri"/>
                <a:ea typeface="Calibri"/>
                <a:cs typeface="Calibri"/>
                <a:sym typeface="Calibri"/>
              </a:rPr>
              <a:t>Strategy consistently hovers at or above buy-and-hold</a:t>
            </a:r>
            <a:endParaRPr sz="1100" b="0" i="0" u="none" strike="noStrike" cap="none" dirty="0">
              <a:solidFill>
                <a:schemeClr val="dk1"/>
              </a:solidFill>
              <a:latin typeface="Calibri"/>
              <a:ea typeface="Calibri"/>
              <a:cs typeface="Calibri"/>
              <a:sym typeface="Calibri"/>
            </a:endParaRPr>
          </a:p>
        </p:txBody>
      </p:sp>
      <p:sp>
        <p:nvSpPr>
          <p:cNvPr id="258" name="Google Shape;258;p14">
            <a:extLst>
              <a:ext uri="{FF2B5EF4-FFF2-40B4-BE49-F238E27FC236}">
                <a16:creationId xmlns:a16="http://schemas.microsoft.com/office/drawing/2014/main" id="{768B0687-05EF-A981-3901-5A1368BB6AD9}"/>
              </a:ext>
            </a:extLst>
          </p:cNvPr>
          <p:cNvSpPr/>
          <p:nvPr/>
        </p:nvSpPr>
        <p:spPr>
          <a:xfrm>
            <a:off x="457190" y="4752329"/>
            <a:ext cx="8229600" cy="2628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475569"/>
              </a:buClr>
              <a:buSzPts val="1000"/>
              <a:buFont typeface="Calibri"/>
              <a:buNone/>
            </a:pPr>
            <a:r>
              <a:rPr lang="en-US" sz="1000" b="0" i="1" u="none" strike="noStrike" cap="none" dirty="0">
                <a:solidFill>
                  <a:srgbClr val="475569"/>
                </a:solidFill>
                <a:latin typeface="Calibri"/>
                <a:ea typeface="Calibri"/>
                <a:cs typeface="Calibri"/>
                <a:sym typeface="Calibri"/>
              </a:rPr>
              <a:t>Lesson: </a:t>
            </a:r>
            <a:r>
              <a:rPr lang="en-US" sz="1000" i="1" dirty="0">
                <a:solidFill>
                  <a:srgbClr val="475569"/>
                </a:solidFill>
                <a:latin typeface="Calibri"/>
                <a:ea typeface="Calibri"/>
                <a:cs typeface="Calibri"/>
                <a:sym typeface="Calibri"/>
              </a:rPr>
              <a:t>ridge regression improved returns and Sharpe ratio by adding penalty terms to shrink correlated predictors and reduce the model's sensitivity to overlapping predictor information.</a:t>
            </a:r>
            <a:endParaRPr sz="1000" b="0" i="0" u="none" strike="noStrike" cap="none" dirty="0">
              <a:solidFill>
                <a:schemeClr val="dk1"/>
              </a:solidFill>
              <a:latin typeface="Calibri"/>
              <a:ea typeface="Calibri"/>
              <a:cs typeface="Calibri"/>
              <a:sym typeface="Calibri"/>
            </a:endParaRPr>
          </a:p>
        </p:txBody>
      </p:sp>
      <p:sp>
        <p:nvSpPr>
          <p:cNvPr id="259" name="Google Shape;259;p14">
            <a:extLst>
              <a:ext uri="{FF2B5EF4-FFF2-40B4-BE49-F238E27FC236}">
                <a16:creationId xmlns:a16="http://schemas.microsoft.com/office/drawing/2014/main" id="{FE019692-83CC-F8BF-C4DF-2FE44473800F}"/>
              </a:ext>
            </a:extLst>
          </p:cNvPr>
          <p:cNvSpPr/>
          <p:nvPr/>
        </p:nvSpPr>
        <p:spPr>
          <a:xfrm>
            <a:off x="365710" y="1339550"/>
            <a:ext cx="8412600" cy="658500"/>
          </a:xfrm>
          <a:prstGeom prst="rect">
            <a:avLst/>
          </a:prstGeom>
          <a:solidFill>
            <a:srgbClr val="F7F9FC"/>
          </a:solidFill>
          <a:ln w="9525" cap="flat" cmpd="sng">
            <a:solidFill>
              <a:srgbClr val="CBD5E1"/>
            </a:solidFill>
            <a:prstDash val="solid"/>
            <a:round/>
            <a:headEnd type="none" w="sm" len="sm"/>
            <a:tailEnd type="none" w="sm" len="sm"/>
          </a:ln>
          <a:effectLst>
            <a:outerShdw blurRad="127000" dist="25400" dir="8100000" algn="bl" rotWithShape="0">
              <a:srgbClr val="000000">
                <a:alpha val="10196"/>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60" name="Google Shape;260;p14">
            <a:extLst>
              <a:ext uri="{FF2B5EF4-FFF2-40B4-BE49-F238E27FC236}">
                <a16:creationId xmlns:a16="http://schemas.microsoft.com/office/drawing/2014/main" id="{3F2C2ECC-30AD-E795-2683-E477B590FFC5}"/>
              </a:ext>
            </a:extLst>
          </p:cNvPr>
          <p:cNvSpPr txBox="1"/>
          <p:nvPr/>
        </p:nvSpPr>
        <p:spPr>
          <a:xfrm>
            <a:off x="415025" y="1447913"/>
            <a:ext cx="8412600" cy="6156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E8A020"/>
              </a:buClr>
              <a:buSzPts val="1400"/>
              <a:buFont typeface="Courier New"/>
              <a:buNone/>
            </a:pPr>
            <a:r>
              <a:rPr lang="en-US" sz="1400" b="0" i="0" u="none" strike="noStrike" cap="none" dirty="0">
                <a:solidFill>
                  <a:srgbClr val="E8A020"/>
                </a:solidFill>
                <a:latin typeface="Courier New"/>
                <a:ea typeface="Courier New"/>
                <a:cs typeface="Courier New"/>
                <a:sym typeface="Courier New"/>
              </a:rPr>
              <a:t>EMB Return_t+1  =  α  +  β₁·</a:t>
            </a:r>
            <a:r>
              <a:rPr lang="en-US" sz="1400" b="0" i="0" u="none" strike="noStrike" cap="none" dirty="0" err="1">
                <a:solidFill>
                  <a:srgbClr val="E8A020"/>
                </a:solidFill>
                <a:latin typeface="Courier New"/>
                <a:ea typeface="Courier New"/>
                <a:cs typeface="Courier New"/>
                <a:sym typeface="Courier New"/>
              </a:rPr>
              <a:t>ΔVIX_t</a:t>
            </a:r>
            <a:r>
              <a:rPr lang="en-US" sz="1400" b="0" i="0" u="none" strike="noStrike" cap="none" dirty="0">
                <a:solidFill>
                  <a:srgbClr val="E8A020"/>
                </a:solidFill>
                <a:latin typeface="Courier New"/>
                <a:ea typeface="Courier New"/>
                <a:cs typeface="Courier New"/>
                <a:sym typeface="Courier New"/>
              </a:rPr>
              <a:t>  +  β₂·</a:t>
            </a:r>
            <a:r>
              <a:rPr lang="en-US" sz="1400" b="0" i="0" u="none" strike="noStrike" cap="none" dirty="0" err="1">
                <a:solidFill>
                  <a:srgbClr val="E8A020"/>
                </a:solidFill>
                <a:latin typeface="Courier New"/>
                <a:ea typeface="Courier New"/>
                <a:cs typeface="Courier New"/>
                <a:sym typeface="Courier New"/>
              </a:rPr>
              <a:t>ΔSpread_t</a:t>
            </a:r>
            <a:r>
              <a:rPr lang="en-US" sz="1400" b="0" i="0" u="none" strike="noStrike" cap="none" dirty="0">
                <a:solidFill>
                  <a:srgbClr val="E8A020"/>
                </a:solidFill>
                <a:latin typeface="Courier New"/>
                <a:ea typeface="Courier New"/>
                <a:cs typeface="Courier New"/>
                <a:sym typeface="Courier New"/>
              </a:rPr>
              <a:t>  +  β₃·</a:t>
            </a:r>
            <a:r>
              <a:rPr lang="en-US" sz="1400" b="0" i="0" u="none" strike="noStrike" cap="none" dirty="0" err="1">
                <a:solidFill>
                  <a:srgbClr val="E8A020"/>
                </a:solidFill>
                <a:latin typeface="Courier New"/>
                <a:ea typeface="Courier New"/>
                <a:cs typeface="Courier New"/>
                <a:sym typeface="Courier New"/>
              </a:rPr>
              <a:t>Oil_Return_t</a:t>
            </a:r>
            <a:r>
              <a:rPr lang="en-US" sz="1400" b="0" i="0" u="none" strike="noStrike" cap="none" dirty="0">
                <a:solidFill>
                  <a:srgbClr val="E8A020"/>
                </a:solidFill>
                <a:latin typeface="Courier New"/>
                <a:ea typeface="Courier New"/>
                <a:cs typeface="Courier New"/>
                <a:sym typeface="Courier New"/>
              </a:rPr>
              <a:t>  +  ε</a:t>
            </a:r>
            <a:endParaRPr sz="1400" b="0" i="0" u="none" strike="noStrike" cap="none" dirty="0">
              <a:solidFill>
                <a:schemeClr val="dk1"/>
              </a:solidFill>
              <a:latin typeface="Courier New"/>
              <a:ea typeface="Courier New"/>
              <a:cs typeface="Courier New"/>
              <a:sym typeface="Courier New"/>
            </a:endParaRPr>
          </a:p>
          <a:p>
            <a:pPr marL="0" marR="0" lvl="0" indent="0" algn="l" rtl="0">
              <a:lnSpc>
                <a:spcPct val="100000"/>
              </a:lnSpc>
              <a:spcBef>
                <a:spcPts val="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p:txBody>
      </p:sp>
      <p:sp>
        <p:nvSpPr>
          <p:cNvPr id="261" name="Google Shape;261;p14">
            <a:extLst>
              <a:ext uri="{FF2B5EF4-FFF2-40B4-BE49-F238E27FC236}">
                <a16:creationId xmlns:a16="http://schemas.microsoft.com/office/drawing/2014/main" id="{AD650498-CC86-12A1-D3CC-9564FF0DD65F}"/>
              </a:ext>
            </a:extLst>
          </p:cNvPr>
          <p:cNvSpPr/>
          <p:nvPr/>
        </p:nvSpPr>
        <p:spPr>
          <a:xfrm>
            <a:off x="457200" y="1133934"/>
            <a:ext cx="8229600" cy="27300"/>
          </a:xfrm>
          <a:prstGeom prst="rect">
            <a:avLst/>
          </a:prstGeom>
          <a:solidFill>
            <a:srgbClr val="2B6CB0"/>
          </a:solidFill>
          <a:ln w="9525" cap="flat" cmpd="sng">
            <a:solidFill>
              <a:srgbClr val="2B6CB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3" name="Picture 2">
            <a:extLst>
              <a:ext uri="{FF2B5EF4-FFF2-40B4-BE49-F238E27FC236}">
                <a16:creationId xmlns:a16="http://schemas.microsoft.com/office/drawing/2014/main" id="{23559F42-FD23-0C8F-8C69-0CCCF8B9DA20}"/>
              </a:ext>
            </a:extLst>
          </p:cNvPr>
          <p:cNvPicPr>
            <a:picLocks noChangeAspect="1"/>
          </p:cNvPicPr>
          <p:nvPr/>
        </p:nvPicPr>
        <p:blipFill>
          <a:blip r:embed="rId3"/>
          <a:stretch>
            <a:fillRect/>
          </a:stretch>
        </p:blipFill>
        <p:spPr>
          <a:xfrm>
            <a:off x="4465675" y="2170399"/>
            <a:ext cx="4607375" cy="2509158"/>
          </a:xfrm>
          <a:prstGeom prst="rect">
            <a:avLst/>
          </a:prstGeom>
        </p:spPr>
      </p:pic>
    </p:spTree>
    <p:extLst>
      <p:ext uri="{BB962C8B-B14F-4D97-AF65-F5344CB8AC3E}">
        <p14:creationId xmlns:p14="http://schemas.microsoft.com/office/powerpoint/2010/main" val="264623077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27"/>
        <p:cNvGrpSpPr/>
        <p:nvPr/>
      </p:nvGrpSpPr>
      <p:grpSpPr>
        <a:xfrm>
          <a:off x="0" y="0"/>
          <a:ext cx="0" cy="0"/>
          <a:chOff x="0" y="0"/>
          <a:chExt cx="0" cy="0"/>
        </a:xfrm>
      </p:grpSpPr>
      <p:sp>
        <p:nvSpPr>
          <p:cNvPr id="228" name="Google Shape;228;g3d86e330eee_36_74"/>
          <p:cNvSpPr/>
          <p:nvPr/>
        </p:nvSpPr>
        <p:spPr>
          <a:xfrm>
            <a:off x="457200" y="146304"/>
            <a:ext cx="2194500" cy="274200"/>
          </a:xfrm>
          <a:prstGeom prst="rect">
            <a:avLst/>
          </a:prstGeom>
          <a:solidFill>
            <a:srgbClr val="2B6CB0"/>
          </a:solidFill>
          <a:ln w="9525" cap="flat" cmpd="sng">
            <a:solidFill>
              <a:srgbClr val="2B6CB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29" name="Google Shape;229;g3d86e330eee_36_74"/>
          <p:cNvSpPr/>
          <p:nvPr/>
        </p:nvSpPr>
        <p:spPr>
          <a:xfrm>
            <a:off x="457200" y="146304"/>
            <a:ext cx="2194500" cy="2742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chemeClr val="lt1"/>
              </a:buClr>
              <a:buSzPts val="850"/>
              <a:buFont typeface="Calibri"/>
              <a:buNone/>
            </a:pPr>
            <a:r>
              <a:rPr lang="en-US" sz="1050" b="1" i="0" u="none" strike="noStrike" cap="none">
                <a:solidFill>
                  <a:schemeClr val="lt1"/>
                </a:solidFill>
                <a:latin typeface="Calibri"/>
                <a:ea typeface="Calibri"/>
                <a:cs typeface="Calibri"/>
                <a:sym typeface="Calibri"/>
              </a:rPr>
              <a:t>MODEL 2 - RESULTS</a:t>
            </a:r>
            <a:endParaRPr sz="1050" b="0" i="0" u="none" strike="noStrike" cap="none">
              <a:solidFill>
                <a:schemeClr val="dk1"/>
              </a:solidFill>
              <a:latin typeface="Calibri"/>
              <a:ea typeface="Calibri"/>
              <a:cs typeface="Calibri"/>
              <a:sym typeface="Calibri"/>
            </a:endParaRPr>
          </a:p>
        </p:txBody>
      </p:sp>
      <p:sp>
        <p:nvSpPr>
          <p:cNvPr id="230" name="Google Shape;230;g3d86e330eee_36_74"/>
          <p:cNvSpPr/>
          <p:nvPr/>
        </p:nvSpPr>
        <p:spPr>
          <a:xfrm>
            <a:off x="457200" y="502920"/>
            <a:ext cx="8229600" cy="6585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C1A35"/>
              </a:buClr>
              <a:buSzPts val="3000"/>
              <a:buFont typeface="Georgia"/>
              <a:buNone/>
            </a:pPr>
            <a:r>
              <a:rPr lang="en-US" sz="2600" b="1" i="0" u="none" strike="noStrike" cap="none" dirty="0">
                <a:solidFill>
                  <a:srgbClr val="0C1A35"/>
                </a:solidFill>
                <a:latin typeface="Georgia"/>
                <a:ea typeface="Georgia"/>
                <a:cs typeface="Georgia"/>
                <a:sym typeface="Georgia"/>
              </a:rPr>
              <a:t>Ending returns comparing Models 1,2, and 3</a:t>
            </a:r>
            <a:endParaRPr sz="3000" b="1" i="0" u="none" strike="noStrike" cap="none" dirty="0">
              <a:solidFill>
                <a:srgbClr val="0C1A35"/>
              </a:solidFill>
              <a:latin typeface="Georgia"/>
              <a:ea typeface="Georgia"/>
              <a:cs typeface="Georgia"/>
              <a:sym typeface="Georgia"/>
            </a:endParaRPr>
          </a:p>
        </p:txBody>
      </p:sp>
      <p:sp>
        <p:nvSpPr>
          <p:cNvPr id="231" name="Google Shape;231;g3d86e330eee_36_74"/>
          <p:cNvSpPr/>
          <p:nvPr/>
        </p:nvSpPr>
        <p:spPr>
          <a:xfrm>
            <a:off x="457200" y="4975383"/>
            <a:ext cx="8229600" cy="27300"/>
          </a:xfrm>
          <a:prstGeom prst="rect">
            <a:avLst/>
          </a:prstGeom>
          <a:solidFill>
            <a:srgbClr val="2B6CB0"/>
          </a:solidFill>
          <a:ln w="9525" cap="flat" cmpd="sng">
            <a:solidFill>
              <a:srgbClr val="2B6CB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33" name="Google Shape;233;g3d86e330eee_36_74"/>
          <p:cNvSpPr/>
          <p:nvPr/>
        </p:nvSpPr>
        <p:spPr>
          <a:xfrm>
            <a:off x="4941150" y="1820125"/>
            <a:ext cx="4082700" cy="2937706"/>
          </a:xfrm>
          <a:prstGeom prst="rect">
            <a:avLst/>
          </a:prstGeom>
          <a:solidFill>
            <a:srgbClr val="F7F9FC"/>
          </a:solidFill>
          <a:ln w="9525" cap="flat" cmpd="sng">
            <a:solidFill>
              <a:srgbClr val="CBD5E1"/>
            </a:solidFill>
            <a:prstDash val="solid"/>
            <a:round/>
            <a:headEnd type="none" w="sm" len="sm"/>
            <a:tailEnd type="none" w="sm" len="sm"/>
          </a:ln>
          <a:effectLst>
            <a:outerShdw blurRad="127000" dist="25400" dir="8100000" algn="bl" rotWithShape="0">
              <a:srgbClr val="000000">
                <a:alpha val="10196"/>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600"/>
              <a:buFont typeface="Arial"/>
              <a:buNone/>
            </a:pPr>
            <a:endParaRPr sz="1600" b="0" i="0" u="none" strike="noStrike" cap="none">
              <a:solidFill>
                <a:srgbClr val="000000"/>
              </a:solidFill>
              <a:latin typeface="Arial"/>
              <a:ea typeface="Arial"/>
              <a:cs typeface="Arial"/>
              <a:sym typeface="Arial"/>
            </a:endParaRPr>
          </a:p>
        </p:txBody>
      </p:sp>
      <p:sp>
        <p:nvSpPr>
          <p:cNvPr id="234" name="Google Shape;234;g3d86e330eee_36_74"/>
          <p:cNvSpPr/>
          <p:nvPr/>
        </p:nvSpPr>
        <p:spPr>
          <a:xfrm>
            <a:off x="4941150" y="1828759"/>
            <a:ext cx="70862" cy="2937705"/>
          </a:xfrm>
          <a:prstGeom prst="rect">
            <a:avLst/>
          </a:prstGeom>
          <a:solidFill>
            <a:srgbClr val="1A3F7A"/>
          </a:solidFill>
          <a:ln w="9525" cap="flat" cmpd="sng">
            <a:solidFill>
              <a:srgbClr val="1A3F7A"/>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600"/>
              <a:buFont typeface="Arial"/>
              <a:buNone/>
            </a:pPr>
            <a:endParaRPr sz="1600" b="0" i="0" u="none" strike="noStrike" cap="none">
              <a:solidFill>
                <a:srgbClr val="000000"/>
              </a:solidFill>
              <a:latin typeface="Arial"/>
              <a:ea typeface="Arial"/>
              <a:cs typeface="Arial"/>
              <a:sym typeface="Arial"/>
            </a:endParaRPr>
          </a:p>
        </p:txBody>
      </p:sp>
      <p:grpSp>
        <p:nvGrpSpPr>
          <p:cNvPr id="235" name="Google Shape;235;g3d86e330eee_36_74"/>
          <p:cNvGrpSpPr/>
          <p:nvPr/>
        </p:nvGrpSpPr>
        <p:grpSpPr>
          <a:xfrm>
            <a:off x="5124050" y="2015411"/>
            <a:ext cx="3661850" cy="2200103"/>
            <a:chOff x="548647" y="2192079"/>
            <a:chExt cx="3661850" cy="1151525"/>
          </a:xfrm>
        </p:grpSpPr>
        <p:sp>
          <p:nvSpPr>
            <p:cNvPr id="236" name="Google Shape;236;g3d86e330eee_36_74"/>
            <p:cNvSpPr/>
            <p:nvPr/>
          </p:nvSpPr>
          <p:spPr>
            <a:xfrm>
              <a:off x="548647" y="2192079"/>
              <a:ext cx="3657600" cy="4209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3F7A"/>
                </a:buClr>
                <a:buSzPts val="1250"/>
                <a:buFont typeface="Calibri"/>
                <a:buNone/>
              </a:pPr>
              <a:r>
                <a:rPr lang="en-US" sz="1450" b="1" i="0" u="none" strike="noStrike" cap="none" dirty="0">
                  <a:solidFill>
                    <a:srgbClr val="1A3F7A"/>
                  </a:solidFill>
                  <a:latin typeface="Calibri"/>
                  <a:ea typeface="Calibri"/>
                  <a:cs typeface="Calibri"/>
                  <a:sym typeface="Calibri"/>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9"/>
                    </a:ext>
                  </a:extLst>
                </a:rPr>
                <a:t>All strategies started off with $1. The following table shows how much we end up with at the end of the 30% testing data period. </a:t>
              </a:r>
              <a:endParaRPr sz="1450" b="1" i="0" u="none" strike="noStrike" cap="none" dirty="0">
                <a:solidFill>
                  <a:srgbClr val="1A3F7A"/>
                </a:solidFill>
                <a:latin typeface="Calibri"/>
                <a:ea typeface="Calibri"/>
                <a:cs typeface="Calibri"/>
                <a:sym typeface="Calibri"/>
              </a:endParaRPr>
            </a:p>
            <a:p>
              <a:pPr marL="0" marR="0" lvl="0" indent="0" algn="l" rtl="0">
                <a:lnSpc>
                  <a:spcPct val="100000"/>
                </a:lnSpc>
                <a:spcBef>
                  <a:spcPts val="0"/>
                </a:spcBef>
                <a:spcAft>
                  <a:spcPts val="0"/>
                </a:spcAft>
                <a:buClr>
                  <a:srgbClr val="1A3F7A"/>
                </a:buClr>
                <a:buSzPts val="1250"/>
                <a:buFont typeface="Calibri"/>
                <a:buNone/>
              </a:pPr>
              <a:endParaRPr sz="1450" b="1" i="0" u="none" strike="noStrike" cap="none" dirty="0">
                <a:solidFill>
                  <a:srgbClr val="1A3F7A"/>
                </a:solidFill>
                <a:latin typeface="Calibri"/>
                <a:ea typeface="Calibri"/>
                <a:cs typeface="Calibri"/>
                <a:sym typeface="Calibri"/>
              </a:endParaRPr>
            </a:p>
          </p:txBody>
        </p:sp>
        <p:sp>
          <p:nvSpPr>
            <p:cNvPr id="237" name="Google Shape;237;g3d86e330eee_36_74"/>
            <p:cNvSpPr/>
            <p:nvPr/>
          </p:nvSpPr>
          <p:spPr>
            <a:xfrm>
              <a:off x="552897" y="2575304"/>
              <a:ext cx="3657600" cy="768300"/>
            </a:xfrm>
            <a:prstGeom prst="rect">
              <a:avLst/>
            </a:prstGeom>
            <a:noFill/>
            <a:ln>
              <a:noFill/>
            </a:ln>
          </p:spPr>
          <p:txBody>
            <a:bodyPr spcFirstLastPara="1" wrap="square" lIns="25400" tIns="50800" rIns="0" bIns="0" anchor="t" anchorCtr="0">
              <a:noAutofit/>
            </a:bodyPr>
            <a:lstStyle/>
            <a:p>
              <a:pPr marL="457200" marR="0" lvl="0" indent="-311150" algn="l" rtl="0">
                <a:lnSpc>
                  <a:spcPct val="100000"/>
                </a:lnSpc>
                <a:spcBef>
                  <a:spcPts val="500"/>
                </a:spcBef>
                <a:spcAft>
                  <a:spcPts val="0"/>
                </a:spcAft>
                <a:buClr>
                  <a:srgbClr val="1E293B"/>
                </a:buClr>
                <a:buSzPts val="1300"/>
                <a:buFont typeface="Calibri"/>
                <a:buChar char="●"/>
              </a:pPr>
              <a:r>
                <a:rPr lang="en-US" sz="1300" b="0" i="0" u="none" strike="noStrike" cap="none" dirty="0">
                  <a:solidFill>
                    <a:srgbClr val="1E293B"/>
                  </a:solidFill>
                  <a:latin typeface="Calibri"/>
                  <a:ea typeface="Calibri"/>
                  <a:cs typeface="Calibri"/>
                  <a:sym typeface="Calibri"/>
                </a:rPr>
                <a:t>1 factor model (</a:t>
              </a:r>
              <a:r>
                <a:rPr lang="en-US" sz="1300" b="0" i="0" u="none" strike="noStrike" cap="none" dirty="0" err="1">
                  <a:solidFill>
                    <a:srgbClr val="1E293B"/>
                  </a:solidFill>
                  <a:latin typeface="Calibri"/>
                  <a:ea typeface="Calibri"/>
                  <a:cs typeface="Calibri"/>
                  <a:sym typeface="Calibri"/>
                </a:rPr>
                <a:t>delta_vix</a:t>
              </a:r>
              <a:r>
                <a:rPr lang="en-US" sz="1300" b="0" i="0" u="none" strike="noStrike" cap="none" dirty="0">
                  <a:solidFill>
                    <a:srgbClr val="1E293B"/>
                  </a:solidFill>
                  <a:latin typeface="Calibri"/>
                  <a:ea typeface="Calibri"/>
                  <a:cs typeface="Calibri"/>
                  <a:sym typeface="Calibri"/>
                </a:rPr>
                <a:t> only) → Portfolio value  ≈ 1.027 → 2.7% return</a:t>
              </a:r>
            </a:p>
            <a:p>
              <a:pPr marL="457200" lvl="0" indent="-311150">
                <a:spcBef>
                  <a:spcPts val="500"/>
                </a:spcBef>
                <a:buClr>
                  <a:srgbClr val="1E293B"/>
                </a:buClr>
                <a:buSzPts val="1300"/>
                <a:buFont typeface="Calibri"/>
                <a:buChar char="●"/>
              </a:pPr>
              <a:r>
                <a:rPr lang="en-US" sz="1300" dirty="0">
                  <a:solidFill>
                    <a:srgbClr val="1E293B"/>
                  </a:solidFill>
                  <a:latin typeface="Calibri"/>
                  <a:ea typeface="Calibri"/>
                  <a:cs typeface="Calibri"/>
                  <a:sym typeface="Calibri"/>
                </a:rPr>
                <a:t>3 factor model (no ridge) </a:t>
              </a:r>
              <a:r>
                <a:rPr lang="en-US" sz="1300" dirty="0">
                  <a:solidFill>
                    <a:srgbClr val="1E293B"/>
                  </a:solidFill>
                  <a:latin typeface="Calibri"/>
                  <a:ea typeface="Calibri"/>
                  <a:cs typeface="Calibri"/>
                  <a:sym typeface="Wingdings" panose="05000000000000000000" pitchFamily="2" charset="2"/>
                </a:rPr>
                <a:t> </a:t>
              </a:r>
              <a:r>
                <a:rPr lang="en-US" sz="1300" dirty="0">
                  <a:solidFill>
                    <a:srgbClr val="1E293B"/>
                  </a:solidFill>
                  <a:latin typeface="Calibri"/>
                  <a:ea typeface="Calibri"/>
                  <a:cs typeface="Calibri"/>
                  <a:sym typeface="Calibri"/>
                </a:rPr>
                <a:t>Portfolio value ≈ 1.129→ 12.9% return</a:t>
              </a:r>
              <a:endParaRPr sz="1300" b="0" i="0" u="none" strike="noStrike" cap="none" dirty="0">
                <a:solidFill>
                  <a:srgbClr val="1E293B"/>
                </a:solidFill>
                <a:latin typeface="Calibri"/>
                <a:ea typeface="Calibri"/>
                <a:cs typeface="Calibri"/>
                <a:sym typeface="Calibri"/>
              </a:endParaRPr>
            </a:p>
            <a:p>
              <a:pPr marL="457200" marR="0" lvl="0" indent="-311150" algn="l" rtl="0">
                <a:lnSpc>
                  <a:spcPct val="100000"/>
                </a:lnSpc>
                <a:spcBef>
                  <a:spcPts val="1000"/>
                </a:spcBef>
                <a:spcAft>
                  <a:spcPts val="0"/>
                </a:spcAft>
                <a:buClr>
                  <a:srgbClr val="1E293B"/>
                </a:buClr>
                <a:buSzPts val="1300"/>
                <a:buFont typeface="Calibri"/>
                <a:buChar char="●"/>
              </a:pPr>
              <a:r>
                <a:rPr lang="en-US" sz="1300" b="0" i="0" u="none" strike="noStrike" cap="none" dirty="0">
                  <a:solidFill>
                    <a:srgbClr val="1E293B"/>
                  </a:solidFill>
                  <a:highlight>
                    <a:srgbClr val="FFFF00"/>
                  </a:highlight>
                  <a:latin typeface="Calibri"/>
                  <a:ea typeface="Calibri"/>
                  <a:cs typeface="Calibri"/>
                  <a:sym typeface="Calibri"/>
                </a:rPr>
                <a:t>3 factor model (ridge) → Portfolio value ≈ 1.138 → 13.8% return</a:t>
              </a:r>
              <a:endParaRPr sz="1300" b="0" i="0" u="none" strike="noStrike" cap="none" dirty="0">
                <a:solidFill>
                  <a:srgbClr val="1E293B"/>
                </a:solidFill>
                <a:highlight>
                  <a:srgbClr val="FFFF00"/>
                </a:highlight>
                <a:latin typeface="Calibri"/>
                <a:ea typeface="Calibri"/>
                <a:cs typeface="Calibri"/>
                <a:sym typeface="Calibri"/>
              </a:endParaRPr>
            </a:p>
            <a:p>
              <a:pPr marL="457200" marR="0" lvl="0" indent="-311150" algn="l" rtl="0">
                <a:lnSpc>
                  <a:spcPct val="100000"/>
                </a:lnSpc>
                <a:spcBef>
                  <a:spcPts val="1000"/>
                </a:spcBef>
                <a:spcAft>
                  <a:spcPts val="0"/>
                </a:spcAft>
                <a:buClr>
                  <a:srgbClr val="1E293B"/>
                </a:buClr>
                <a:buSzPts val="1300"/>
                <a:buFont typeface="Calibri"/>
                <a:buChar char="●"/>
              </a:pPr>
              <a:r>
                <a:rPr lang="en-US" sz="1300" b="0" i="0" u="none" strike="noStrike" cap="none" dirty="0">
                  <a:solidFill>
                    <a:srgbClr val="1E293B"/>
                  </a:solidFill>
                  <a:latin typeface="Calibri"/>
                  <a:ea typeface="Calibri"/>
                  <a:cs typeface="Calibri"/>
                  <a:sym typeface="Calibri"/>
                </a:rPr>
                <a:t>Buy &amp; Hold strategy → Portfolio value ≈ 1.09 → 9.0% return</a:t>
              </a:r>
              <a:endParaRPr sz="1300" b="0" i="0" u="none" strike="noStrike" cap="none" dirty="0">
                <a:solidFill>
                  <a:srgbClr val="1E293B"/>
                </a:solidFill>
                <a:latin typeface="Calibri"/>
                <a:ea typeface="Calibri"/>
                <a:cs typeface="Calibri"/>
                <a:sym typeface="Calibri"/>
              </a:endParaRPr>
            </a:p>
            <a:p>
              <a:pPr marL="0" marR="0" lvl="0" indent="0" algn="l" rtl="0">
                <a:lnSpc>
                  <a:spcPct val="100000"/>
                </a:lnSpc>
                <a:spcBef>
                  <a:spcPts val="1000"/>
                </a:spcBef>
                <a:spcAft>
                  <a:spcPts val="1000"/>
                </a:spcAft>
                <a:buClr>
                  <a:srgbClr val="000000"/>
                </a:buClr>
                <a:buSzPts val="1300"/>
                <a:buFont typeface="Arial"/>
                <a:buNone/>
              </a:pPr>
              <a:endParaRPr sz="1300" b="0" i="0" u="none" strike="noStrike" cap="none" dirty="0">
                <a:solidFill>
                  <a:srgbClr val="1E293B"/>
                </a:solidFill>
                <a:latin typeface="Calibri"/>
                <a:ea typeface="Calibri"/>
                <a:cs typeface="Calibri"/>
                <a:sym typeface="Calibri"/>
              </a:endParaRPr>
            </a:p>
          </p:txBody>
        </p:sp>
      </p:grpSp>
      <p:sp>
        <p:nvSpPr>
          <p:cNvPr id="238" name="Google Shape;238;g3d86e330eee_36_74"/>
          <p:cNvSpPr/>
          <p:nvPr/>
        </p:nvSpPr>
        <p:spPr>
          <a:xfrm>
            <a:off x="457200" y="1133934"/>
            <a:ext cx="8229600" cy="27300"/>
          </a:xfrm>
          <a:prstGeom prst="rect">
            <a:avLst/>
          </a:prstGeom>
          <a:solidFill>
            <a:srgbClr val="2B6CB0"/>
          </a:solidFill>
          <a:ln w="9525" cap="flat" cmpd="sng">
            <a:solidFill>
              <a:srgbClr val="2B6CB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7" name="Picture 6" descr="The image displays a table with dates and corresponding values for cumulative returns of Vix, Vix Full, Vix Ridge Robust, and Buy-Hold strategies.&#10;&#10;AI-generated content may be incorrect.">
            <a:extLst>
              <a:ext uri="{FF2B5EF4-FFF2-40B4-BE49-F238E27FC236}">
                <a16:creationId xmlns:a16="http://schemas.microsoft.com/office/drawing/2014/main" id="{99292005-9860-C053-93FE-044FF50AD97E}"/>
              </a:ext>
            </a:extLst>
          </p:cNvPr>
          <p:cNvPicPr>
            <a:picLocks noChangeAspect="1"/>
          </p:cNvPicPr>
          <p:nvPr/>
        </p:nvPicPr>
        <p:blipFill>
          <a:blip r:embed="rId3"/>
          <a:stretch>
            <a:fillRect/>
          </a:stretch>
        </p:blipFill>
        <p:spPr>
          <a:xfrm>
            <a:off x="222589" y="1828758"/>
            <a:ext cx="4476361" cy="2811821"/>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71"/>
        <p:cNvGrpSpPr/>
        <p:nvPr/>
      </p:nvGrpSpPr>
      <p:grpSpPr>
        <a:xfrm>
          <a:off x="0" y="0"/>
          <a:ext cx="0" cy="0"/>
          <a:chOff x="0" y="0"/>
          <a:chExt cx="0" cy="0"/>
        </a:xfrm>
      </p:grpSpPr>
      <p:sp>
        <p:nvSpPr>
          <p:cNvPr id="572" name="Google Shape;572;p15"/>
          <p:cNvSpPr/>
          <p:nvPr/>
        </p:nvSpPr>
        <p:spPr>
          <a:xfrm>
            <a:off x="457200" y="146304"/>
            <a:ext cx="2194560" cy="274320"/>
          </a:xfrm>
          <a:prstGeom prst="rect">
            <a:avLst/>
          </a:prstGeom>
          <a:solidFill>
            <a:srgbClr val="2B6CB0"/>
          </a:solidFill>
          <a:ln w="9525" cap="flat" cmpd="sng">
            <a:solidFill>
              <a:srgbClr val="2B6CB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73" name="Google Shape;573;p15"/>
          <p:cNvSpPr/>
          <p:nvPr/>
        </p:nvSpPr>
        <p:spPr>
          <a:xfrm>
            <a:off x="457200" y="146304"/>
            <a:ext cx="2194560" cy="27432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FFFFFF"/>
              </a:buClr>
              <a:buSzPts val="850"/>
              <a:buFont typeface="Calibri"/>
              <a:buNone/>
            </a:pPr>
            <a:r>
              <a:rPr lang="en-US" sz="1050" b="1" i="0" u="none" strike="noStrike" cap="none">
                <a:solidFill>
                  <a:srgbClr val="FFFFFF"/>
                </a:solidFill>
                <a:latin typeface="Calibri"/>
                <a:ea typeface="Calibri"/>
                <a:cs typeface="Calibri"/>
                <a:sym typeface="Calibri"/>
              </a:rPr>
              <a:t>MODEL COMPARISON</a:t>
            </a:r>
            <a:endParaRPr sz="1050" b="0" i="0" u="none" strike="noStrike" cap="none">
              <a:solidFill>
                <a:schemeClr val="dk1"/>
              </a:solidFill>
              <a:latin typeface="Calibri"/>
              <a:ea typeface="Calibri"/>
              <a:cs typeface="Calibri"/>
              <a:sym typeface="Calibri"/>
            </a:endParaRPr>
          </a:p>
        </p:txBody>
      </p:sp>
      <p:sp>
        <p:nvSpPr>
          <p:cNvPr id="574" name="Google Shape;574;p15"/>
          <p:cNvSpPr/>
          <p:nvPr/>
        </p:nvSpPr>
        <p:spPr>
          <a:xfrm>
            <a:off x="457200" y="502920"/>
            <a:ext cx="8229600" cy="658368"/>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C1A35"/>
              </a:buClr>
              <a:buSzPts val="3000"/>
              <a:buFont typeface="Georgia"/>
              <a:buNone/>
            </a:pPr>
            <a:r>
              <a:rPr lang="en-US" sz="3000" b="1" i="0" u="none" strike="noStrike" cap="none" dirty="0">
                <a:solidFill>
                  <a:srgbClr val="0C1A35"/>
                </a:solidFill>
                <a:latin typeface="Georgia"/>
                <a:ea typeface="Georgia"/>
                <a:cs typeface="Georgia"/>
                <a:sym typeface="Georgia"/>
              </a:rPr>
              <a:t>Overview of the Three Models</a:t>
            </a:r>
            <a:endParaRPr sz="3000" b="0" i="0" u="none" strike="noStrike" cap="none" dirty="0">
              <a:solidFill>
                <a:schemeClr val="dk1"/>
              </a:solidFill>
              <a:latin typeface="Calibri"/>
              <a:ea typeface="Calibri"/>
              <a:cs typeface="Calibri"/>
              <a:sym typeface="Calibri"/>
            </a:endParaRPr>
          </a:p>
        </p:txBody>
      </p:sp>
      <p:sp>
        <p:nvSpPr>
          <p:cNvPr id="575" name="Google Shape;575;p15"/>
          <p:cNvSpPr/>
          <p:nvPr/>
        </p:nvSpPr>
        <p:spPr>
          <a:xfrm>
            <a:off x="457200" y="1207008"/>
            <a:ext cx="8229600" cy="27432"/>
          </a:xfrm>
          <a:prstGeom prst="rect">
            <a:avLst/>
          </a:prstGeom>
          <a:solidFill>
            <a:srgbClr val="2B6CB0"/>
          </a:solidFill>
          <a:ln w="9525" cap="flat" cmpd="sng">
            <a:solidFill>
              <a:srgbClr val="2B6CB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76" name="Google Shape;576;p15"/>
          <p:cNvSpPr/>
          <p:nvPr/>
        </p:nvSpPr>
        <p:spPr>
          <a:xfrm>
            <a:off x="1377896" y="1353300"/>
            <a:ext cx="2349900" cy="567000"/>
          </a:xfrm>
          <a:prstGeom prst="rect">
            <a:avLst/>
          </a:prstGeom>
          <a:solidFill>
            <a:srgbClr val="1A3F7A"/>
          </a:solidFill>
          <a:ln w="9525" cap="flat" cmpd="sng">
            <a:solidFill>
              <a:srgbClr val="1A3F7A"/>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77" name="Google Shape;577;p15"/>
          <p:cNvSpPr/>
          <p:nvPr/>
        </p:nvSpPr>
        <p:spPr>
          <a:xfrm>
            <a:off x="1377896" y="1371589"/>
            <a:ext cx="2349900" cy="5304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FFFFFF"/>
              </a:buClr>
              <a:buSzPts val="1200"/>
              <a:buFont typeface="Calibri"/>
              <a:buNone/>
            </a:pPr>
            <a:r>
              <a:rPr lang="en-US" sz="1200" b="1" i="0" u="none" strike="noStrike" cap="none">
                <a:solidFill>
                  <a:srgbClr val="FFFFFF"/>
                </a:solidFill>
                <a:latin typeface="Calibri"/>
                <a:ea typeface="Calibri"/>
                <a:cs typeface="Calibri"/>
                <a:sym typeface="Calibri"/>
              </a:rPr>
              <a:t>Model 1</a:t>
            </a:r>
            <a:endParaRPr sz="1200" b="0" i="0" u="none" strike="noStrike" cap="none">
              <a:solidFill>
                <a:schemeClr val="dk1"/>
              </a:solidFill>
              <a:latin typeface="Calibri"/>
              <a:ea typeface="Calibri"/>
              <a:cs typeface="Calibri"/>
              <a:sym typeface="Calibri"/>
            </a:endParaRPr>
          </a:p>
          <a:p>
            <a:pPr marL="0" marR="0" lvl="0" indent="0" algn="ctr" rtl="0">
              <a:lnSpc>
                <a:spcPct val="100000"/>
              </a:lnSpc>
              <a:spcBef>
                <a:spcPts val="0"/>
              </a:spcBef>
              <a:spcAft>
                <a:spcPts val="0"/>
              </a:spcAft>
              <a:buClr>
                <a:srgbClr val="FFFFFF"/>
              </a:buClr>
              <a:buSzPts val="1200"/>
              <a:buFont typeface="Calibri"/>
              <a:buNone/>
            </a:pPr>
            <a:r>
              <a:rPr lang="en-US" sz="1200" b="1" i="0" u="none" strike="noStrike" cap="none">
                <a:solidFill>
                  <a:srgbClr val="FFFFFF"/>
                </a:solidFill>
                <a:latin typeface="Calibri"/>
                <a:ea typeface="Calibri"/>
                <a:cs typeface="Calibri"/>
                <a:sym typeface="Calibri"/>
              </a:rPr>
              <a:t>OLS (1-factor)</a:t>
            </a:r>
            <a:endParaRPr sz="1200" b="0" i="0" u="none" strike="noStrike" cap="none">
              <a:solidFill>
                <a:schemeClr val="dk1"/>
              </a:solidFill>
              <a:latin typeface="Calibri"/>
              <a:ea typeface="Calibri"/>
              <a:cs typeface="Calibri"/>
              <a:sym typeface="Calibri"/>
            </a:endParaRPr>
          </a:p>
        </p:txBody>
      </p:sp>
      <p:sp>
        <p:nvSpPr>
          <p:cNvPr id="580" name="Google Shape;580;p15"/>
          <p:cNvSpPr/>
          <p:nvPr/>
        </p:nvSpPr>
        <p:spPr>
          <a:xfrm>
            <a:off x="3955892" y="1353300"/>
            <a:ext cx="2349900" cy="567000"/>
          </a:xfrm>
          <a:prstGeom prst="rect">
            <a:avLst/>
          </a:prstGeom>
          <a:solidFill>
            <a:srgbClr val="0F766E"/>
          </a:solidFill>
          <a:ln w="9525" cap="flat" cmpd="sng">
            <a:solidFill>
              <a:srgbClr val="0F766E"/>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81" name="Google Shape;581;p15"/>
          <p:cNvSpPr/>
          <p:nvPr/>
        </p:nvSpPr>
        <p:spPr>
          <a:xfrm>
            <a:off x="3955892" y="1371589"/>
            <a:ext cx="2349900" cy="5304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FFFFFF"/>
              </a:buClr>
              <a:buSzPts val="1200"/>
              <a:buFont typeface="Calibri"/>
              <a:buNone/>
            </a:pPr>
            <a:r>
              <a:rPr lang="en-US" sz="1200" b="1" i="0" u="none" strike="noStrike" cap="none" dirty="0">
                <a:solidFill>
                  <a:srgbClr val="FFFFFF"/>
                </a:solidFill>
                <a:latin typeface="Calibri"/>
                <a:ea typeface="Calibri"/>
                <a:cs typeface="Calibri"/>
                <a:sym typeface="Calibri"/>
              </a:rPr>
              <a:t>Model 2</a:t>
            </a:r>
            <a:endParaRPr sz="1200" b="0" i="0" u="none" strike="noStrike" cap="none" dirty="0">
              <a:solidFill>
                <a:schemeClr val="dk1"/>
              </a:solidFill>
              <a:latin typeface="Calibri"/>
              <a:ea typeface="Calibri"/>
              <a:cs typeface="Calibri"/>
              <a:sym typeface="Calibri"/>
            </a:endParaRPr>
          </a:p>
          <a:p>
            <a:pPr marL="0" marR="0" lvl="0" indent="0" algn="ctr" rtl="0">
              <a:lnSpc>
                <a:spcPct val="100000"/>
              </a:lnSpc>
              <a:spcBef>
                <a:spcPts val="0"/>
              </a:spcBef>
              <a:spcAft>
                <a:spcPts val="0"/>
              </a:spcAft>
              <a:buClr>
                <a:srgbClr val="FFFFFF"/>
              </a:buClr>
              <a:buSzPts val="1200"/>
              <a:buFont typeface="Calibri"/>
              <a:buNone/>
            </a:pPr>
            <a:r>
              <a:rPr lang="en-US" sz="1200" b="1" i="0" u="none" strike="noStrike" cap="none" dirty="0">
                <a:solidFill>
                  <a:srgbClr val="FFFFFF"/>
                </a:solidFill>
                <a:latin typeface="Calibri"/>
                <a:ea typeface="Calibri"/>
                <a:cs typeface="Calibri"/>
                <a:sym typeface="Calibri"/>
              </a:rPr>
              <a:t>OLS (3-factor </a:t>
            </a:r>
            <a:r>
              <a:rPr lang="en-US" sz="1200" b="1" dirty="0">
                <a:solidFill>
                  <a:srgbClr val="FFFFFF"/>
                </a:solidFill>
                <a:latin typeface="Calibri"/>
                <a:ea typeface="Calibri"/>
                <a:cs typeface="Calibri"/>
                <a:sym typeface="Calibri"/>
              </a:rPr>
              <a:t>No Ri</a:t>
            </a:r>
            <a:r>
              <a:rPr lang="en-US" sz="1200" b="1" i="0" u="none" strike="noStrike" cap="none" dirty="0">
                <a:solidFill>
                  <a:srgbClr val="FFFFFF"/>
                </a:solidFill>
                <a:latin typeface="Calibri"/>
                <a:ea typeface="Calibri"/>
                <a:cs typeface="Calibri"/>
                <a:sym typeface="Calibri"/>
              </a:rPr>
              <a:t>dge)</a:t>
            </a:r>
            <a:endParaRPr sz="1200" b="0" i="0" u="none" strike="noStrike" cap="none" dirty="0">
              <a:solidFill>
                <a:schemeClr val="dk1"/>
              </a:solidFill>
              <a:latin typeface="Calibri"/>
              <a:ea typeface="Calibri"/>
              <a:cs typeface="Calibri"/>
              <a:sym typeface="Calibri"/>
            </a:endParaRPr>
          </a:p>
        </p:txBody>
      </p:sp>
      <p:sp>
        <p:nvSpPr>
          <p:cNvPr id="582" name="Google Shape;582;p15"/>
          <p:cNvSpPr/>
          <p:nvPr/>
        </p:nvSpPr>
        <p:spPr>
          <a:xfrm>
            <a:off x="430450" y="2029975"/>
            <a:ext cx="808500" cy="320100"/>
          </a:xfrm>
          <a:prstGeom prst="rect">
            <a:avLst/>
          </a:prstGeom>
          <a:solidFill>
            <a:srgbClr val="F7F9FC"/>
          </a:solidFill>
          <a:ln w="9525" cap="flat" cmpd="sng">
            <a:solidFill>
              <a:srgbClr val="CBD5E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83" name="Google Shape;583;p15"/>
          <p:cNvSpPr/>
          <p:nvPr/>
        </p:nvSpPr>
        <p:spPr>
          <a:xfrm>
            <a:off x="447286" y="2029975"/>
            <a:ext cx="774900" cy="3201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C1A35"/>
              </a:buClr>
              <a:buSzPts val="1050"/>
              <a:buFont typeface="Calibri"/>
              <a:buNone/>
            </a:pPr>
            <a:r>
              <a:rPr lang="en-US" sz="1050" b="1" i="0" u="none" strike="noStrike" cap="none">
                <a:solidFill>
                  <a:srgbClr val="0C1A35"/>
                </a:solidFill>
                <a:latin typeface="Calibri"/>
                <a:ea typeface="Calibri"/>
                <a:cs typeface="Calibri"/>
                <a:sym typeface="Calibri"/>
              </a:rPr>
              <a:t>Approach</a:t>
            </a:r>
            <a:endParaRPr sz="1050" b="0" i="0" u="none" strike="noStrike" cap="none">
              <a:solidFill>
                <a:schemeClr val="dk1"/>
              </a:solidFill>
              <a:latin typeface="Calibri"/>
              <a:ea typeface="Calibri"/>
              <a:cs typeface="Calibri"/>
              <a:sym typeface="Calibri"/>
            </a:endParaRPr>
          </a:p>
        </p:txBody>
      </p:sp>
      <p:sp>
        <p:nvSpPr>
          <p:cNvPr id="584" name="Google Shape;584;p15"/>
          <p:cNvSpPr/>
          <p:nvPr/>
        </p:nvSpPr>
        <p:spPr>
          <a:xfrm>
            <a:off x="1377897" y="2029975"/>
            <a:ext cx="2349900" cy="320100"/>
          </a:xfrm>
          <a:prstGeom prst="rect">
            <a:avLst/>
          </a:prstGeom>
          <a:solidFill>
            <a:srgbClr val="F7F9FC"/>
          </a:solidFill>
          <a:ln w="9525" cap="flat" cmpd="sng">
            <a:solidFill>
              <a:srgbClr val="CBD5E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85" name="Google Shape;585;p15"/>
          <p:cNvSpPr/>
          <p:nvPr/>
        </p:nvSpPr>
        <p:spPr>
          <a:xfrm>
            <a:off x="1426855" y="2029975"/>
            <a:ext cx="2252100" cy="3201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E293B"/>
              </a:buClr>
              <a:buSzPts val="1050"/>
              <a:buFont typeface="Calibri"/>
              <a:buNone/>
            </a:pPr>
            <a:r>
              <a:rPr lang="en-US" sz="1050" b="0" i="0" u="none" strike="noStrike" cap="none">
                <a:solidFill>
                  <a:srgbClr val="1E293B"/>
                </a:solidFill>
                <a:latin typeface="Calibri"/>
                <a:ea typeface="Calibri"/>
                <a:cs typeface="Calibri"/>
                <a:sym typeface="Calibri"/>
              </a:rPr>
              <a:t>Regression</a:t>
            </a:r>
            <a:endParaRPr sz="1050" b="0" i="0" u="none" strike="noStrike" cap="none">
              <a:solidFill>
                <a:schemeClr val="dk1"/>
              </a:solidFill>
              <a:latin typeface="Calibri"/>
              <a:ea typeface="Calibri"/>
              <a:cs typeface="Calibri"/>
              <a:sym typeface="Calibri"/>
            </a:endParaRPr>
          </a:p>
        </p:txBody>
      </p:sp>
      <p:sp>
        <p:nvSpPr>
          <p:cNvPr id="588" name="Google Shape;588;p15"/>
          <p:cNvSpPr/>
          <p:nvPr/>
        </p:nvSpPr>
        <p:spPr>
          <a:xfrm>
            <a:off x="3955909" y="2029975"/>
            <a:ext cx="2349900" cy="320100"/>
          </a:xfrm>
          <a:prstGeom prst="rect">
            <a:avLst/>
          </a:prstGeom>
          <a:solidFill>
            <a:srgbClr val="F7F9FC"/>
          </a:solidFill>
          <a:ln w="9525" cap="flat" cmpd="sng">
            <a:solidFill>
              <a:srgbClr val="CBD5E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89" name="Google Shape;589;p15"/>
          <p:cNvSpPr/>
          <p:nvPr/>
        </p:nvSpPr>
        <p:spPr>
          <a:xfrm>
            <a:off x="4004868" y="2029975"/>
            <a:ext cx="2252100" cy="3201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E293B"/>
              </a:buClr>
              <a:buSzPts val="1050"/>
              <a:buFont typeface="Calibri"/>
              <a:buNone/>
            </a:pPr>
            <a:r>
              <a:rPr lang="en-US" sz="1050" b="0" i="0" u="none" strike="noStrike" cap="none">
                <a:solidFill>
                  <a:srgbClr val="1E293B"/>
                </a:solidFill>
                <a:latin typeface="Calibri"/>
                <a:ea typeface="Calibri"/>
                <a:cs typeface="Calibri"/>
                <a:sym typeface="Calibri"/>
              </a:rPr>
              <a:t>Regression</a:t>
            </a:r>
            <a:endParaRPr sz="1050" b="0" i="0" u="none" strike="noStrike" cap="none">
              <a:solidFill>
                <a:schemeClr val="dk1"/>
              </a:solidFill>
              <a:latin typeface="Calibri"/>
              <a:ea typeface="Calibri"/>
              <a:cs typeface="Calibri"/>
              <a:sym typeface="Calibri"/>
            </a:endParaRPr>
          </a:p>
        </p:txBody>
      </p:sp>
      <p:sp>
        <p:nvSpPr>
          <p:cNvPr id="590" name="Google Shape;590;p15"/>
          <p:cNvSpPr/>
          <p:nvPr/>
        </p:nvSpPr>
        <p:spPr>
          <a:xfrm>
            <a:off x="430450" y="2368300"/>
            <a:ext cx="808500" cy="320100"/>
          </a:xfrm>
          <a:prstGeom prst="rect">
            <a:avLst/>
          </a:prstGeom>
          <a:solidFill>
            <a:srgbClr val="FFFFFF"/>
          </a:solidFill>
          <a:ln w="9525" cap="flat" cmpd="sng">
            <a:solidFill>
              <a:srgbClr val="CBD5E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91" name="Google Shape;591;p15"/>
          <p:cNvSpPr/>
          <p:nvPr/>
        </p:nvSpPr>
        <p:spPr>
          <a:xfrm>
            <a:off x="447286" y="2368300"/>
            <a:ext cx="774900" cy="3201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C1A35"/>
              </a:buClr>
              <a:buSzPts val="1050"/>
              <a:buFont typeface="Calibri"/>
              <a:buNone/>
            </a:pPr>
            <a:r>
              <a:rPr lang="en-US" sz="1050" b="1" i="0" u="none" strike="noStrike" cap="none">
                <a:solidFill>
                  <a:srgbClr val="0C1A35"/>
                </a:solidFill>
                <a:latin typeface="Calibri"/>
                <a:ea typeface="Calibri"/>
                <a:cs typeface="Calibri"/>
                <a:sym typeface="Calibri"/>
              </a:rPr>
              <a:t>Signal</a:t>
            </a:r>
            <a:endParaRPr sz="1050" b="0" i="0" u="none" strike="noStrike" cap="none">
              <a:solidFill>
                <a:schemeClr val="dk1"/>
              </a:solidFill>
              <a:latin typeface="Calibri"/>
              <a:ea typeface="Calibri"/>
              <a:cs typeface="Calibri"/>
              <a:sym typeface="Calibri"/>
            </a:endParaRPr>
          </a:p>
        </p:txBody>
      </p:sp>
      <p:sp>
        <p:nvSpPr>
          <p:cNvPr id="592" name="Google Shape;592;p15"/>
          <p:cNvSpPr/>
          <p:nvPr/>
        </p:nvSpPr>
        <p:spPr>
          <a:xfrm>
            <a:off x="1377897" y="2368304"/>
            <a:ext cx="2349900" cy="320100"/>
          </a:xfrm>
          <a:prstGeom prst="rect">
            <a:avLst/>
          </a:prstGeom>
          <a:solidFill>
            <a:srgbClr val="FFFFFF"/>
          </a:solidFill>
          <a:ln w="9525" cap="flat" cmpd="sng">
            <a:solidFill>
              <a:srgbClr val="CBD5E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93" name="Google Shape;593;p15"/>
          <p:cNvSpPr/>
          <p:nvPr/>
        </p:nvSpPr>
        <p:spPr>
          <a:xfrm>
            <a:off x="1426855" y="2368304"/>
            <a:ext cx="2252100" cy="3201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E293B"/>
              </a:buClr>
              <a:buSzPts val="1050"/>
              <a:buFont typeface="Calibri"/>
              <a:buNone/>
            </a:pPr>
            <a:r>
              <a:rPr lang="en-US" sz="1050" b="0" i="0" u="none" strike="noStrike" cap="none">
                <a:solidFill>
                  <a:srgbClr val="1E293B"/>
                </a:solidFill>
                <a:latin typeface="Calibri"/>
                <a:ea typeface="Calibri"/>
                <a:cs typeface="Calibri"/>
                <a:sym typeface="Calibri"/>
              </a:rPr>
              <a:t>Δ VIX</a:t>
            </a:r>
            <a:endParaRPr sz="1050" b="0" i="0" u="none" strike="noStrike" cap="none">
              <a:solidFill>
                <a:schemeClr val="dk1"/>
              </a:solidFill>
              <a:latin typeface="Calibri"/>
              <a:ea typeface="Calibri"/>
              <a:cs typeface="Calibri"/>
              <a:sym typeface="Calibri"/>
            </a:endParaRPr>
          </a:p>
        </p:txBody>
      </p:sp>
      <p:sp>
        <p:nvSpPr>
          <p:cNvPr id="596" name="Google Shape;596;p15"/>
          <p:cNvSpPr/>
          <p:nvPr/>
        </p:nvSpPr>
        <p:spPr>
          <a:xfrm>
            <a:off x="3955909" y="2368304"/>
            <a:ext cx="2349900" cy="320100"/>
          </a:xfrm>
          <a:prstGeom prst="rect">
            <a:avLst/>
          </a:prstGeom>
          <a:solidFill>
            <a:srgbClr val="FFFFFF"/>
          </a:solidFill>
          <a:ln w="9525" cap="flat" cmpd="sng">
            <a:solidFill>
              <a:srgbClr val="CBD5E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97" name="Google Shape;597;p15"/>
          <p:cNvSpPr/>
          <p:nvPr/>
        </p:nvSpPr>
        <p:spPr>
          <a:xfrm>
            <a:off x="4004868" y="2368304"/>
            <a:ext cx="2252100" cy="3201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E293B"/>
              </a:buClr>
              <a:buSzPts val="1050"/>
              <a:buFont typeface="Calibri"/>
              <a:buNone/>
            </a:pPr>
            <a:r>
              <a:rPr lang="en-US" sz="1050" b="0" i="0" u="none" strike="noStrike" cap="none">
                <a:solidFill>
                  <a:srgbClr val="1E293B"/>
                </a:solidFill>
                <a:latin typeface="Calibri"/>
                <a:ea typeface="Calibri"/>
                <a:cs typeface="Calibri"/>
                <a:sym typeface="Calibri"/>
              </a:rPr>
              <a:t>Δ VIX + Spreads + Oil</a:t>
            </a:r>
            <a:endParaRPr sz="1050" b="0" i="0" u="none" strike="noStrike" cap="none">
              <a:solidFill>
                <a:schemeClr val="dk1"/>
              </a:solidFill>
              <a:latin typeface="Calibri"/>
              <a:ea typeface="Calibri"/>
              <a:cs typeface="Calibri"/>
              <a:sym typeface="Calibri"/>
            </a:endParaRPr>
          </a:p>
        </p:txBody>
      </p:sp>
      <p:sp>
        <p:nvSpPr>
          <p:cNvPr id="598" name="Google Shape;598;p15"/>
          <p:cNvSpPr/>
          <p:nvPr/>
        </p:nvSpPr>
        <p:spPr>
          <a:xfrm>
            <a:off x="430450" y="2706625"/>
            <a:ext cx="808500" cy="320100"/>
          </a:xfrm>
          <a:prstGeom prst="rect">
            <a:avLst/>
          </a:prstGeom>
          <a:solidFill>
            <a:srgbClr val="F7F9FC"/>
          </a:solidFill>
          <a:ln w="9525" cap="flat" cmpd="sng">
            <a:solidFill>
              <a:srgbClr val="CBD5E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99" name="Google Shape;599;p15"/>
          <p:cNvSpPr/>
          <p:nvPr/>
        </p:nvSpPr>
        <p:spPr>
          <a:xfrm>
            <a:off x="447286" y="2706625"/>
            <a:ext cx="774900" cy="3201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C1A35"/>
              </a:buClr>
              <a:buSzPts val="1050"/>
              <a:buFont typeface="Calibri"/>
              <a:buNone/>
            </a:pPr>
            <a:r>
              <a:rPr lang="en-US" sz="1050" b="1" i="0" u="none" strike="noStrike" cap="none">
                <a:solidFill>
                  <a:srgbClr val="0C1A35"/>
                </a:solidFill>
                <a:latin typeface="Calibri"/>
                <a:ea typeface="Calibri"/>
                <a:cs typeface="Calibri"/>
                <a:sym typeface="Calibri"/>
              </a:rPr>
              <a:t>Prediction</a:t>
            </a:r>
            <a:endParaRPr sz="1050" b="0" i="0" u="none" strike="noStrike" cap="none">
              <a:solidFill>
                <a:schemeClr val="dk1"/>
              </a:solidFill>
              <a:latin typeface="Calibri"/>
              <a:ea typeface="Calibri"/>
              <a:cs typeface="Calibri"/>
              <a:sym typeface="Calibri"/>
            </a:endParaRPr>
          </a:p>
        </p:txBody>
      </p:sp>
      <p:sp>
        <p:nvSpPr>
          <p:cNvPr id="600" name="Google Shape;600;p15"/>
          <p:cNvSpPr/>
          <p:nvPr/>
        </p:nvSpPr>
        <p:spPr>
          <a:xfrm>
            <a:off x="1377897" y="2706632"/>
            <a:ext cx="2349900" cy="320100"/>
          </a:xfrm>
          <a:prstGeom prst="rect">
            <a:avLst/>
          </a:prstGeom>
          <a:solidFill>
            <a:srgbClr val="F7F9FC"/>
          </a:solidFill>
          <a:ln w="9525" cap="flat" cmpd="sng">
            <a:solidFill>
              <a:srgbClr val="CBD5E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01" name="Google Shape;601;p15"/>
          <p:cNvSpPr/>
          <p:nvPr/>
        </p:nvSpPr>
        <p:spPr>
          <a:xfrm>
            <a:off x="1426855" y="2706632"/>
            <a:ext cx="2252100" cy="3201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E293B"/>
              </a:buClr>
              <a:buSzPts val="1050"/>
              <a:buFont typeface="Calibri"/>
              <a:buNone/>
            </a:pPr>
            <a:r>
              <a:rPr lang="en-US" sz="1050" b="0" i="0" u="none" strike="noStrike" cap="none">
                <a:solidFill>
                  <a:srgbClr val="1E293B"/>
                </a:solidFill>
                <a:latin typeface="Calibri"/>
                <a:ea typeface="Calibri"/>
                <a:cs typeface="Calibri"/>
                <a:sym typeface="Calibri"/>
              </a:rPr>
              <a:t>Tomorrow's return</a:t>
            </a:r>
            <a:endParaRPr sz="1050" b="0" i="0" u="none" strike="noStrike" cap="none">
              <a:solidFill>
                <a:schemeClr val="dk1"/>
              </a:solidFill>
              <a:latin typeface="Calibri"/>
              <a:ea typeface="Calibri"/>
              <a:cs typeface="Calibri"/>
              <a:sym typeface="Calibri"/>
            </a:endParaRPr>
          </a:p>
        </p:txBody>
      </p:sp>
      <p:sp>
        <p:nvSpPr>
          <p:cNvPr id="604" name="Google Shape;604;p15"/>
          <p:cNvSpPr/>
          <p:nvPr/>
        </p:nvSpPr>
        <p:spPr>
          <a:xfrm>
            <a:off x="3955909" y="2706632"/>
            <a:ext cx="2349900" cy="320100"/>
          </a:xfrm>
          <a:prstGeom prst="rect">
            <a:avLst/>
          </a:prstGeom>
          <a:solidFill>
            <a:srgbClr val="F7F9FC"/>
          </a:solidFill>
          <a:ln w="9525" cap="flat" cmpd="sng">
            <a:solidFill>
              <a:srgbClr val="CBD5E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05" name="Google Shape;605;p15"/>
          <p:cNvSpPr/>
          <p:nvPr/>
        </p:nvSpPr>
        <p:spPr>
          <a:xfrm>
            <a:off x="4004868" y="2706632"/>
            <a:ext cx="2252100" cy="3201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E293B"/>
              </a:buClr>
              <a:buSzPts val="1050"/>
              <a:buFont typeface="Calibri"/>
              <a:buNone/>
            </a:pPr>
            <a:r>
              <a:rPr lang="en-US" sz="1050" b="0" i="0" u="none" strike="noStrike" cap="none">
                <a:solidFill>
                  <a:srgbClr val="1E293B"/>
                </a:solidFill>
                <a:latin typeface="Calibri"/>
                <a:ea typeface="Calibri"/>
                <a:cs typeface="Calibri"/>
                <a:sym typeface="Calibri"/>
              </a:rPr>
              <a:t>Tomorrow's return</a:t>
            </a:r>
            <a:endParaRPr sz="1050" b="0" i="0" u="none" strike="noStrike" cap="none">
              <a:solidFill>
                <a:schemeClr val="dk1"/>
              </a:solidFill>
              <a:latin typeface="Calibri"/>
              <a:ea typeface="Calibri"/>
              <a:cs typeface="Calibri"/>
              <a:sym typeface="Calibri"/>
            </a:endParaRPr>
          </a:p>
        </p:txBody>
      </p:sp>
      <p:sp>
        <p:nvSpPr>
          <p:cNvPr id="614" name="Google Shape;614;p15"/>
          <p:cNvSpPr/>
          <p:nvPr/>
        </p:nvSpPr>
        <p:spPr>
          <a:xfrm>
            <a:off x="430433" y="3044950"/>
            <a:ext cx="808500" cy="320100"/>
          </a:xfrm>
          <a:prstGeom prst="rect">
            <a:avLst/>
          </a:prstGeom>
          <a:solidFill>
            <a:srgbClr val="F7F9FC"/>
          </a:solidFill>
          <a:ln w="9525" cap="flat" cmpd="sng">
            <a:solidFill>
              <a:srgbClr val="CBD5E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15" name="Google Shape;615;p15"/>
          <p:cNvSpPr/>
          <p:nvPr/>
        </p:nvSpPr>
        <p:spPr>
          <a:xfrm>
            <a:off x="447269" y="3044950"/>
            <a:ext cx="774900" cy="3201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C1A35"/>
              </a:buClr>
              <a:buSzPts val="1050"/>
              <a:buFont typeface="Calibri"/>
              <a:buNone/>
            </a:pPr>
            <a:r>
              <a:rPr lang="en-US" sz="1050" b="1" i="0" u="none" strike="noStrike" cap="none" dirty="0">
                <a:solidFill>
                  <a:srgbClr val="0C1A35"/>
                </a:solidFill>
                <a:latin typeface="Calibri"/>
                <a:ea typeface="Calibri"/>
                <a:cs typeface="Calibri"/>
                <a:sym typeface="Calibri"/>
              </a:rPr>
              <a:t>Test R²</a:t>
            </a:r>
            <a:endParaRPr sz="1050" b="0" i="0" u="none" strike="noStrike" cap="none" dirty="0">
              <a:solidFill>
                <a:schemeClr val="dk1"/>
              </a:solidFill>
              <a:latin typeface="Calibri"/>
              <a:ea typeface="Calibri"/>
              <a:cs typeface="Calibri"/>
              <a:sym typeface="Calibri"/>
            </a:endParaRPr>
          </a:p>
        </p:txBody>
      </p:sp>
      <p:sp>
        <p:nvSpPr>
          <p:cNvPr id="616" name="Google Shape;616;p15"/>
          <p:cNvSpPr/>
          <p:nvPr/>
        </p:nvSpPr>
        <p:spPr>
          <a:xfrm>
            <a:off x="1377880" y="3044964"/>
            <a:ext cx="2349900" cy="320100"/>
          </a:xfrm>
          <a:prstGeom prst="rect">
            <a:avLst/>
          </a:prstGeom>
          <a:solidFill>
            <a:srgbClr val="F7F9FC"/>
          </a:solidFill>
          <a:ln w="9525" cap="flat" cmpd="sng">
            <a:solidFill>
              <a:srgbClr val="CBD5E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17" name="Google Shape;617;p15"/>
          <p:cNvSpPr/>
          <p:nvPr/>
        </p:nvSpPr>
        <p:spPr>
          <a:xfrm>
            <a:off x="1426838" y="3044964"/>
            <a:ext cx="2252100" cy="3201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E293B"/>
              </a:buClr>
              <a:buSzPts val="1050"/>
              <a:buFont typeface="Calibri"/>
              <a:buNone/>
            </a:pPr>
            <a:r>
              <a:rPr lang="en-US" sz="1050" b="0" i="0" u="none" strike="noStrike" cap="none" dirty="0">
                <a:solidFill>
                  <a:srgbClr val="1E293B"/>
                </a:solidFill>
                <a:latin typeface="Calibri"/>
                <a:ea typeface="Calibri"/>
                <a:cs typeface="Calibri"/>
                <a:sym typeface="Calibri"/>
              </a:rPr>
              <a:t>-1.01%</a:t>
            </a:r>
            <a:endParaRPr sz="1050" b="0" i="0" u="none" strike="noStrike" cap="none" dirty="0">
              <a:solidFill>
                <a:schemeClr val="dk1"/>
              </a:solidFill>
              <a:latin typeface="Calibri"/>
              <a:ea typeface="Calibri"/>
              <a:cs typeface="Calibri"/>
              <a:sym typeface="Calibri"/>
            </a:endParaRPr>
          </a:p>
        </p:txBody>
      </p:sp>
      <p:sp>
        <p:nvSpPr>
          <p:cNvPr id="620" name="Google Shape;620;p15"/>
          <p:cNvSpPr/>
          <p:nvPr/>
        </p:nvSpPr>
        <p:spPr>
          <a:xfrm>
            <a:off x="3955892" y="3044964"/>
            <a:ext cx="2349900" cy="320100"/>
          </a:xfrm>
          <a:prstGeom prst="rect">
            <a:avLst/>
          </a:prstGeom>
          <a:solidFill>
            <a:srgbClr val="F7F9FC"/>
          </a:solidFill>
          <a:ln w="9525" cap="flat" cmpd="sng">
            <a:solidFill>
              <a:srgbClr val="CBD5E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21" name="Google Shape;621;p15"/>
          <p:cNvSpPr/>
          <p:nvPr/>
        </p:nvSpPr>
        <p:spPr>
          <a:xfrm>
            <a:off x="4004851" y="3044964"/>
            <a:ext cx="2252100" cy="3201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E293B"/>
              </a:buClr>
              <a:buSzPts val="1050"/>
              <a:buFont typeface="Calibri"/>
              <a:buNone/>
            </a:pPr>
            <a:r>
              <a:rPr lang="en-US" sz="1050" b="0" i="0" u="none" strike="noStrike" cap="none" dirty="0">
                <a:solidFill>
                  <a:srgbClr val="1E293B"/>
                </a:solidFill>
                <a:latin typeface="Calibri"/>
                <a:ea typeface="Calibri"/>
                <a:cs typeface="Calibri"/>
                <a:sym typeface="Calibri"/>
              </a:rPr>
              <a:t>-1.62%</a:t>
            </a:r>
            <a:endParaRPr sz="1050" b="0" i="0" u="none" strike="noStrike" cap="none" dirty="0">
              <a:solidFill>
                <a:schemeClr val="dk1"/>
              </a:solidFill>
              <a:latin typeface="Calibri"/>
              <a:ea typeface="Calibri"/>
              <a:cs typeface="Calibri"/>
              <a:sym typeface="Calibri"/>
            </a:endParaRPr>
          </a:p>
        </p:txBody>
      </p:sp>
      <p:sp>
        <p:nvSpPr>
          <p:cNvPr id="622" name="Google Shape;622;p15"/>
          <p:cNvSpPr/>
          <p:nvPr/>
        </p:nvSpPr>
        <p:spPr>
          <a:xfrm>
            <a:off x="430433" y="3383275"/>
            <a:ext cx="808500" cy="320100"/>
          </a:xfrm>
          <a:prstGeom prst="rect">
            <a:avLst/>
          </a:prstGeom>
          <a:solidFill>
            <a:srgbClr val="FFFFFF"/>
          </a:solidFill>
          <a:ln w="9525" cap="flat" cmpd="sng">
            <a:solidFill>
              <a:srgbClr val="CBD5E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23" name="Google Shape;623;p15"/>
          <p:cNvSpPr/>
          <p:nvPr/>
        </p:nvSpPr>
        <p:spPr>
          <a:xfrm>
            <a:off x="447269" y="3383275"/>
            <a:ext cx="774900" cy="3201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C1A35"/>
              </a:buClr>
              <a:buSzPts val="1050"/>
              <a:buFont typeface="Calibri"/>
              <a:buNone/>
            </a:pPr>
            <a:r>
              <a:rPr lang="en-US" sz="1050" b="1" i="0" u="none" strike="noStrike" cap="none">
                <a:solidFill>
                  <a:srgbClr val="0C1A35"/>
                </a:solidFill>
                <a:latin typeface="Calibri"/>
                <a:ea typeface="Calibri"/>
                <a:cs typeface="Calibri"/>
                <a:sym typeface="Calibri"/>
              </a:rPr>
              <a:t>Sharpe</a:t>
            </a:r>
            <a:endParaRPr sz="1050" b="0" i="0" u="none" strike="noStrike" cap="none">
              <a:solidFill>
                <a:schemeClr val="dk1"/>
              </a:solidFill>
              <a:latin typeface="Calibri"/>
              <a:ea typeface="Calibri"/>
              <a:cs typeface="Calibri"/>
              <a:sym typeface="Calibri"/>
            </a:endParaRPr>
          </a:p>
        </p:txBody>
      </p:sp>
      <p:sp>
        <p:nvSpPr>
          <p:cNvPr id="624" name="Google Shape;624;p15"/>
          <p:cNvSpPr/>
          <p:nvPr/>
        </p:nvSpPr>
        <p:spPr>
          <a:xfrm>
            <a:off x="1377880" y="3383293"/>
            <a:ext cx="2349900" cy="320100"/>
          </a:xfrm>
          <a:prstGeom prst="rect">
            <a:avLst/>
          </a:prstGeom>
          <a:solidFill>
            <a:srgbClr val="FFFFFF"/>
          </a:solidFill>
          <a:ln w="9525" cap="flat" cmpd="sng">
            <a:solidFill>
              <a:srgbClr val="CBD5E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25" name="Google Shape;625;p15"/>
          <p:cNvSpPr/>
          <p:nvPr/>
        </p:nvSpPr>
        <p:spPr>
          <a:xfrm>
            <a:off x="1426838" y="3383293"/>
            <a:ext cx="2252100" cy="3201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E293B"/>
              </a:buClr>
              <a:buSzPts val="1050"/>
              <a:buFont typeface="Calibri"/>
              <a:buNone/>
            </a:pPr>
            <a:r>
              <a:rPr lang="en-US" sz="1050" b="0" i="0" u="none" strike="noStrike" cap="none" dirty="0">
                <a:solidFill>
                  <a:srgbClr val="1E293B"/>
                </a:solidFill>
                <a:latin typeface="Calibri"/>
                <a:ea typeface="Calibri"/>
                <a:cs typeface="Calibri"/>
                <a:sym typeface="Calibri"/>
              </a:rPr>
              <a:t>0.20</a:t>
            </a:r>
            <a:endParaRPr sz="1050" b="0" i="0" u="none" strike="noStrike" cap="none" dirty="0">
              <a:solidFill>
                <a:schemeClr val="dk1"/>
              </a:solidFill>
              <a:latin typeface="Calibri"/>
              <a:ea typeface="Calibri"/>
              <a:cs typeface="Calibri"/>
              <a:sym typeface="Calibri"/>
            </a:endParaRPr>
          </a:p>
        </p:txBody>
      </p:sp>
      <p:sp>
        <p:nvSpPr>
          <p:cNvPr id="628" name="Google Shape;628;p15"/>
          <p:cNvSpPr/>
          <p:nvPr/>
        </p:nvSpPr>
        <p:spPr>
          <a:xfrm>
            <a:off x="3955892" y="3383293"/>
            <a:ext cx="2349900" cy="320100"/>
          </a:xfrm>
          <a:prstGeom prst="rect">
            <a:avLst/>
          </a:prstGeom>
          <a:solidFill>
            <a:srgbClr val="FFFFFF"/>
          </a:solidFill>
          <a:ln w="9525" cap="flat" cmpd="sng">
            <a:solidFill>
              <a:srgbClr val="CBD5E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29" name="Google Shape;629;p15"/>
          <p:cNvSpPr/>
          <p:nvPr/>
        </p:nvSpPr>
        <p:spPr>
          <a:xfrm>
            <a:off x="4004851" y="3383293"/>
            <a:ext cx="2252100" cy="3201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E293B"/>
              </a:buClr>
              <a:buSzPts val="1050"/>
              <a:buFont typeface="Calibri"/>
              <a:buNone/>
            </a:pPr>
            <a:r>
              <a:rPr lang="en-US" sz="1050" b="0" i="0" u="none" strike="noStrike" cap="none" dirty="0">
                <a:solidFill>
                  <a:srgbClr val="1E293B"/>
                </a:solidFill>
                <a:latin typeface="Calibri"/>
                <a:ea typeface="Calibri"/>
                <a:cs typeface="Calibri"/>
                <a:sym typeface="Calibri"/>
              </a:rPr>
              <a:t>0.84</a:t>
            </a:r>
            <a:endParaRPr sz="1050" b="0" i="0" u="none" strike="noStrike" cap="none" dirty="0">
              <a:solidFill>
                <a:schemeClr val="dk1"/>
              </a:solidFill>
              <a:latin typeface="Calibri"/>
              <a:ea typeface="Calibri"/>
              <a:cs typeface="Calibri"/>
              <a:sym typeface="Calibri"/>
            </a:endParaRPr>
          </a:p>
        </p:txBody>
      </p:sp>
      <p:sp>
        <p:nvSpPr>
          <p:cNvPr id="630" name="Google Shape;630;p15"/>
          <p:cNvSpPr/>
          <p:nvPr/>
        </p:nvSpPr>
        <p:spPr>
          <a:xfrm>
            <a:off x="430433" y="4040985"/>
            <a:ext cx="808500" cy="320100"/>
          </a:xfrm>
          <a:prstGeom prst="rect">
            <a:avLst/>
          </a:prstGeom>
          <a:solidFill>
            <a:srgbClr val="F7F9FC"/>
          </a:solidFill>
          <a:ln w="9525" cap="flat" cmpd="sng">
            <a:solidFill>
              <a:srgbClr val="CBD5E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31" name="Google Shape;631;p15"/>
          <p:cNvSpPr/>
          <p:nvPr/>
        </p:nvSpPr>
        <p:spPr>
          <a:xfrm>
            <a:off x="447269" y="4040985"/>
            <a:ext cx="774900" cy="3201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C1A35"/>
              </a:buClr>
              <a:buSzPts val="1050"/>
              <a:buFont typeface="Calibri"/>
              <a:buNone/>
            </a:pPr>
            <a:r>
              <a:rPr lang="en-US" sz="1050" b="1" i="0" u="none" strike="noStrike" cap="none" dirty="0">
                <a:solidFill>
                  <a:srgbClr val="0C1A35"/>
                </a:solidFill>
                <a:latin typeface="Calibri"/>
                <a:ea typeface="Calibri"/>
                <a:cs typeface="Calibri"/>
                <a:sym typeface="Calibri"/>
              </a:rPr>
              <a:t>Best Feature</a:t>
            </a:r>
            <a:endParaRPr sz="1050" b="0" i="0" u="none" strike="noStrike" cap="none" dirty="0">
              <a:solidFill>
                <a:schemeClr val="dk1"/>
              </a:solidFill>
              <a:latin typeface="Calibri"/>
              <a:ea typeface="Calibri"/>
              <a:cs typeface="Calibri"/>
              <a:sym typeface="Calibri"/>
            </a:endParaRPr>
          </a:p>
        </p:txBody>
      </p:sp>
      <p:sp>
        <p:nvSpPr>
          <p:cNvPr id="632" name="Google Shape;632;p15"/>
          <p:cNvSpPr/>
          <p:nvPr/>
        </p:nvSpPr>
        <p:spPr>
          <a:xfrm>
            <a:off x="1377880" y="4041006"/>
            <a:ext cx="2349900" cy="320100"/>
          </a:xfrm>
          <a:prstGeom prst="rect">
            <a:avLst/>
          </a:prstGeom>
          <a:solidFill>
            <a:srgbClr val="F7F9FC"/>
          </a:solidFill>
          <a:ln w="9525" cap="flat" cmpd="sng">
            <a:solidFill>
              <a:srgbClr val="CBD5E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33" name="Google Shape;633;p15"/>
          <p:cNvSpPr/>
          <p:nvPr/>
        </p:nvSpPr>
        <p:spPr>
          <a:xfrm>
            <a:off x="1426838" y="4041006"/>
            <a:ext cx="2252100" cy="3201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E293B"/>
              </a:buClr>
              <a:buSzPts val="1050"/>
              <a:buFont typeface="Calibri"/>
              <a:buNone/>
            </a:pPr>
            <a:r>
              <a:rPr lang="en-US" sz="1050" b="0" i="0" u="none" strike="noStrike" cap="none">
                <a:solidFill>
                  <a:srgbClr val="1E293B"/>
                </a:solidFill>
                <a:latin typeface="Calibri"/>
                <a:ea typeface="Calibri"/>
                <a:cs typeface="Calibri"/>
                <a:sym typeface="Calibri"/>
              </a:rPr>
              <a:t>Stat. significance</a:t>
            </a:r>
            <a:endParaRPr sz="1050" b="0" i="0" u="none" strike="noStrike" cap="none">
              <a:solidFill>
                <a:schemeClr val="dk1"/>
              </a:solidFill>
              <a:latin typeface="Calibri"/>
              <a:ea typeface="Calibri"/>
              <a:cs typeface="Calibri"/>
              <a:sym typeface="Calibri"/>
            </a:endParaRPr>
          </a:p>
        </p:txBody>
      </p:sp>
      <p:sp>
        <p:nvSpPr>
          <p:cNvPr id="636" name="Google Shape;636;p15"/>
          <p:cNvSpPr/>
          <p:nvPr/>
        </p:nvSpPr>
        <p:spPr>
          <a:xfrm>
            <a:off x="3955892" y="4041006"/>
            <a:ext cx="2349900" cy="320100"/>
          </a:xfrm>
          <a:prstGeom prst="rect">
            <a:avLst/>
          </a:prstGeom>
          <a:solidFill>
            <a:srgbClr val="F7F9FC"/>
          </a:solidFill>
          <a:ln w="9525" cap="flat" cmpd="sng">
            <a:solidFill>
              <a:srgbClr val="CBD5E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37" name="Google Shape;637;p15"/>
          <p:cNvSpPr/>
          <p:nvPr/>
        </p:nvSpPr>
        <p:spPr>
          <a:xfrm>
            <a:off x="4004851" y="4041006"/>
            <a:ext cx="2252100" cy="3201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E293B"/>
              </a:buClr>
              <a:buSzPts val="1050"/>
              <a:buFont typeface="Calibri"/>
              <a:buNone/>
            </a:pPr>
            <a:r>
              <a:rPr lang="en-US" sz="1050" b="0" i="0" u="none" strike="noStrike" cap="none" dirty="0">
                <a:solidFill>
                  <a:srgbClr val="1E293B"/>
                </a:solidFill>
                <a:latin typeface="Calibri"/>
                <a:ea typeface="Calibri"/>
                <a:cs typeface="Calibri"/>
                <a:sym typeface="Calibri"/>
              </a:rPr>
              <a:t>Beats buy-and-hold + Model 1</a:t>
            </a:r>
            <a:endParaRPr sz="1050" b="0" i="0" u="none" strike="noStrike" cap="none" dirty="0">
              <a:solidFill>
                <a:schemeClr val="dk1"/>
              </a:solidFill>
              <a:latin typeface="Calibri"/>
              <a:ea typeface="Calibri"/>
              <a:cs typeface="Calibri"/>
              <a:sym typeface="Calibri"/>
            </a:endParaRPr>
          </a:p>
        </p:txBody>
      </p:sp>
      <p:sp>
        <p:nvSpPr>
          <p:cNvPr id="638" name="Google Shape;638;p15"/>
          <p:cNvSpPr/>
          <p:nvPr/>
        </p:nvSpPr>
        <p:spPr>
          <a:xfrm>
            <a:off x="430433" y="4379310"/>
            <a:ext cx="808500" cy="320100"/>
          </a:xfrm>
          <a:prstGeom prst="rect">
            <a:avLst/>
          </a:prstGeom>
          <a:solidFill>
            <a:srgbClr val="FFFFFF"/>
          </a:solidFill>
          <a:ln w="9525" cap="flat" cmpd="sng">
            <a:solidFill>
              <a:srgbClr val="CBD5E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39" name="Google Shape;639;p15"/>
          <p:cNvSpPr/>
          <p:nvPr/>
        </p:nvSpPr>
        <p:spPr>
          <a:xfrm>
            <a:off x="447269" y="4379310"/>
            <a:ext cx="774900" cy="3201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C1A35"/>
              </a:buClr>
              <a:buSzPts val="1050"/>
              <a:buFont typeface="Calibri"/>
              <a:buNone/>
            </a:pPr>
            <a:r>
              <a:rPr lang="en-US" sz="1050" b="1" i="0" u="none" strike="noStrike" cap="none">
                <a:solidFill>
                  <a:srgbClr val="0C1A35"/>
                </a:solidFill>
                <a:latin typeface="Calibri"/>
                <a:ea typeface="Calibri"/>
                <a:cs typeface="Calibri"/>
                <a:sym typeface="Calibri"/>
              </a:rPr>
              <a:t>Limitation</a:t>
            </a:r>
            <a:endParaRPr sz="1050" b="0" i="0" u="none" strike="noStrike" cap="none">
              <a:solidFill>
                <a:schemeClr val="dk1"/>
              </a:solidFill>
              <a:latin typeface="Calibri"/>
              <a:ea typeface="Calibri"/>
              <a:cs typeface="Calibri"/>
              <a:sym typeface="Calibri"/>
            </a:endParaRPr>
          </a:p>
        </p:txBody>
      </p:sp>
      <p:sp>
        <p:nvSpPr>
          <p:cNvPr id="640" name="Google Shape;640;p15"/>
          <p:cNvSpPr/>
          <p:nvPr/>
        </p:nvSpPr>
        <p:spPr>
          <a:xfrm>
            <a:off x="1377880" y="4379335"/>
            <a:ext cx="2349900" cy="320100"/>
          </a:xfrm>
          <a:prstGeom prst="rect">
            <a:avLst/>
          </a:prstGeom>
          <a:solidFill>
            <a:srgbClr val="FFFFFF"/>
          </a:solidFill>
          <a:ln w="9525" cap="flat" cmpd="sng">
            <a:solidFill>
              <a:srgbClr val="CBD5E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41" name="Google Shape;641;p15"/>
          <p:cNvSpPr/>
          <p:nvPr/>
        </p:nvSpPr>
        <p:spPr>
          <a:xfrm>
            <a:off x="1426838" y="4379335"/>
            <a:ext cx="2252100" cy="3201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E293B"/>
              </a:buClr>
              <a:buSzPts val="1050"/>
              <a:buFont typeface="Calibri"/>
              <a:buNone/>
            </a:pPr>
            <a:r>
              <a:rPr lang="en-US" sz="1050" b="0" i="0" u="none" strike="noStrike" cap="none">
                <a:solidFill>
                  <a:srgbClr val="1E293B"/>
                </a:solidFill>
                <a:latin typeface="Calibri"/>
                <a:ea typeface="Calibri"/>
                <a:cs typeface="Calibri"/>
                <a:sym typeface="Calibri"/>
              </a:rPr>
              <a:t>Single factor</a:t>
            </a:r>
            <a:endParaRPr sz="1050" b="0" i="0" u="none" strike="noStrike" cap="none">
              <a:solidFill>
                <a:schemeClr val="dk1"/>
              </a:solidFill>
              <a:latin typeface="Calibri"/>
              <a:ea typeface="Calibri"/>
              <a:cs typeface="Calibri"/>
              <a:sym typeface="Calibri"/>
            </a:endParaRPr>
          </a:p>
        </p:txBody>
      </p:sp>
      <p:sp>
        <p:nvSpPr>
          <p:cNvPr id="644" name="Google Shape;644;p15"/>
          <p:cNvSpPr/>
          <p:nvPr/>
        </p:nvSpPr>
        <p:spPr>
          <a:xfrm>
            <a:off x="3955892" y="4379335"/>
            <a:ext cx="2349900" cy="320100"/>
          </a:xfrm>
          <a:prstGeom prst="rect">
            <a:avLst/>
          </a:prstGeom>
          <a:solidFill>
            <a:srgbClr val="FFFFFF"/>
          </a:solidFill>
          <a:ln w="9525" cap="flat" cmpd="sng">
            <a:solidFill>
              <a:srgbClr val="CBD5E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45" name="Google Shape;645;p15"/>
          <p:cNvSpPr/>
          <p:nvPr/>
        </p:nvSpPr>
        <p:spPr>
          <a:xfrm>
            <a:off x="4004726" y="4379369"/>
            <a:ext cx="2252100" cy="3201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E293B"/>
              </a:buClr>
              <a:buSzPts val="1050"/>
              <a:buFont typeface="Calibri"/>
              <a:buNone/>
            </a:pPr>
            <a:r>
              <a:rPr lang="en-US" sz="1050" b="0" i="0" u="none" strike="noStrike" cap="none">
                <a:solidFill>
                  <a:srgbClr val="1E293B"/>
                </a:solidFill>
                <a:latin typeface="Calibri"/>
                <a:ea typeface="Calibri"/>
                <a:cs typeface="Calibri"/>
                <a:sym typeface="Calibri"/>
              </a:rPr>
              <a:t>Multicollinearity</a:t>
            </a:r>
            <a:endParaRPr sz="1050" b="0" i="0" u="none" strike="noStrike" cap="none">
              <a:solidFill>
                <a:schemeClr val="dk1"/>
              </a:solidFill>
              <a:latin typeface="Calibri"/>
              <a:ea typeface="Calibri"/>
              <a:cs typeface="Calibri"/>
              <a:sym typeface="Calibri"/>
            </a:endParaRPr>
          </a:p>
        </p:txBody>
      </p:sp>
      <p:sp>
        <p:nvSpPr>
          <p:cNvPr id="3" name="Google Shape;630;p15">
            <a:extLst>
              <a:ext uri="{FF2B5EF4-FFF2-40B4-BE49-F238E27FC236}">
                <a16:creationId xmlns:a16="http://schemas.microsoft.com/office/drawing/2014/main" id="{D9336FBD-56AB-0DCC-7042-3E144F6E2E31}"/>
              </a:ext>
            </a:extLst>
          </p:cNvPr>
          <p:cNvSpPr/>
          <p:nvPr/>
        </p:nvSpPr>
        <p:spPr>
          <a:xfrm>
            <a:off x="430433" y="3702660"/>
            <a:ext cx="808500" cy="320100"/>
          </a:xfrm>
          <a:prstGeom prst="rect">
            <a:avLst/>
          </a:prstGeom>
          <a:solidFill>
            <a:srgbClr val="F7F9FC"/>
          </a:solidFill>
          <a:ln w="9525" cap="flat" cmpd="sng">
            <a:solidFill>
              <a:srgbClr val="CBD5E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 name="Google Shape;631;p15">
            <a:extLst>
              <a:ext uri="{FF2B5EF4-FFF2-40B4-BE49-F238E27FC236}">
                <a16:creationId xmlns:a16="http://schemas.microsoft.com/office/drawing/2014/main" id="{D0D2EC64-108E-C2CE-C15D-77BA02592284}"/>
              </a:ext>
            </a:extLst>
          </p:cNvPr>
          <p:cNvSpPr/>
          <p:nvPr/>
        </p:nvSpPr>
        <p:spPr>
          <a:xfrm>
            <a:off x="447269" y="3702660"/>
            <a:ext cx="774900" cy="3201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C1A35"/>
              </a:buClr>
              <a:buSzPts val="1050"/>
              <a:buFont typeface="Calibri"/>
              <a:buNone/>
            </a:pPr>
            <a:r>
              <a:rPr lang="en-US" sz="1050" b="1" i="0" u="none" strike="noStrike" cap="none" dirty="0">
                <a:solidFill>
                  <a:srgbClr val="0C1A35"/>
                </a:solidFill>
                <a:latin typeface="Calibri"/>
                <a:ea typeface="Calibri"/>
                <a:cs typeface="Calibri"/>
                <a:sym typeface="Calibri"/>
              </a:rPr>
              <a:t>Return</a:t>
            </a:r>
            <a:endParaRPr sz="1050" b="0" i="0" u="none" strike="noStrike" cap="none" dirty="0">
              <a:solidFill>
                <a:schemeClr val="dk1"/>
              </a:solidFill>
              <a:latin typeface="Calibri"/>
              <a:ea typeface="Calibri"/>
              <a:cs typeface="Calibri"/>
              <a:sym typeface="Calibri"/>
            </a:endParaRPr>
          </a:p>
        </p:txBody>
      </p:sp>
      <p:sp>
        <p:nvSpPr>
          <p:cNvPr id="7" name="Google Shape;632;p15">
            <a:extLst>
              <a:ext uri="{FF2B5EF4-FFF2-40B4-BE49-F238E27FC236}">
                <a16:creationId xmlns:a16="http://schemas.microsoft.com/office/drawing/2014/main" id="{03257123-AF1A-E834-49A8-B379A9948D0E}"/>
              </a:ext>
            </a:extLst>
          </p:cNvPr>
          <p:cNvSpPr/>
          <p:nvPr/>
        </p:nvSpPr>
        <p:spPr>
          <a:xfrm>
            <a:off x="1377880" y="3702681"/>
            <a:ext cx="2349900" cy="320100"/>
          </a:xfrm>
          <a:prstGeom prst="rect">
            <a:avLst/>
          </a:prstGeom>
          <a:solidFill>
            <a:srgbClr val="F7F9FC"/>
          </a:solidFill>
          <a:ln w="9525" cap="flat" cmpd="sng">
            <a:solidFill>
              <a:srgbClr val="CBD5E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 name="Google Shape;633;p15">
            <a:extLst>
              <a:ext uri="{FF2B5EF4-FFF2-40B4-BE49-F238E27FC236}">
                <a16:creationId xmlns:a16="http://schemas.microsoft.com/office/drawing/2014/main" id="{9ADF21EF-82E6-16B0-DBE1-357195DBE27F}"/>
              </a:ext>
            </a:extLst>
          </p:cNvPr>
          <p:cNvSpPr/>
          <p:nvPr/>
        </p:nvSpPr>
        <p:spPr>
          <a:xfrm>
            <a:off x="1426838" y="3702681"/>
            <a:ext cx="2252100" cy="3201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E293B"/>
              </a:buClr>
              <a:buSzPts val="1050"/>
              <a:buFont typeface="Calibri"/>
              <a:buNone/>
            </a:pPr>
            <a:r>
              <a:rPr lang="en-US" sz="1050" b="0" i="0" u="none" strike="noStrike" cap="none" dirty="0">
                <a:solidFill>
                  <a:srgbClr val="1E293B"/>
                </a:solidFill>
                <a:latin typeface="Calibri"/>
                <a:ea typeface="Calibri"/>
                <a:cs typeface="Calibri"/>
                <a:sym typeface="Calibri"/>
              </a:rPr>
              <a:t>2.7%</a:t>
            </a:r>
            <a:endParaRPr sz="1050" b="0" i="0" u="none" strike="noStrike" cap="none" dirty="0">
              <a:solidFill>
                <a:schemeClr val="dk1"/>
              </a:solidFill>
              <a:latin typeface="Calibri"/>
              <a:ea typeface="Calibri"/>
              <a:cs typeface="Calibri"/>
              <a:sym typeface="Calibri"/>
            </a:endParaRPr>
          </a:p>
        </p:txBody>
      </p:sp>
      <p:sp>
        <p:nvSpPr>
          <p:cNvPr id="11" name="Google Shape;636;p15">
            <a:extLst>
              <a:ext uri="{FF2B5EF4-FFF2-40B4-BE49-F238E27FC236}">
                <a16:creationId xmlns:a16="http://schemas.microsoft.com/office/drawing/2014/main" id="{E6EBDC76-7503-F088-86D7-CDB1E069855A}"/>
              </a:ext>
            </a:extLst>
          </p:cNvPr>
          <p:cNvSpPr/>
          <p:nvPr/>
        </p:nvSpPr>
        <p:spPr>
          <a:xfrm>
            <a:off x="3955892" y="3702681"/>
            <a:ext cx="2349900" cy="320100"/>
          </a:xfrm>
          <a:prstGeom prst="rect">
            <a:avLst/>
          </a:prstGeom>
          <a:solidFill>
            <a:srgbClr val="F7F9FC"/>
          </a:solidFill>
          <a:ln w="9525" cap="flat" cmpd="sng">
            <a:solidFill>
              <a:srgbClr val="CBD5E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 name="Google Shape;637;p15">
            <a:extLst>
              <a:ext uri="{FF2B5EF4-FFF2-40B4-BE49-F238E27FC236}">
                <a16:creationId xmlns:a16="http://schemas.microsoft.com/office/drawing/2014/main" id="{E1DE4A54-3686-0363-E508-EB2305D51EAB}"/>
              </a:ext>
            </a:extLst>
          </p:cNvPr>
          <p:cNvSpPr/>
          <p:nvPr/>
        </p:nvSpPr>
        <p:spPr>
          <a:xfrm>
            <a:off x="4004851" y="3702681"/>
            <a:ext cx="2252100" cy="3201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E293B"/>
              </a:buClr>
              <a:buSzPts val="1050"/>
              <a:buFont typeface="Calibri"/>
              <a:buNone/>
            </a:pPr>
            <a:r>
              <a:rPr lang="en-US" sz="1050" b="0" i="0" u="none" strike="noStrike" cap="none" dirty="0">
                <a:solidFill>
                  <a:srgbClr val="1E293B"/>
                </a:solidFill>
                <a:latin typeface="Calibri"/>
                <a:ea typeface="Calibri"/>
                <a:cs typeface="Calibri"/>
                <a:sym typeface="Calibri"/>
              </a:rPr>
              <a:t>12.9%</a:t>
            </a:r>
            <a:endParaRPr sz="1050" b="0" i="0" u="none" strike="noStrike" cap="none" dirty="0">
              <a:solidFill>
                <a:schemeClr val="dk1"/>
              </a:solidFill>
              <a:latin typeface="Calibri"/>
              <a:ea typeface="Calibri"/>
              <a:cs typeface="Calibri"/>
              <a:sym typeface="Calibri"/>
            </a:endParaRPr>
          </a:p>
        </p:txBody>
      </p:sp>
      <p:sp>
        <p:nvSpPr>
          <p:cNvPr id="15" name="Google Shape;580;p15">
            <a:extLst>
              <a:ext uri="{FF2B5EF4-FFF2-40B4-BE49-F238E27FC236}">
                <a16:creationId xmlns:a16="http://schemas.microsoft.com/office/drawing/2014/main" id="{98FB4E81-6EB1-23DD-51A5-7C512CA3110B}"/>
              </a:ext>
            </a:extLst>
          </p:cNvPr>
          <p:cNvSpPr/>
          <p:nvPr/>
        </p:nvSpPr>
        <p:spPr>
          <a:xfrm>
            <a:off x="6533789" y="1353300"/>
            <a:ext cx="2349900" cy="567000"/>
          </a:xfrm>
          <a:prstGeom prst="rect">
            <a:avLst/>
          </a:prstGeom>
          <a:solidFill>
            <a:schemeClr val="accent2"/>
          </a:solidFill>
          <a:ln w="9525" cap="flat" cmpd="sng">
            <a:solidFill>
              <a:srgbClr val="0F766E"/>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7" name="Google Shape;581;p15">
            <a:extLst>
              <a:ext uri="{FF2B5EF4-FFF2-40B4-BE49-F238E27FC236}">
                <a16:creationId xmlns:a16="http://schemas.microsoft.com/office/drawing/2014/main" id="{41B1E4C5-DC45-6B53-9A0E-31DFE2D5A497}"/>
              </a:ext>
            </a:extLst>
          </p:cNvPr>
          <p:cNvSpPr/>
          <p:nvPr/>
        </p:nvSpPr>
        <p:spPr>
          <a:xfrm>
            <a:off x="6533789" y="1371589"/>
            <a:ext cx="2349900" cy="5304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FFFFFF"/>
              </a:buClr>
              <a:buSzPts val="1200"/>
              <a:buFont typeface="Calibri"/>
              <a:buNone/>
            </a:pPr>
            <a:r>
              <a:rPr lang="en-US" sz="1200" b="1" i="0" u="none" strike="noStrike" cap="none" dirty="0">
                <a:solidFill>
                  <a:srgbClr val="FFFFFF"/>
                </a:solidFill>
                <a:latin typeface="Calibri"/>
                <a:ea typeface="Calibri"/>
                <a:cs typeface="Calibri"/>
                <a:sym typeface="Calibri"/>
              </a:rPr>
              <a:t>Model 2</a:t>
            </a:r>
            <a:endParaRPr sz="1200" b="0" i="0" u="none" strike="noStrike" cap="none" dirty="0">
              <a:solidFill>
                <a:schemeClr val="dk1"/>
              </a:solidFill>
              <a:latin typeface="Calibri"/>
              <a:ea typeface="Calibri"/>
              <a:cs typeface="Calibri"/>
              <a:sym typeface="Calibri"/>
            </a:endParaRPr>
          </a:p>
          <a:p>
            <a:pPr marL="0" marR="0" lvl="0" indent="0" algn="ctr" rtl="0">
              <a:lnSpc>
                <a:spcPct val="100000"/>
              </a:lnSpc>
              <a:spcBef>
                <a:spcPts val="0"/>
              </a:spcBef>
              <a:spcAft>
                <a:spcPts val="0"/>
              </a:spcAft>
              <a:buClr>
                <a:srgbClr val="FFFFFF"/>
              </a:buClr>
              <a:buSzPts val="1200"/>
              <a:buFont typeface="Calibri"/>
              <a:buNone/>
            </a:pPr>
            <a:r>
              <a:rPr lang="en-US" sz="1200" b="1" i="0" u="none" strike="noStrike" cap="none" dirty="0">
                <a:solidFill>
                  <a:srgbClr val="FFFFFF"/>
                </a:solidFill>
                <a:latin typeface="Calibri"/>
                <a:ea typeface="Calibri"/>
                <a:cs typeface="Calibri"/>
                <a:sym typeface="Calibri"/>
              </a:rPr>
              <a:t>OLS (3-factor </a:t>
            </a:r>
            <a:r>
              <a:rPr lang="en-US" sz="1200" b="1" dirty="0">
                <a:solidFill>
                  <a:srgbClr val="FFFFFF"/>
                </a:solidFill>
                <a:latin typeface="Calibri"/>
                <a:ea typeface="Calibri"/>
                <a:cs typeface="Calibri"/>
                <a:sym typeface="Calibri"/>
              </a:rPr>
              <a:t>No Ri</a:t>
            </a:r>
            <a:r>
              <a:rPr lang="en-US" sz="1200" b="1" i="0" u="none" strike="noStrike" cap="none" dirty="0">
                <a:solidFill>
                  <a:srgbClr val="FFFFFF"/>
                </a:solidFill>
                <a:latin typeface="Calibri"/>
                <a:ea typeface="Calibri"/>
                <a:cs typeface="Calibri"/>
                <a:sym typeface="Calibri"/>
              </a:rPr>
              <a:t>dge)</a:t>
            </a:r>
            <a:endParaRPr sz="1200" b="0" i="0" u="none" strike="noStrike" cap="none" dirty="0">
              <a:solidFill>
                <a:schemeClr val="dk1"/>
              </a:solidFill>
              <a:latin typeface="Calibri"/>
              <a:ea typeface="Calibri"/>
              <a:cs typeface="Calibri"/>
              <a:sym typeface="Calibri"/>
            </a:endParaRPr>
          </a:p>
        </p:txBody>
      </p:sp>
      <p:sp>
        <p:nvSpPr>
          <p:cNvPr id="19" name="Google Shape;588;p15">
            <a:extLst>
              <a:ext uri="{FF2B5EF4-FFF2-40B4-BE49-F238E27FC236}">
                <a16:creationId xmlns:a16="http://schemas.microsoft.com/office/drawing/2014/main" id="{B69369D5-79FD-9919-9FCA-B0694194701F}"/>
              </a:ext>
            </a:extLst>
          </p:cNvPr>
          <p:cNvSpPr/>
          <p:nvPr/>
        </p:nvSpPr>
        <p:spPr>
          <a:xfrm>
            <a:off x="6533806" y="2029975"/>
            <a:ext cx="2349900" cy="320100"/>
          </a:xfrm>
          <a:prstGeom prst="rect">
            <a:avLst/>
          </a:prstGeom>
          <a:solidFill>
            <a:srgbClr val="F7F9FC"/>
          </a:solidFill>
          <a:ln w="9525" cap="flat" cmpd="sng">
            <a:solidFill>
              <a:srgbClr val="CBD5E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1" name="Google Shape;589;p15">
            <a:extLst>
              <a:ext uri="{FF2B5EF4-FFF2-40B4-BE49-F238E27FC236}">
                <a16:creationId xmlns:a16="http://schemas.microsoft.com/office/drawing/2014/main" id="{601B0087-1513-B9AA-9C54-9CC7102012D6}"/>
              </a:ext>
            </a:extLst>
          </p:cNvPr>
          <p:cNvSpPr/>
          <p:nvPr/>
        </p:nvSpPr>
        <p:spPr>
          <a:xfrm>
            <a:off x="6582765" y="2029975"/>
            <a:ext cx="2252100" cy="3201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E293B"/>
              </a:buClr>
              <a:buSzPts val="1050"/>
              <a:buFont typeface="Calibri"/>
              <a:buNone/>
            </a:pPr>
            <a:r>
              <a:rPr lang="en-US" sz="1050" b="0" i="0" u="none" strike="noStrike" cap="none" dirty="0">
                <a:solidFill>
                  <a:srgbClr val="1E293B"/>
                </a:solidFill>
                <a:latin typeface="Calibri"/>
                <a:ea typeface="Calibri"/>
                <a:cs typeface="Calibri"/>
                <a:sym typeface="Calibri"/>
              </a:rPr>
              <a:t>Ridge Regression</a:t>
            </a:r>
            <a:endParaRPr sz="1050" b="0" i="0" u="none" strike="noStrike" cap="none" dirty="0">
              <a:solidFill>
                <a:schemeClr val="dk1"/>
              </a:solidFill>
              <a:latin typeface="Calibri"/>
              <a:ea typeface="Calibri"/>
              <a:cs typeface="Calibri"/>
              <a:sym typeface="Calibri"/>
            </a:endParaRPr>
          </a:p>
        </p:txBody>
      </p:sp>
      <p:sp>
        <p:nvSpPr>
          <p:cNvPr id="23" name="Google Shape;596;p15">
            <a:extLst>
              <a:ext uri="{FF2B5EF4-FFF2-40B4-BE49-F238E27FC236}">
                <a16:creationId xmlns:a16="http://schemas.microsoft.com/office/drawing/2014/main" id="{9932D3B4-9BB5-A478-83A3-BF29B6FE5559}"/>
              </a:ext>
            </a:extLst>
          </p:cNvPr>
          <p:cNvSpPr/>
          <p:nvPr/>
        </p:nvSpPr>
        <p:spPr>
          <a:xfrm>
            <a:off x="6533806" y="2368304"/>
            <a:ext cx="2349900" cy="320100"/>
          </a:xfrm>
          <a:prstGeom prst="rect">
            <a:avLst/>
          </a:prstGeom>
          <a:solidFill>
            <a:srgbClr val="FFFFFF"/>
          </a:solidFill>
          <a:ln w="9525" cap="flat" cmpd="sng">
            <a:solidFill>
              <a:srgbClr val="CBD5E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5" name="Google Shape;597;p15">
            <a:extLst>
              <a:ext uri="{FF2B5EF4-FFF2-40B4-BE49-F238E27FC236}">
                <a16:creationId xmlns:a16="http://schemas.microsoft.com/office/drawing/2014/main" id="{F3C8B0C8-F567-447B-76B4-4BFE057AE246}"/>
              </a:ext>
            </a:extLst>
          </p:cNvPr>
          <p:cNvSpPr/>
          <p:nvPr/>
        </p:nvSpPr>
        <p:spPr>
          <a:xfrm>
            <a:off x="6582765" y="2368304"/>
            <a:ext cx="2252100" cy="3201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E293B"/>
              </a:buClr>
              <a:buSzPts val="1050"/>
              <a:buFont typeface="Calibri"/>
              <a:buNone/>
            </a:pPr>
            <a:r>
              <a:rPr lang="en-US" sz="1050" b="0" i="0" u="none" strike="noStrike" cap="none">
                <a:solidFill>
                  <a:srgbClr val="1E293B"/>
                </a:solidFill>
                <a:latin typeface="Calibri"/>
                <a:ea typeface="Calibri"/>
                <a:cs typeface="Calibri"/>
                <a:sym typeface="Calibri"/>
              </a:rPr>
              <a:t>Δ VIX + Spreads + Oil</a:t>
            </a:r>
            <a:endParaRPr sz="1050" b="0" i="0" u="none" strike="noStrike" cap="none">
              <a:solidFill>
                <a:schemeClr val="dk1"/>
              </a:solidFill>
              <a:latin typeface="Calibri"/>
              <a:ea typeface="Calibri"/>
              <a:cs typeface="Calibri"/>
              <a:sym typeface="Calibri"/>
            </a:endParaRPr>
          </a:p>
        </p:txBody>
      </p:sp>
      <p:sp>
        <p:nvSpPr>
          <p:cNvPr id="27" name="Google Shape;604;p15">
            <a:extLst>
              <a:ext uri="{FF2B5EF4-FFF2-40B4-BE49-F238E27FC236}">
                <a16:creationId xmlns:a16="http://schemas.microsoft.com/office/drawing/2014/main" id="{D11458F1-6E65-D378-C034-A4600CABF08A}"/>
              </a:ext>
            </a:extLst>
          </p:cNvPr>
          <p:cNvSpPr/>
          <p:nvPr/>
        </p:nvSpPr>
        <p:spPr>
          <a:xfrm>
            <a:off x="6533806" y="2706632"/>
            <a:ext cx="2349900" cy="320100"/>
          </a:xfrm>
          <a:prstGeom prst="rect">
            <a:avLst/>
          </a:prstGeom>
          <a:solidFill>
            <a:srgbClr val="F7F9FC"/>
          </a:solidFill>
          <a:ln w="9525" cap="flat" cmpd="sng">
            <a:solidFill>
              <a:srgbClr val="CBD5E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9" name="Google Shape;605;p15">
            <a:extLst>
              <a:ext uri="{FF2B5EF4-FFF2-40B4-BE49-F238E27FC236}">
                <a16:creationId xmlns:a16="http://schemas.microsoft.com/office/drawing/2014/main" id="{8DF7BFD4-9BB8-AE0D-64F0-290014C10A75}"/>
              </a:ext>
            </a:extLst>
          </p:cNvPr>
          <p:cNvSpPr/>
          <p:nvPr/>
        </p:nvSpPr>
        <p:spPr>
          <a:xfrm>
            <a:off x="6582765" y="2706632"/>
            <a:ext cx="2252100" cy="3201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E293B"/>
              </a:buClr>
              <a:buSzPts val="1050"/>
              <a:buFont typeface="Calibri"/>
              <a:buNone/>
            </a:pPr>
            <a:r>
              <a:rPr lang="en-US" sz="1050" b="0" i="0" u="none" strike="noStrike" cap="none">
                <a:solidFill>
                  <a:srgbClr val="1E293B"/>
                </a:solidFill>
                <a:latin typeface="Calibri"/>
                <a:ea typeface="Calibri"/>
                <a:cs typeface="Calibri"/>
                <a:sym typeface="Calibri"/>
              </a:rPr>
              <a:t>Tomorrow's return</a:t>
            </a:r>
            <a:endParaRPr sz="1050" b="0" i="0" u="none" strike="noStrike" cap="none">
              <a:solidFill>
                <a:schemeClr val="dk1"/>
              </a:solidFill>
              <a:latin typeface="Calibri"/>
              <a:ea typeface="Calibri"/>
              <a:cs typeface="Calibri"/>
              <a:sym typeface="Calibri"/>
            </a:endParaRPr>
          </a:p>
        </p:txBody>
      </p:sp>
      <p:sp>
        <p:nvSpPr>
          <p:cNvPr id="35" name="Google Shape;620;p15">
            <a:extLst>
              <a:ext uri="{FF2B5EF4-FFF2-40B4-BE49-F238E27FC236}">
                <a16:creationId xmlns:a16="http://schemas.microsoft.com/office/drawing/2014/main" id="{6C1C5804-2174-034C-F1EA-F8FE1504C963}"/>
              </a:ext>
            </a:extLst>
          </p:cNvPr>
          <p:cNvSpPr/>
          <p:nvPr/>
        </p:nvSpPr>
        <p:spPr>
          <a:xfrm>
            <a:off x="6533789" y="3044964"/>
            <a:ext cx="2349900" cy="320100"/>
          </a:xfrm>
          <a:prstGeom prst="rect">
            <a:avLst/>
          </a:prstGeom>
          <a:solidFill>
            <a:srgbClr val="F7F9FC"/>
          </a:solidFill>
          <a:ln w="9525" cap="flat" cmpd="sng">
            <a:solidFill>
              <a:srgbClr val="CBD5E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7" name="Google Shape;621;p15">
            <a:extLst>
              <a:ext uri="{FF2B5EF4-FFF2-40B4-BE49-F238E27FC236}">
                <a16:creationId xmlns:a16="http://schemas.microsoft.com/office/drawing/2014/main" id="{83291AF7-63C3-E512-6428-92923CCED62C}"/>
              </a:ext>
            </a:extLst>
          </p:cNvPr>
          <p:cNvSpPr/>
          <p:nvPr/>
        </p:nvSpPr>
        <p:spPr>
          <a:xfrm>
            <a:off x="6582748" y="3044964"/>
            <a:ext cx="2252100" cy="3201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E293B"/>
              </a:buClr>
              <a:buSzPts val="1050"/>
              <a:buFont typeface="Calibri"/>
              <a:buNone/>
            </a:pPr>
            <a:r>
              <a:rPr lang="en-US" sz="1050" b="0" i="0" u="none" strike="noStrike" cap="none" dirty="0">
                <a:solidFill>
                  <a:srgbClr val="1E293B"/>
                </a:solidFill>
                <a:latin typeface="Calibri"/>
                <a:ea typeface="Calibri"/>
                <a:cs typeface="Calibri"/>
                <a:sym typeface="Calibri"/>
              </a:rPr>
              <a:t>-1.49%</a:t>
            </a:r>
            <a:endParaRPr sz="1050" b="0" i="0" u="none" strike="noStrike" cap="none" dirty="0">
              <a:solidFill>
                <a:schemeClr val="dk1"/>
              </a:solidFill>
              <a:latin typeface="Calibri"/>
              <a:ea typeface="Calibri"/>
              <a:cs typeface="Calibri"/>
              <a:sym typeface="Calibri"/>
            </a:endParaRPr>
          </a:p>
        </p:txBody>
      </p:sp>
      <p:sp>
        <p:nvSpPr>
          <p:cNvPr id="39" name="Google Shape;628;p15">
            <a:extLst>
              <a:ext uri="{FF2B5EF4-FFF2-40B4-BE49-F238E27FC236}">
                <a16:creationId xmlns:a16="http://schemas.microsoft.com/office/drawing/2014/main" id="{868552D9-342B-14A0-BF97-9B24BB968A81}"/>
              </a:ext>
            </a:extLst>
          </p:cNvPr>
          <p:cNvSpPr/>
          <p:nvPr/>
        </p:nvSpPr>
        <p:spPr>
          <a:xfrm>
            <a:off x="6533789" y="3383293"/>
            <a:ext cx="2349900" cy="320100"/>
          </a:xfrm>
          <a:prstGeom prst="rect">
            <a:avLst/>
          </a:prstGeom>
          <a:solidFill>
            <a:srgbClr val="FFFFFF"/>
          </a:solidFill>
          <a:ln w="9525" cap="flat" cmpd="sng">
            <a:solidFill>
              <a:srgbClr val="CBD5E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1" name="Google Shape;629;p15">
            <a:extLst>
              <a:ext uri="{FF2B5EF4-FFF2-40B4-BE49-F238E27FC236}">
                <a16:creationId xmlns:a16="http://schemas.microsoft.com/office/drawing/2014/main" id="{16E5110B-7699-E58E-6776-300C04200060}"/>
              </a:ext>
            </a:extLst>
          </p:cNvPr>
          <p:cNvSpPr/>
          <p:nvPr/>
        </p:nvSpPr>
        <p:spPr>
          <a:xfrm>
            <a:off x="6582748" y="3383293"/>
            <a:ext cx="2252100" cy="3201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E293B"/>
              </a:buClr>
              <a:buSzPts val="1050"/>
              <a:buFont typeface="Calibri"/>
              <a:buNone/>
            </a:pPr>
            <a:r>
              <a:rPr lang="en-US" sz="1050" b="0" i="0" u="none" strike="noStrike" cap="none" dirty="0">
                <a:solidFill>
                  <a:srgbClr val="1E293B"/>
                </a:solidFill>
                <a:latin typeface="Calibri"/>
                <a:ea typeface="Calibri"/>
                <a:cs typeface="Calibri"/>
                <a:sym typeface="Calibri"/>
              </a:rPr>
              <a:t>0.89</a:t>
            </a:r>
            <a:endParaRPr sz="1050" b="0" i="0" u="none" strike="noStrike" cap="none" dirty="0">
              <a:solidFill>
                <a:schemeClr val="dk1"/>
              </a:solidFill>
              <a:latin typeface="Calibri"/>
              <a:ea typeface="Calibri"/>
              <a:cs typeface="Calibri"/>
              <a:sym typeface="Calibri"/>
            </a:endParaRPr>
          </a:p>
        </p:txBody>
      </p:sp>
      <p:sp>
        <p:nvSpPr>
          <p:cNvPr id="43" name="Google Shape;636;p15">
            <a:extLst>
              <a:ext uri="{FF2B5EF4-FFF2-40B4-BE49-F238E27FC236}">
                <a16:creationId xmlns:a16="http://schemas.microsoft.com/office/drawing/2014/main" id="{70A1F2DA-ADFD-5B76-A069-27EAAA2D6B1A}"/>
              </a:ext>
            </a:extLst>
          </p:cNvPr>
          <p:cNvSpPr/>
          <p:nvPr/>
        </p:nvSpPr>
        <p:spPr>
          <a:xfrm>
            <a:off x="6533789" y="4041006"/>
            <a:ext cx="2349900" cy="320100"/>
          </a:xfrm>
          <a:prstGeom prst="rect">
            <a:avLst/>
          </a:prstGeom>
          <a:solidFill>
            <a:srgbClr val="F7F9FC"/>
          </a:solidFill>
          <a:ln w="9525" cap="flat" cmpd="sng">
            <a:solidFill>
              <a:srgbClr val="CBD5E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5" name="Google Shape;637;p15">
            <a:extLst>
              <a:ext uri="{FF2B5EF4-FFF2-40B4-BE49-F238E27FC236}">
                <a16:creationId xmlns:a16="http://schemas.microsoft.com/office/drawing/2014/main" id="{4D6E2062-7432-CCE1-6C6E-1833F7D2E34B}"/>
              </a:ext>
            </a:extLst>
          </p:cNvPr>
          <p:cNvSpPr/>
          <p:nvPr/>
        </p:nvSpPr>
        <p:spPr>
          <a:xfrm>
            <a:off x="6582748" y="4041006"/>
            <a:ext cx="2252100" cy="3201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E293B"/>
              </a:buClr>
              <a:buSzPts val="1050"/>
              <a:buFont typeface="Calibri"/>
              <a:buNone/>
            </a:pPr>
            <a:r>
              <a:rPr lang="en-US" sz="1050" b="0" i="0" u="none" strike="noStrike" cap="none" dirty="0">
                <a:solidFill>
                  <a:srgbClr val="1E293B"/>
                </a:solidFill>
                <a:latin typeface="Calibri"/>
                <a:ea typeface="Calibri"/>
                <a:cs typeface="Calibri"/>
                <a:sym typeface="Calibri"/>
              </a:rPr>
              <a:t>Beats buy-and-hold + </a:t>
            </a:r>
            <a:r>
              <a:rPr lang="en-US" sz="1050" dirty="0">
                <a:solidFill>
                  <a:srgbClr val="1E293B"/>
                </a:solidFill>
                <a:latin typeface="Calibri"/>
                <a:ea typeface="Calibri"/>
                <a:cs typeface="Calibri"/>
                <a:sym typeface="Calibri"/>
              </a:rPr>
              <a:t>Models 1 &amp; 2</a:t>
            </a:r>
            <a:endParaRPr sz="1050" b="0" i="0" u="none" strike="noStrike" cap="none" dirty="0">
              <a:solidFill>
                <a:schemeClr val="dk1"/>
              </a:solidFill>
              <a:latin typeface="Calibri"/>
              <a:ea typeface="Calibri"/>
              <a:cs typeface="Calibri"/>
              <a:sym typeface="Calibri"/>
            </a:endParaRPr>
          </a:p>
        </p:txBody>
      </p:sp>
      <p:sp>
        <p:nvSpPr>
          <p:cNvPr id="47" name="Google Shape;644;p15">
            <a:extLst>
              <a:ext uri="{FF2B5EF4-FFF2-40B4-BE49-F238E27FC236}">
                <a16:creationId xmlns:a16="http://schemas.microsoft.com/office/drawing/2014/main" id="{3BF0F194-7FE3-E1DC-AA2B-25EC9965AC45}"/>
              </a:ext>
            </a:extLst>
          </p:cNvPr>
          <p:cNvSpPr/>
          <p:nvPr/>
        </p:nvSpPr>
        <p:spPr>
          <a:xfrm>
            <a:off x="6533789" y="4379335"/>
            <a:ext cx="2349900" cy="320100"/>
          </a:xfrm>
          <a:prstGeom prst="rect">
            <a:avLst/>
          </a:prstGeom>
          <a:solidFill>
            <a:srgbClr val="FFFFFF"/>
          </a:solidFill>
          <a:ln w="9525" cap="flat" cmpd="sng">
            <a:solidFill>
              <a:srgbClr val="CBD5E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9" name="Google Shape;645;p15">
            <a:extLst>
              <a:ext uri="{FF2B5EF4-FFF2-40B4-BE49-F238E27FC236}">
                <a16:creationId xmlns:a16="http://schemas.microsoft.com/office/drawing/2014/main" id="{5067CB30-48E0-05D0-4432-7BC6404798B4}"/>
              </a:ext>
            </a:extLst>
          </p:cNvPr>
          <p:cNvSpPr/>
          <p:nvPr/>
        </p:nvSpPr>
        <p:spPr>
          <a:xfrm>
            <a:off x="6582623" y="4379369"/>
            <a:ext cx="2252100" cy="3201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E293B"/>
              </a:buClr>
              <a:buSzPts val="1050"/>
              <a:buFont typeface="Calibri"/>
              <a:buNone/>
            </a:pPr>
            <a:endParaRPr sz="1050" b="0" i="0" u="none" strike="noStrike" cap="none" dirty="0">
              <a:solidFill>
                <a:schemeClr val="dk1"/>
              </a:solidFill>
              <a:latin typeface="Calibri"/>
              <a:ea typeface="Calibri"/>
              <a:cs typeface="Calibri"/>
              <a:sym typeface="Calibri"/>
            </a:endParaRPr>
          </a:p>
        </p:txBody>
      </p:sp>
      <p:sp>
        <p:nvSpPr>
          <p:cNvPr id="51" name="Google Shape;636;p15">
            <a:extLst>
              <a:ext uri="{FF2B5EF4-FFF2-40B4-BE49-F238E27FC236}">
                <a16:creationId xmlns:a16="http://schemas.microsoft.com/office/drawing/2014/main" id="{390BCB66-7BEE-EDF0-0D05-247BC49518A9}"/>
              </a:ext>
            </a:extLst>
          </p:cNvPr>
          <p:cNvSpPr/>
          <p:nvPr/>
        </p:nvSpPr>
        <p:spPr>
          <a:xfrm>
            <a:off x="6533789" y="3702681"/>
            <a:ext cx="2349900" cy="320100"/>
          </a:xfrm>
          <a:prstGeom prst="rect">
            <a:avLst/>
          </a:prstGeom>
          <a:solidFill>
            <a:srgbClr val="F7F9FC"/>
          </a:solidFill>
          <a:ln w="9525" cap="flat" cmpd="sng">
            <a:solidFill>
              <a:srgbClr val="CBD5E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3" name="Google Shape;637;p15">
            <a:extLst>
              <a:ext uri="{FF2B5EF4-FFF2-40B4-BE49-F238E27FC236}">
                <a16:creationId xmlns:a16="http://schemas.microsoft.com/office/drawing/2014/main" id="{287C0405-C40D-799C-C3D9-F6AD6C402177}"/>
              </a:ext>
            </a:extLst>
          </p:cNvPr>
          <p:cNvSpPr/>
          <p:nvPr/>
        </p:nvSpPr>
        <p:spPr>
          <a:xfrm>
            <a:off x="6582748" y="3702681"/>
            <a:ext cx="2252100" cy="3201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E293B"/>
              </a:buClr>
              <a:buSzPts val="1050"/>
              <a:buFont typeface="Calibri"/>
              <a:buNone/>
            </a:pPr>
            <a:r>
              <a:rPr lang="en-US" sz="1050" b="0" i="0" u="none" strike="noStrike" cap="none" dirty="0">
                <a:solidFill>
                  <a:srgbClr val="1E293B"/>
                </a:solidFill>
                <a:latin typeface="Calibri"/>
                <a:ea typeface="Calibri"/>
                <a:cs typeface="Calibri"/>
                <a:sym typeface="Calibri"/>
              </a:rPr>
              <a:t>13.8%</a:t>
            </a:r>
            <a:endParaRPr sz="1050" b="0" i="0" u="none" strike="noStrike" cap="none" dirty="0">
              <a:solidFill>
                <a:schemeClr val="dk1"/>
              </a:solidFill>
              <a:latin typeface="Calibri"/>
              <a:ea typeface="Calibri"/>
              <a:cs typeface="Calibri"/>
              <a:sym typeface="Calibri"/>
            </a:endParaRPr>
          </a:p>
        </p:txBody>
      </p:sp>
      <p:sp>
        <p:nvSpPr>
          <p:cNvPr id="55" name="Google Shape;646;p15">
            <a:extLst>
              <a:ext uri="{FF2B5EF4-FFF2-40B4-BE49-F238E27FC236}">
                <a16:creationId xmlns:a16="http://schemas.microsoft.com/office/drawing/2014/main" id="{EC1ADB71-E676-26AC-34CE-537E5A8D0723}"/>
              </a:ext>
            </a:extLst>
          </p:cNvPr>
          <p:cNvSpPr/>
          <p:nvPr/>
        </p:nvSpPr>
        <p:spPr>
          <a:xfrm>
            <a:off x="1355882" y="3355124"/>
            <a:ext cx="7595595" cy="685847"/>
          </a:xfrm>
          <a:prstGeom prst="ellipse">
            <a:avLst/>
          </a:prstGeom>
          <a:noFill/>
          <a:ln w="9525" cap="flat" cmpd="sng">
            <a:solidFill>
              <a:srgbClr val="B91C1C"/>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B91C1C"/>
              </a:solidFill>
              <a:highlight>
                <a:srgbClr val="B91C1C"/>
              </a:highlight>
              <a:latin typeface="Arial"/>
              <a:ea typeface="Arial"/>
              <a:cs typeface="Arial"/>
              <a:sym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651"/>
        <p:cNvGrpSpPr/>
        <p:nvPr/>
      </p:nvGrpSpPr>
      <p:grpSpPr>
        <a:xfrm>
          <a:off x="0" y="0"/>
          <a:ext cx="0" cy="0"/>
          <a:chOff x="0" y="0"/>
          <a:chExt cx="0" cy="0"/>
        </a:xfrm>
      </p:grpSpPr>
      <p:sp>
        <p:nvSpPr>
          <p:cNvPr id="652" name="Google Shape;652;p16"/>
          <p:cNvSpPr/>
          <p:nvPr/>
        </p:nvSpPr>
        <p:spPr>
          <a:xfrm>
            <a:off x="457200" y="146304"/>
            <a:ext cx="2194560" cy="274320"/>
          </a:xfrm>
          <a:prstGeom prst="rect">
            <a:avLst/>
          </a:prstGeom>
          <a:solidFill>
            <a:srgbClr val="2B6CB0"/>
          </a:solidFill>
          <a:ln w="9525" cap="flat" cmpd="sng">
            <a:solidFill>
              <a:srgbClr val="2B6CB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53" name="Google Shape;653;p16"/>
          <p:cNvSpPr/>
          <p:nvPr/>
        </p:nvSpPr>
        <p:spPr>
          <a:xfrm>
            <a:off x="457200" y="146304"/>
            <a:ext cx="2194560" cy="27432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FFFFFF"/>
              </a:buClr>
              <a:buSzPts val="850"/>
              <a:buFont typeface="Calibri"/>
              <a:buNone/>
            </a:pPr>
            <a:r>
              <a:rPr lang="en-US" sz="1050" b="1" i="0" u="none" strike="noStrike" cap="none">
                <a:solidFill>
                  <a:srgbClr val="FFFFFF"/>
                </a:solidFill>
                <a:latin typeface="Calibri"/>
                <a:ea typeface="Calibri"/>
                <a:cs typeface="Calibri"/>
                <a:sym typeface="Calibri"/>
              </a:rPr>
              <a:t>RISKS &amp; LIMITATIONS</a:t>
            </a:r>
            <a:endParaRPr sz="1050" b="0" i="0" u="none" strike="noStrike" cap="none">
              <a:solidFill>
                <a:schemeClr val="dk1"/>
              </a:solidFill>
              <a:latin typeface="Calibri"/>
              <a:ea typeface="Calibri"/>
              <a:cs typeface="Calibri"/>
              <a:sym typeface="Calibri"/>
            </a:endParaRPr>
          </a:p>
        </p:txBody>
      </p:sp>
      <p:sp>
        <p:nvSpPr>
          <p:cNvPr id="654" name="Google Shape;654;p16"/>
          <p:cNvSpPr/>
          <p:nvPr/>
        </p:nvSpPr>
        <p:spPr>
          <a:xfrm>
            <a:off x="457200" y="502920"/>
            <a:ext cx="8229600" cy="658368"/>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C1A35"/>
              </a:buClr>
              <a:buSzPts val="2900"/>
              <a:buFont typeface="Georgia"/>
              <a:buNone/>
            </a:pPr>
            <a:r>
              <a:rPr lang="en-US" sz="2400" b="1" i="0" u="none" strike="noStrike" cap="none">
                <a:solidFill>
                  <a:srgbClr val="0C1A35"/>
                </a:solidFill>
                <a:latin typeface="Georgia"/>
                <a:ea typeface="Georgia"/>
                <a:cs typeface="Georgia"/>
                <a:sym typeface="Georgia"/>
              </a:rPr>
              <a:t>Key Risks in the Trade &amp; Limitations in the Models</a:t>
            </a:r>
            <a:endParaRPr sz="2400" b="0" i="0" u="none" strike="noStrike" cap="none">
              <a:solidFill>
                <a:schemeClr val="dk1"/>
              </a:solidFill>
              <a:latin typeface="Calibri"/>
              <a:ea typeface="Calibri"/>
              <a:cs typeface="Calibri"/>
              <a:sym typeface="Calibri"/>
            </a:endParaRPr>
          </a:p>
        </p:txBody>
      </p:sp>
      <p:sp>
        <p:nvSpPr>
          <p:cNvPr id="655" name="Google Shape;655;p16"/>
          <p:cNvSpPr/>
          <p:nvPr/>
        </p:nvSpPr>
        <p:spPr>
          <a:xfrm>
            <a:off x="457200" y="1207008"/>
            <a:ext cx="8229600" cy="27432"/>
          </a:xfrm>
          <a:prstGeom prst="rect">
            <a:avLst/>
          </a:prstGeom>
          <a:solidFill>
            <a:srgbClr val="2B6CB0"/>
          </a:solidFill>
          <a:ln w="9525" cap="flat" cmpd="sng">
            <a:solidFill>
              <a:srgbClr val="2B6CB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65" name="Google Shape;665;p16"/>
          <p:cNvSpPr/>
          <p:nvPr/>
        </p:nvSpPr>
        <p:spPr>
          <a:xfrm>
            <a:off x="208176" y="1381390"/>
            <a:ext cx="4293815" cy="997746"/>
          </a:xfrm>
          <a:prstGeom prst="rect">
            <a:avLst/>
          </a:prstGeom>
          <a:solidFill>
            <a:srgbClr val="F7F9FC"/>
          </a:solidFill>
          <a:ln w="9525" cap="flat" cmpd="sng">
            <a:solidFill>
              <a:srgbClr val="CBD5E1"/>
            </a:solidFill>
            <a:prstDash val="solid"/>
            <a:round/>
            <a:headEnd type="none" w="sm" len="sm"/>
            <a:tailEnd type="none" w="sm" len="sm"/>
          </a:ln>
          <a:effectLst>
            <a:outerShdw blurRad="126635" dist="25327" dir="8100000" algn="bl" rotWithShape="0">
              <a:srgbClr val="000000">
                <a:alpha val="10196"/>
              </a:srgbClr>
            </a:outerShdw>
          </a:effectLst>
        </p:spPr>
        <p:txBody>
          <a:bodyPr spcFirstLastPara="1" wrap="square" lIns="91150" tIns="91150" rIns="91150" bIns="9115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66" name="Google Shape;666;p16"/>
          <p:cNvSpPr/>
          <p:nvPr/>
        </p:nvSpPr>
        <p:spPr>
          <a:xfrm>
            <a:off x="208176" y="1381390"/>
            <a:ext cx="95029" cy="997746"/>
          </a:xfrm>
          <a:prstGeom prst="rect">
            <a:avLst/>
          </a:prstGeom>
          <a:solidFill>
            <a:srgbClr val="E8A020"/>
          </a:solidFill>
          <a:ln w="9525" cap="flat" cmpd="sng">
            <a:solidFill>
              <a:srgbClr val="E8A020"/>
            </a:solidFill>
            <a:prstDash val="solid"/>
            <a:round/>
            <a:headEnd type="none" w="sm" len="sm"/>
            <a:tailEnd type="none" w="sm" len="sm"/>
          </a:ln>
        </p:spPr>
        <p:txBody>
          <a:bodyPr spcFirstLastPara="1" wrap="square" lIns="91150" tIns="91150" rIns="91150" bIns="9115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667" name="Google Shape;667;p16" descr="preencoded.png"/>
          <p:cNvPicPr preferRelativeResize="0"/>
          <p:nvPr/>
        </p:nvPicPr>
        <p:blipFill rotWithShape="1">
          <a:blip r:embed="rId3">
            <a:alphaModFix/>
          </a:blip>
          <a:srcRect/>
          <a:stretch/>
        </p:blipFill>
        <p:spPr>
          <a:xfrm>
            <a:off x="390546" y="1700480"/>
            <a:ext cx="381660" cy="324756"/>
          </a:xfrm>
          <a:prstGeom prst="rect">
            <a:avLst/>
          </a:prstGeom>
          <a:noFill/>
          <a:ln>
            <a:noFill/>
          </a:ln>
        </p:spPr>
      </p:pic>
      <p:sp>
        <p:nvSpPr>
          <p:cNvPr id="668" name="Google Shape;668;p16"/>
          <p:cNvSpPr/>
          <p:nvPr/>
        </p:nvSpPr>
        <p:spPr>
          <a:xfrm>
            <a:off x="846415" y="1436096"/>
            <a:ext cx="3530303" cy="308543"/>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E8A020"/>
              </a:buClr>
              <a:buSzPts val="1197"/>
              <a:buFont typeface="Calibri"/>
              <a:buNone/>
            </a:pPr>
            <a:r>
              <a:rPr lang="en-US" sz="1197" b="1" i="0" u="none" strike="noStrike" cap="none" dirty="0">
                <a:solidFill>
                  <a:srgbClr val="E8A020"/>
                </a:solidFill>
                <a:latin typeface="Calibri"/>
                <a:ea typeface="Calibri"/>
                <a:cs typeface="Calibri"/>
                <a:sym typeface="Calibri"/>
              </a:rPr>
              <a:t>OLS Assumptions are Violated</a:t>
            </a:r>
            <a:endParaRPr sz="1197" b="0" i="0" u="none" strike="noStrike" cap="none" dirty="0">
              <a:solidFill>
                <a:schemeClr val="dk1"/>
              </a:solidFill>
              <a:latin typeface="Calibri"/>
              <a:ea typeface="Calibri"/>
              <a:cs typeface="Calibri"/>
              <a:sym typeface="Calibri"/>
            </a:endParaRPr>
          </a:p>
        </p:txBody>
      </p:sp>
      <p:sp>
        <p:nvSpPr>
          <p:cNvPr id="669" name="Google Shape;669;p16"/>
          <p:cNvSpPr/>
          <p:nvPr/>
        </p:nvSpPr>
        <p:spPr>
          <a:xfrm>
            <a:off x="846415" y="1800803"/>
            <a:ext cx="3530303" cy="47096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1E293B"/>
              </a:buClr>
              <a:buSzPts val="997"/>
              <a:buFont typeface="Calibri"/>
              <a:buNone/>
            </a:pPr>
            <a:r>
              <a:rPr lang="en-US" sz="997" b="0" i="0" u="none" strike="noStrike" cap="none" dirty="0">
                <a:solidFill>
                  <a:srgbClr val="1E293B"/>
                </a:solidFill>
                <a:latin typeface="Calibri"/>
                <a:ea typeface="Calibri"/>
                <a:cs typeface="Calibri"/>
                <a:sym typeface="Calibri"/>
              </a:rPr>
              <a:t>Autocorrelation, heteroskedasticity, and fat tails</a:t>
            </a:r>
            <a:r>
              <a:rPr lang="en-US" sz="997" dirty="0">
                <a:solidFill>
                  <a:srgbClr val="1E293B"/>
                </a:solidFill>
                <a:latin typeface="Calibri"/>
                <a:ea typeface="Calibri"/>
                <a:cs typeface="Calibri"/>
                <a:sym typeface="Calibri"/>
              </a:rPr>
              <a:t> are present</a:t>
            </a:r>
            <a:r>
              <a:rPr lang="en-US" sz="997" b="0" i="0" u="none" strike="noStrike" cap="none" dirty="0">
                <a:solidFill>
                  <a:srgbClr val="1E293B"/>
                </a:solidFill>
                <a:latin typeface="Calibri"/>
                <a:ea typeface="Calibri"/>
                <a:cs typeface="Calibri"/>
                <a:sym typeface="Calibri"/>
              </a:rPr>
              <a:t>. HC3 </a:t>
            </a:r>
            <a:r>
              <a:rPr lang="en-US" sz="997" dirty="0">
                <a:solidFill>
                  <a:srgbClr val="1E293B"/>
                </a:solidFill>
                <a:latin typeface="Calibri"/>
                <a:ea typeface="Calibri"/>
                <a:cs typeface="Calibri"/>
                <a:sym typeface="Calibri"/>
              </a:rPr>
              <a:t>improves inference under</a:t>
            </a:r>
            <a:r>
              <a:rPr lang="en-US" sz="997" b="0" i="0" u="none" strike="noStrike" cap="none" dirty="0">
                <a:solidFill>
                  <a:srgbClr val="1E293B"/>
                </a:solidFill>
                <a:latin typeface="Calibri"/>
                <a:ea typeface="Calibri"/>
                <a:cs typeface="Calibri"/>
                <a:sym typeface="Calibri"/>
              </a:rPr>
              <a:t> heteroskedasticity but doesn’t </a:t>
            </a:r>
            <a:r>
              <a:rPr lang="en-US" sz="997" dirty="0">
                <a:solidFill>
                  <a:srgbClr val="1E293B"/>
                </a:solidFill>
                <a:latin typeface="Calibri"/>
                <a:ea typeface="Calibri"/>
                <a:cs typeface="Calibri"/>
                <a:sym typeface="Calibri"/>
              </a:rPr>
              <a:t>address nonlinear relationships or changing market regimes.</a:t>
            </a:r>
            <a:endParaRPr sz="997" b="0" i="0" u="none" strike="noStrike" cap="none" dirty="0">
              <a:solidFill>
                <a:schemeClr val="dk1"/>
              </a:solidFill>
              <a:latin typeface="Calibri"/>
              <a:ea typeface="Calibri"/>
              <a:cs typeface="Calibri"/>
              <a:sym typeface="Calibri"/>
            </a:endParaRPr>
          </a:p>
        </p:txBody>
      </p:sp>
      <p:sp>
        <p:nvSpPr>
          <p:cNvPr id="670" name="Google Shape;670;p16"/>
          <p:cNvSpPr/>
          <p:nvPr/>
        </p:nvSpPr>
        <p:spPr>
          <a:xfrm>
            <a:off x="4642011" y="1381390"/>
            <a:ext cx="4293815" cy="974076"/>
          </a:xfrm>
          <a:prstGeom prst="rect">
            <a:avLst/>
          </a:prstGeom>
          <a:solidFill>
            <a:srgbClr val="F7F9FC"/>
          </a:solidFill>
          <a:ln w="9525" cap="flat" cmpd="sng">
            <a:solidFill>
              <a:srgbClr val="CBD5E1"/>
            </a:solidFill>
            <a:prstDash val="solid"/>
            <a:round/>
            <a:headEnd type="none" w="sm" len="sm"/>
            <a:tailEnd type="none" w="sm" len="sm"/>
          </a:ln>
          <a:effectLst>
            <a:outerShdw blurRad="126635" dist="25327" dir="8100000" algn="bl" rotWithShape="0">
              <a:srgbClr val="000000">
                <a:alpha val="10196"/>
              </a:srgbClr>
            </a:outerShdw>
          </a:effectLst>
        </p:spPr>
        <p:txBody>
          <a:bodyPr spcFirstLastPara="1" wrap="square" lIns="91150" tIns="91150" rIns="91150" bIns="9115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71" name="Google Shape;671;p16"/>
          <p:cNvSpPr/>
          <p:nvPr/>
        </p:nvSpPr>
        <p:spPr>
          <a:xfrm>
            <a:off x="4642012" y="1381390"/>
            <a:ext cx="95028" cy="989847"/>
          </a:xfrm>
          <a:prstGeom prst="rect">
            <a:avLst/>
          </a:prstGeom>
          <a:solidFill>
            <a:srgbClr val="E8A020"/>
          </a:solidFill>
          <a:ln w="9525" cap="flat" cmpd="sng">
            <a:solidFill>
              <a:srgbClr val="E8A020"/>
            </a:solidFill>
            <a:prstDash val="solid"/>
            <a:round/>
            <a:headEnd type="none" w="sm" len="sm"/>
            <a:tailEnd type="none" w="sm" len="sm"/>
          </a:ln>
        </p:spPr>
        <p:txBody>
          <a:bodyPr spcFirstLastPara="1" wrap="square" lIns="91150" tIns="91150" rIns="91150" bIns="9115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73" name="Google Shape;673;p16"/>
          <p:cNvSpPr/>
          <p:nvPr/>
        </p:nvSpPr>
        <p:spPr>
          <a:xfrm>
            <a:off x="5280050" y="1392926"/>
            <a:ext cx="3530303" cy="308543"/>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E8A020"/>
              </a:buClr>
              <a:buSzPts val="1197"/>
              <a:buFont typeface="Calibri"/>
              <a:buNone/>
            </a:pPr>
            <a:r>
              <a:rPr lang="en-US" sz="1197" b="1" i="0" u="none" strike="noStrike" cap="none" dirty="0">
                <a:solidFill>
                  <a:srgbClr val="E8A020"/>
                </a:solidFill>
                <a:latin typeface="Calibri"/>
                <a:ea typeface="Calibri"/>
                <a:cs typeface="Calibri"/>
                <a:sym typeface="Calibri"/>
              </a:rPr>
              <a:t>VIX is already priced in</a:t>
            </a:r>
            <a:endParaRPr sz="1197" b="0" i="0" u="none" strike="noStrike" cap="none" dirty="0">
              <a:solidFill>
                <a:schemeClr val="dk1"/>
              </a:solidFill>
              <a:latin typeface="Calibri"/>
              <a:ea typeface="Calibri"/>
              <a:cs typeface="Calibri"/>
              <a:sym typeface="Calibri"/>
            </a:endParaRPr>
          </a:p>
        </p:txBody>
      </p:sp>
      <p:sp>
        <p:nvSpPr>
          <p:cNvPr id="674" name="Google Shape;674;p16"/>
          <p:cNvSpPr/>
          <p:nvPr/>
        </p:nvSpPr>
        <p:spPr>
          <a:xfrm>
            <a:off x="5280249" y="1721009"/>
            <a:ext cx="3625703" cy="671659"/>
          </a:xfrm>
          <a:prstGeom prst="rect">
            <a:avLst/>
          </a:prstGeom>
          <a:noFill/>
          <a:ln>
            <a:noFill/>
          </a:ln>
        </p:spPr>
        <p:txBody>
          <a:bodyPr spcFirstLastPara="1" wrap="square" lIns="0" tIns="0" rIns="0" bIns="0" anchor="t" anchorCtr="0">
            <a:noAutofit/>
          </a:bodyPr>
          <a:lstStyle/>
          <a:p>
            <a:r>
              <a:rPr lang="en-US" sz="1000" dirty="0">
                <a:latin typeface="Calibri" panose="020F0502020204030204" pitchFamily="34" charset="0"/>
                <a:ea typeface="Calibri" panose="020F0502020204030204" pitchFamily="34" charset="0"/>
                <a:cs typeface="Calibri" panose="020F0502020204030204" pitchFamily="34" charset="0"/>
              </a:rPr>
              <a:t>VIX is a widely observed measure of market risk, so changes in VIX can be incorporated into asset prices very quickly. As a result, much of the contemporaneous relationship between VIX and EMB returns are already be priced in.</a:t>
            </a:r>
            <a:br>
              <a:rPr lang="en-US" sz="1000" dirty="0">
                <a:latin typeface="Calibri" panose="020F0502020204030204" pitchFamily="34" charset="0"/>
                <a:ea typeface="Calibri" panose="020F0502020204030204" pitchFamily="34" charset="0"/>
                <a:cs typeface="Calibri" panose="020F0502020204030204" pitchFamily="34" charset="0"/>
              </a:rPr>
            </a:br>
            <a:endParaRPr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675" name="Google Shape;675;p16"/>
          <p:cNvSpPr/>
          <p:nvPr/>
        </p:nvSpPr>
        <p:spPr>
          <a:xfrm>
            <a:off x="226715" y="2533568"/>
            <a:ext cx="4293815" cy="1225780"/>
          </a:xfrm>
          <a:prstGeom prst="rect">
            <a:avLst/>
          </a:prstGeom>
          <a:solidFill>
            <a:srgbClr val="F7F9FC"/>
          </a:solidFill>
          <a:ln w="9525" cap="flat" cmpd="sng">
            <a:solidFill>
              <a:srgbClr val="CBD5E1"/>
            </a:solidFill>
            <a:prstDash val="solid"/>
            <a:round/>
            <a:headEnd type="none" w="sm" len="sm"/>
            <a:tailEnd type="none" w="sm" len="sm"/>
          </a:ln>
          <a:effectLst>
            <a:outerShdw blurRad="126635" dist="25327" dir="8100000" algn="bl" rotWithShape="0">
              <a:srgbClr val="000000">
                <a:alpha val="10196"/>
              </a:srgbClr>
            </a:outerShdw>
          </a:effectLst>
        </p:spPr>
        <p:txBody>
          <a:bodyPr spcFirstLastPara="1" wrap="square" lIns="91150" tIns="91150" rIns="91150" bIns="9115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76" name="Google Shape;676;p16"/>
          <p:cNvSpPr/>
          <p:nvPr/>
        </p:nvSpPr>
        <p:spPr>
          <a:xfrm>
            <a:off x="226715" y="2506986"/>
            <a:ext cx="136492" cy="1249450"/>
          </a:xfrm>
          <a:prstGeom prst="rect">
            <a:avLst/>
          </a:prstGeom>
          <a:solidFill>
            <a:srgbClr val="1A3F7A"/>
          </a:solidFill>
          <a:ln w="9525" cap="flat" cmpd="sng">
            <a:solidFill>
              <a:srgbClr val="1A3F7A"/>
            </a:solidFill>
            <a:prstDash val="solid"/>
            <a:round/>
            <a:headEnd type="none" w="sm" len="sm"/>
            <a:tailEnd type="none" w="sm" len="sm"/>
          </a:ln>
        </p:spPr>
        <p:txBody>
          <a:bodyPr spcFirstLastPara="1" wrap="square" lIns="91150" tIns="91150" rIns="91150" bIns="9115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677" name="Google Shape;677;p16" descr="preencoded.png"/>
          <p:cNvPicPr preferRelativeResize="0"/>
          <p:nvPr/>
        </p:nvPicPr>
        <p:blipFill rotWithShape="1">
          <a:blip r:embed="rId4">
            <a:alphaModFix/>
          </a:blip>
          <a:srcRect/>
          <a:stretch/>
        </p:blipFill>
        <p:spPr>
          <a:xfrm>
            <a:off x="409085" y="2944137"/>
            <a:ext cx="381660" cy="324756"/>
          </a:xfrm>
          <a:prstGeom prst="rect">
            <a:avLst/>
          </a:prstGeom>
          <a:noFill/>
          <a:ln>
            <a:noFill/>
          </a:ln>
        </p:spPr>
      </p:pic>
      <p:sp>
        <p:nvSpPr>
          <p:cNvPr id="678" name="Google Shape;678;p16"/>
          <p:cNvSpPr/>
          <p:nvPr/>
        </p:nvSpPr>
        <p:spPr>
          <a:xfrm>
            <a:off x="864954" y="2561697"/>
            <a:ext cx="3530303" cy="308543"/>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3F7A"/>
              </a:buClr>
              <a:buSzPts val="1197"/>
              <a:buFont typeface="Calibri"/>
              <a:buNone/>
            </a:pPr>
            <a:r>
              <a:rPr lang="en-US" sz="1197" b="1" i="0" u="none" strike="noStrike" cap="none" dirty="0">
                <a:solidFill>
                  <a:srgbClr val="1A3F7A"/>
                </a:solidFill>
                <a:latin typeface="Calibri"/>
                <a:ea typeface="Calibri"/>
                <a:cs typeface="Calibri"/>
                <a:sym typeface="Calibri"/>
              </a:rPr>
              <a:t>USD/FX Risk Omitted</a:t>
            </a:r>
            <a:endParaRPr sz="1197" b="0" i="0" u="none" strike="noStrike" cap="none" dirty="0">
              <a:solidFill>
                <a:schemeClr val="dk1"/>
              </a:solidFill>
              <a:latin typeface="Calibri"/>
              <a:ea typeface="Calibri"/>
              <a:cs typeface="Calibri"/>
              <a:sym typeface="Calibri"/>
            </a:endParaRPr>
          </a:p>
        </p:txBody>
      </p:sp>
      <p:sp>
        <p:nvSpPr>
          <p:cNvPr id="679" name="Google Shape;679;p16"/>
          <p:cNvSpPr/>
          <p:nvPr/>
        </p:nvSpPr>
        <p:spPr>
          <a:xfrm>
            <a:off x="864954" y="2926405"/>
            <a:ext cx="3530303" cy="47096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1E293B"/>
              </a:buClr>
              <a:buSzPts val="997"/>
              <a:buFont typeface="Calibri"/>
              <a:buNone/>
            </a:pPr>
            <a:r>
              <a:rPr lang="en-US" sz="997" b="0" i="0" u="none" strike="noStrike" cap="none" dirty="0">
                <a:solidFill>
                  <a:srgbClr val="1E293B"/>
                </a:solidFill>
                <a:latin typeface="Calibri"/>
                <a:ea typeface="Calibri"/>
                <a:cs typeface="Calibri"/>
                <a:sym typeface="Calibri"/>
              </a:rPr>
              <a:t>A strong </a:t>
            </a:r>
            <a:r>
              <a:rPr lang="en-US" sz="997" dirty="0">
                <a:solidFill>
                  <a:srgbClr val="1E293B"/>
                </a:solidFill>
                <a:latin typeface="Calibri"/>
                <a:ea typeface="Calibri"/>
                <a:cs typeface="Calibri"/>
                <a:sym typeface="Calibri"/>
              </a:rPr>
              <a:t>USD </a:t>
            </a:r>
            <a:r>
              <a:rPr lang="en-US" sz="997" b="0" i="0" u="none" strike="noStrike" cap="none" dirty="0">
                <a:solidFill>
                  <a:srgbClr val="1E293B"/>
                </a:solidFill>
                <a:latin typeface="Calibri"/>
                <a:ea typeface="Calibri"/>
                <a:cs typeface="Calibri"/>
                <a:sym typeface="Calibri"/>
              </a:rPr>
              <a:t>increases the local-currency burden of paying off USD-denominated debt for sovereign EMs. This model doesn’t include dollar strength or country-specific currency conditions. </a:t>
            </a:r>
            <a:endParaRPr sz="997" b="0" i="0" u="none" strike="noStrike" cap="none" dirty="0">
              <a:solidFill>
                <a:srgbClr val="1E293B"/>
              </a:solidFill>
              <a:latin typeface="Calibri"/>
              <a:ea typeface="Calibri"/>
              <a:cs typeface="Calibri"/>
              <a:sym typeface="Calibri"/>
            </a:endParaRPr>
          </a:p>
        </p:txBody>
      </p:sp>
      <p:sp>
        <p:nvSpPr>
          <p:cNvPr id="680" name="Google Shape;680;p16"/>
          <p:cNvSpPr/>
          <p:nvPr/>
        </p:nvSpPr>
        <p:spPr>
          <a:xfrm>
            <a:off x="4642011" y="2528799"/>
            <a:ext cx="4293815" cy="1225781"/>
          </a:xfrm>
          <a:prstGeom prst="rect">
            <a:avLst/>
          </a:prstGeom>
          <a:solidFill>
            <a:srgbClr val="F7F9FC"/>
          </a:solidFill>
          <a:ln w="9525" cap="flat" cmpd="sng">
            <a:solidFill>
              <a:srgbClr val="CBD5E1"/>
            </a:solidFill>
            <a:prstDash val="solid"/>
            <a:round/>
            <a:headEnd type="none" w="sm" len="sm"/>
            <a:tailEnd type="none" w="sm" len="sm"/>
          </a:ln>
          <a:effectLst>
            <a:outerShdw blurRad="126635" dist="25327" dir="8100000" algn="bl" rotWithShape="0">
              <a:srgbClr val="000000">
                <a:alpha val="10196"/>
              </a:srgbClr>
            </a:outerShdw>
          </a:effectLst>
        </p:spPr>
        <p:txBody>
          <a:bodyPr spcFirstLastPara="1" wrap="square" lIns="91150" tIns="91150" rIns="91150" bIns="9115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81" name="Google Shape;681;p16"/>
          <p:cNvSpPr/>
          <p:nvPr/>
        </p:nvSpPr>
        <p:spPr>
          <a:xfrm>
            <a:off x="4642011" y="2546513"/>
            <a:ext cx="95439" cy="1210009"/>
          </a:xfrm>
          <a:prstGeom prst="rect">
            <a:avLst/>
          </a:prstGeom>
          <a:solidFill>
            <a:srgbClr val="1A3F7A"/>
          </a:solidFill>
          <a:ln w="9525" cap="flat" cmpd="sng">
            <a:solidFill>
              <a:srgbClr val="1A3F7A"/>
            </a:solidFill>
            <a:prstDash val="solid"/>
            <a:round/>
            <a:headEnd type="none" w="sm" len="sm"/>
            <a:tailEnd type="none" w="sm" len="sm"/>
          </a:ln>
        </p:spPr>
        <p:txBody>
          <a:bodyPr spcFirstLastPara="1" wrap="square" lIns="91150" tIns="91150" rIns="91150" bIns="9115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p:txBody>
      </p:sp>
      <p:pic>
        <p:nvPicPr>
          <p:cNvPr id="682" name="Google Shape;682;p16" descr="preencoded.png"/>
          <p:cNvPicPr preferRelativeResize="0"/>
          <p:nvPr/>
        </p:nvPicPr>
        <p:blipFill rotWithShape="1">
          <a:blip r:embed="rId4">
            <a:alphaModFix/>
          </a:blip>
          <a:srcRect/>
          <a:stretch/>
        </p:blipFill>
        <p:spPr>
          <a:xfrm>
            <a:off x="4806130" y="2888293"/>
            <a:ext cx="381660" cy="324756"/>
          </a:xfrm>
          <a:prstGeom prst="rect">
            <a:avLst/>
          </a:prstGeom>
          <a:noFill/>
          <a:ln>
            <a:noFill/>
          </a:ln>
        </p:spPr>
      </p:pic>
      <p:sp>
        <p:nvSpPr>
          <p:cNvPr id="683" name="Google Shape;683;p16"/>
          <p:cNvSpPr/>
          <p:nvPr/>
        </p:nvSpPr>
        <p:spPr>
          <a:xfrm>
            <a:off x="5280250" y="2505853"/>
            <a:ext cx="3530303" cy="308543"/>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3F7A"/>
              </a:buClr>
              <a:buSzPts val="1197"/>
              <a:buFont typeface="Calibri"/>
              <a:buNone/>
            </a:pPr>
            <a:r>
              <a:rPr lang="en-US" sz="1197" b="1" i="0" u="none" strike="noStrike" cap="none" dirty="0">
                <a:solidFill>
                  <a:srgbClr val="1A3F7A"/>
                </a:solidFill>
                <a:latin typeface="Calibri"/>
                <a:ea typeface="Calibri"/>
                <a:cs typeface="Calibri"/>
                <a:sym typeface="Calibri"/>
              </a:rPr>
              <a:t>Trading Costs</a:t>
            </a:r>
            <a:endParaRPr sz="1197" b="0" i="0" u="none" strike="noStrike" cap="none" dirty="0">
              <a:solidFill>
                <a:schemeClr val="dk1"/>
              </a:solidFill>
              <a:latin typeface="Calibri"/>
              <a:ea typeface="Calibri"/>
              <a:cs typeface="Calibri"/>
              <a:sym typeface="Calibri"/>
            </a:endParaRPr>
          </a:p>
        </p:txBody>
      </p:sp>
      <p:sp>
        <p:nvSpPr>
          <p:cNvPr id="684" name="Google Shape;684;p16"/>
          <p:cNvSpPr/>
          <p:nvPr/>
        </p:nvSpPr>
        <p:spPr>
          <a:xfrm>
            <a:off x="5280250" y="2870561"/>
            <a:ext cx="3530303" cy="617137"/>
          </a:xfrm>
          <a:prstGeom prst="rect">
            <a:avLst/>
          </a:prstGeom>
          <a:noFill/>
          <a:ln>
            <a:noFill/>
          </a:ln>
        </p:spPr>
        <p:txBody>
          <a:bodyPr spcFirstLastPara="1" wrap="square" lIns="0" tIns="0" rIns="0" bIns="0" anchor="t" anchorCtr="0">
            <a:noAutofit/>
          </a:bodyPr>
          <a:lstStyle/>
          <a:p>
            <a:r>
              <a:rPr lang="en-US" sz="1000" dirty="0">
                <a:latin typeface="Calibri" panose="020F0502020204030204" pitchFamily="34" charset="0"/>
                <a:ea typeface="Calibri" panose="020F0502020204030204" pitchFamily="34" charset="0"/>
                <a:cs typeface="Calibri" panose="020F0502020204030204" pitchFamily="34" charset="0"/>
              </a:rPr>
              <a:t>We assumed costless entry/exit, but we need to consider bid-ask spreads and broker costs because trading is costly. Incorporating these costs could materially reduce the advantage of our strategy vs buy and hold. </a:t>
            </a:r>
            <a:br>
              <a:rPr lang="en-US" sz="1000" dirty="0">
                <a:latin typeface="Calibri" panose="020F0502020204030204" pitchFamily="34" charset="0"/>
                <a:ea typeface="Calibri" panose="020F0502020204030204" pitchFamily="34" charset="0"/>
                <a:cs typeface="Calibri" panose="020F0502020204030204" pitchFamily="34" charset="0"/>
              </a:rPr>
            </a:br>
            <a:endParaRPr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pic>
        <p:nvPicPr>
          <p:cNvPr id="685" name="Google Shape;685;p16" descr="preencoded.png"/>
          <p:cNvPicPr preferRelativeResize="0"/>
          <p:nvPr/>
        </p:nvPicPr>
        <p:blipFill rotWithShape="1">
          <a:blip r:embed="rId3">
            <a:alphaModFix/>
          </a:blip>
          <a:srcRect/>
          <a:stretch/>
        </p:blipFill>
        <p:spPr>
          <a:xfrm>
            <a:off x="4824380" y="1700481"/>
            <a:ext cx="381660" cy="324756"/>
          </a:xfrm>
          <a:prstGeom prst="rect">
            <a:avLst/>
          </a:prstGeom>
          <a:noFill/>
          <a:ln>
            <a:noFill/>
          </a:ln>
        </p:spPr>
      </p:pic>
      <p:sp>
        <p:nvSpPr>
          <p:cNvPr id="3" name="Google Shape;675;p16">
            <a:extLst>
              <a:ext uri="{FF2B5EF4-FFF2-40B4-BE49-F238E27FC236}">
                <a16:creationId xmlns:a16="http://schemas.microsoft.com/office/drawing/2014/main" id="{DFF6A84E-9513-957E-E34D-8EFC9977EBE6}"/>
              </a:ext>
            </a:extLst>
          </p:cNvPr>
          <p:cNvSpPr/>
          <p:nvPr/>
        </p:nvSpPr>
        <p:spPr>
          <a:xfrm>
            <a:off x="2218592" y="3913780"/>
            <a:ext cx="4293815" cy="1225780"/>
          </a:xfrm>
          <a:prstGeom prst="rect">
            <a:avLst/>
          </a:prstGeom>
          <a:solidFill>
            <a:srgbClr val="F7F9FC"/>
          </a:solidFill>
          <a:ln w="9525" cap="flat" cmpd="sng">
            <a:solidFill>
              <a:srgbClr val="CBD5E1"/>
            </a:solidFill>
            <a:prstDash val="solid"/>
            <a:round/>
            <a:headEnd type="none" w="sm" len="sm"/>
            <a:tailEnd type="none" w="sm" len="sm"/>
          </a:ln>
          <a:effectLst>
            <a:outerShdw blurRad="126635" dist="25327" dir="8100000" algn="bl" rotWithShape="0">
              <a:srgbClr val="000000">
                <a:alpha val="10196"/>
              </a:srgbClr>
            </a:outerShdw>
          </a:effectLst>
        </p:spPr>
        <p:txBody>
          <a:bodyPr spcFirstLastPara="1" wrap="square" lIns="91150" tIns="91150" rIns="91150" bIns="9115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 name="Google Shape;676;p16">
            <a:extLst>
              <a:ext uri="{FF2B5EF4-FFF2-40B4-BE49-F238E27FC236}">
                <a16:creationId xmlns:a16="http://schemas.microsoft.com/office/drawing/2014/main" id="{CCBA13A7-2430-2F50-B3B3-1092E0231EDE}"/>
              </a:ext>
            </a:extLst>
          </p:cNvPr>
          <p:cNvSpPr/>
          <p:nvPr/>
        </p:nvSpPr>
        <p:spPr>
          <a:xfrm>
            <a:off x="2218592" y="3887198"/>
            <a:ext cx="136492" cy="1249450"/>
          </a:xfrm>
          <a:prstGeom prst="rect">
            <a:avLst/>
          </a:prstGeom>
          <a:solidFill>
            <a:srgbClr val="1A3F7A"/>
          </a:solidFill>
          <a:ln w="9525" cap="flat" cmpd="sng">
            <a:solidFill>
              <a:srgbClr val="1A3F7A"/>
            </a:solidFill>
            <a:prstDash val="solid"/>
            <a:round/>
            <a:headEnd type="none" w="sm" len="sm"/>
            <a:tailEnd type="none" w="sm" len="sm"/>
          </a:ln>
        </p:spPr>
        <p:txBody>
          <a:bodyPr spcFirstLastPara="1" wrap="square" lIns="91150" tIns="91150" rIns="91150" bIns="9115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7" name="Google Shape;677;p16" descr="preencoded.png">
            <a:extLst>
              <a:ext uri="{FF2B5EF4-FFF2-40B4-BE49-F238E27FC236}">
                <a16:creationId xmlns:a16="http://schemas.microsoft.com/office/drawing/2014/main" id="{1266946C-07B3-0C6D-2824-D68D5AA74741}"/>
              </a:ext>
            </a:extLst>
          </p:cNvPr>
          <p:cNvPicPr preferRelativeResize="0"/>
          <p:nvPr/>
        </p:nvPicPr>
        <p:blipFill rotWithShape="1">
          <a:blip r:embed="rId4">
            <a:alphaModFix/>
          </a:blip>
          <a:srcRect/>
          <a:stretch/>
        </p:blipFill>
        <p:spPr>
          <a:xfrm>
            <a:off x="2400962" y="4324349"/>
            <a:ext cx="381660" cy="324756"/>
          </a:xfrm>
          <a:prstGeom prst="rect">
            <a:avLst/>
          </a:prstGeom>
          <a:noFill/>
          <a:ln>
            <a:noFill/>
          </a:ln>
        </p:spPr>
      </p:pic>
      <p:sp>
        <p:nvSpPr>
          <p:cNvPr id="9" name="Google Shape;678;p16">
            <a:extLst>
              <a:ext uri="{FF2B5EF4-FFF2-40B4-BE49-F238E27FC236}">
                <a16:creationId xmlns:a16="http://schemas.microsoft.com/office/drawing/2014/main" id="{07BB90D9-B4FD-652D-DF9F-D8E83D903F5B}"/>
              </a:ext>
            </a:extLst>
          </p:cNvPr>
          <p:cNvSpPr/>
          <p:nvPr/>
        </p:nvSpPr>
        <p:spPr>
          <a:xfrm>
            <a:off x="2856831" y="3941909"/>
            <a:ext cx="3530303" cy="308543"/>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3F7A"/>
              </a:buClr>
              <a:buSzPts val="1197"/>
              <a:buFont typeface="Calibri"/>
              <a:buNone/>
            </a:pPr>
            <a:r>
              <a:rPr lang="en-US" sz="1197" b="1" dirty="0">
                <a:solidFill>
                  <a:srgbClr val="1A3F7A"/>
                </a:solidFill>
                <a:latin typeface="Calibri"/>
                <a:ea typeface="Calibri"/>
                <a:cs typeface="Calibri"/>
                <a:sym typeface="Calibri"/>
              </a:rPr>
              <a:t>Not Fully Capturing Total Returns</a:t>
            </a:r>
            <a:endParaRPr sz="1197" b="0" i="0" u="none" strike="noStrike" cap="none" dirty="0">
              <a:solidFill>
                <a:schemeClr val="dk1"/>
              </a:solidFill>
              <a:latin typeface="Calibri"/>
              <a:ea typeface="Calibri"/>
              <a:cs typeface="Calibri"/>
              <a:sym typeface="Calibri"/>
            </a:endParaRPr>
          </a:p>
        </p:txBody>
      </p:sp>
      <p:sp>
        <p:nvSpPr>
          <p:cNvPr id="11" name="Google Shape;679;p16">
            <a:extLst>
              <a:ext uri="{FF2B5EF4-FFF2-40B4-BE49-F238E27FC236}">
                <a16:creationId xmlns:a16="http://schemas.microsoft.com/office/drawing/2014/main" id="{03522767-4AC8-D8CF-8541-FA7B7F4D2C3F}"/>
              </a:ext>
            </a:extLst>
          </p:cNvPr>
          <p:cNvSpPr/>
          <p:nvPr/>
        </p:nvSpPr>
        <p:spPr>
          <a:xfrm>
            <a:off x="2856831" y="4306616"/>
            <a:ext cx="3530303" cy="739395"/>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1E293B"/>
              </a:buClr>
              <a:buSzPts val="997"/>
              <a:buFont typeface="Calibri"/>
              <a:buNone/>
            </a:pPr>
            <a:r>
              <a:rPr lang="en-US" sz="997" b="0" i="0" u="none" strike="noStrike" cap="none" dirty="0">
                <a:solidFill>
                  <a:srgbClr val="1E293B"/>
                </a:solidFill>
                <a:latin typeface="Calibri"/>
                <a:ea typeface="Calibri"/>
                <a:cs typeface="Calibri"/>
                <a:sym typeface="Calibri"/>
              </a:rPr>
              <a:t>EMB returns are calculated from historical closing prices rather than dividend-adjusted prices. Because EMB makes monthly distributions, the strategy measures price returns rather than total investor returns. Since EMB makes cash distributions via dividends, these aren’t captured in the returns we calculate. </a:t>
            </a:r>
            <a:endParaRPr sz="997" b="0" i="0" u="none" strike="noStrike" cap="none" dirty="0">
              <a:solidFill>
                <a:srgbClr val="1E293B"/>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690"/>
        <p:cNvGrpSpPr/>
        <p:nvPr/>
      </p:nvGrpSpPr>
      <p:grpSpPr>
        <a:xfrm>
          <a:off x="0" y="0"/>
          <a:ext cx="0" cy="0"/>
          <a:chOff x="0" y="0"/>
          <a:chExt cx="0" cy="0"/>
        </a:xfrm>
      </p:grpSpPr>
      <p:sp>
        <p:nvSpPr>
          <p:cNvPr id="691" name="Google Shape;691;p7"/>
          <p:cNvSpPr/>
          <p:nvPr/>
        </p:nvSpPr>
        <p:spPr>
          <a:xfrm>
            <a:off x="457200" y="146304"/>
            <a:ext cx="2194560" cy="274320"/>
          </a:xfrm>
          <a:prstGeom prst="rect">
            <a:avLst/>
          </a:prstGeom>
          <a:solidFill>
            <a:srgbClr val="2B6CB0"/>
          </a:solidFill>
          <a:ln w="9525" cap="flat" cmpd="sng">
            <a:solidFill>
              <a:srgbClr val="2B6CB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92" name="Google Shape;692;p7"/>
          <p:cNvSpPr/>
          <p:nvPr/>
        </p:nvSpPr>
        <p:spPr>
          <a:xfrm>
            <a:off x="457200" y="146304"/>
            <a:ext cx="2194560" cy="27432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FFFFFF"/>
              </a:buClr>
              <a:buSzPts val="850"/>
              <a:buFont typeface="Calibri"/>
              <a:buNone/>
            </a:pPr>
            <a:r>
              <a:rPr lang="en-US" sz="1050" b="1" i="0" u="none" strike="noStrike" cap="none">
                <a:solidFill>
                  <a:srgbClr val="FFFFFF"/>
                </a:solidFill>
                <a:latin typeface="Calibri"/>
                <a:ea typeface="Calibri"/>
                <a:cs typeface="Calibri"/>
                <a:sym typeface="Calibri"/>
              </a:rPr>
              <a:t>MODEL 1 &amp; 2 — OLS ASSUMPTIONS</a:t>
            </a:r>
            <a:endParaRPr sz="1050" b="0" i="0" u="none" strike="noStrike" cap="none">
              <a:solidFill>
                <a:schemeClr val="dk1"/>
              </a:solidFill>
              <a:latin typeface="Calibri"/>
              <a:ea typeface="Calibri"/>
              <a:cs typeface="Calibri"/>
              <a:sym typeface="Calibri"/>
            </a:endParaRPr>
          </a:p>
        </p:txBody>
      </p:sp>
      <p:sp>
        <p:nvSpPr>
          <p:cNvPr id="693" name="Google Shape;693;p7"/>
          <p:cNvSpPr/>
          <p:nvPr/>
        </p:nvSpPr>
        <p:spPr>
          <a:xfrm>
            <a:off x="457200" y="502920"/>
            <a:ext cx="8229600" cy="658368"/>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C1A35"/>
              </a:buClr>
              <a:buSzPts val="2900"/>
              <a:buFont typeface="Georgia"/>
              <a:buNone/>
            </a:pPr>
            <a:r>
              <a:rPr lang="en-US" sz="2900" b="1" i="0" u="none" strike="noStrike" cap="none">
                <a:solidFill>
                  <a:srgbClr val="0C1A35"/>
                </a:solidFill>
                <a:latin typeface="Georgia"/>
                <a:ea typeface="Georgia"/>
                <a:cs typeface="Georgia"/>
                <a:sym typeface="Georgia"/>
              </a:rPr>
              <a:t>OLS Assumptions Are Violated in Practice</a:t>
            </a:r>
            <a:endParaRPr sz="2900" b="0" i="0" u="none" strike="noStrike" cap="none">
              <a:solidFill>
                <a:schemeClr val="dk1"/>
              </a:solidFill>
              <a:latin typeface="Calibri"/>
              <a:ea typeface="Calibri"/>
              <a:cs typeface="Calibri"/>
              <a:sym typeface="Calibri"/>
            </a:endParaRPr>
          </a:p>
        </p:txBody>
      </p:sp>
      <p:sp>
        <p:nvSpPr>
          <p:cNvPr id="694" name="Google Shape;694;p7"/>
          <p:cNvSpPr/>
          <p:nvPr/>
        </p:nvSpPr>
        <p:spPr>
          <a:xfrm>
            <a:off x="457200" y="1207008"/>
            <a:ext cx="8229600" cy="27432"/>
          </a:xfrm>
          <a:prstGeom prst="rect">
            <a:avLst/>
          </a:prstGeom>
          <a:solidFill>
            <a:srgbClr val="2B6CB0"/>
          </a:solidFill>
          <a:ln w="9525" cap="flat" cmpd="sng">
            <a:solidFill>
              <a:srgbClr val="2B6CB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95" name="Google Shape;695;p7"/>
          <p:cNvSpPr/>
          <p:nvPr/>
        </p:nvSpPr>
        <p:spPr>
          <a:xfrm>
            <a:off x="457250" y="4572000"/>
            <a:ext cx="8229600" cy="402300"/>
          </a:xfrm>
          <a:prstGeom prst="rect">
            <a:avLst/>
          </a:prstGeom>
          <a:solidFill>
            <a:srgbClr val="F7F9FC"/>
          </a:solidFill>
          <a:ln w="9525" cap="flat" cmpd="sng">
            <a:solidFill>
              <a:srgbClr val="CBD5E1"/>
            </a:solidFill>
            <a:prstDash val="solid"/>
            <a:round/>
            <a:headEnd type="none" w="sm" len="sm"/>
            <a:tailEnd type="none" w="sm" len="sm"/>
          </a:ln>
          <a:effectLst>
            <a:outerShdw blurRad="127000" dist="25400" dir="8100000" algn="bl" rotWithShape="0">
              <a:srgbClr val="000000">
                <a:alpha val="10196"/>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96" name="Google Shape;696;p7"/>
          <p:cNvSpPr/>
          <p:nvPr/>
        </p:nvSpPr>
        <p:spPr>
          <a:xfrm>
            <a:off x="598800" y="4599449"/>
            <a:ext cx="7946400" cy="3474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E293B"/>
              </a:buClr>
              <a:buSzPts val="1050"/>
              <a:buFont typeface="Calibri"/>
              <a:buNone/>
            </a:pPr>
            <a:r>
              <a:rPr lang="en-US" sz="1050" b="0" i="1" u="none" strike="noStrike" cap="none">
                <a:solidFill>
                  <a:srgbClr val="1E293B"/>
                </a:solidFill>
                <a:latin typeface="Calibri"/>
                <a:ea typeface="Calibri"/>
                <a:cs typeface="Calibri"/>
                <a:sym typeface="Calibri"/>
              </a:rPr>
              <a:t>Kurtosis reference: Normal distribution has a kurtosis of </a:t>
            </a:r>
            <a:r>
              <a:rPr lang="en-US" sz="1050" b="0" i="1" u="none" strike="noStrike" cap="none">
                <a:solidFill>
                  <a:srgbClr val="1E293B"/>
                </a:solidFill>
                <a:latin typeface="Calibri"/>
                <a:ea typeface="Calibri"/>
                <a:cs typeface="Calibri"/>
                <a:sym typeface="Calibri"/>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10"/>
                  </a:ext>
                </a:extLst>
              </a:rPr>
              <a:t>3.</a:t>
            </a:r>
            <a:r>
              <a:rPr lang="en-US" sz="1050" b="0" i="1" u="none" strike="noStrike" cap="none">
                <a:solidFill>
                  <a:srgbClr val="1E293B"/>
                </a:solidFill>
                <a:latin typeface="Calibri"/>
                <a:ea typeface="Calibri"/>
                <a:cs typeface="Calibri"/>
                <a:sym typeface="Calibri"/>
              </a:rPr>
              <a:t> Financial data has kurtosis levels typically around 5–15+, meaning extreme moves are far more common than OLS assumes.</a:t>
            </a:r>
            <a:endParaRPr sz="1050" b="0" i="0" u="none" strike="noStrike" cap="none">
              <a:solidFill>
                <a:schemeClr val="dk1"/>
              </a:solidFill>
              <a:latin typeface="Calibri"/>
              <a:ea typeface="Calibri"/>
              <a:cs typeface="Calibri"/>
              <a:sym typeface="Calibri"/>
            </a:endParaRPr>
          </a:p>
        </p:txBody>
      </p:sp>
      <p:sp>
        <p:nvSpPr>
          <p:cNvPr id="697" name="Google Shape;697;p7"/>
          <p:cNvSpPr/>
          <p:nvPr/>
        </p:nvSpPr>
        <p:spPr>
          <a:xfrm>
            <a:off x="4709150" y="1371600"/>
            <a:ext cx="3977700" cy="1463100"/>
          </a:xfrm>
          <a:prstGeom prst="rect">
            <a:avLst/>
          </a:prstGeom>
          <a:solidFill>
            <a:srgbClr val="F7F9FC"/>
          </a:solidFill>
          <a:ln w="9525" cap="flat" cmpd="sng">
            <a:solidFill>
              <a:srgbClr val="CBD5E1"/>
            </a:solidFill>
            <a:prstDash val="solid"/>
            <a:round/>
            <a:headEnd type="none" w="sm" len="sm"/>
            <a:tailEnd type="none" w="sm" len="sm"/>
          </a:ln>
          <a:effectLst>
            <a:outerShdw blurRad="127000" dist="25400" dir="8100000" algn="bl" rotWithShape="0">
              <a:srgbClr val="000000">
                <a:alpha val="10196"/>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98" name="Google Shape;698;p7"/>
          <p:cNvSpPr/>
          <p:nvPr/>
        </p:nvSpPr>
        <p:spPr>
          <a:xfrm>
            <a:off x="4709160" y="1371600"/>
            <a:ext cx="91500" cy="1463100"/>
          </a:xfrm>
          <a:prstGeom prst="rect">
            <a:avLst/>
          </a:prstGeom>
          <a:solidFill>
            <a:srgbClr val="B91C1C"/>
          </a:solidFill>
          <a:ln w="9525" cap="flat" cmpd="sng">
            <a:solidFill>
              <a:srgbClr val="B91C1C"/>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99" name="Google Shape;699;p7"/>
          <p:cNvSpPr/>
          <p:nvPr/>
        </p:nvSpPr>
        <p:spPr>
          <a:xfrm>
            <a:off x="5073350" y="1506360"/>
            <a:ext cx="3337500" cy="2958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B91C1C"/>
              </a:buClr>
              <a:buSzPts val="1200"/>
              <a:buFont typeface="Calibri"/>
              <a:buNone/>
            </a:pPr>
            <a:r>
              <a:rPr lang="en-US" sz="1300" b="1" i="0" u="none" strike="noStrike" cap="none" dirty="0">
                <a:solidFill>
                  <a:srgbClr val="B91C1C"/>
                </a:solidFill>
                <a:latin typeface="Calibri"/>
                <a:ea typeface="Calibri"/>
                <a:cs typeface="Calibri"/>
                <a:sym typeface="Calibri"/>
              </a:rPr>
              <a:t>Heteroskedasticity</a:t>
            </a:r>
            <a:endParaRPr sz="1300" b="0" i="0" u="none" strike="noStrike" cap="none" dirty="0">
              <a:solidFill>
                <a:schemeClr val="dk1"/>
              </a:solidFill>
              <a:latin typeface="Calibri"/>
              <a:ea typeface="Calibri"/>
              <a:cs typeface="Calibri"/>
              <a:sym typeface="Calibri"/>
            </a:endParaRPr>
          </a:p>
        </p:txBody>
      </p:sp>
      <p:sp>
        <p:nvSpPr>
          <p:cNvPr id="700" name="Google Shape;700;p7"/>
          <p:cNvSpPr/>
          <p:nvPr/>
        </p:nvSpPr>
        <p:spPr>
          <a:xfrm>
            <a:off x="5073350" y="1885468"/>
            <a:ext cx="3337500" cy="682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1E293B"/>
              </a:buClr>
              <a:buSzPts val="1050"/>
              <a:buFont typeface="Calibri"/>
              <a:buNone/>
            </a:pPr>
            <a:r>
              <a:rPr lang="en-US" sz="1250" b="0" i="0" u="none" strike="noStrike" cap="none" dirty="0">
                <a:solidFill>
                  <a:srgbClr val="1E293B"/>
                </a:solidFill>
                <a:latin typeface="Calibri"/>
                <a:ea typeface="Calibri"/>
                <a:cs typeface="Calibri"/>
                <a:sym typeface="Calibri"/>
              </a:rPr>
              <a:t>Volatility clustering: tiny errors in calm markets, massive errors during crises. Error variance is NOT constant over time.</a:t>
            </a:r>
            <a:endParaRPr sz="1250" b="0" i="0" u="none" strike="noStrike" cap="none" dirty="0">
              <a:solidFill>
                <a:schemeClr val="dk1"/>
              </a:solidFill>
              <a:latin typeface="Calibri"/>
              <a:ea typeface="Calibri"/>
              <a:cs typeface="Calibri"/>
              <a:sym typeface="Calibri"/>
            </a:endParaRPr>
          </a:p>
        </p:txBody>
      </p:sp>
      <p:sp>
        <p:nvSpPr>
          <p:cNvPr id="701" name="Google Shape;701;p7"/>
          <p:cNvSpPr/>
          <p:nvPr/>
        </p:nvSpPr>
        <p:spPr>
          <a:xfrm>
            <a:off x="4709150" y="2985524"/>
            <a:ext cx="3977700" cy="1463100"/>
          </a:xfrm>
          <a:prstGeom prst="rect">
            <a:avLst/>
          </a:prstGeom>
          <a:solidFill>
            <a:srgbClr val="F7F9FC"/>
          </a:solidFill>
          <a:ln w="9525" cap="flat" cmpd="sng">
            <a:solidFill>
              <a:srgbClr val="CBD5E1"/>
            </a:solidFill>
            <a:prstDash val="solid"/>
            <a:round/>
            <a:headEnd type="none" w="sm" len="sm"/>
            <a:tailEnd type="none" w="sm" len="sm"/>
          </a:ln>
          <a:effectLst>
            <a:outerShdw blurRad="127000" dist="25400" dir="8100000" algn="bl" rotWithShape="0">
              <a:srgbClr val="000000">
                <a:alpha val="10196"/>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02" name="Google Shape;702;p7"/>
          <p:cNvSpPr/>
          <p:nvPr/>
        </p:nvSpPr>
        <p:spPr>
          <a:xfrm>
            <a:off x="4709160" y="2990728"/>
            <a:ext cx="91500" cy="1463100"/>
          </a:xfrm>
          <a:prstGeom prst="rect">
            <a:avLst/>
          </a:prstGeom>
          <a:solidFill>
            <a:srgbClr val="B91C1C"/>
          </a:solidFill>
          <a:ln w="9525" cap="flat" cmpd="sng">
            <a:solidFill>
              <a:srgbClr val="E8A02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03" name="Google Shape;703;p7"/>
          <p:cNvSpPr/>
          <p:nvPr/>
        </p:nvSpPr>
        <p:spPr>
          <a:xfrm>
            <a:off x="5029250" y="3099899"/>
            <a:ext cx="3337500" cy="2958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E8A020"/>
              </a:buClr>
              <a:buSzPts val="1200"/>
              <a:buFont typeface="Calibri"/>
              <a:buNone/>
            </a:pPr>
            <a:r>
              <a:rPr lang="en-US" sz="1300" b="1" i="0" u="none" strike="noStrike" cap="none" dirty="0">
                <a:solidFill>
                  <a:srgbClr val="B91C1C"/>
                </a:solidFill>
                <a:latin typeface="Calibri"/>
                <a:ea typeface="Calibri"/>
                <a:cs typeface="Calibri"/>
                <a:sym typeface="Calibri"/>
              </a:rPr>
              <a:t>Multicollinearity</a:t>
            </a:r>
            <a:endParaRPr sz="1300" b="0" i="0" u="none" strike="noStrike" cap="none" dirty="0">
              <a:solidFill>
                <a:srgbClr val="B91C1C"/>
              </a:solidFill>
              <a:latin typeface="Calibri"/>
              <a:ea typeface="Calibri"/>
              <a:cs typeface="Calibri"/>
              <a:sym typeface="Calibri"/>
            </a:endParaRPr>
          </a:p>
        </p:txBody>
      </p:sp>
      <p:sp>
        <p:nvSpPr>
          <p:cNvPr id="704" name="Google Shape;704;p7"/>
          <p:cNvSpPr/>
          <p:nvPr/>
        </p:nvSpPr>
        <p:spPr>
          <a:xfrm>
            <a:off x="5073350" y="3513093"/>
            <a:ext cx="3337500" cy="6822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E293B"/>
              </a:buClr>
              <a:buSzPts val="1050"/>
              <a:buFont typeface="Calibri"/>
              <a:buNone/>
            </a:pPr>
            <a:r>
              <a:rPr lang="en-US" sz="1250" b="0" i="0" u="none" strike="noStrike" cap="none">
                <a:solidFill>
                  <a:srgbClr val="1E293B"/>
                </a:solidFill>
                <a:latin typeface="Calibri"/>
                <a:ea typeface="Calibri"/>
                <a:cs typeface="Calibri"/>
                <a:sym typeface="Calibri"/>
              </a:rPr>
              <a:t>Δ VIX and Δ Credit Spread are 0.46 correlated. They share explanatory power, inflating standard errors in multi-factor models.</a:t>
            </a:r>
            <a:endParaRPr sz="1250" b="0" i="0" u="none" strike="noStrike" cap="none">
              <a:solidFill>
                <a:srgbClr val="1E293B"/>
              </a:solidFill>
              <a:latin typeface="Calibri"/>
              <a:ea typeface="Calibri"/>
              <a:cs typeface="Calibri"/>
              <a:sym typeface="Calibri"/>
            </a:endParaRPr>
          </a:p>
          <a:p>
            <a:pPr marL="0" marR="0" lvl="0" indent="0" algn="l" rtl="0">
              <a:lnSpc>
                <a:spcPct val="100000"/>
              </a:lnSpc>
              <a:spcBef>
                <a:spcPts val="0"/>
              </a:spcBef>
              <a:spcAft>
                <a:spcPts val="0"/>
              </a:spcAft>
              <a:buClr>
                <a:srgbClr val="1E293B"/>
              </a:buClr>
              <a:buSzPts val="1050"/>
              <a:buFont typeface="Calibri"/>
              <a:buNone/>
            </a:pPr>
            <a:endParaRPr sz="1050" b="0" i="0" u="none" strike="noStrike" cap="none">
              <a:solidFill>
                <a:srgbClr val="1E293B"/>
              </a:solidFill>
              <a:latin typeface="Calibri"/>
              <a:ea typeface="Calibri"/>
              <a:cs typeface="Calibri"/>
              <a:sym typeface="Calibri"/>
            </a:endParaRPr>
          </a:p>
        </p:txBody>
      </p:sp>
      <p:sp>
        <p:nvSpPr>
          <p:cNvPr id="705" name="Google Shape;705;p7"/>
          <p:cNvSpPr/>
          <p:nvPr/>
        </p:nvSpPr>
        <p:spPr>
          <a:xfrm>
            <a:off x="502850" y="1371600"/>
            <a:ext cx="3977700" cy="1463100"/>
          </a:xfrm>
          <a:prstGeom prst="rect">
            <a:avLst/>
          </a:prstGeom>
          <a:solidFill>
            <a:srgbClr val="F7F9FC"/>
          </a:solidFill>
          <a:ln w="9525" cap="flat" cmpd="sng">
            <a:solidFill>
              <a:srgbClr val="CBD5E1"/>
            </a:solidFill>
            <a:prstDash val="solid"/>
            <a:round/>
            <a:headEnd type="none" w="sm" len="sm"/>
            <a:tailEnd type="none" w="sm" len="sm"/>
          </a:ln>
          <a:effectLst>
            <a:outerShdw blurRad="127000" dist="25400" dir="8100000" algn="bl" rotWithShape="0">
              <a:srgbClr val="000000">
                <a:alpha val="10196"/>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06" name="Google Shape;706;p7"/>
          <p:cNvSpPr/>
          <p:nvPr/>
        </p:nvSpPr>
        <p:spPr>
          <a:xfrm>
            <a:off x="844250" y="1506348"/>
            <a:ext cx="3337500" cy="2958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B91C1C"/>
              </a:buClr>
              <a:buSzPts val="1200"/>
              <a:buFont typeface="Calibri"/>
              <a:buNone/>
            </a:pPr>
            <a:r>
              <a:rPr lang="en-US" sz="1300" b="1" i="0" u="none" strike="noStrike" cap="none" dirty="0">
                <a:solidFill>
                  <a:srgbClr val="B91C1C"/>
                </a:solidFill>
                <a:latin typeface="Calibri"/>
                <a:ea typeface="Calibri"/>
                <a:cs typeface="Calibri"/>
                <a:sym typeface="Calibri"/>
              </a:rPr>
              <a:t>Autocorrelation</a:t>
            </a:r>
            <a:endParaRPr sz="1300" b="0" i="0" u="none" strike="noStrike" cap="none" dirty="0">
              <a:solidFill>
                <a:schemeClr val="dk1"/>
              </a:solidFill>
              <a:latin typeface="Calibri"/>
              <a:ea typeface="Calibri"/>
              <a:cs typeface="Calibri"/>
              <a:sym typeface="Calibri"/>
            </a:endParaRPr>
          </a:p>
        </p:txBody>
      </p:sp>
      <p:sp>
        <p:nvSpPr>
          <p:cNvPr id="707" name="Google Shape;707;p7"/>
          <p:cNvSpPr/>
          <p:nvPr/>
        </p:nvSpPr>
        <p:spPr>
          <a:xfrm>
            <a:off x="777310" y="1741038"/>
            <a:ext cx="3655840" cy="1089029"/>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E293B"/>
              </a:buClr>
              <a:buSzPts val="1050"/>
              <a:buFont typeface="Calibri"/>
              <a:buNone/>
            </a:pPr>
            <a:r>
              <a:rPr lang="en-US" sz="1250" b="0" i="0" u="none" strike="noStrike" cap="none" dirty="0">
                <a:solidFill>
                  <a:srgbClr val="1E293B"/>
                </a:solidFill>
                <a:latin typeface="Calibri" panose="020F0502020204030204" pitchFamily="34" charset="0"/>
                <a:ea typeface="Calibri" panose="020F0502020204030204" pitchFamily="34" charset="0"/>
                <a:cs typeface="Calibri" panose="020F0502020204030204" pitchFamily="34" charset="0"/>
                <a:sym typeface="Calibri"/>
              </a:rPr>
              <a:t>If model underpredicts during a crash, it also underpredicts the next day. Durbin Watson statistics slightly below 2 for all regression outputs, so there is mildly positive first-order autocorrelation. (See footnote for more info)</a:t>
            </a:r>
            <a:endParaRPr sz="1250" b="0" i="0" u="none" strike="noStrike" cap="none" dirty="0">
              <a:solidFill>
                <a:srgbClr val="1E293B"/>
              </a:solidFill>
              <a:latin typeface="Calibri" panose="020F0502020204030204" pitchFamily="34" charset="0"/>
              <a:ea typeface="Calibri" panose="020F0502020204030204" pitchFamily="34" charset="0"/>
              <a:cs typeface="Calibri" panose="020F0502020204030204" pitchFamily="34" charset="0"/>
              <a:sym typeface="Calibri"/>
            </a:endParaRPr>
          </a:p>
          <a:p>
            <a:pPr marL="0" marR="0" lvl="0" indent="0" algn="l" rtl="0">
              <a:lnSpc>
                <a:spcPct val="100000"/>
              </a:lnSpc>
              <a:spcBef>
                <a:spcPts val="0"/>
              </a:spcBef>
              <a:spcAft>
                <a:spcPts val="0"/>
              </a:spcAft>
              <a:buClr>
                <a:srgbClr val="1E293B"/>
              </a:buClr>
              <a:buSzPts val="1050"/>
              <a:buFont typeface="Calibri"/>
              <a:buNone/>
            </a:pPr>
            <a:endParaRPr sz="1050" b="0" i="0" u="none" strike="noStrike" cap="none" dirty="0">
              <a:solidFill>
                <a:srgbClr val="1E293B"/>
              </a:solidFill>
              <a:latin typeface="Calibri"/>
              <a:ea typeface="Calibri"/>
              <a:cs typeface="Calibri"/>
              <a:sym typeface="Calibri"/>
            </a:endParaRPr>
          </a:p>
        </p:txBody>
      </p:sp>
      <p:sp>
        <p:nvSpPr>
          <p:cNvPr id="708" name="Google Shape;708;p7"/>
          <p:cNvSpPr/>
          <p:nvPr/>
        </p:nvSpPr>
        <p:spPr>
          <a:xfrm>
            <a:off x="457210" y="1371604"/>
            <a:ext cx="91500" cy="1463100"/>
          </a:xfrm>
          <a:prstGeom prst="rect">
            <a:avLst/>
          </a:prstGeom>
          <a:solidFill>
            <a:srgbClr val="B91C1C"/>
          </a:solidFill>
          <a:ln w="9525" cap="flat" cmpd="sng">
            <a:solidFill>
              <a:srgbClr val="B91C1C"/>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09" name="Google Shape;709;p7"/>
          <p:cNvSpPr/>
          <p:nvPr/>
        </p:nvSpPr>
        <p:spPr>
          <a:xfrm>
            <a:off x="502850" y="2985524"/>
            <a:ext cx="3977700" cy="1463100"/>
          </a:xfrm>
          <a:prstGeom prst="rect">
            <a:avLst/>
          </a:prstGeom>
          <a:solidFill>
            <a:srgbClr val="F7F9FC"/>
          </a:solidFill>
          <a:ln w="9525" cap="flat" cmpd="sng">
            <a:solidFill>
              <a:srgbClr val="CBD5E1"/>
            </a:solidFill>
            <a:prstDash val="solid"/>
            <a:round/>
            <a:headEnd type="none" w="sm" len="sm"/>
            <a:tailEnd type="none" w="sm" len="sm"/>
          </a:ln>
          <a:effectLst>
            <a:outerShdw blurRad="127000" dist="25400" dir="8100000" algn="bl" rotWithShape="0">
              <a:srgbClr val="000000">
                <a:alpha val="10196"/>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p:txBody>
      </p:sp>
      <p:sp>
        <p:nvSpPr>
          <p:cNvPr id="710" name="Google Shape;710;p7"/>
          <p:cNvSpPr/>
          <p:nvPr/>
        </p:nvSpPr>
        <p:spPr>
          <a:xfrm>
            <a:off x="457198" y="2990721"/>
            <a:ext cx="91500" cy="1463100"/>
          </a:xfrm>
          <a:prstGeom prst="rect">
            <a:avLst/>
          </a:prstGeom>
          <a:solidFill>
            <a:srgbClr val="B91C1C"/>
          </a:solidFill>
          <a:ln w="9525" cap="flat" cmpd="sng">
            <a:solidFill>
              <a:srgbClr val="B91C1C"/>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11" name="Google Shape;711;p7"/>
          <p:cNvSpPr/>
          <p:nvPr/>
        </p:nvSpPr>
        <p:spPr>
          <a:xfrm>
            <a:off x="879550" y="3099899"/>
            <a:ext cx="3337500" cy="2958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B91C1C"/>
              </a:buClr>
              <a:buSzPts val="1200"/>
              <a:buFont typeface="Calibri"/>
              <a:buNone/>
            </a:pPr>
            <a:r>
              <a:rPr lang="en-US" sz="1300" b="1" i="0" u="none" strike="noStrike" cap="none" dirty="0">
                <a:solidFill>
                  <a:srgbClr val="B91C1C"/>
                </a:solidFill>
                <a:latin typeface="Calibri"/>
                <a:ea typeface="Calibri"/>
                <a:cs typeface="Calibri"/>
                <a:sym typeface="Calibri"/>
              </a:rPr>
              <a:t>Normal Residuals </a:t>
            </a:r>
            <a:endParaRPr sz="1300" b="0" i="0" u="none" strike="noStrike" cap="none" dirty="0">
              <a:solidFill>
                <a:schemeClr val="dk1"/>
              </a:solidFill>
              <a:latin typeface="Calibri"/>
              <a:ea typeface="Calibri"/>
              <a:cs typeface="Calibri"/>
              <a:sym typeface="Calibri"/>
            </a:endParaRPr>
          </a:p>
        </p:txBody>
      </p:sp>
      <p:sp>
        <p:nvSpPr>
          <p:cNvPr id="712" name="Google Shape;712;p7"/>
          <p:cNvSpPr/>
          <p:nvPr/>
        </p:nvSpPr>
        <p:spPr>
          <a:xfrm>
            <a:off x="879550" y="3513099"/>
            <a:ext cx="3337500" cy="682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1E293B"/>
              </a:buClr>
              <a:buSzPts val="1050"/>
              <a:buFont typeface="Calibri"/>
              <a:buNone/>
            </a:pPr>
            <a:r>
              <a:rPr lang="en-US" sz="1250" b="0" i="0" u="none" strike="noStrike" cap="none">
                <a:solidFill>
                  <a:srgbClr val="1E293B"/>
                </a:solidFill>
                <a:latin typeface="Calibri"/>
                <a:ea typeface="Calibri"/>
                <a:cs typeface="Calibri"/>
                <a:sym typeface="Calibri"/>
              </a:rPr>
              <a:t>Financial data has fat tails (high kurtosis &gt; 3). Extreme events happen far more often than a normal distribution predicts.</a:t>
            </a:r>
            <a:endParaRPr sz="1250" b="0" i="0" u="none" strike="noStrike" cap="none">
              <a:solidFill>
                <a:schemeClr val="dk1"/>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17"/>
        <p:cNvGrpSpPr/>
        <p:nvPr/>
      </p:nvGrpSpPr>
      <p:grpSpPr>
        <a:xfrm>
          <a:off x="0" y="0"/>
          <a:ext cx="0" cy="0"/>
          <a:chOff x="0" y="0"/>
          <a:chExt cx="0" cy="0"/>
        </a:xfrm>
      </p:grpSpPr>
      <p:sp>
        <p:nvSpPr>
          <p:cNvPr id="718" name="Google Shape;718;p17"/>
          <p:cNvSpPr/>
          <p:nvPr/>
        </p:nvSpPr>
        <p:spPr>
          <a:xfrm>
            <a:off x="457200" y="108956"/>
            <a:ext cx="8229600" cy="6585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FFFFFF"/>
              </a:buClr>
              <a:buSzPts val="3400"/>
              <a:buFont typeface="Georgia"/>
              <a:buNone/>
            </a:pPr>
            <a:r>
              <a:rPr lang="en-US" sz="3400" b="1" i="0" u="none" strike="noStrike" cap="none">
                <a:solidFill>
                  <a:srgbClr val="0C1A35"/>
                </a:solidFill>
                <a:latin typeface="Georgia"/>
                <a:ea typeface="Georgia"/>
                <a:cs typeface="Georgia"/>
                <a:sym typeface="Georgia"/>
              </a:rPr>
              <a:t>What's Next?</a:t>
            </a:r>
            <a:endParaRPr sz="3400" b="0" i="0" u="none" strike="noStrike" cap="none">
              <a:solidFill>
                <a:srgbClr val="0C1A35"/>
              </a:solidFill>
              <a:latin typeface="Calibri"/>
              <a:ea typeface="Calibri"/>
              <a:cs typeface="Calibri"/>
              <a:sym typeface="Calibri"/>
            </a:endParaRPr>
          </a:p>
        </p:txBody>
      </p:sp>
      <p:sp>
        <p:nvSpPr>
          <p:cNvPr id="719" name="Google Shape;719;p17"/>
          <p:cNvSpPr/>
          <p:nvPr/>
        </p:nvSpPr>
        <p:spPr>
          <a:xfrm>
            <a:off x="457200" y="623945"/>
            <a:ext cx="8229600" cy="329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BFD7ED"/>
              </a:buClr>
              <a:buSzPts val="1400"/>
              <a:buFont typeface="Calibri"/>
              <a:buNone/>
            </a:pPr>
            <a:r>
              <a:rPr lang="en-US" sz="1400" b="0" i="1" u="none" strike="noStrike" cap="none" dirty="0">
                <a:solidFill>
                  <a:srgbClr val="0C1A35"/>
                </a:solidFill>
                <a:latin typeface="Calibri"/>
                <a:ea typeface="Calibri"/>
                <a:cs typeface="Calibri"/>
                <a:sym typeface="Calibri"/>
              </a:rPr>
              <a:t>Potential extensions to improve predictive power</a:t>
            </a:r>
            <a:endParaRPr sz="1400" b="0" i="0" u="none" strike="noStrike" cap="none" dirty="0">
              <a:solidFill>
                <a:srgbClr val="0C1A35"/>
              </a:solidFill>
              <a:latin typeface="Calibri"/>
              <a:ea typeface="Calibri"/>
              <a:cs typeface="Calibri"/>
              <a:sym typeface="Calibri"/>
            </a:endParaRPr>
          </a:p>
        </p:txBody>
      </p:sp>
      <p:sp>
        <p:nvSpPr>
          <p:cNvPr id="720" name="Google Shape;720;p17"/>
          <p:cNvSpPr/>
          <p:nvPr/>
        </p:nvSpPr>
        <p:spPr>
          <a:xfrm>
            <a:off x="342900" y="1000327"/>
            <a:ext cx="4114800" cy="1867500"/>
          </a:xfrm>
          <a:prstGeom prst="rect">
            <a:avLst/>
          </a:prstGeom>
          <a:solidFill>
            <a:schemeClr val="lt1"/>
          </a:solidFill>
          <a:ln w="9525" cap="flat" cmpd="sng">
            <a:solidFill>
              <a:srgbClr val="0F766E"/>
            </a:solidFill>
            <a:prstDash val="solid"/>
            <a:round/>
            <a:headEnd type="none" w="sm" len="sm"/>
            <a:tailEnd type="none" w="sm" len="sm"/>
          </a:ln>
          <a:effectLst>
            <a:outerShdw blurRad="127000" dist="25400" dir="8100000" algn="bl" rotWithShape="0">
              <a:srgbClr val="000000">
                <a:alpha val="10196"/>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721" name="Google Shape;721;p17" descr="preencoded.png"/>
          <p:cNvPicPr preferRelativeResize="0"/>
          <p:nvPr/>
        </p:nvPicPr>
        <p:blipFill rotWithShape="1">
          <a:blip r:embed="rId3">
            <a:alphaModFix/>
          </a:blip>
          <a:srcRect/>
          <a:stretch/>
        </p:blipFill>
        <p:spPr>
          <a:xfrm>
            <a:off x="520126" y="1108900"/>
            <a:ext cx="475488" cy="475488"/>
          </a:xfrm>
          <a:prstGeom prst="rect">
            <a:avLst/>
          </a:prstGeom>
          <a:noFill/>
          <a:ln>
            <a:noFill/>
          </a:ln>
        </p:spPr>
      </p:pic>
      <p:sp>
        <p:nvSpPr>
          <p:cNvPr id="722" name="Google Shape;722;p17"/>
          <p:cNvSpPr/>
          <p:nvPr/>
        </p:nvSpPr>
        <p:spPr>
          <a:xfrm>
            <a:off x="1120140" y="1000327"/>
            <a:ext cx="3200400" cy="488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E8A020"/>
              </a:buClr>
              <a:buSzPts val="1300"/>
              <a:buFont typeface="Calibri"/>
              <a:buNone/>
            </a:pPr>
            <a:r>
              <a:rPr lang="en-US" sz="1500" b="1" dirty="0">
                <a:solidFill>
                  <a:srgbClr val="2B6CB0"/>
                </a:solidFill>
                <a:latin typeface="Calibri"/>
                <a:ea typeface="Calibri"/>
                <a:cs typeface="Calibri"/>
                <a:sym typeface="Calibri"/>
              </a:rPr>
              <a:t>Geopolitical Risk Index</a:t>
            </a:r>
            <a:endParaRPr sz="1500" b="0" i="0" u="none" strike="noStrike" cap="none" dirty="0">
              <a:solidFill>
                <a:srgbClr val="2B6CB0"/>
              </a:solidFill>
              <a:latin typeface="Calibri"/>
              <a:ea typeface="Calibri"/>
              <a:cs typeface="Calibri"/>
              <a:sym typeface="Calibri"/>
            </a:endParaRPr>
          </a:p>
        </p:txBody>
      </p:sp>
      <p:sp>
        <p:nvSpPr>
          <p:cNvPr id="723" name="Google Shape;723;p17"/>
          <p:cNvSpPr/>
          <p:nvPr/>
        </p:nvSpPr>
        <p:spPr>
          <a:xfrm>
            <a:off x="4686300" y="1000327"/>
            <a:ext cx="4114800" cy="1867500"/>
          </a:xfrm>
          <a:prstGeom prst="rect">
            <a:avLst/>
          </a:prstGeom>
          <a:solidFill>
            <a:schemeClr val="lt1"/>
          </a:solidFill>
          <a:ln w="9525" cap="flat" cmpd="sng">
            <a:solidFill>
              <a:srgbClr val="0F766E"/>
            </a:solidFill>
            <a:prstDash val="solid"/>
            <a:round/>
            <a:headEnd type="none" w="sm" len="sm"/>
            <a:tailEnd type="none" w="sm" len="sm"/>
          </a:ln>
          <a:effectLst>
            <a:outerShdw blurRad="127000" dist="25400" dir="8100000" algn="bl" rotWithShape="0">
              <a:srgbClr val="000000">
                <a:alpha val="10196"/>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724" name="Google Shape;724;p17" descr="preencoded.png"/>
          <p:cNvPicPr preferRelativeResize="0"/>
          <p:nvPr/>
        </p:nvPicPr>
        <p:blipFill rotWithShape="1">
          <a:blip r:embed="rId4">
            <a:alphaModFix/>
          </a:blip>
          <a:srcRect/>
          <a:stretch/>
        </p:blipFill>
        <p:spPr>
          <a:xfrm>
            <a:off x="4871026" y="1070962"/>
            <a:ext cx="475488" cy="564588"/>
          </a:xfrm>
          <a:prstGeom prst="rect">
            <a:avLst/>
          </a:prstGeom>
          <a:noFill/>
          <a:ln>
            <a:noFill/>
          </a:ln>
        </p:spPr>
      </p:pic>
      <p:sp>
        <p:nvSpPr>
          <p:cNvPr id="725" name="Google Shape;725;p17"/>
          <p:cNvSpPr/>
          <p:nvPr/>
        </p:nvSpPr>
        <p:spPr>
          <a:xfrm>
            <a:off x="5463540" y="994249"/>
            <a:ext cx="3200400" cy="488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E8A020"/>
              </a:buClr>
              <a:buSzPts val="1300"/>
              <a:buFont typeface="Calibri"/>
              <a:buNone/>
            </a:pPr>
            <a:r>
              <a:rPr lang="en-US" sz="1500" b="1" i="0" u="none" strike="noStrike" cap="none" dirty="0">
                <a:solidFill>
                  <a:srgbClr val="2B6CB0"/>
                </a:solidFill>
                <a:latin typeface="Calibri"/>
                <a:ea typeface="Calibri"/>
                <a:cs typeface="Calibri"/>
                <a:sym typeface="Calibri"/>
              </a:rPr>
              <a:t>Rolling Model Re-Estimation</a:t>
            </a:r>
            <a:endParaRPr sz="1300" b="0" i="0" u="none" strike="noStrike" cap="none" dirty="0">
              <a:solidFill>
                <a:srgbClr val="2B6CB0"/>
              </a:solidFill>
              <a:latin typeface="Calibri"/>
              <a:ea typeface="Calibri"/>
              <a:cs typeface="Calibri"/>
              <a:sym typeface="Calibri"/>
            </a:endParaRPr>
          </a:p>
        </p:txBody>
      </p:sp>
      <p:sp>
        <p:nvSpPr>
          <p:cNvPr id="729" name="Google Shape;729;p17"/>
          <p:cNvSpPr/>
          <p:nvPr/>
        </p:nvSpPr>
        <p:spPr>
          <a:xfrm>
            <a:off x="304100" y="3079997"/>
            <a:ext cx="4114800" cy="1993603"/>
          </a:xfrm>
          <a:prstGeom prst="rect">
            <a:avLst/>
          </a:prstGeom>
          <a:solidFill>
            <a:schemeClr val="lt1"/>
          </a:solidFill>
          <a:ln w="9525" cap="flat" cmpd="sng">
            <a:solidFill>
              <a:srgbClr val="166534"/>
            </a:solidFill>
            <a:prstDash val="solid"/>
            <a:round/>
            <a:headEnd type="none" w="sm" len="sm"/>
            <a:tailEnd type="none" w="sm" len="sm"/>
          </a:ln>
          <a:effectLst>
            <a:outerShdw blurRad="127000" dist="25400" dir="8100000" algn="bl" rotWithShape="0">
              <a:srgbClr val="000000">
                <a:alpha val="10196"/>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730" name="Google Shape;730;p17" descr="preencoded.png"/>
          <p:cNvPicPr preferRelativeResize="0"/>
          <p:nvPr/>
        </p:nvPicPr>
        <p:blipFill rotWithShape="1">
          <a:blip r:embed="rId5">
            <a:alphaModFix/>
          </a:blip>
          <a:srcRect/>
          <a:stretch/>
        </p:blipFill>
        <p:spPr>
          <a:xfrm>
            <a:off x="488826" y="3239354"/>
            <a:ext cx="475488" cy="559203"/>
          </a:xfrm>
          <a:prstGeom prst="rect">
            <a:avLst/>
          </a:prstGeom>
          <a:noFill/>
          <a:ln>
            <a:noFill/>
          </a:ln>
        </p:spPr>
      </p:pic>
      <p:sp>
        <p:nvSpPr>
          <p:cNvPr id="731" name="Google Shape;731;p17"/>
          <p:cNvSpPr/>
          <p:nvPr/>
        </p:nvSpPr>
        <p:spPr>
          <a:xfrm>
            <a:off x="1081340" y="3050275"/>
            <a:ext cx="3200400" cy="4842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E8A020"/>
              </a:buClr>
              <a:buSzPts val="1300"/>
              <a:buFont typeface="Calibri"/>
              <a:buNone/>
            </a:pPr>
            <a:r>
              <a:rPr lang="en-US" sz="1500" b="1" i="0" u="none" strike="noStrike" cap="none" dirty="0">
                <a:solidFill>
                  <a:srgbClr val="2B6CB0"/>
                </a:solidFill>
                <a:latin typeface="Calibri"/>
                <a:ea typeface="Calibri"/>
                <a:cs typeface="Calibri"/>
                <a:sym typeface="Calibri"/>
              </a:rPr>
              <a:t>Move to Country-Level EM Bonds</a:t>
            </a:r>
            <a:endParaRPr sz="1500" b="0" i="0" u="none" strike="noStrike" cap="none" dirty="0">
              <a:solidFill>
                <a:srgbClr val="2B6CB0"/>
              </a:solidFill>
              <a:latin typeface="Calibri"/>
              <a:ea typeface="Calibri"/>
              <a:cs typeface="Calibri"/>
              <a:sym typeface="Calibri"/>
            </a:endParaRPr>
          </a:p>
        </p:txBody>
      </p:sp>
      <p:sp>
        <p:nvSpPr>
          <p:cNvPr id="733" name="Google Shape;733;p17"/>
          <p:cNvSpPr/>
          <p:nvPr/>
        </p:nvSpPr>
        <p:spPr>
          <a:xfrm>
            <a:off x="1131130" y="1437313"/>
            <a:ext cx="3200400" cy="1186500"/>
          </a:xfrm>
          <a:prstGeom prst="rect">
            <a:avLst/>
          </a:prstGeom>
          <a:noFill/>
          <a:ln>
            <a:noFill/>
          </a:ln>
        </p:spPr>
        <p:txBody>
          <a:bodyPr spcFirstLastPara="1" wrap="square" lIns="25400" tIns="50800" rIns="0" bIns="0" anchor="t" anchorCtr="0">
            <a:noAutofit/>
          </a:bodyPr>
          <a:lstStyle/>
          <a:p>
            <a:pPr marL="342900" marR="0" lvl="0" indent="-342900" algn="l" rtl="0">
              <a:lnSpc>
                <a:spcPct val="90000"/>
              </a:lnSpc>
              <a:spcBef>
                <a:spcPts val="0"/>
              </a:spcBef>
              <a:spcAft>
                <a:spcPts val="0"/>
              </a:spcAft>
              <a:buClr>
                <a:srgbClr val="1E293B"/>
              </a:buClr>
              <a:buSzPts val="1100"/>
              <a:buFont typeface="Calibri"/>
              <a:buChar char="•"/>
            </a:pPr>
            <a:r>
              <a:rPr lang="en-US" sz="1100" b="0" i="0" u="none" strike="noStrike" cap="none" dirty="0">
                <a:solidFill>
                  <a:srgbClr val="1E293B"/>
                </a:solidFill>
                <a:latin typeface="Calibri"/>
                <a:ea typeface="Calibri"/>
                <a:cs typeface="Calibri"/>
                <a:sym typeface="Calibri"/>
              </a:rPr>
              <a:t>Caldara-Iacoviello GPR Index quantifies geopolitical/geoeconomic risk by analyzing international newspaper coverage. </a:t>
            </a:r>
          </a:p>
          <a:p>
            <a:pPr marL="342900" marR="0" lvl="0" indent="-342900" algn="l" rtl="0">
              <a:lnSpc>
                <a:spcPct val="90000"/>
              </a:lnSpc>
              <a:spcBef>
                <a:spcPts val="0"/>
              </a:spcBef>
              <a:spcAft>
                <a:spcPts val="0"/>
              </a:spcAft>
              <a:buClr>
                <a:srgbClr val="1E293B"/>
              </a:buClr>
              <a:buSzPts val="1100"/>
              <a:buFont typeface="Calibri"/>
              <a:buChar char="•"/>
            </a:pPr>
            <a:endParaRPr lang="en-US" sz="1100" b="0" i="0" u="none" strike="noStrike" cap="none" dirty="0">
              <a:solidFill>
                <a:srgbClr val="1E293B"/>
              </a:solidFill>
              <a:latin typeface="Calibri"/>
              <a:ea typeface="Calibri"/>
              <a:cs typeface="Calibri"/>
              <a:sym typeface="Calibri"/>
            </a:endParaRPr>
          </a:p>
          <a:p>
            <a:pPr marL="342900" marR="0" lvl="0" indent="-342900" algn="l" rtl="0">
              <a:lnSpc>
                <a:spcPct val="90000"/>
              </a:lnSpc>
              <a:spcBef>
                <a:spcPts val="0"/>
              </a:spcBef>
              <a:spcAft>
                <a:spcPts val="0"/>
              </a:spcAft>
              <a:buClr>
                <a:srgbClr val="1E293B"/>
              </a:buClr>
              <a:buSzPts val="1100"/>
              <a:buFont typeface="Calibri"/>
              <a:buChar char="•"/>
            </a:pPr>
            <a:r>
              <a:rPr lang="en-US" sz="1100" dirty="0">
                <a:solidFill>
                  <a:srgbClr val="1E293B"/>
                </a:solidFill>
                <a:latin typeface="Calibri"/>
                <a:ea typeface="Calibri"/>
                <a:cs typeface="Calibri"/>
                <a:sym typeface="Calibri"/>
              </a:rPr>
              <a:t>Current model does not capture geopolitical risk directly. </a:t>
            </a:r>
          </a:p>
          <a:p>
            <a:pPr marL="342900" marR="0" lvl="0" indent="-342900" algn="l" rtl="0">
              <a:lnSpc>
                <a:spcPct val="90000"/>
              </a:lnSpc>
              <a:spcBef>
                <a:spcPts val="0"/>
              </a:spcBef>
              <a:spcAft>
                <a:spcPts val="0"/>
              </a:spcAft>
              <a:buClr>
                <a:srgbClr val="1E293B"/>
              </a:buClr>
              <a:buSzPts val="1100"/>
              <a:buFont typeface="Calibri"/>
              <a:buChar char="•"/>
            </a:pPr>
            <a:endParaRPr lang="en-US" sz="1100" dirty="0">
              <a:solidFill>
                <a:srgbClr val="1E293B"/>
              </a:solidFill>
              <a:latin typeface="Calibri"/>
              <a:ea typeface="Calibri"/>
              <a:cs typeface="Calibri"/>
              <a:sym typeface="Calibri"/>
            </a:endParaRPr>
          </a:p>
          <a:p>
            <a:pPr marL="342900" marR="0" lvl="0" indent="-342900" algn="l" rtl="0">
              <a:lnSpc>
                <a:spcPct val="90000"/>
              </a:lnSpc>
              <a:spcBef>
                <a:spcPts val="0"/>
              </a:spcBef>
              <a:spcAft>
                <a:spcPts val="0"/>
              </a:spcAft>
              <a:buClr>
                <a:srgbClr val="1E293B"/>
              </a:buClr>
              <a:buSzPts val="1100"/>
              <a:buFont typeface="Calibri"/>
              <a:buChar char="•"/>
            </a:pPr>
            <a:r>
              <a:rPr lang="en-US" sz="1100" dirty="0">
                <a:solidFill>
                  <a:srgbClr val="1E293B"/>
                </a:solidFill>
                <a:latin typeface="Calibri"/>
                <a:ea typeface="Calibri"/>
                <a:cs typeface="Calibri"/>
                <a:sym typeface="Calibri"/>
              </a:rPr>
              <a:t>Test if changes in geopolitical risk provide incremental out-of-sample predictive power.</a:t>
            </a:r>
          </a:p>
        </p:txBody>
      </p:sp>
      <p:sp>
        <p:nvSpPr>
          <p:cNvPr id="734" name="Google Shape;734;p17"/>
          <p:cNvSpPr/>
          <p:nvPr/>
        </p:nvSpPr>
        <p:spPr>
          <a:xfrm>
            <a:off x="5463540" y="1340826"/>
            <a:ext cx="3200400" cy="1522187"/>
          </a:xfrm>
          <a:prstGeom prst="rect">
            <a:avLst/>
          </a:prstGeom>
          <a:noFill/>
          <a:ln>
            <a:noFill/>
          </a:ln>
        </p:spPr>
        <p:txBody>
          <a:bodyPr spcFirstLastPara="1" wrap="square" lIns="25400" tIns="50800" rIns="0" bIns="0" anchor="t" anchorCtr="0">
            <a:noAutofit/>
          </a:bodyPr>
          <a:lstStyle/>
          <a:p>
            <a:pPr marL="342900" marR="0" lvl="0" indent="-342900" algn="l" rtl="0">
              <a:lnSpc>
                <a:spcPct val="80000"/>
              </a:lnSpc>
              <a:spcBef>
                <a:spcPts val="1000"/>
              </a:spcBef>
              <a:spcAft>
                <a:spcPts val="0"/>
              </a:spcAft>
              <a:buClr>
                <a:srgbClr val="1E293B"/>
              </a:buClr>
              <a:buSzPts val="1100"/>
              <a:buFont typeface="Calibri"/>
              <a:buChar char="•"/>
            </a:pPr>
            <a:r>
              <a:rPr lang="en-US" sz="1100" b="0" i="0" u="none" strike="noStrike" cap="none" dirty="0">
                <a:solidFill>
                  <a:srgbClr val="1E293B"/>
                </a:solidFill>
                <a:latin typeface="Calibri"/>
                <a:ea typeface="Calibri"/>
                <a:cs typeface="Calibri"/>
                <a:sym typeface="Calibri"/>
              </a:rPr>
              <a:t>The current 70/30 split assumes factor relationships remain stable over the entire period.</a:t>
            </a:r>
          </a:p>
          <a:p>
            <a:pPr marL="342900" marR="0" lvl="0" indent="-342900" algn="l" rtl="0">
              <a:lnSpc>
                <a:spcPct val="80000"/>
              </a:lnSpc>
              <a:spcBef>
                <a:spcPts val="1000"/>
              </a:spcBef>
              <a:spcAft>
                <a:spcPts val="0"/>
              </a:spcAft>
              <a:buClr>
                <a:srgbClr val="1E293B"/>
              </a:buClr>
              <a:buSzPts val="1100"/>
              <a:buFont typeface="Calibri"/>
              <a:buChar char="•"/>
            </a:pPr>
            <a:r>
              <a:rPr lang="en-US" sz="1100" b="0" i="0" u="none" strike="noStrike" cap="none" dirty="0">
                <a:solidFill>
                  <a:srgbClr val="1E293B"/>
                </a:solidFill>
                <a:latin typeface="Calibri"/>
                <a:ea typeface="Calibri"/>
                <a:cs typeface="Calibri"/>
                <a:sym typeface="Calibri"/>
              </a:rPr>
              <a:t>Relationships among factors may change as market regimes and monetary conditions evolve.</a:t>
            </a:r>
          </a:p>
          <a:p>
            <a:pPr marL="342900" marR="0" lvl="0" indent="-342900" algn="l" rtl="0">
              <a:lnSpc>
                <a:spcPct val="80000"/>
              </a:lnSpc>
              <a:spcBef>
                <a:spcPts val="1000"/>
              </a:spcBef>
              <a:spcAft>
                <a:spcPts val="0"/>
              </a:spcAft>
              <a:buClr>
                <a:srgbClr val="1E293B"/>
              </a:buClr>
              <a:buSzPts val="1100"/>
              <a:buFont typeface="Calibri"/>
              <a:buChar char="•"/>
            </a:pPr>
            <a:r>
              <a:rPr lang="en-US" sz="1100" b="0" i="0" u="none" strike="noStrike" cap="none" dirty="0">
                <a:solidFill>
                  <a:srgbClr val="1E293B"/>
                </a:solidFill>
                <a:latin typeface="Calibri"/>
                <a:ea typeface="Calibri"/>
                <a:cs typeface="Calibri"/>
                <a:sym typeface="Calibri"/>
              </a:rPr>
              <a:t>Re-estimate the model periodically using </a:t>
            </a:r>
            <a:r>
              <a:rPr lang="en-US" sz="1100" dirty="0">
                <a:solidFill>
                  <a:srgbClr val="1E293B"/>
                </a:solidFill>
                <a:latin typeface="Calibri"/>
                <a:ea typeface="Calibri"/>
                <a:cs typeface="Calibri"/>
                <a:sym typeface="Calibri"/>
              </a:rPr>
              <a:t>a </a:t>
            </a:r>
            <a:r>
              <a:rPr lang="en-US" sz="1100" b="0" i="0" u="none" strike="noStrike" cap="none" dirty="0">
                <a:solidFill>
                  <a:srgbClr val="1E293B"/>
                </a:solidFill>
                <a:latin typeface="Calibri"/>
                <a:ea typeface="Calibri"/>
                <a:cs typeface="Calibri"/>
                <a:sym typeface="Calibri"/>
              </a:rPr>
              <a:t>rolling window </a:t>
            </a:r>
            <a:r>
              <a:rPr lang="en-US" sz="1100" dirty="0">
                <a:solidFill>
                  <a:srgbClr val="1E293B"/>
                </a:solidFill>
                <a:latin typeface="Calibri"/>
                <a:ea typeface="Calibri"/>
                <a:cs typeface="Calibri"/>
                <a:sym typeface="Calibri"/>
              </a:rPr>
              <a:t>to account for changing factor relationships over time. </a:t>
            </a:r>
            <a:endParaRPr sz="1100" b="0" i="0" u="none" strike="noStrike" cap="none" dirty="0">
              <a:solidFill>
                <a:srgbClr val="1E293B"/>
              </a:solidFill>
              <a:latin typeface="Calibri"/>
              <a:ea typeface="Calibri"/>
              <a:cs typeface="Calibri"/>
              <a:sym typeface="Calibri"/>
            </a:endParaRPr>
          </a:p>
        </p:txBody>
      </p:sp>
      <p:sp>
        <p:nvSpPr>
          <p:cNvPr id="735" name="Google Shape;735;p17"/>
          <p:cNvSpPr/>
          <p:nvPr/>
        </p:nvSpPr>
        <p:spPr>
          <a:xfrm>
            <a:off x="1081329" y="3411648"/>
            <a:ext cx="3200400" cy="1533664"/>
          </a:xfrm>
          <a:prstGeom prst="rect">
            <a:avLst/>
          </a:prstGeom>
          <a:noFill/>
          <a:ln>
            <a:noFill/>
          </a:ln>
        </p:spPr>
        <p:txBody>
          <a:bodyPr spcFirstLastPara="1" wrap="square" lIns="25400" tIns="50800" rIns="0" bIns="0" anchor="t" anchorCtr="0">
            <a:noAutofit/>
          </a:bodyPr>
          <a:lstStyle/>
          <a:p>
            <a:pPr marL="342900" marR="0" lvl="0" indent="-342900" algn="l" rtl="0">
              <a:lnSpc>
                <a:spcPct val="90000"/>
              </a:lnSpc>
              <a:spcBef>
                <a:spcPts val="0"/>
              </a:spcBef>
              <a:spcAft>
                <a:spcPts val="0"/>
              </a:spcAft>
              <a:buClr>
                <a:srgbClr val="1E293B"/>
              </a:buClr>
              <a:buSzPts val="1100"/>
              <a:buFont typeface="Calibri"/>
              <a:buChar char="•"/>
            </a:pPr>
            <a:r>
              <a:rPr lang="en-US" sz="1100" b="0" i="0" u="none" strike="noStrike" cap="none" dirty="0">
                <a:solidFill>
                  <a:srgbClr val="1E293B"/>
                </a:solidFill>
                <a:latin typeface="Calibri"/>
                <a:ea typeface="Calibri"/>
                <a:cs typeface="Calibri"/>
                <a:sym typeface="Calibri"/>
              </a:rPr>
              <a:t>EMB aggregates bonds across countries with very different exposures to commodities, geopolitics, currencies, and capital flows.</a:t>
            </a:r>
          </a:p>
          <a:p>
            <a:pPr marL="342900" marR="0" lvl="0" indent="-342900" algn="l" rtl="0">
              <a:lnSpc>
                <a:spcPct val="90000"/>
              </a:lnSpc>
              <a:spcBef>
                <a:spcPts val="0"/>
              </a:spcBef>
              <a:spcAft>
                <a:spcPts val="0"/>
              </a:spcAft>
              <a:buClr>
                <a:srgbClr val="1E293B"/>
              </a:buClr>
              <a:buSzPts val="1100"/>
              <a:buFont typeface="Calibri"/>
              <a:buChar char="•"/>
            </a:pPr>
            <a:endParaRPr sz="1100" b="0" i="0" u="none" strike="noStrike" cap="none" dirty="0">
              <a:solidFill>
                <a:srgbClr val="1E293B"/>
              </a:solidFill>
              <a:latin typeface="Calibri"/>
              <a:ea typeface="Calibri"/>
              <a:cs typeface="Calibri"/>
              <a:sym typeface="Calibri"/>
            </a:endParaRPr>
          </a:p>
          <a:p>
            <a:pPr marL="342900" marR="0" lvl="0" indent="-342900" algn="l" rtl="0">
              <a:lnSpc>
                <a:spcPct val="90000"/>
              </a:lnSpc>
              <a:spcBef>
                <a:spcPts val="0"/>
              </a:spcBef>
              <a:spcAft>
                <a:spcPts val="0"/>
              </a:spcAft>
              <a:buClr>
                <a:srgbClr val="1E293B"/>
              </a:buClr>
              <a:buSzPts val="1100"/>
              <a:buFont typeface="Calibri"/>
              <a:buChar char="•"/>
            </a:pPr>
            <a:r>
              <a:rPr lang="en-US" sz="1100" b="0" i="0" u="none" strike="noStrike" cap="none" dirty="0">
                <a:solidFill>
                  <a:srgbClr val="1E293B"/>
                </a:solidFill>
                <a:latin typeface="Calibri"/>
                <a:ea typeface="Calibri"/>
                <a:cs typeface="Calibri"/>
                <a:sym typeface="Calibri"/>
              </a:rPr>
              <a:t>Aggregation dilutes country-specific relationships between macro shocks and bond returns.</a:t>
            </a:r>
          </a:p>
          <a:p>
            <a:pPr marL="342900" marR="0" lvl="0" indent="-342900" algn="l" rtl="0">
              <a:lnSpc>
                <a:spcPct val="90000"/>
              </a:lnSpc>
              <a:spcBef>
                <a:spcPts val="0"/>
              </a:spcBef>
              <a:spcAft>
                <a:spcPts val="0"/>
              </a:spcAft>
              <a:buClr>
                <a:srgbClr val="1E293B"/>
              </a:buClr>
              <a:buSzPts val="1100"/>
              <a:buFont typeface="Calibri"/>
              <a:buChar char="•"/>
            </a:pPr>
            <a:endParaRPr sz="1100" b="0" i="0" u="none" strike="noStrike" cap="none" dirty="0">
              <a:solidFill>
                <a:srgbClr val="1E293B"/>
              </a:solidFill>
              <a:latin typeface="Calibri"/>
              <a:ea typeface="Calibri"/>
              <a:cs typeface="Calibri"/>
              <a:sym typeface="Calibri"/>
            </a:endParaRPr>
          </a:p>
          <a:p>
            <a:pPr marL="342900" marR="0" lvl="0" indent="-342900" algn="l" rtl="0">
              <a:lnSpc>
                <a:spcPct val="90000"/>
              </a:lnSpc>
              <a:spcBef>
                <a:spcPts val="0"/>
              </a:spcBef>
              <a:spcAft>
                <a:spcPts val="0"/>
              </a:spcAft>
              <a:buClr>
                <a:srgbClr val="1E293B"/>
              </a:buClr>
              <a:buSzPts val="1100"/>
              <a:buFont typeface="Calibri"/>
              <a:buChar char="•"/>
            </a:pPr>
            <a:r>
              <a:rPr lang="en-US" sz="1100" b="0" i="0" u="none" strike="noStrike" cap="none" dirty="0">
                <a:solidFill>
                  <a:srgbClr val="1E293B"/>
                </a:solidFill>
                <a:latin typeface="Calibri"/>
                <a:ea typeface="Calibri"/>
                <a:cs typeface="Calibri"/>
                <a:sym typeface="Calibri"/>
              </a:rPr>
              <a:t>Extend the strategy to country-specific EM bond indices and construct a </a:t>
            </a:r>
            <a:r>
              <a:rPr lang="en-US" sz="1100" dirty="0">
                <a:solidFill>
                  <a:srgbClr val="1E293B"/>
                </a:solidFill>
                <a:latin typeface="Calibri"/>
                <a:ea typeface="Calibri"/>
                <a:cs typeface="Calibri"/>
                <a:sym typeface="Calibri"/>
              </a:rPr>
              <a:t>portfolio </a:t>
            </a:r>
            <a:r>
              <a:rPr lang="en-US" sz="1100" b="0" i="0" u="none" strike="noStrike" cap="none" dirty="0">
                <a:solidFill>
                  <a:srgbClr val="1E293B"/>
                </a:solidFill>
                <a:latin typeface="Calibri"/>
                <a:ea typeface="Calibri"/>
                <a:cs typeface="Calibri"/>
                <a:sym typeface="Calibri"/>
              </a:rPr>
              <a:t>based on predicted returns. </a:t>
            </a:r>
          </a:p>
        </p:txBody>
      </p:sp>
      <p:sp>
        <p:nvSpPr>
          <p:cNvPr id="736" name="Google Shape;736;p17"/>
          <p:cNvSpPr/>
          <p:nvPr/>
        </p:nvSpPr>
        <p:spPr>
          <a:xfrm>
            <a:off x="304100" y="994250"/>
            <a:ext cx="91500" cy="1890300"/>
          </a:xfrm>
          <a:prstGeom prst="rect">
            <a:avLst/>
          </a:prstGeom>
          <a:solidFill>
            <a:srgbClr val="2B6CB0"/>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38" name="Google Shape;738;p17"/>
          <p:cNvSpPr/>
          <p:nvPr/>
        </p:nvSpPr>
        <p:spPr>
          <a:xfrm>
            <a:off x="4662500" y="994250"/>
            <a:ext cx="91500" cy="1890300"/>
          </a:xfrm>
          <a:prstGeom prst="rect">
            <a:avLst/>
          </a:prstGeom>
          <a:solidFill>
            <a:srgbClr val="2B6CB0"/>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39" name="Google Shape;739;p17"/>
          <p:cNvSpPr/>
          <p:nvPr/>
        </p:nvSpPr>
        <p:spPr>
          <a:xfrm>
            <a:off x="304111" y="3081616"/>
            <a:ext cx="91489" cy="1987723"/>
          </a:xfrm>
          <a:prstGeom prst="rect">
            <a:avLst/>
          </a:prstGeom>
          <a:solidFill>
            <a:srgbClr val="2B6CB0"/>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p:txBody>
      </p:sp>
      <p:sp>
        <p:nvSpPr>
          <p:cNvPr id="3" name="Google Shape;729;p17">
            <a:extLst>
              <a:ext uri="{FF2B5EF4-FFF2-40B4-BE49-F238E27FC236}">
                <a16:creationId xmlns:a16="http://schemas.microsoft.com/office/drawing/2014/main" id="{A797D4AD-EC9E-69DE-1C08-19A5358B5385}"/>
              </a:ext>
            </a:extLst>
          </p:cNvPr>
          <p:cNvSpPr/>
          <p:nvPr/>
        </p:nvSpPr>
        <p:spPr>
          <a:xfrm>
            <a:off x="4686300" y="3075736"/>
            <a:ext cx="4114800" cy="1993603"/>
          </a:xfrm>
          <a:prstGeom prst="rect">
            <a:avLst/>
          </a:prstGeom>
          <a:solidFill>
            <a:schemeClr val="lt1"/>
          </a:solidFill>
          <a:ln w="9525" cap="flat" cmpd="sng">
            <a:solidFill>
              <a:srgbClr val="166534"/>
            </a:solidFill>
            <a:prstDash val="solid"/>
            <a:round/>
            <a:headEnd type="none" w="sm" len="sm"/>
            <a:tailEnd type="none" w="sm" len="sm"/>
          </a:ln>
          <a:effectLst>
            <a:outerShdw blurRad="127000" dist="25400" dir="8100000" algn="bl" rotWithShape="0">
              <a:srgbClr val="000000">
                <a:alpha val="10196"/>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5" name="Google Shape;730;p17" descr="preencoded.png">
            <a:extLst>
              <a:ext uri="{FF2B5EF4-FFF2-40B4-BE49-F238E27FC236}">
                <a16:creationId xmlns:a16="http://schemas.microsoft.com/office/drawing/2014/main" id="{2C437421-D879-FBD1-F845-6230B3421427}"/>
              </a:ext>
            </a:extLst>
          </p:cNvPr>
          <p:cNvPicPr preferRelativeResize="0"/>
          <p:nvPr/>
        </p:nvPicPr>
        <p:blipFill rotWithShape="1">
          <a:blip r:embed="rId5">
            <a:alphaModFix/>
          </a:blip>
          <a:srcRect/>
          <a:stretch/>
        </p:blipFill>
        <p:spPr>
          <a:xfrm>
            <a:off x="4871026" y="3235093"/>
            <a:ext cx="475488" cy="559203"/>
          </a:xfrm>
          <a:prstGeom prst="rect">
            <a:avLst/>
          </a:prstGeom>
          <a:noFill/>
          <a:ln>
            <a:noFill/>
          </a:ln>
        </p:spPr>
      </p:pic>
      <p:sp>
        <p:nvSpPr>
          <p:cNvPr id="7" name="Google Shape;731;p17">
            <a:extLst>
              <a:ext uri="{FF2B5EF4-FFF2-40B4-BE49-F238E27FC236}">
                <a16:creationId xmlns:a16="http://schemas.microsoft.com/office/drawing/2014/main" id="{A94FD700-C99F-710A-49B3-F0B28824878E}"/>
              </a:ext>
            </a:extLst>
          </p:cNvPr>
          <p:cNvSpPr/>
          <p:nvPr/>
        </p:nvSpPr>
        <p:spPr>
          <a:xfrm>
            <a:off x="5463540" y="3046014"/>
            <a:ext cx="3200400" cy="4842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E8A020"/>
              </a:buClr>
              <a:buSzPts val="1300"/>
              <a:buFont typeface="Calibri"/>
              <a:buNone/>
            </a:pPr>
            <a:r>
              <a:rPr lang="en-US" sz="1500" b="1" dirty="0">
                <a:solidFill>
                  <a:srgbClr val="2B6CB0"/>
                </a:solidFill>
                <a:latin typeface="Calibri"/>
                <a:ea typeface="Calibri"/>
                <a:cs typeface="Calibri"/>
                <a:sym typeface="Calibri"/>
              </a:rPr>
              <a:t>Add USD/EM-FX Factor</a:t>
            </a:r>
            <a:endParaRPr sz="1500" b="0" i="0" u="none" strike="noStrike" cap="none" dirty="0">
              <a:solidFill>
                <a:srgbClr val="2B6CB0"/>
              </a:solidFill>
              <a:latin typeface="Calibri"/>
              <a:ea typeface="Calibri"/>
              <a:cs typeface="Calibri"/>
              <a:sym typeface="Calibri"/>
            </a:endParaRPr>
          </a:p>
        </p:txBody>
      </p:sp>
      <p:sp>
        <p:nvSpPr>
          <p:cNvPr id="9" name="Google Shape;735;p17">
            <a:extLst>
              <a:ext uri="{FF2B5EF4-FFF2-40B4-BE49-F238E27FC236}">
                <a16:creationId xmlns:a16="http://schemas.microsoft.com/office/drawing/2014/main" id="{DDB6795E-108E-68F2-27EF-36A0C27D7795}"/>
              </a:ext>
            </a:extLst>
          </p:cNvPr>
          <p:cNvSpPr/>
          <p:nvPr/>
        </p:nvSpPr>
        <p:spPr>
          <a:xfrm>
            <a:off x="5463529" y="3407386"/>
            <a:ext cx="3200400" cy="1736113"/>
          </a:xfrm>
          <a:prstGeom prst="rect">
            <a:avLst/>
          </a:prstGeom>
          <a:noFill/>
          <a:ln>
            <a:noFill/>
          </a:ln>
        </p:spPr>
        <p:txBody>
          <a:bodyPr spcFirstLastPara="1" wrap="square" lIns="25400" tIns="50800" rIns="0" bIns="0" anchor="t" anchorCtr="0">
            <a:noAutofit/>
          </a:bodyPr>
          <a:lstStyle/>
          <a:p>
            <a:pPr marL="342900" marR="0" lvl="0" indent="-342900" algn="l" rtl="0">
              <a:lnSpc>
                <a:spcPct val="90000"/>
              </a:lnSpc>
              <a:spcBef>
                <a:spcPts val="0"/>
              </a:spcBef>
              <a:spcAft>
                <a:spcPts val="0"/>
              </a:spcAft>
              <a:buClr>
                <a:srgbClr val="1E293B"/>
              </a:buClr>
              <a:buSzPts val="1100"/>
              <a:buFont typeface="Calibri"/>
              <a:buChar char="•"/>
            </a:pPr>
            <a:r>
              <a:rPr lang="en-US" sz="1100" b="0" i="0" u="none" strike="noStrike" cap="none" dirty="0">
                <a:solidFill>
                  <a:srgbClr val="1E293B"/>
                </a:solidFill>
                <a:latin typeface="Calibri"/>
                <a:ea typeface="Calibri"/>
                <a:cs typeface="Calibri"/>
                <a:sym typeface="Calibri"/>
              </a:rPr>
              <a:t>A stronger U.S. dollar can increase the local-currency burden of servicing USD-denominated debt for emerging-market sovereigns.</a:t>
            </a:r>
          </a:p>
          <a:p>
            <a:pPr marL="342900" marR="0" lvl="0" indent="-342900" algn="l" rtl="0">
              <a:lnSpc>
                <a:spcPct val="90000"/>
              </a:lnSpc>
              <a:spcBef>
                <a:spcPts val="0"/>
              </a:spcBef>
              <a:spcAft>
                <a:spcPts val="0"/>
              </a:spcAft>
              <a:buClr>
                <a:srgbClr val="1E293B"/>
              </a:buClr>
              <a:buSzPts val="1100"/>
              <a:buFont typeface="Calibri"/>
              <a:buChar char="•"/>
            </a:pPr>
            <a:endParaRPr sz="1100" b="0" i="0" u="none" strike="noStrike" cap="none" dirty="0">
              <a:solidFill>
                <a:srgbClr val="1E293B"/>
              </a:solidFill>
              <a:latin typeface="Calibri"/>
              <a:ea typeface="Calibri"/>
              <a:cs typeface="Calibri"/>
              <a:sym typeface="Calibri"/>
            </a:endParaRPr>
          </a:p>
          <a:p>
            <a:pPr marL="342900" marR="0" lvl="0" indent="-342900" algn="l" rtl="0">
              <a:lnSpc>
                <a:spcPct val="90000"/>
              </a:lnSpc>
              <a:spcBef>
                <a:spcPts val="0"/>
              </a:spcBef>
              <a:spcAft>
                <a:spcPts val="0"/>
              </a:spcAft>
              <a:buClr>
                <a:srgbClr val="1E293B"/>
              </a:buClr>
              <a:buSzPts val="1100"/>
              <a:buFont typeface="Calibri"/>
              <a:buChar char="•"/>
            </a:pPr>
            <a:r>
              <a:rPr lang="en-US" sz="1100" dirty="0">
                <a:solidFill>
                  <a:srgbClr val="1E293B"/>
                </a:solidFill>
                <a:latin typeface="Calibri"/>
                <a:ea typeface="Calibri"/>
                <a:cs typeface="Calibri"/>
                <a:sym typeface="Calibri"/>
              </a:rPr>
              <a:t>More </a:t>
            </a:r>
            <a:r>
              <a:rPr lang="en-US" sz="1100" b="0" i="0" u="none" strike="noStrike" cap="none" dirty="0">
                <a:solidFill>
                  <a:srgbClr val="1E293B"/>
                </a:solidFill>
                <a:latin typeface="Calibri"/>
                <a:ea typeface="Calibri"/>
                <a:cs typeface="Calibri"/>
                <a:sym typeface="Calibri"/>
              </a:rPr>
              <a:t>pressure on sovereign bond prices due to  </a:t>
            </a:r>
            <a:r>
              <a:rPr lang="en-US" sz="1100" dirty="0">
                <a:solidFill>
                  <a:srgbClr val="1E293B"/>
                </a:solidFill>
                <a:latin typeface="Calibri"/>
                <a:ea typeface="Calibri"/>
                <a:cs typeface="Calibri"/>
                <a:sym typeface="Calibri"/>
              </a:rPr>
              <a:t>higher</a:t>
            </a:r>
            <a:r>
              <a:rPr lang="en-US" sz="1100" b="0" i="0" u="none" strike="noStrike" cap="none" dirty="0">
                <a:solidFill>
                  <a:srgbClr val="1E293B"/>
                </a:solidFill>
                <a:latin typeface="Calibri"/>
                <a:ea typeface="Calibri"/>
                <a:cs typeface="Calibri"/>
                <a:sym typeface="Calibri"/>
              </a:rPr>
              <a:t> capital outflows and tighter financial conditions in emerging markets. </a:t>
            </a:r>
          </a:p>
          <a:p>
            <a:pPr marL="342900" marR="0" lvl="0" indent="-342900" algn="l" rtl="0">
              <a:lnSpc>
                <a:spcPct val="90000"/>
              </a:lnSpc>
              <a:spcBef>
                <a:spcPts val="0"/>
              </a:spcBef>
              <a:spcAft>
                <a:spcPts val="0"/>
              </a:spcAft>
              <a:buClr>
                <a:srgbClr val="1E293B"/>
              </a:buClr>
              <a:buSzPts val="1100"/>
              <a:buFont typeface="Calibri"/>
              <a:buChar char="•"/>
            </a:pPr>
            <a:endParaRPr lang="en-US" sz="1100" dirty="0">
              <a:solidFill>
                <a:srgbClr val="1E293B"/>
              </a:solidFill>
              <a:latin typeface="Calibri"/>
              <a:ea typeface="Calibri"/>
              <a:cs typeface="Calibri"/>
              <a:sym typeface="Calibri"/>
            </a:endParaRPr>
          </a:p>
          <a:p>
            <a:pPr marL="342900" marR="0" lvl="0" indent="-342900" algn="l" rtl="0">
              <a:lnSpc>
                <a:spcPct val="100000"/>
              </a:lnSpc>
              <a:spcBef>
                <a:spcPts val="0"/>
              </a:spcBef>
              <a:spcAft>
                <a:spcPts val="0"/>
              </a:spcAft>
              <a:buClr>
                <a:srgbClr val="1E293B"/>
              </a:buClr>
              <a:buSzPts val="1100"/>
              <a:buFont typeface="Calibri"/>
              <a:buChar char="•"/>
            </a:pPr>
            <a:r>
              <a:rPr lang="en-US" sz="1100" dirty="0">
                <a:solidFill>
                  <a:srgbClr val="1E293B"/>
                </a:solidFill>
                <a:latin typeface="Calibri"/>
                <a:ea typeface="Calibri"/>
                <a:cs typeface="Calibri"/>
                <a:sym typeface="Calibri"/>
              </a:rPr>
              <a:t>A </a:t>
            </a:r>
            <a:r>
              <a:rPr lang="en-US" sz="1100" b="0" i="0" u="none" strike="noStrike" cap="none" dirty="0">
                <a:solidFill>
                  <a:srgbClr val="1E293B"/>
                </a:solidFill>
                <a:latin typeface="Calibri"/>
                <a:ea typeface="Calibri"/>
                <a:cs typeface="Calibri"/>
                <a:sym typeface="Calibri"/>
              </a:rPr>
              <a:t>USD or EM-FX factor could help capture the effect of dollar strength and EM currency flows.</a:t>
            </a:r>
          </a:p>
          <a:p>
            <a:pPr marL="342900" marR="0" lvl="0" indent="-342900" algn="l" rtl="0">
              <a:lnSpc>
                <a:spcPct val="90000"/>
              </a:lnSpc>
              <a:spcBef>
                <a:spcPts val="0"/>
              </a:spcBef>
              <a:spcAft>
                <a:spcPts val="0"/>
              </a:spcAft>
              <a:buClr>
                <a:srgbClr val="1E293B"/>
              </a:buClr>
              <a:buSzPts val="1100"/>
              <a:buFont typeface="Calibri"/>
              <a:buChar char="•"/>
            </a:pPr>
            <a:endParaRPr sz="1100" b="0" i="0" u="none" strike="noStrike" cap="none" dirty="0">
              <a:solidFill>
                <a:srgbClr val="1E293B"/>
              </a:solidFill>
              <a:latin typeface="Calibri"/>
              <a:ea typeface="Calibri"/>
              <a:cs typeface="Calibri"/>
              <a:sym typeface="Calibri"/>
            </a:endParaRPr>
          </a:p>
        </p:txBody>
      </p:sp>
      <p:sp>
        <p:nvSpPr>
          <p:cNvPr id="11" name="Google Shape;739;p17">
            <a:extLst>
              <a:ext uri="{FF2B5EF4-FFF2-40B4-BE49-F238E27FC236}">
                <a16:creationId xmlns:a16="http://schemas.microsoft.com/office/drawing/2014/main" id="{409A5798-BE7D-E418-48DA-EBB8FCA52896}"/>
              </a:ext>
            </a:extLst>
          </p:cNvPr>
          <p:cNvSpPr/>
          <p:nvPr/>
        </p:nvSpPr>
        <p:spPr>
          <a:xfrm>
            <a:off x="4694535" y="3092459"/>
            <a:ext cx="91489" cy="2021706"/>
          </a:xfrm>
          <a:prstGeom prst="rect">
            <a:avLst/>
          </a:prstGeom>
          <a:solidFill>
            <a:srgbClr val="2B6CB0"/>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717">
          <a:extLst>
            <a:ext uri="{FF2B5EF4-FFF2-40B4-BE49-F238E27FC236}">
              <a16:creationId xmlns:a16="http://schemas.microsoft.com/office/drawing/2014/main" id="{CBF864EF-3FFD-F2F6-FD3C-91788ED49C56}"/>
            </a:ext>
          </a:extLst>
        </p:cNvPr>
        <p:cNvGrpSpPr/>
        <p:nvPr/>
      </p:nvGrpSpPr>
      <p:grpSpPr>
        <a:xfrm>
          <a:off x="0" y="0"/>
          <a:ext cx="0" cy="0"/>
          <a:chOff x="0" y="0"/>
          <a:chExt cx="0" cy="0"/>
        </a:xfrm>
      </p:grpSpPr>
      <p:sp>
        <p:nvSpPr>
          <p:cNvPr id="718" name="Google Shape;718;p17">
            <a:extLst>
              <a:ext uri="{FF2B5EF4-FFF2-40B4-BE49-F238E27FC236}">
                <a16:creationId xmlns:a16="http://schemas.microsoft.com/office/drawing/2014/main" id="{441E6B22-DC84-8BF9-68B4-C068975E641B}"/>
              </a:ext>
            </a:extLst>
          </p:cNvPr>
          <p:cNvSpPr/>
          <p:nvPr/>
        </p:nvSpPr>
        <p:spPr>
          <a:xfrm>
            <a:off x="457200" y="108956"/>
            <a:ext cx="8229600" cy="6585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FFFFFF"/>
              </a:buClr>
              <a:buSzPts val="3400"/>
              <a:buFont typeface="Georgia"/>
              <a:buNone/>
            </a:pPr>
            <a:r>
              <a:rPr lang="en-US" sz="3400" b="1" i="0" u="none" strike="noStrike" cap="none" dirty="0">
                <a:solidFill>
                  <a:srgbClr val="0C1A35"/>
                </a:solidFill>
                <a:latin typeface="Georgia"/>
                <a:ea typeface="Georgia"/>
                <a:cs typeface="Georgia"/>
                <a:sym typeface="Georgia"/>
              </a:rPr>
              <a:t>Key Takeaways</a:t>
            </a:r>
            <a:endParaRPr sz="3400" b="0" i="0" u="none" strike="noStrike" cap="none" dirty="0">
              <a:solidFill>
                <a:srgbClr val="0C1A35"/>
              </a:solidFill>
              <a:latin typeface="Calibri"/>
              <a:ea typeface="Calibri"/>
              <a:cs typeface="Calibri"/>
              <a:sym typeface="Calibri"/>
            </a:endParaRPr>
          </a:p>
        </p:txBody>
      </p:sp>
      <p:sp>
        <p:nvSpPr>
          <p:cNvPr id="719" name="Google Shape;719;p17">
            <a:extLst>
              <a:ext uri="{FF2B5EF4-FFF2-40B4-BE49-F238E27FC236}">
                <a16:creationId xmlns:a16="http://schemas.microsoft.com/office/drawing/2014/main" id="{AAD6E65A-3794-7C55-027F-1B78EF11EAC1}"/>
              </a:ext>
            </a:extLst>
          </p:cNvPr>
          <p:cNvSpPr/>
          <p:nvPr/>
        </p:nvSpPr>
        <p:spPr>
          <a:xfrm>
            <a:off x="457200" y="623945"/>
            <a:ext cx="8229600" cy="329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BFD7ED"/>
              </a:buClr>
              <a:buSzPts val="1400"/>
              <a:buFont typeface="Calibri"/>
              <a:buNone/>
            </a:pPr>
            <a:r>
              <a:rPr lang="en-US" i="1" dirty="0">
                <a:solidFill>
                  <a:srgbClr val="0C1A35"/>
                </a:solidFill>
                <a:latin typeface="Calibri"/>
                <a:ea typeface="Calibri"/>
                <a:cs typeface="Calibri"/>
                <a:sym typeface="Calibri"/>
              </a:rPr>
              <a:t>Main</a:t>
            </a:r>
            <a:r>
              <a:rPr lang="en-US" sz="1400" b="0" i="1" u="none" strike="noStrike" cap="none" dirty="0">
                <a:solidFill>
                  <a:srgbClr val="0C1A35"/>
                </a:solidFill>
                <a:latin typeface="Calibri"/>
                <a:ea typeface="Calibri"/>
                <a:cs typeface="Calibri"/>
                <a:sym typeface="Calibri"/>
              </a:rPr>
              <a:t> Lessons Learned</a:t>
            </a:r>
            <a:endParaRPr lang="en-US" sz="1400" b="0" i="0" u="none" strike="noStrike" cap="none" dirty="0">
              <a:solidFill>
                <a:srgbClr val="0C1A35"/>
              </a:solidFill>
              <a:latin typeface="Calibri"/>
              <a:ea typeface="Calibri"/>
              <a:cs typeface="Calibri"/>
              <a:sym typeface="Calibri"/>
            </a:endParaRPr>
          </a:p>
        </p:txBody>
      </p:sp>
      <p:sp>
        <p:nvSpPr>
          <p:cNvPr id="720" name="Google Shape;720;p17">
            <a:extLst>
              <a:ext uri="{FF2B5EF4-FFF2-40B4-BE49-F238E27FC236}">
                <a16:creationId xmlns:a16="http://schemas.microsoft.com/office/drawing/2014/main" id="{E30C7E0B-429C-BBF0-81A4-3369F42226A4}"/>
              </a:ext>
            </a:extLst>
          </p:cNvPr>
          <p:cNvSpPr/>
          <p:nvPr/>
        </p:nvSpPr>
        <p:spPr>
          <a:xfrm>
            <a:off x="342900" y="1000326"/>
            <a:ext cx="8649846" cy="3908557"/>
          </a:xfrm>
          <a:prstGeom prst="rect">
            <a:avLst/>
          </a:prstGeom>
          <a:solidFill>
            <a:schemeClr val="lt1"/>
          </a:solidFill>
          <a:ln w="9525" cap="flat" cmpd="sng">
            <a:solidFill>
              <a:srgbClr val="0F766E"/>
            </a:solidFill>
            <a:prstDash val="solid"/>
            <a:round/>
            <a:headEnd type="none" w="sm" len="sm"/>
            <a:tailEnd type="none" w="sm" len="sm"/>
          </a:ln>
          <a:effectLst>
            <a:outerShdw blurRad="127000" dist="25400" dir="8100000" algn="bl" rotWithShape="0">
              <a:srgbClr val="000000">
                <a:alpha val="10196"/>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p:txBody>
      </p:sp>
      <p:sp>
        <p:nvSpPr>
          <p:cNvPr id="733" name="Google Shape;733;p17">
            <a:extLst>
              <a:ext uri="{FF2B5EF4-FFF2-40B4-BE49-F238E27FC236}">
                <a16:creationId xmlns:a16="http://schemas.microsoft.com/office/drawing/2014/main" id="{F445FA6D-9EA1-074B-F612-5D8B2575F98F}"/>
              </a:ext>
            </a:extLst>
          </p:cNvPr>
          <p:cNvSpPr/>
          <p:nvPr/>
        </p:nvSpPr>
        <p:spPr>
          <a:xfrm>
            <a:off x="476822" y="1663748"/>
            <a:ext cx="8535547" cy="3169507"/>
          </a:xfrm>
          <a:prstGeom prst="rect">
            <a:avLst/>
          </a:prstGeom>
          <a:noFill/>
          <a:ln>
            <a:noFill/>
          </a:ln>
        </p:spPr>
        <p:txBody>
          <a:bodyPr spcFirstLastPara="1" wrap="square" lIns="25400" tIns="50800" rIns="0" bIns="0" anchor="t" anchorCtr="0">
            <a:noAutofit/>
          </a:bodyPr>
          <a:lstStyle/>
          <a:p>
            <a:r>
              <a:rPr lang="en-US" sz="1100" b="1" dirty="0"/>
              <a:t>1. Statistical Fit ≠ Trading Performance</a:t>
            </a:r>
          </a:p>
          <a:p>
            <a:pPr marL="171450" indent="-171450">
              <a:buFont typeface="Arial" panose="020B0604020202020204" pitchFamily="34" charset="0"/>
              <a:buChar char="•"/>
            </a:pPr>
            <a:r>
              <a:rPr lang="en-US" sz="1100" dirty="0"/>
              <a:t>All models had negative test R², showing that next-day EMB return magnitudes are difficult to predict. However, the multifactor models generated substantially stronger risk-adjusted trading performance.</a:t>
            </a:r>
          </a:p>
          <a:p>
            <a:pPr marL="342900" marR="0" lvl="0" indent="-342900" algn="l" rtl="0">
              <a:lnSpc>
                <a:spcPct val="90000"/>
              </a:lnSpc>
              <a:spcBef>
                <a:spcPts val="0"/>
              </a:spcBef>
              <a:spcAft>
                <a:spcPts val="0"/>
              </a:spcAft>
              <a:buClr>
                <a:srgbClr val="1E293B"/>
              </a:buClr>
              <a:buSzPts val="1100"/>
              <a:buFont typeface="Calibri"/>
              <a:buChar char="•"/>
            </a:pPr>
            <a:endParaRPr lang="en-US" sz="1100" b="0" i="0" u="none" strike="noStrike" cap="none" dirty="0">
              <a:solidFill>
                <a:srgbClr val="1E293B"/>
              </a:solidFill>
              <a:latin typeface="Calibri"/>
              <a:ea typeface="Calibri"/>
              <a:cs typeface="Calibri"/>
              <a:sym typeface="Calibri"/>
            </a:endParaRPr>
          </a:p>
          <a:p>
            <a:r>
              <a:rPr lang="en-US" sz="1100" b="1" dirty="0"/>
              <a:t>2. Combining Factors Improved the Trading Signal</a:t>
            </a:r>
          </a:p>
          <a:p>
            <a:pPr marL="171450" indent="-171450">
              <a:buFont typeface="Arial" panose="020B0604020202020204" pitchFamily="34" charset="0"/>
              <a:buChar char="•"/>
            </a:pPr>
            <a:r>
              <a:rPr lang="en-US" sz="1100" dirty="0"/>
              <a:t>VIX alone produced limited economic value, while combining VIX, credit spreads, and oil generated a much stronger trading strategy.</a:t>
            </a:r>
          </a:p>
          <a:p>
            <a:pPr marL="342900" marR="0" lvl="0" indent="-342900" algn="l" rtl="0">
              <a:lnSpc>
                <a:spcPct val="90000"/>
              </a:lnSpc>
              <a:spcBef>
                <a:spcPts val="0"/>
              </a:spcBef>
              <a:spcAft>
                <a:spcPts val="0"/>
              </a:spcAft>
              <a:buClr>
                <a:srgbClr val="1E293B"/>
              </a:buClr>
              <a:buSzPts val="1100"/>
              <a:buFont typeface="Calibri"/>
              <a:buChar char="•"/>
            </a:pPr>
            <a:endParaRPr lang="en-US" sz="1100" dirty="0">
              <a:solidFill>
                <a:srgbClr val="1E293B"/>
              </a:solidFill>
              <a:latin typeface="Calibri"/>
              <a:ea typeface="Calibri"/>
              <a:cs typeface="Calibri"/>
              <a:sym typeface="Calibri"/>
            </a:endParaRPr>
          </a:p>
          <a:p>
            <a:r>
              <a:rPr lang="en-US" sz="1100" b="1" dirty="0"/>
              <a:t>3. Ridge Provided a Modest Improvement</a:t>
            </a:r>
          </a:p>
          <a:p>
            <a:pPr marL="171450" indent="-171450">
              <a:buFont typeface="Arial" panose="020B0604020202020204" pitchFamily="34" charset="0"/>
              <a:buChar char="•"/>
            </a:pPr>
            <a:r>
              <a:rPr lang="en-US" sz="1100" dirty="0"/>
              <a:t>Ridge regularization slightly improved both out-of-sample R² and Sharpe relative to the unregularized 3-factor model, suggesting some benefit from coefficient shrinkage.</a:t>
            </a:r>
          </a:p>
          <a:p>
            <a:pPr marL="171450" indent="-171450">
              <a:buFont typeface="Arial" panose="020B0604020202020204" pitchFamily="34" charset="0"/>
              <a:buChar char="•"/>
            </a:pPr>
            <a:endParaRPr lang="en-US" sz="1100" b="1" dirty="0"/>
          </a:p>
          <a:p>
            <a:r>
              <a:rPr lang="en-US" sz="1100" b="1" dirty="0"/>
              <a:t>4. Results Are Promising, but Not Yet a Deployable Strategy</a:t>
            </a:r>
          </a:p>
          <a:p>
            <a:pPr marL="171450" indent="-171450">
              <a:buFont typeface="Arial" panose="020B0604020202020204" pitchFamily="34" charset="0"/>
              <a:buChar char="•"/>
            </a:pPr>
            <a:r>
              <a:rPr lang="en-US" sz="1100" dirty="0"/>
              <a:t>The Ridge strategy ended the test period at approximately 1.138 versus 1.090 for buy-and-hold, but transaction costs, cash returns, and EMB distributions are not incorporated.</a:t>
            </a:r>
          </a:p>
          <a:p>
            <a:pPr marL="171450" indent="-171450">
              <a:buFont typeface="Arial" panose="020B0604020202020204" pitchFamily="34" charset="0"/>
              <a:buChar char="•"/>
            </a:pPr>
            <a:endParaRPr lang="en-US" sz="1100" dirty="0"/>
          </a:p>
        </p:txBody>
      </p:sp>
      <p:sp>
        <p:nvSpPr>
          <p:cNvPr id="736" name="Google Shape;736;p17">
            <a:extLst>
              <a:ext uri="{FF2B5EF4-FFF2-40B4-BE49-F238E27FC236}">
                <a16:creationId xmlns:a16="http://schemas.microsoft.com/office/drawing/2014/main" id="{178CC656-0A50-65EC-5C44-A880DD136299}"/>
              </a:ext>
            </a:extLst>
          </p:cNvPr>
          <p:cNvSpPr/>
          <p:nvPr/>
        </p:nvSpPr>
        <p:spPr>
          <a:xfrm>
            <a:off x="304099" y="994250"/>
            <a:ext cx="192345" cy="3956276"/>
          </a:xfrm>
          <a:prstGeom prst="rect">
            <a:avLst/>
          </a:prstGeom>
          <a:solidFill>
            <a:srgbClr val="2B6CB0"/>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4" name="Google Shape;721;p17" descr="preencoded.png">
            <a:extLst>
              <a:ext uri="{FF2B5EF4-FFF2-40B4-BE49-F238E27FC236}">
                <a16:creationId xmlns:a16="http://schemas.microsoft.com/office/drawing/2014/main" id="{2C266ECE-675C-120D-01E9-E0DE09C130E4}"/>
              </a:ext>
            </a:extLst>
          </p:cNvPr>
          <p:cNvPicPr preferRelativeResize="0"/>
          <p:nvPr/>
        </p:nvPicPr>
        <p:blipFill rotWithShape="1">
          <a:blip r:embed="rId3">
            <a:alphaModFix/>
          </a:blip>
          <a:srcRect/>
          <a:stretch/>
        </p:blipFill>
        <p:spPr>
          <a:xfrm>
            <a:off x="520126" y="1108900"/>
            <a:ext cx="475488" cy="475488"/>
          </a:xfrm>
          <a:prstGeom prst="rect">
            <a:avLst/>
          </a:prstGeom>
          <a:noFill/>
          <a:ln>
            <a:noFill/>
          </a:ln>
        </p:spPr>
      </p:pic>
    </p:spTree>
    <p:extLst>
      <p:ext uri="{BB962C8B-B14F-4D97-AF65-F5344CB8AC3E}">
        <p14:creationId xmlns:p14="http://schemas.microsoft.com/office/powerpoint/2010/main" val="102373972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28364E"/>
        </a:solidFill>
        <a:effectLst/>
      </p:bgPr>
    </p:bg>
    <p:spTree>
      <p:nvGrpSpPr>
        <p:cNvPr id="1" name="Shape 744"/>
        <p:cNvGrpSpPr/>
        <p:nvPr/>
      </p:nvGrpSpPr>
      <p:grpSpPr>
        <a:xfrm>
          <a:off x="0" y="0"/>
          <a:ext cx="0" cy="0"/>
          <a:chOff x="0" y="0"/>
          <a:chExt cx="0" cy="0"/>
        </a:xfrm>
      </p:grpSpPr>
      <p:sp>
        <p:nvSpPr>
          <p:cNvPr id="745" name="Google Shape;745;p18"/>
          <p:cNvSpPr/>
          <p:nvPr/>
        </p:nvSpPr>
        <p:spPr>
          <a:xfrm>
            <a:off x="0" y="0"/>
            <a:ext cx="146304" cy="5143500"/>
          </a:xfrm>
          <a:prstGeom prst="rect">
            <a:avLst/>
          </a:prstGeom>
          <a:solidFill>
            <a:srgbClr val="E8A020"/>
          </a:solidFill>
          <a:ln w="9525" cap="flat" cmpd="sng">
            <a:solidFill>
              <a:srgbClr val="E8A02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46" name="Google Shape;746;p18"/>
          <p:cNvSpPr/>
          <p:nvPr/>
        </p:nvSpPr>
        <p:spPr>
          <a:xfrm>
            <a:off x="0" y="4586150"/>
            <a:ext cx="9144000" cy="557400"/>
          </a:xfrm>
          <a:prstGeom prst="rect">
            <a:avLst/>
          </a:prstGeom>
          <a:solidFill>
            <a:srgbClr val="1A3F7A"/>
          </a:solidFill>
          <a:ln w="9525" cap="flat" cmpd="sng">
            <a:solidFill>
              <a:srgbClr val="1A3F7A"/>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47" name="Google Shape;747;p18"/>
          <p:cNvSpPr/>
          <p:nvPr/>
        </p:nvSpPr>
        <p:spPr>
          <a:xfrm>
            <a:off x="457200" y="640080"/>
            <a:ext cx="6400800" cy="82296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FFFFFF"/>
              </a:buClr>
              <a:buSzPts val="5200"/>
              <a:buFont typeface="Georgia"/>
              <a:buNone/>
            </a:pPr>
            <a:r>
              <a:rPr lang="en-US" sz="5200" b="1" i="0" u="none" strike="noStrike" cap="none">
                <a:solidFill>
                  <a:schemeClr val="lt1"/>
                </a:solidFill>
                <a:latin typeface="Georgia"/>
                <a:ea typeface="Georgia"/>
                <a:cs typeface="Georgia"/>
                <a:sym typeface="Georgia"/>
              </a:rPr>
              <a:t>Thank You</a:t>
            </a:r>
            <a:endParaRPr sz="5200" b="0" i="0" u="none" strike="noStrike" cap="none">
              <a:solidFill>
                <a:schemeClr val="lt1"/>
              </a:solidFill>
              <a:latin typeface="Calibri"/>
              <a:ea typeface="Calibri"/>
              <a:cs typeface="Calibri"/>
              <a:sym typeface="Calibri"/>
            </a:endParaRPr>
          </a:p>
        </p:txBody>
      </p:sp>
      <p:sp>
        <p:nvSpPr>
          <p:cNvPr id="748" name="Google Shape;748;p18"/>
          <p:cNvSpPr/>
          <p:nvPr/>
        </p:nvSpPr>
        <p:spPr>
          <a:xfrm>
            <a:off x="457200" y="1417320"/>
            <a:ext cx="6400800" cy="64008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E8A020"/>
              </a:buClr>
              <a:buSzPts val="3600"/>
              <a:buFont typeface="Georgia"/>
              <a:buNone/>
            </a:pPr>
            <a:r>
              <a:rPr lang="en-US" sz="3600" b="0" i="0" u="none" strike="noStrike" cap="none">
                <a:solidFill>
                  <a:srgbClr val="E8A020"/>
                </a:solidFill>
                <a:latin typeface="Georgia"/>
                <a:ea typeface="Georgia"/>
                <a:cs typeface="Georgia"/>
                <a:sym typeface="Georgia"/>
              </a:rPr>
              <a:t>Questions?</a:t>
            </a:r>
            <a:endParaRPr sz="3600" b="0" i="0" u="none" strike="noStrike" cap="none">
              <a:solidFill>
                <a:schemeClr val="dk1"/>
              </a:solidFill>
              <a:latin typeface="Calibri"/>
              <a:ea typeface="Calibri"/>
              <a:cs typeface="Calibri"/>
              <a:sym typeface="Calibri"/>
            </a:endParaRPr>
          </a:p>
        </p:txBody>
      </p:sp>
      <p:sp>
        <p:nvSpPr>
          <p:cNvPr id="756" name="Google Shape;756;p18"/>
          <p:cNvSpPr/>
          <p:nvPr/>
        </p:nvSpPr>
        <p:spPr>
          <a:xfrm>
            <a:off x="1353240" y="2384753"/>
            <a:ext cx="1938600" cy="621900"/>
          </a:xfrm>
          <a:prstGeom prst="rect">
            <a:avLst/>
          </a:prstGeom>
          <a:noFill/>
          <a:ln>
            <a:noFill/>
          </a:ln>
        </p:spPr>
        <p:txBody>
          <a:bodyPr spcFirstLastPara="1" wrap="square" lIns="0" tIns="0" rIns="0" bIns="0" anchor="b" anchorCtr="0">
            <a:noAutofit/>
          </a:bodyPr>
          <a:lstStyle/>
          <a:p>
            <a:pPr marL="0" marR="0" lvl="0" indent="0" algn="ctr" rtl="0">
              <a:lnSpc>
                <a:spcPct val="100000"/>
              </a:lnSpc>
              <a:spcBef>
                <a:spcPts val="0"/>
              </a:spcBef>
              <a:spcAft>
                <a:spcPts val="0"/>
              </a:spcAft>
              <a:buClr>
                <a:srgbClr val="E8A020"/>
              </a:buClr>
              <a:buSzPts val="2200"/>
              <a:buFont typeface="Georgia"/>
              <a:buNone/>
            </a:pPr>
            <a:endParaRPr sz="3500" b="0" i="0" u="none" strike="noStrike" cap="none" dirty="0">
              <a:solidFill>
                <a:schemeClr val="dk1"/>
              </a:solidFill>
              <a:latin typeface="Calibri"/>
              <a:ea typeface="Calibri"/>
              <a:cs typeface="Calibri"/>
              <a:sym typeface="Calibri"/>
            </a:endParaRPr>
          </a:p>
        </p:txBody>
      </p:sp>
      <p:sp>
        <p:nvSpPr>
          <p:cNvPr id="758" name="Google Shape;758;p18"/>
          <p:cNvSpPr/>
          <p:nvPr/>
        </p:nvSpPr>
        <p:spPr>
          <a:xfrm>
            <a:off x="3502080" y="2329889"/>
            <a:ext cx="1938600" cy="1170300"/>
          </a:xfrm>
          <a:prstGeom prst="rect">
            <a:avLst/>
          </a:prstGeom>
          <a:solidFill>
            <a:srgbClr val="1A3F7A"/>
          </a:solidFill>
          <a:ln w="9525" cap="flat" cmpd="sng">
            <a:solidFill>
              <a:srgbClr val="2B6CB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59" name="Google Shape;759;p18"/>
          <p:cNvSpPr/>
          <p:nvPr/>
        </p:nvSpPr>
        <p:spPr>
          <a:xfrm>
            <a:off x="3502080" y="2296559"/>
            <a:ext cx="1938600" cy="621900"/>
          </a:xfrm>
          <a:prstGeom prst="rect">
            <a:avLst/>
          </a:prstGeom>
          <a:noFill/>
          <a:ln>
            <a:noFill/>
          </a:ln>
        </p:spPr>
        <p:txBody>
          <a:bodyPr spcFirstLastPara="1" wrap="square" lIns="0" tIns="0" rIns="0" bIns="0" anchor="b" anchorCtr="0">
            <a:noAutofit/>
          </a:bodyPr>
          <a:lstStyle/>
          <a:p>
            <a:pPr marL="0" marR="0" lvl="0" indent="0" algn="ctr" rtl="0">
              <a:lnSpc>
                <a:spcPct val="100000"/>
              </a:lnSpc>
              <a:spcBef>
                <a:spcPts val="0"/>
              </a:spcBef>
              <a:spcAft>
                <a:spcPts val="0"/>
              </a:spcAft>
              <a:buClr>
                <a:srgbClr val="E8A020"/>
              </a:buClr>
              <a:buSzPts val="2200"/>
              <a:buFont typeface="Georgia"/>
              <a:buNone/>
            </a:pPr>
            <a:r>
              <a:rPr lang="en-US" sz="2500" b="1" i="0" u="none" strike="noStrike" cap="none" dirty="0">
                <a:solidFill>
                  <a:srgbClr val="E8A020"/>
                </a:solidFill>
                <a:latin typeface="Georgia"/>
                <a:ea typeface="Georgia"/>
                <a:cs typeface="Georgia"/>
                <a:sym typeface="Georgia"/>
              </a:rPr>
              <a:t>0.89</a:t>
            </a:r>
            <a:endParaRPr sz="2500" b="0" i="0" u="none" strike="noStrike" cap="none" dirty="0">
              <a:solidFill>
                <a:schemeClr val="dk1"/>
              </a:solidFill>
              <a:latin typeface="Calibri"/>
              <a:ea typeface="Calibri"/>
              <a:cs typeface="Calibri"/>
              <a:sym typeface="Calibri"/>
            </a:endParaRPr>
          </a:p>
        </p:txBody>
      </p:sp>
      <p:sp>
        <p:nvSpPr>
          <p:cNvPr id="760" name="Google Shape;760;p18"/>
          <p:cNvSpPr/>
          <p:nvPr/>
        </p:nvSpPr>
        <p:spPr>
          <a:xfrm>
            <a:off x="3502080" y="3043121"/>
            <a:ext cx="1938600" cy="3840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CBD5E1"/>
              </a:buClr>
              <a:buSzPts val="1000"/>
              <a:buFont typeface="Calibri"/>
              <a:buNone/>
            </a:pPr>
            <a:r>
              <a:rPr lang="en-US" sz="1600" b="0" i="0" u="none" strike="noStrike" cap="none" dirty="0">
                <a:solidFill>
                  <a:srgbClr val="F1F5F9"/>
                </a:solidFill>
                <a:latin typeface="Calibri"/>
                <a:ea typeface="Calibri"/>
                <a:cs typeface="Calibri"/>
                <a:sym typeface="Calibri"/>
              </a:rPr>
              <a:t>Annualized Sharpe Ratio</a:t>
            </a:r>
            <a:endParaRPr sz="1600" b="0" i="0" u="none" strike="noStrike" cap="none" dirty="0">
              <a:solidFill>
                <a:srgbClr val="F1F5F9"/>
              </a:solidFill>
              <a:latin typeface="Calibri"/>
              <a:ea typeface="Calibri"/>
              <a:cs typeface="Calibri"/>
              <a:sym typeface="Calibri"/>
            </a:endParaRPr>
          </a:p>
        </p:txBody>
      </p:sp>
      <p:pic>
        <p:nvPicPr>
          <p:cNvPr id="761" name="Google Shape;761;p18" descr="preencoded.png"/>
          <p:cNvPicPr preferRelativeResize="0"/>
          <p:nvPr/>
        </p:nvPicPr>
        <p:blipFill rotWithShape="1">
          <a:blip r:embed="rId3">
            <a:alphaModFix/>
          </a:blip>
          <a:srcRect/>
          <a:stretch/>
        </p:blipFill>
        <p:spPr>
          <a:xfrm>
            <a:off x="7589520" y="640080"/>
            <a:ext cx="1051560" cy="1051560"/>
          </a:xfrm>
          <a:prstGeom prst="rect">
            <a:avLst/>
          </a:prstGeom>
          <a:noFill/>
          <a:ln>
            <a:noFill/>
          </a:ln>
        </p:spPr>
      </p:pic>
      <p:sp>
        <p:nvSpPr>
          <p:cNvPr id="3" name="Google Shape;758;p18">
            <a:extLst>
              <a:ext uri="{FF2B5EF4-FFF2-40B4-BE49-F238E27FC236}">
                <a16:creationId xmlns:a16="http://schemas.microsoft.com/office/drawing/2014/main" id="{41D1065D-162E-90E1-AE77-88E48C159AB3}"/>
              </a:ext>
            </a:extLst>
          </p:cNvPr>
          <p:cNvSpPr/>
          <p:nvPr/>
        </p:nvSpPr>
        <p:spPr>
          <a:xfrm>
            <a:off x="1380602" y="2340841"/>
            <a:ext cx="1938600" cy="1170300"/>
          </a:xfrm>
          <a:prstGeom prst="rect">
            <a:avLst/>
          </a:prstGeom>
          <a:solidFill>
            <a:srgbClr val="1A3F7A"/>
          </a:solidFill>
          <a:ln w="9525" cap="flat" cmpd="sng">
            <a:solidFill>
              <a:srgbClr val="2B6CB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 name="Google Shape;759;p18">
            <a:extLst>
              <a:ext uri="{FF2B5EF4-FFF2-40B4-BE49-F238E27FC236}">
                <a16:creationId xmlns:a16="http://schemas.microsoft.com/office/drawing/2014/main" id="{A5A1408D-31A0-6BA6-6945-ECE6B7A2973C}"/>
              </a:ext>
            </a:extLst>
          </p:cNvPr>
          <p:cNvSpPr/>
          <p:nvPr/>
        </p:nvSpPr>
        <p:spPr>
          <a:xfrm>
            <a:off x="1380602" y="2307511"/>
            <a:ext cx="1938600" cy="621900"/>
          </a:xfrm>
          <a:prstGeom prst="rect">
            <a:avLst/>
          </a:prstGeom>
          <a:noFill/>
          <a:ln>
            <a:noFill/>
          </a:ln>
        </p:spPr>
        <p:txBody>
          <a:bodyPr spcFirstLastPara="1" wrap="square" lIns="0" tIns="0" rIns="0" bIns="0" anchor="b" anchorCtr="0">
            <a:noAutofit/>
          </a:bodyPr>
          <a:lstStyle/>
          <a:p>
            <a:pPr marL="0" marR="0" lvl="0" indent="0" algn="ctr" rtl="0">
              <a:lnSpc>
                <a:spcPct val="100000"/>
              </a:lnSpc>
              <a:spcBef>
                <a:spcPts val="0"/>
              </a:spcBef>
              <a:spcAft>
                <a:spcPts val="0"/>
              </a:spcAft>
              <a:buClr>
                <a:srgbClr val="E8A020"/>
              </a:buClr>
              <a:buSzPts val="2200"/>
              <a:buFont typeface="Georgia"/>
              <a:buNone/>
            </a:pPr>
            <a:r>
              <a:rPr lang="en-US" sz="2500" b="1" i="0" u="none" strike="noStrike" cap="none" dirty="0">
                <a:solidFill>
                  <a:srgbClr val="E8A020"/>
                </a:solidFill>
                <a:latin typeface="Georgia"/>
                <a:ea typeface="Georgia"/>
                <a:cs typeface="Georgia"/>
                <a:sym typeface="Georgia"/>
              </a:rPr>
              <a:t>-1.49%</a:t>
            </a:r>
            <a:endParaRPr sz="2500" b="0" i="0" u="none" strike="noStrike" cap="none" dirty="0">
              <a:solidFill>
                <a:schemeClr val="dk1"/>
              </a:solidFill>
              <a:latin typeface="Calibri"/>
              <a:ea typeface="Calibri"/>
              <a:cs typeface="Calibri"/>
              <a:sym typeface="Calibri"/>
            </a:endParaRPr>
          </a:p>
        </p:txBody>
      </p:sp>
      <p:sp>
        <p:nvSpPr>
          <p:cNvPr id="7" name="Google Shape;760;p18">
            <a:extLst>
              <a:ext uri="{FF2B5EF4-FFF2-40B4-BE49-F238E27FC236}">
                <a16:creationId xmlns:a16="http://schemas.microsoft.com/office/drawing/2014/main" id="{F6B2A43F-3064-4B0C-D22D-94522F304C6F}"/>
              </a:ext>
            </a:extLst>
          </p:cNvPr>
          <p:cNvSpPr/>
          <p:nvPr/>
        </p:nvSpPr>
        <p:spPr>
          <a:xfrm>
            <a:off x="1380602" y="3054073"/>
            <a:ext cx="1938600" cy="384000"/>
          </a:xfrm>
          <a:prstGeom prst="rect">
            <a:avLst/>
          </a:prstGeom>
          <a:noFill/>
          <a:ln>
            <a:noFill/>
          </a:ln>
        </p:spPr>
        <p:txBody>
          <a:bodyPr spcFirstLastPara="1" wrap="square" lIns="0" tIns="0" rIns="0" bIns="0" anchor="t" anchorCtr="0">
            <a:noAutofit/>
          </a:bodyPr>
          <a:lstStyle/>
          <a:p>
            <a:pPr lvl="0" algn="ctr">
              <a:buClr>
                <a:srgbClr val="0C1A35"/>
              </a:buClr>
              <a:buSzPts val="1050"/>
            </a:pPr>
            <a:r>
              <a:rPr lang="en-US" sz="1600" dirty="0">
                <a:solidFill>
                  <a:schemeClr val="bg1"/>
                </a:solidFill>
                <a:latin typeface="Calibri"/>
                <a:ea typeface="Calibri"/>
                <a:cs typeface="Calibri"/>
                <a:sym typeface="Calibri"/>
              </a:rPr>
              <a:t>Test R²</a:t>
            </a:r>
          </a:p>
        </p:txBody>
      </p:sp>
      <p:sp>
        <p:nvSpPr>
          <p:cNvPr id="4" name="Google Shape;756;p18">
            <a:extLst>
              <a:ext uri="{FF2B5EF4-FFF2-40B4-BE49-F238E27FC236}">
                <a16:creationId xmlns:a16="http://schemas.microsoft.com/office/drawing/2014/main" id="{63F8A201-3B79-7587-CC0F-0BED91019C69}"/>
              </a:ext>
            </a:extLst>
          </p:cNvPr>
          <p:cNvSpPr/>
          <p:nvPr/>
        </p:nvSpPr>
        <p:spPr>
          <a:xfrm>
            <a:off x="5623558" y="2381510"/>
            <a:ext cx="1938600" cy="621900"/>
          </a:xfrm>
          <a:prstGeom prst="rect">
            <a:avLst/>
          </a:prstGeom>
          <a:noFill/>
          <a:ln>
            <a:noFill/>
          </a:ln>
        </p:spPr>
        <p:txBody>
          <a:bodyPr spcFirstLastPara="1" wrap="square" lIns="0" tIns="0" rIns="0" bIns="0" anchor="b" anchorCtr="0">
            <a:noAutofit/>
          </a:bodyPr>
          <a:lstStyle/>
          <a:p>
            <a:pPr marL="0" marR="0" lvl="0" indent="0" algn="ctr" rtl="0">
              <a:lnSpc>
                <a:spcPct val="100000"/>
              </a:lnSpc>
              <a:spcBef>
                <a:spcPts val="0"/>
              </a:spcBef>
              <a:spcAft>
                <a:spcPts val="0"/>
              </a:spcAft>
              <a:buClr>
                <a:srgbClr val="E8A020"/>
              </a:buClr>
              <a:buSzPts val="2200"/>
              <a:buFont typeface="Georgia"/>
              <a:buNone/>
            </a:pPr>
            <a:endParaRPr sz="3500" b="0" i="0" u="none" strike="noStrike" cap="none" dirty="0">
              <a:solidFill>
                <a:schemeClr val="dk1"/>
              </a:solidFill>
              <a:latin typeface="Calibri"/>
              <a:ea typeface="Calibri"/>
              <a:cs typeface="Calibri"/>
              <a:sym typeface="Calibri"/>
            </a:endParaRPr>
          </a:p>
        </p:txBody>
      </p:sp>
      <p:sp>
        <p:nvSpPr>
          <p:cNvPr id="14" name="Google Shape;758;p18">
            <a:extLst>
              <a:ext uri="{FF2B5EF4-FFF2-40B4-BE49-F238E27FC236}">
                <a16:creationId xmlns:a16="http://schemas.microsoft.com/office/drawing/2014/main" id="{59D1FB7A-084C-920A-7B6D-7D3671F54265}"/>
              </a:ext>
            </a:extLst>
          </p:cNvPr>
          <p:cNvSpPr/>
          <p:nvPr/>
        </p:nvSpPr>
        <p:spPr>
          <a:xfrm>
            <a:off x="5650920" y="2337598"/>
            <a:ext cx="1938600" cy="1170300"/>
          </a:xfrm>
          <a:prstGeom prst="rect">
            <a:avLst/>
          </a:prstGeom>
          <a:solidFill>
            <a:srgbClr val="1A3F7A"/>
          </a:solidFill>
          <a:ln w="9525" cap="flat" cmpd="sng">
            <a:solidFill>
              <a:srgbClr val="2B6CB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6" name="Google Shape;759;p18">
            <a:extLst>
              <a:ext uri="{FF2B5EF4-FFF2-40B4-BE49-F238E27FC236}">
                <a16:creationId xmlns:a16="http://schemas.microsoft.com/office/drawing/2014/main" id="{3F3DF4E4-8CE4-7BBD-5B73-E6D3560B949A}"/>
              </a:ext>
            </a:extLst>
          </p:cNvPr>
          <p:cNvSpPr/>
          <p:nvPr/>
        </p:nvSpPr>
        <p:spPr>
          <a:xfrm>
            <a:off x="5650920" y="2304268"/>
            <a:ext cx="1938600" cy="621900"/>
          </a:xfrm>
          <a:prstGeom prst="rect">
            <a:avLst/>
          </a:prstGeom>
          <a:noFill/>
          <a:ln>
            <a:noFill/>
          </a:ln>
        </p:spPr>
        <p:txBody>
          <a:bodyPr spcFirstLastPara="1" wrap="square" lIns="0" tIns="0" rIns="0" bIns="0" anchor="b" anchorCtr="0">
            <a:noAutofit/>
          </a:bodyPr>
          <a:lstStyle/>
          <a:p>
            <a:pPr marL="0" marR="0" lvl="0" indent="0" algn="ctr" rtl="0">
              <a:lnSpc>
                <a:spcPct val="100000"/>
              </a:lnSpc>
              <a:spcBef>
                <a:spcPts val="0"/>
              </a:spcBef>
              <a:spcAft>
                <a:spcPts val="0"/>
              </a:spcAft>
              <a:buClr>
                <a:srgbClr val="E8A020"/>
              </a:buClr>
              <a:buSzPts val="2200"/>
              <a:buFont typeface="Georgia"/>
              <a:buNone/>
            </a:pPr>
            <a:r>
              <a:rPr lang="en-US" sz="2500" b="1" i="0" u="none" strike="noStrike" cap="none" dirty="0">
                <a:solidFill>
                  <a:srgbClr val="E8A020"/>
                </a:solidFill>
                <a:latin typeface="Georgia"/>
                <a:ea typeface="Georgia"/>
                <a:cs typeface="Georgia"/>
                <a:sym typeface="Georgia"/>
              </a:rPr>
              <a:t>13.8%</a:t>
            </a:r>
            <a:endParaRPr sz="2500" b="0" i="0" u="none" strike="noStrike" cap="none" dirty="0">
              <a:solidFill>
                <a:schemeClr val="dk1"/>
              </a:solidFill>
              <a:latin typeface="Calibri"/>
              <a:ea typeface="Calibri"/>
              <a:cs typeface="Calibri"/>
              <a:sym typeface="Calibri"/>
            </a:endParaRPr>
          </a:p>
        </p:txBody>
      </p:sp>
      <p:sp>
        <p:nvSpPr>
          <p:cNvPr id="18" name="Google Shape;760;p18">
            <a:extLst>
              <a:ext uri="{FF2B5EF4-FFF2-40B4-BE49-F238E27FC236}">
                <a16:creationId xmlns:a16="http://schemas.microsoft.com/office/drawing/2014/main" id="{2FB0CE0E-173B-BF42-C9CA-7972ACF53931}"/>
              </a:ext>
            </a:extLst>
          </p:cNvPr>
          <p:cNvSpPr/>
          <p:nvPr/>
        </p:nvSpPr>
        <p:spPr>
          <a:xfrm>
            <a:off x="5650920" y="3050830"/>
            <a:ext cx="1938600" cy="384000"/>
          </a:xfrm>
          <a:prstGeom prst="rect">
            <a:avLst/>
          </a:prstGeom>
          <a:noFill/>
          <a:ln>
            <a:noFill/>
          </a:ln>
        </p:spPr>
        <p:txBody>
          <a:bodyPr spcFirstLastPara="1" wrap="square" lIns="0" tIns="0" rIns="0" bIns="0" anchor="t" anchorCtr="0">
            <a:noAutofit/>
          </a:bodyPr>
          <a:lstStyle/>
          <a:p>
            <a:pPr lvl="0" algn="ctr">
              <a:buClr>
                <a:srgbClr val="0C1A35"/>
              </a:buClr>
              <a:buSzPts val="1050"/>
            </a:pPr>
            <a:r>
              <a:rPr lang="en-US" sz="1600" dirty="0">
                <a:solidFill>
                  <a:schemeClr val="bg1"/>
                </a:solidFill>
                <a:latin typeface="Calibri"/>
                <a:ea typeface="Calibri"/>
                <a:cs typeface="Calibri"/>
                <a:sym typeface="Calibri"/>
              </a:rPr>
              <a:t>Return</a:t>
            </a: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1726</TotalTime>
  <Words>2892</Words>
  <Application>Microsoft Office PowerPoint</Application>
  <PresentationFormat>On-screen Show (16:9)</PresentationFormat>
  <Paragraphs>329</Paragraphs>
  <Slides>25</Slides>
  <Notes>25</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25</vt:i4>
      </vt:variant>
    </vt:vector>
  </HeadingPairs>
  <TitlesOfParts>
    <vt:vector size="32" baseType="lpstr">
      <vt:lpstr>Josefin Sans</vt:lpstr>
      <vt:lpstr>Courier New</vt:lpstr>
      <vt:lpstr>Arial</vt:lpstr>
      <vt:lpstr>Cambria Math</vt:lpstr>
      <vt:lpstr>Georgia</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PptxGenJS</dc:creator>
  <cp:lastModifiedBy>Guruprasad Mukund</cp:lastModifiedBy>
  <cp:revision>2</cp:revision>
  <cp:lastPrinted>2026-09-10T17:03:37Z</cp:lastPrinted>
  <dcterms:created xsi:type="dcterms:W3CDTF">2026-04-21T18:39:03Z</dcterms:created>
  <dcterms:modified xsi:type="dcterms:W3CDTF">2026-09-11T01:30:48Z</dcterms:modified>
</cp:coreProperties>
</file>